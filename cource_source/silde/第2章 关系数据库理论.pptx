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3"/>
  </p:handoutMasterIdLst>
  <p:sldIdLst>
    <p:sldId id="684" r:id="rId3"/>
    <p:sldId id="584" r:id="rId5"/>
    <p:sldId id="690" r:id="rId6"/>
    <p:sldId id="257" r:id="rId7"/>
    <p:sldId id="691" r:id="rId8"/>
    <p:sldId id="692" r:id="rId9"/>
    <p:sldId id="693" r:id="rId10"/>
    <p:sldId id="694" r:id="rId11"/>
    <p:sldId id="695" r:id="rId12"/>
    <p:sldId id="696" r:id="rId13"/>
    <p:sldId id="697" r:id="rId14"/>
    <p:sldId id="698" r:id="rId15"/>
    <p:sldId id="699" r:id="rId16"/>
    <p:sldId id="700" r:id="rId17"/>
    <p:sldId id="701" r:id="rId18"/>
    <p:sldId id="702" r:id="rId19"/>
    <p:sldId id="703" r:id="rId20"/>
    <p:sldId id="704" r:id="rId21"/>
    <p:sldId id="705" r:id="rId22"/>
    <p:sldId id="706" r:id="rId23"/>
    <p:sldId id="625" r:id="rId24"/>
    <p:sldId id="633" r:id="rId25"/>
    <p:sldId id="707" r:id="rId26"/>
    <p:sldId id="708" r:id="rId27"/>
    <p:sldId id="709" r:id="rId28"/>
    <p:sldId id="710" r:id="rId29"/>
    <p:sldId id="711" r:id="rId30"/>
    <p:sldId id="712" r:id="rId31"/>
    <p:sldId id="713" r:id="rId32"/>
    <p:sldId id="714" r:id="rId33"/>
    <p:sldId id="715" r:id="rId34"/>
    <p:sldId id="716" r:id="rId35"/>
    <p:sldId id="717" r:id="rId36"/>
    <p:sldId id="718" r:id="rId37"/>
    <p:sldId id="719" r:id="rId38"/>
    <p:sldId id="720" r:id="rId39"/>
    <p:sldId id="721" r:id="rId40"/>
    <p:sldId id="722" r:id="rId41"/>
    <p:sldId id="723" r:id="rId42"/>
    <p:sldId id="724" r:id="rId43"/>
    <p:sldId id="725" r:id="rId44"/>
    <p:sldId id="726" r:id="rId45"/>
    <p:sldId id="727" r:id="rId46"/>
    <p:sldId id="728" r:id="rId47"/>
    <p:sldId id="729" r:id="rId48"/>
    <p:sldId id="643" r:id="rId49"/>
    <p:sldId id="730" r:id="rId50"/>
    <p:sldId id="731" r:id="rId51"/>
    <p:sldId id="732" r:id="rId52"/>
    <p:sldId id="733" r:id="rId53"/>
    <p:sldId id="734" r:id="rId54"/>
    <p:sldId id="735" r:id="rId55"/>
    <p:sldId id="736" r:id="rId56"/>
    <p:sldId id="737" r:id="rId57"/>
    <p:sldId id="738" r:id="rId58"/>
    <p:sldId id="739" r:id="rId59"/>
    <p:sldId id="740" r:id="rId60"/>
    <p:sldId id="741" r:id="rId61"/>
    <p:sldId id="742" r:id="rId62"/>
    <p:sldId id="743" r:id="rId63"/>
    <p:sldId id="744" r:id="rId64"/>
    <p:sldId id="745" r:id="rId65"/>
    <p:sldId id="746" r:id="rId66"/>
    <p:sldId id="747" r:id="rId67"/>
    <p:sldId id="748" r:id="rId68"/>
    <p:sldId id="749" r:id="rId69"/>
    <p:sldId id="750" r:id="rId70"/>
    <p:sldId id="751" r:id="rId71"/>
    <p:sldId id="752" r:id="rId72"/>
  </p:sldIdLst>
  <p:sldSz cx="1219835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0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47"/>
    <a:srgbClr val="3366FF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4660"/>
  </p:normalViewPr>
  <p:slideViewPr>
    <p:cSldViewPr showGuides="1">
      <p:cViewPr varScale="1">
        <p:scale>
          <a:sx n="87" d="100"/>
          <a:sy n="87" d="100"/>
        </p:scale>
        <p:origin x="51" y="-10"/>
      </p:cViewPr>
      <p:guideLst>
        <p:guide orient="horz" pos="1980"/>
        <p:guide pos="3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4976"/>
    </p:cViewPr>
  </p:sorterViewPr>
  <p:notesViewPr>
    <p:cSldViewPr>
      <p:cViewPr varScale="1">
        <p:scale>
          <a:sx n="54" d="100"/>
          <a:sy n="54" d="100"/>
        </p:scale>
        <p:origin x="-2880" y="-84"/>
      </p:cViewPr>
      <p:guideLst>
        <p:guide orient="horz" pos="2790"/>
        <p:guide pos="2181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sz="1200"/>
            </a:lvl1pPr>
          </a:lstStyle>
          <a:p>
            <a:fld id="{0D9B710A-DCC6-4E37-B98F-01142CD404D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10967D2-7C5F-4436-A5CE-0765D52D2125}" type="datetime1">
              <a:rPr lang="zh-CN" altLang="en-US"/>
            </a:fld>
            <a:endParaRPr lang="en-US" altLang="zh-CN" sz="1200"/>
          </a:p>
        </p:txBody>
      </p:sp>
      <p:sp>
        <p:nvSpPr>
          <p:cNvPr id="57348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7349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  <a:endParaRPr lang="zh-CN" altLang="en-US" sz="1200">
              <a:solidFill>
                <a:srgbClr val="000000"/>
              </a:solidFill>
            </a:endParaRP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  <a:endParaRPr lang="zh-CN" altLang="en-US" sz="1200">
              <a:solidFill>
                <a:srgbClr val="000000"/>
              </a:solidFill>
            </a:endParaRP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  <a:endParaRPr lang="zh-CN" altLang="en-US" sz="1200">
              <a:solidFill>
                <a:srgbClr val="000000"/>
              </a:solidFill>
            </a:endParaRP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  <a:endParaRPr lang="zh-CN" altLang="en-US" sz="1200">
              <a:solidFill>
                <a:srgbClr val="000000"/>
              </a:solidFill>
            </a:endParaRP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/>
            </a:lvl1pPr>
          </a:lstStyle>
          <a:p>
            <a:fld id="{1D1A62B9-95BF-40C4-8C77-669378B57D9C}" type="slidenum">
              <a:rPr lang="zh-CN" altLang="en-US"/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2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6FEDDB-647B-4875-882C-4415FBF821E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8373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44AD8-4D65-438D-A602-780CC0EFAA65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D39113-3473-4569-92EF-5B054D7AE793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9397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2EB86F-341A-4AE8-AB18-D4FAAE51EECC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D39113-3473-4569-92EF-5B054D7AE793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9397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2EB86F-341A-4AE8-AB18-D4FAAE51EECC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F96015-23A0-468F-AE81-6762A73C973A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5C7EE0-03ED-4D73-A397-5D279AE2AE8F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911029-1FE0-49A3-88F4-FDC09E234A46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2CE786-9C01-4C31-B0C0-EA0EB1024FD9}" type="slidenum">
              <a:rPr lang="zh-CN" altLang="en-US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10967D2-7C5F-4436-A5CE-0765D52D2125}" type="datetime1">
              <a:rPr lang="zh-CN" altLang="en-US" smtClean="0"/>
            </a:fld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A62B9-95BF-40C4-8C77-669378B57D9C}" type="slidenum">
              <a:rPr lang="zh-CN" altLang="en-US" smtClean="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/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7520" y="101786"/>
            <a:ext cx="1014366" cy="642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矩形 3"/>
          <p:cNvSpPr/>
          <p:nvPr userDrawn="1"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  <a:endParaRPr lang="zh-CN" alt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1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/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7" name="椭圆 14"/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椭圆 14"/>
          <p:cNvSpPr>
            <a:spLocks noChangeAspect="1" noChangeArrowheads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184 w 683568"/>
              <a:gd name="T1" fmla="*/ 0 h 864094"/>
              <a:gd name="T2" fmla="*/ 368 w 683568"/>
              <a:gd name="T3" fmla="*/ 265 h 864094"/>
              <a:gd name="T4" fmla="*/ 311 w 683568"/>
              <a:gd name="T5" fmla="*/ 456 h 864094"/>
              <a:gd name="T6" fmla="*/ 184 w 683568"/>
              <a:gd name="T7" fmla="*/ 671 h 864094"/>
              <a:gd name="T8" fmla="*/ 56 w 683568"/>
              <a:gd name="T9" fmla="*/ 456 h 864094"/>
              <a:gd name="T10" fmla="*/ 33 w 683568"/>
              <a:gd name="T11" fmla="*/ 415 h 864094"/>
              <a:gd name="T12" fmla="*/ 31 w 683568"/>
              <a:gd name="T13" fmla="*/ 414 h 864094"/>
              <a:gd name="T14" fmla="*/ 31 w 683568"/>
              <a:gd name="T15" fmla="*/ 414 h 864094"/>
              <a:gd name="T16" fmla="*/ 0 w 683568"/>
              <a:gd name="T17" fmla="*/ 265 h 864094"/>
              <a:gd name="T18" fmla="*/ 184 w 683568"/>
              <a:gd name="T19" fmla="*/ 0 h 8640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83568"/>
              <a:gd name="T31" fmla="*/ 0 h 864094"/>
              <a:gd name="T32" fmla="*/ 683568 w 683568"/>
              <a:gd name="T33" fmla="*/ 864094 h 86409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7"/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9A9CECAC-B221-4E41-BDF1-3882BE3358FA}" type="slidenum">
              <a:rPr lang="zh-CN" altLang="en-US">
                <a:solidFill>
                  <a:schemeClr val="bg1"/>
                </a:solidFill>
                <a:sym typeface="Calibri" panose="020F0502020204030204" pitchFamily="34" charset="0"/>
              </a:rPr>
            </a:fld>
            <a:endParaRPr lang="en-US" altLang="zh-CN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/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31" name="燕尾形 9"/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anose="020B0603020102020204" pitchFamily="34" charset="0"/>
          <a:ea typeface="微软雅黑" panose="020B0503020204020204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GIF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0" Type="http://schemas.openxmlformats.org/officeDocument/2006/relationships/notesSlide" Target="../notesSlides/notesSlide30.xml"/><Relationship Id="rId1" Type="http://schemas.openxmlformats.org/officeDocument/2006/relationships/tags" Target="../tags/tag4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4" Type="http://schemas.openxmlformats.org/officeDocument/2006/relationships/notesSlide" Target="../notesSlides/notesSlide57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engmia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5"/>
          <p:cNvSpPr>
            <a:spLocks noChangeArrowheads="1"/>
          </p:cNvSpPr>
          <p:nvPr/>
        </p:nvSpPr>
        <p:spPr bwMode="auto">
          <a:xfrm>
            <a:off x="1471613" y="4076700"/>
            <a:ext cx="7920037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zh-CN" sz="32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30830" y="46256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  <a:endParaRPr lang="zh-CN" alt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2" y="46256"/>
            <a:ext cx="1356121" cy="859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78" name="TextBox 5"/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haroni" panose="02010803020104030203" pitchFamily="2" charset="-79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第一章绪论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复习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5123" name="Rectangle 2"/>
          <p:cNvSpPr txBox="1">
            <a:spLocks noChangeArrowheads="1"/>
          </p:cNvSpPr>
          <p:nvPr/>
        </p:nvSpPr>
        <p:spPr bwMode="auto">
          <a:xfrm>
            <a:off x="167005" y="1211580"/>
            <a:ext cx="11368405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5</a:t>
            </a:r>
            <a:r>
              <a:rPr lang="zh-CN" altLang="zh-CN" sz="2800" b="1" dirty="0">
                <a:latin typeface="宋体" panose="02010600030101010101" pitchFamily="2" charset="-122"/>
                <a:sym typeface="+mn-ea"/>
              </a:rPr>
              <a:t>个基本概念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:</a:t>
            </a:r>
            <a:r>
              <a:rPr lang="zh-CN" altLang="zh-CN" sz="2800" dirty="0">
                <a:latin typeface="宋体" panose="02010600030101010101" pitchFamily="2" charset="-122"/>
                <a:sym typeface="+mn-ea"/>
              </a:rPr>
              <a:t> Data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DB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DBMS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DBA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DBS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个发展阶段：</a:t>
            </a:r>
            <a:r>
              <a:rPr lang="zh-CN" altLang="zh-CN" sz="2800" dirty="0">
                <a:latin typeface="宋体" panose="02010600030101010101" pitchFamily="2" charset="-122"/>
                <a:sym typeface="+mn-ea"/>
              </a:rPr>
              <a:t>人工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zh-CN" sz="2800" dirty="0">
                <a:latin typeface="宋体" panose="02010600030101010101" pitchFamily="2" charset="-122"/>
                <a:sym typeface="+mn-ea"/>
              </a:rPr>
              <a:t>文件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zh-CN" sz="2800" dirty="0">
                <a:latin typeface="宋体" panose="02010600030101010101" pitchFamily="2" charset="-122"/>
                <a:sym typeface="+mn-ea"/>
              </a:rPr>
              <a:t>数据库系统阶段</a:t>
            </a:r>
            <a:r>
              <a:rPr lang="zh-CN" altLang="zh-CN" sz="28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zh-CN" sz="2800" b="1" dirty="0">
                <a:latin typeface="宋体" panose="02010600030101010101" pitchFamily="2" charset="-122"/>
                <a:sym typeface="+mn-ea"/>
              </a:rPr>
              <a:t>数据库系统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个特点：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数据结构化、数据独立性高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			  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数据共享性高冗余小、实施统一管理与控制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buNone/>
              <a:defRPr/>
            </a:pP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数据模型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个要素：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数据结构，数据操作，数据约束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buNone/>
              <a:defRPr/>
            </a:pP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数据模型的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个分类：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概念模型、逻辑模型、物理模型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1">
              <a:lnSpc>
                <a:spcPct val="140000"/>
              </a:lnSpc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  4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个逻辑模型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：层次、网状、关系、面向对象模型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个概念模型的方法：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实体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联系（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E-R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）模型方法 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buNone/>
              <a:defRPr/>
            </a:pP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数据库结构：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级模式和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级映像</a:t>
            </a:r>
            <a:endParaRPr lang="en-US" altLang="zh-CN" sz="2800" dirty="0">
              <a:solidFill>
                <a:srgbClr val="002060"/>
              </a:solidFill>
              <a:latin typeface="Franklin Gothic Book" panose="020B0503020102020204" pitchFamily="34" charset="0"/>
              <a:ea typeface="黑体" panose="02010609060101010101" pitchFamily="49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第一章绪论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复习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" name="TextBox 26"/>
          <p:cNvSpPr txBox="1"/>
          <p:nvPr/>
        </p:nvSpPr>
        <p:spPr>
          <a:xfrm>
            <a:off x="5271135" y="1787609"/>
            <a:ext cx="6267059" cy="1041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ea typeface="+mn-ea"/>
              </a:rPr>
              <a:t>描述的是系统的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静态特征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endParaRPr lang="en-US" altLang="zh-CN" sz="2800" dirty="0">
              <a:latin typeface="+mn-ea"/>
              <a:ea typeface="+mn-ea"/>
            </a:endParaRPr>
          </a:p>
          <a:p>
            <a:pPr>
              <a:lnSpc>
                <a:spcPts val="3700"/>
              </a:lnSpc>
            </a:pPr>
            <a:r>
              <a:rPr lang="zh-CN" altLang="zh-CN" sz="2800" dirty="0">
                <a:latin typeface="+mn-ea"/>
                <a:ea typeface="+mn-ea"/>
              </a:rPr>
              <a:t>即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ea typeface="+mn-ea"/>
              </a:rPr>
              <a:t>数据类型、内容、属性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zh-CN" altLang="zh-CN" sz="2800" dirty="0">
                <a:latin typeface="+mn-ea"/>
                <a:ea typeface="+mn-ea"/>
              </a:rPr>
              <a:t>数据间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ea typeface="+mn-ea"/>
              </a:rPr>
              <a:t>联系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TextBox 27"/>
          <p:cNvSpPr txBox="1"/>
          <p:nvPr/>
        </p:nvSpPr>
        <p:spPr>
          <a:xfrm>
            <a:off x="5443338" y="3206726"/>
            <a:ext cx="5938980" cy="1041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ea typeface="+mn-ea"/>
              </a:rPr>
              <a:t>描述的是系统的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动态特征</a:t>
            </a:r>
            <a:endParaRPr lang="en-US" altLang="zh-CN" sz="28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/>
              <a:t>     包括：</a:t>
            </a:r>
            <a:r>
              <a:rPr lang="zh-CN" altLang="en-US" sz="2800" dirty="0">
                <a:solidFill>
                  <a:srgbClr val="FF0000"/>
                </a:solidFill>
              </a:rPr>
              <a:t>查询、插入、删除、修改。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5" name="TextBox 28"/>
          <p:cNvSpPr txBox="1"/>
          <p:nvPr/>
        </p:nvSpPr>
        <p:spPr>
          <a:xfrm>
            <a:off x="5500487" y="4570417"/>
            <a:ext cx="5938980" cy="1041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ea typeface="+mn-ea"/>
              </a:rPr>
              <a:t>数据的完整性约束，</a:t>
            </a:r>
            <a:r>
              <a:rPr lang="zh-CN" altLang="en-US" sz="2800" dirty="0"/>
              <a:t>数据模型中</a:t>
            </a:r>
            <a:r>
              <a:rPr lang="zh-CN" altLang="en-US" sz="2800" b="1" dirty="0">
                <a:solidFill>
                  <a:srgbClr val="FF0000"/>
                </a:solidFill>
              </a:rPr>
              <a:t>数据及其联系所具有的制约和依存规则。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230980" y="1915730"/>
            <a:ext cx="1929810" cy="74782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lvl="0" algn="ctr"/>
            <a:r>
              <a:rPr lang="zh-CN" altLang="en-US" sz="2800" b="1" dirty="0">
                <a:solidFill>
                  <a:sysClr val="windowText" lastClr="000000"/>
                </a:solidFill>
                <a:latin typeface="+mn-ea"/>
              </a:rPr>
              <a:t>数据结构</a:t>
            </a:r>
            <a:endParaRPr lang="zh-CN" altLang="en-US" sz="28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230980" y="3404963"/>
            <a:ext cx="1929810" cy="74782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lvl="0" algn="ctr"/>
            <a:r>
              <a:rPr lang="zh-CN" altLang="en-US" sz="2800" b="1" dirty="0">
                <a:solidFill>
                  <a:sysClr val="windowText" lastClr="000000"/>
                </a:solidFill>
                <a:latin typeface="+mn-ea"/>
              </a:rPr>
              <a:t>数据操作</a:t>
            </a:r>
            <a:endParaRPr lang="zh-CN" altLang="en-US" sz="28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230980" y="4797229"/>
            <a:ext cx="1929810" cy="74782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lvl="0" algn="ctr"/>
            <a:r>
              <a:rPr lang="zh-CN" altLang="en-US" sz="2800" b="1" dirty="0">
                <a:solidFill>
                  <a:sysClr val="windowText" lastClr="000000"/>
                </a:solidFill>
                <a:latin typeface="+mn-ea"/>
              </a:rPr>
              <a:t>数据约束</a:t>
            </a:r>
            <a:endParaRPr lang="zh-CN" altLang="en-US" sz="28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Freeform 11"/>
          <p:cNvSpPr/>
          <p:nvPr userDrawn="1"/>
        </p:nvSpPr>
        <p:spPr bwMode="auto">
          <a:xfrm flipH="1">
            <a:off x="2502535" y="1915795"/>
            <a:ext cx="617855" cy="3684905"/>
          </a:xfrm>
          <a:custGeom>
            <a:avLst/>
            <a:gdLst>
              <a:gd name="T0" fmla="*/ 0 w 1412"/>
              <a:gd name="T1" fmla="*/ 82 h 6009"/>
              <a:gd name="T2" fmla="*/ 0 w 1412"/>
              <a:gd name="T3" fmla="*/ 0 h 6009"/>
              <a:gd name="T4" fmla="*/ 283 w 1412"/>
              <a:gd name="T5" fmla="*/ 71 h 6009"/>
              <a:gd name="T6" fmla="*/ 518 w 1412"/>
              <a:gd name="T7" fmla="*/ 182 h 6009"/>
              <a:gd name="T8" fmla="*/ 723 w 1412"/>
              <a:gd name="T9" fmla="*/ 367 h 6009"/>
              <a:gd name="T10" fmla="*/ 863 w 1412"/>
              <a:gd name="T11" fmla="*/ 597 h 6009"/>
              <a:gd name="T12" fmla="*/ 935 w 1412"/>
              <a:gd name="T13" fmla="*/ 848 h 6009"/>
              <a:gd name="T14" fmla="*/ 966 w 1412"/>
              <a:gd name="T15" fmla="*/ 1141 h 6009"/>
              <a:gd name="T16" fmla="*/ 931 w 1412"/>
              <a:gd name="T17" fmla="*/ 1500 h 6009"/>
              <a:gd name="T18" fmla="*/ 856 w 1412"/>
              <a:gd name="T19" fmla="*/ 1831 h 6009"/>
              <a:gd name="T20" fmla="*/ 828 w 1412"/>
              <a:gd name="T21" fmla="*/ 2176 h 6009"/>
              <a:gd name="T22" fmla="*/ 869 w 1412"/>
              <a:gd name="T23" fmla="*/ 2502 h 6009"/>
              <a:gd name="T24" fmla="*/ 961 w 1412"/>
              <a:gd name="T25" fmla="*/ 2687 h 6009"/>
              <a:gd name="T26" fmla="*/ 1110 w 1412"/>
              <a:gd name="T27" fmla="*/ 2815 h 6009"/>
              <a:gd name="T28" fmla="*/ 1244 w 1412"/>
              <a:gd name="T29" fmla="*/ 2889 h 6009"/>
              <a:gd name="T30" fmla="*/ 1412 w 1412"/>
              <a:gd name="T31" fmla="*/ 2920 h 6009"/>
              <a:gd name="T32" fmla="*/ 1412 w 1412"/>
              <a:gd name="T33" fmla="*/ 3079 h 6009"/>
              <a:gd name="T34" fmla="*/ 1156 w 1412"/>
              <a:gd name="T35" fmla="*/ 3164 h 6009"/>
              <a:gd name="T36" fmla="*/ 999 w 1412"/>
              <a:gd name="T37" fmla="*/ 3291 h 6009"/>
              <a:gd name="T38" fmla="*/ 880 w 1412"/>
              <a:gd name="T39" fmla="*/ 3508 h 6009"/>
              <a:gd name="T40" fmla="*/ 826 w 1412"/>
              <a:gd name="T41" fmla="*/ 3804 h 6009"/>
              <a:gd name="T42" fmla="*/ 850 w 1412"/>
              <a:gd name="T43" fmla="*/ 4193 h 6009"/>
              <a:gd name="T44" fmla="*/ 884 w 1412"/>
              <a:gd name="T45" fmla="*/ 4452 h 6009"/>
              <a:gd name="T46" fmla="*/ 935 w 1412"/>
              <a:gd name="T47" fmla="*/ 4752 h 6009"/>
              <a:gd name="T48" fmla="*/ 944 w 1412"/>
              <a:gd name="T49" fmla="*/ 5046 h 6009"/>
              <a:gd name="T50" fmla="*/ 893 w 1412"/>
              <a:gd name="T51" fmla="*/ 5331 h 6009"/>
              <a:gd name="T52" fmla="*/ 792 w 1412"/>
              <a:gd name="T53" fmla="*/ 5553 h 6009"/>
              <a:gd name="T54" fmla="*/ 639 w 1412"/>
              <a:gd name="T55" fmla="*/ 5737 h 6009"/>
              <a:gd name="T56" fmla="*/ 458 w 1412"/>
              <a:gd name="T57" fmla="*/ 5879 h 6009"/>
              <a:gd name="T58" fmla="*/ 310 w 1412"/>
              <a:gd name="T59" fmla="*/ 5967 h 6009"/>
              <a:gd name="T60" fmla="*/ 212 w 1412"/>
              <a:gd name="T61" fmla="*/ 6005 h 6009"/>
              <a:gd name="T62" fmla="*/ 171 w 1412"/>
              <a:gd name="T63" fmla="*/ 5973 h 6009"/>
              <a:gd name="T64" fmla="*/ 208 w 1412"/>
              <a:gd name="T65" fmla="*/ 5905 h 6009"/>
              <a:gd name="T66" fmla="*/ 300 w 1412"/>
              <a:gd name="T67" fmla="*/ 5840 h 6009"/>
              <a:gd name="T68" fmla="*/ 445 w 1412"/>
              <a:gd name="T69" fmla="*/ 5705 h 6009"/>
              <a:gd name="T70" fmla="*/ 564 w 1412"/>
              <a:gd name="T71" fmla="*/ 5512 h 6009"/>
              <a:gd name="T72" fmla="*/ 625 w 1412"/>
              <a:gd name="T73" fmla="*/ 5315 h 6009"/>
              <a:gd name="T74" fmla="*/ 638 w 1412"/>
              <a:gd name="T75" fmla="*/ 5121 h 6009"/>
              <a:gd name="T76" fmla="*/ 618 w 1412"/>
              <a:gd name="T77" fmla="*/ 4825 h 6009"/>
              <a:gd name="T78" fmla="*/ 584 w 1412"/>
              <a:gd name="T79" fmla="*/ 4415 h 6009"/>
              <a:gd name="T80" fmla="*/ 578 w 1412"/>
              <a:gd name="T81" fmla="*/ 4048 h 6009"/>
              <a:gd name="T82" fmla="*/ 632 w 1412"/>
              <a:gd name="T83" fmla="*/ 3704 h 6009"/>
              <a:gd name="T84" fmla="*/ 772 w 1412"/>
              <a:gd name="T85" fmla="*/ 3412 h 6009"/>
              <a:gd name="T86" fmla="*/ 941 w 1412"/>
              <a:gd name="T87" fmla="*/ 3215 h 6009"/>
              <a:gd name="T88" fmla="*/ 1273 w 1412"/>
              <a:gd name="T89" fmla="*/ 3012 h 6009"/>
              <a:gd name="T90" fmla="*/ 1034 w 1412"/>
              <a:gd name="T91" fmla="*/ 2880 h 6009"/>
              <a:gd name="T92" fmla="*/ 884 w 1412"/>
              <a:gd name="T93" fmla="*/ 2767 h 6009"/>
              <a:gd name="T94" fmla="*/ 739 w 1412"/>
              <a:gd name="T95" fmla="*/ 2564 h 6009"/>
              <a:gd name="T96" fmla="*/ 611 w 1412"/>
              <a:gd name="T97" fmla="*/ 2279 h 6009"/>
              <a:gd name="T98" fmla="*/ 558 w 1412"/>
              <a:gd name="T99" fmla="*/ 1973 h 6009"/>
              <a:gd name="T100" fmla="*/ 562 w 1412"/>
              <a:gd name="T101" fmla="*/ 1648 h 6009"/>
              <a:gd name="T102" fmla="*/ 605 w 1412"/>
              <a:gd name="T103" fmla="*/ 1308 h 6009"/>
              <a:gd name="T104" fmla="*/ 646 w 1412"/>
              <a:gd name="T105" fmla="*/ 904 h 6009"/>
              <a:gd name="T106" fmla="*/ 619 w 1412"/>
              <a:gd name="T107" fmla="*/ 644 h 6009"/>
              <a:gd name="T108" fmla="*/ 520 w 1412"/>
              <a:gd name="T109" fmla="*/ 441 h 6009"/>
              <a:gd name="T110" fmla="*/ 341 w 1412"/>
              <a:gd name="T111" fmla="*/ 240 h 6009"/>
              <a:gd name="T112" fmla="*/ 152 w 1412"/>
              <a:gd name="T113" fmla="*/ 132 h 6009"/>
              <a:gd name="T114" fmla="*/ 0 w 1412"/>
              <a:gd name="T115" fmla="*/ 82 h 6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12" h="6009">
                <a:moveTo>
                  <a:pt x="0" y="82"/>
                </a:moveTo>
                <a:lnTo>
                  <a:pt x="0" y="0"/>
                </a:lnTo>
                <a:cubicBezTo>
                  <a:pt x="108" y="24"/>
                  <a:pt x="202" y="47"/>
                  <a:pt x="283" y="71"/>
                </a:cubicBezTo>
                <a:cubicBezTo>
                  <a:pt x="364" y="95"/>
                  <a:pt x="442" y="132"/>
                  <a:pt x="518" y="182"/>
                </a:cubicBezTo>
                <a:cubicBezTo>
                  <a:pt x="594" y="231"/>
                  <a:pt x="662" y="293"/>
                  <a:pt x="723" y="367"/>
                </a:cubicBezTo>
                <a:cubicBezTo>
                  <a:pt x="784" y="443"/>
                  <a:pt x="830" y="519"/>
                  <a:pt x="863" y="597"/>
                </a:cubicBezTo>
                <a:cubicBezTo>
                  <a:pt x="894" y="675"/>
                  <a:pt x="917" y="759"/>
                  <a:pt x="935" y="848"/>
                </a:cubicBezTo>
                <a:cubicBezTo>
                  <a:pt x="952" y="937"/>
                  <a:pt x="963" y="1036"/>
                  <a:pt x="966" y="1141"/>
                </a:cubicBezTo>
                <a:cubicBezTo>
                  <a:pt x="970" y="1248"/>
                  <a:pt x="959" y="1368"/>
                  <a:pt x="931" y="1500"/>
                </a:cubicBezTo>
                <a:lnTo>
                  <a:pt x="856" y="1831"/>
                </a:lnTo>
                <a:cubicBezTo>
                  <a:pt x="834" y="1941"/>
                  <a:pt x="826" y="2055"/>
                  <a:pt x="828" y="2176"/>
                </a:cubicBezTo>
                <a:cubicBezTo>
                  <a:pt x="828" y="2308"/>
                  <a:pt x="841" y="2417"/>
                  <a:pt x="869" y="2502"/>
                </a:cubicBezTo>
                <a:cubicBezTo>
                  <a:pt x="896" y="2587"/>
                  <a:pt x="926" y="2649"/>
                  <a:pt x="961" y="2687"/>
                </a:cubicBezTo>
                <a:cubicBezTo>
                  <a:pt x="994" y="2724"/>
                  <a:pt x="1044" y="2767"/>
                  <a:pt x="1110" y="2815"/>
                </a:cubicBezTo>
                <a:cubicBezTo>
                  <a:pt x="1176" y="2862"/>
                  <a:pt x="1221" y="2887"/>
                  <a:pt x="1244" y="2889"/>
                </a:cubicBezTo>
                <a:lnTo>
                  <a:pt x="1412" y="2920"/>
                </a:lnTo>
                <a:lnTo>
                  <a:pt x="1412" y="3079"/>
                </a:lnTo>
                <a:cubicBezTo>
                  <a:pt x="1298" y="3106"/>
                  <a:pt x="1213" y="3134"/>
                  <a:pt x="1156" y="3164"/>
                </a:cubicBezTo>
                <a:cubicBezTo>
                  <a:pt x="1099" y="3193"/>
                  <a:pt x="1047" y="3236"/>
                  <a:pt x="999" y="3291"/>
                </a:cubicBezTo>
                <a:cubicBezTo>
                  <a:pt x="952" y="3347"/>
                  <a:pt x="912" y="3419"/>
                  <a:pt x="880" y="3508"/>
                </a:cubicBezTo>
                <a:cubicBezTo>
                  <a:pt x="847" y="3596"/>
                  <a:pt x="829" y="3695"/>
                  <a:pt x="826" y="3804"/>
                </a:cubicBezTo>
                <a:cubicBezTo>
                  <a:pt x="823" y="3914"/>
                  <a:pt x="830" y="4043"/>
                  <a:pt x="850" y="4193"/>
                </a:cubicBezTo>
                <a:cubicBezTo>
                  <a:pt x="860" y="4296"/>
                  <a:pt x="872" y="4383"/>
                  <a:pt x="884" y="4452"/>
                </a:cubicBezTo>
                <a:lnTo>
                  <a:pt x="935" y="4752"/>
                </a:lnTo>
                <a:cubicBezTo>
                  <a:pt x="948" y="4855"/>
                  <a:pt x="951" y="4953"/>
                  <a:pt x="944" y="5046"/>
                </a:cubicBezTo>
                <a:cubicBezTo>
                  <a:pt x="936" y="5150"/>
                  <a:pt x="919" y="5246"/>
                  <a:pt x="893" y="5331"/>
                </a:cubicBezTo>
                <a:cubicBezTo>
                  <a:pt x="866" y="5416"/>
                  <a:pt x="832" y="5491"/>
                  <a:pt x="792" y="5553"/>
                </a:cubicBezTo>
                <a:cubicBezTo>
                  <a:pt x="753" y="5617"/>
                  <a:pt x="702" y="5678"/>
                  <a:pt x="639" y="5737"/>
                </a:cubicBezTo>
                <a:cubicBezTo>
                  <a:pt x="578" y="5796"/>
                  <a:pt x="517" y="5843"/>
                  <a:pt x="458" y="5879"/>
                </a:cubicBezTo>
                <a:lnTo>
                  <a:pt x="310" y="5967"/>
                </a:lnTo>
                <a:cubicBezTo>
                  <a:pt x="268" y="5997"/>
                  <a:pt x="235" y="6009"/>
                  <a:pt x="212" y="6005"/>
                </a:cubicBezTo>
                <a:cubicBezTo>
                  <a:pt x="189" y="6001"/>
                  <a:pt x="175" y="5990"/>
                  <a:pt x="171" y="5973"/>
                </a:cubicBezTo>
                <a:cubicBezTo>
                  <a:pt x="166" y="5954"/>
                  <a:pt x="179" y="5932"/>
                  <a:pt x="208" y="5905"/>
                </a:cubicBezTo>
                <a:cubicBezTo>
                  <a:pt x="219" y="5896"/>
                  <a:pt x="249" y="5874"/>
                  <a:pt x="300" y="5840"/>
                </a:cubicBezTo>
                <a:cubicBezTo>
                  <a:pt x="351" y="5804"/>
                  <a:pt x="399" y="5760"/>
                  <a:pt x="445" y="5705"/>
                </a:cubicBezTo>
                <a:cubicBezTo>
                  <a:pt x="492" y="5650"/>
                  <a:pt x="532" y="5587"/>
                  <a:pt x="564" y="5512"/>
                </a:cubicBezTo>
                <a:cubicBezTo>
                  <a:pt x="596" y="5439"/>
                  <a:pt x="617" y="5373"/>
                  <a:pt x="625" y="5315"/>
                </a:cubicBezTo>
                <a:cubicBezTo>
                  <a:pt x="634" y="5258"/>
                  <a:pt x="638" y="5192"/>
                  <a:pt x="638" y="5121"/>
                </a:cubicBezTo>
                <a:cubicBezTo>
                  <a:pt x="636" y="5058"/>
                  <a:pt x="629" y="4960"/>
                  <a:pt x="618" y="4825"/>
                </a:cubicBezTo>
                <a:cubicBezTo>
                  <a:pt x="606" y="4690"/>
                  <a:pt x="595" y="4553"/>
                  <a:pt x="584" y="4415"/>
                </a:cubicBezTo>
                <a:cubicBezTo>
                  <a:pt x="574" y="4277"/>
                  <a:pt x="572" y="4156"/>
                  <a:pt x="578" y="4048"/>
                </a:cubicBezTo>
                <a:cubicBezTo>
                  <a:pt x="584" y="3907"/>
                  <a:pt x="603" y="3792"/>
                  <a:pt x="632" y="3704"/>
                </a:cubicBezTo>
                <a:cubicBezTo>
                  <a:pt x="661" y="3616"/>
                  <a:pt x="708" y="3518"/>
                  <a:pt x="772" y="3412"/>
                </a:cubicBezTo>
                <a:cubicBezTo>
                  <a:pt x="837" y="3305"/>
                  <a:pt x="893" y="3239"/>
                  <a:pt x="941" y="3215"/>
                </a:cubicBezTo>
                <a:lnTo>
                  <a:pt x="1273" y="3012"/>
                </a:lnTo>
                <a:cubicBezTo>
                  <a:pt x="1174" y="2959"/>
                  <a:pt x="1094" y="2915"/>
                  <a:pt x="1034" y="2880"/>
                </a:cubicBezTo>
                <a:cubicBezTo>
                  <a:pt x="975" y="2844"/>
                  <a:pt x="924" y="2806"/>
                  <a:pt x="884" y="2767"/>
                </a:cubicBezTo>
                <a:cubicBezTo>
                  <a:pt x="844" y="2729"/>
                  <a:pt x="796" y="2661"/>
                  <a:pt x="739" y="2564"/>
                </a:cubicBezTo>
                <a:cubicBezTo>
                  <a:pt x="683" y="2467"/>
                  <a:pt x="639" y="2372"/>
                  <a:pt x="611" y="2279"/>
                </a:cubicBezTo>
                <a:cubicBezTo>
                  <a:pt x="582" y="2187"/>
                  <a:pt x="565" y="2085"/>
                  <a:pt x="558" y="1973"/>
                </a:cubicBezTo>
                <a:cubicBezTo>
                  <a:pt x="550" y="1862"/>
                  <a:pt x="552" y="1753"/>
                  <a:pt x="562" y="1648"/>
                </a:cubicBezTo>
                <a:cubicBezTo>
                  <a:pt x="566" y="1592"/>
                  <a:pt x="580" y="1478"/>
                  <a:pt x="605" y="1308"/>
                </a:cubicBezTo>
                <a:cubicBezTo>
                  <a:pt x="629" y="1139"/>
                  <a:pt x="643" y="1004"/>
                  <a:pt x="646" y="904"/>
                </a:cubicBezTo>
                <a:cubicBezTo>
                  <a:pt x="649" y="805"/>
                  <a:pt x="641" y="718"/>
                  <a:pt x="619" y="644"/>
                </a:cubicBezTo>
                <a:cubicBezTo>
                  <a:pt x="603" y="589"/>
                  <a:pt x="569" y="522"/>
                  <a:pt x="520" y="441"/>
                </a:cubicBezTo>
                <a:cubicBezTo>
                  <a:pt x="470" y="360"/>
                  <a:pt x="411" y="293"/>
                  <a:pt x="341" y="240"/>
                </a:cubicBezTo>
                <a:cubicBezTo>
                  <a:pt x="272" y="187"/>
                  <a:pt x="208" y="152"/>
                  <a:pt x="152" y="132"/>
                </a:cubicBezTo>
                <a:lnTo>
                  <a:pt x="0" y="82"/>
                </a:lnTo>
                <a:close/>
              </a:path>
            </a:pathLst>
          </a:custGeom>
          <a:solidFill>
            <a:srgbClr val="4E67C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594995" y="2816860"/>
            <a:ext cx="1885950" cy="1899285"/>
            <a:chOff x="1068251" y="2861983"/>
            <a:chExt cx="3343834" cy="3343834"/>
          </a:xfrm>
          <a:solidFill>
            <a:srgbClr val="0080CB"/>
          </a:solidFill>
        </p:grpSpPr>
        <p:sp>
          <p:nvSpPr>
            <p:cNvPr id="11" name="椭圆 10"/>
            <p:cNvSpPr/>
            <p:nvPr/>
          </p:nvSpPr>
          <p:spPr>
            <a:xfrm>
              <a:off x="1068251" y="2861983"/>
              <a:ext cx="3343834" cy="3343834"/>
            </a:xfrm>
            <a:prstGeom prst="ellipse">
              <a:avLst/>
            </a:prstGeom>
            <a:solidFill>
              <a:srgbClr val="4E6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225838" y="3019572"/>
              <a:ext cx="3028664" cy="30286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E67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36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数据模型</a:t>
              </a:r>
              <a:endParaRPr lang="zh-CN" altLang="en-US" sz="3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2" grpId="0" bldLvl="0" animBg="1"/>
      <p:bldP spid="7" grpId="0" bldLvl="0" animBg="1"/>
      <p:bldP spid="8" grpId="0" bldLvl="0" animBg="1"/>
      <p:bldP spid="2" grpId="1" animBg="1"/>
      <p:bldP spid="7" grpId="1" animBg="1"/>
      <p:bldP spid="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-11113" y="-3175"/>
            <a:ext cx="3003551" cy="6858000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TextBox 11"/>
          <p:cNvSpPr>
            <a:spLocks noChangeArrowheads="1"/>
          </p:cNvSpPr>
          <p:nvPr/>
        </p:nvSpPr>
        <p:spPr bwMode="auto">
          <a:xfrm>
            <a:off x="4168775" y="3600450"/>
            <a:ext cx="66960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3</a:t>
            </a:r>
            <a:r>
              <a:rPr lang="zh-CN" altLang="en-US" sz="36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关系的完整性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0" name="TextBox 10"/>
          <p:cNvSpPr>
            <a:spLocks noChangeArrowheads="1"/>
          </p:cNvSpPr>
          <p:nvPr/>
        </p:nvSpPr>
        <p:spPr bwMode="auto">
          <a:xfrm>
            <a:off x="4168775" y="1806575"/>
            <a:ext cx="66960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1</a:t>
            </a: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关系代数的基本术语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1" name="TextBox 10"/>
          <p:cNvSpPr>
            <a:spLocks noChangeArrowheads="1"/>
          </p:cNvSpPr>
          <p:nvPr/>
        </p:nvSpPr>
        <p:spPr bwMode="auto">
          <a:xfrm>
            <a:off x="4167188" y="2706688"/>
            <a:ext cx="66960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2 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关系模式与关系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2" name="TextBox 11"/>
          <p:cNvSpPr>
            <a:spLocks noChangeArrowheads="1"/>
          </p:cNvSpPr>
          <p:nvPr/>
        </p:nvSpPr>
        <p:spPr bwMode="auto">
          <a:xfrm>
            <a:off x="4154488" y="4395788"/>
            <a:ext cx="66960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4</a:t>
            </a:r>
            <a:r>
              <a:rPr lang="zh-CN" altLang="en-US" sz="36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关系运算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文本框 52"/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" name="TextBox 6"/>
          <p:cNvSpPr>
            <a:spLocks noChangeArrowheads="1"/>
          </p:cNvSpPr>
          <p:nvPr/>
        </p:nvSpPr>
        <p:spPr bwMode="auto">
          <a:xfrm>
            <a:off x="2959100" y="122238"/>
            <a:ext cx="5507038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2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章  关系数据库理论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关系数据库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2690" y="1125220"/>
            <a:ext cx="9999980" cy="5041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5000"/>
              </a:lnSpc>
              <a:buFont typeface="Wingdings" panose="05000000000000000000" charset="0"/>
            </a:pP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why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？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lnSpc>
                <a:spcPts val="37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cs typeface="黑体" panose="02010609060101010101" pitchFamily="49" charset="-122"/>
                <a:sym typeface="+mn-ea"/>
              </a:rPr>
              <a:t>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关系数据库是当前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最主流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的数据库，占据了数据库绝对的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大多数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市场，地位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无可撼动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不可替代。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algn="ctr">
              <a:lnSpc>
                <a:spcPct val="125000"/>
              </a:lnSpc>
              <a:buFont typeface="Wingdings" panose="05000000000000000000" charset="0"/>
            </a:pP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what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？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lvl="1">
              <a:lnSpc>
                <a:spcPct val="125000"/>
              </a:lnSpc>
              <a:buFont typeface="Wingdings" panose="05000000000000000000" charset="0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关系数据库就是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基于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关系数据模型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建立的数据库，而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关系逻辑上对应一张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二维表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，关系数据库可以理解为由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二维表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组成的数据库。</a:t>
            </a:r>
            <a:endParaRPr lang="zh-CN" altLang="en-US" sz="2800" dirty="0"/>
          </a:p>
          <a:p>
            <a:pPr algn="ctr">
              <a:lnSpc>
                <a:spcPct val="125000"/>
              </a:lnSpc>
              <a:buFont typeface="Wingdings" panose="05000000000000000000" charset="0"/>
            </a:pP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how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？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>
              <a:lnSpc>
                <a:spcPct val="125000"/>
              </a:lnSpc>
              <a:buFont typeface="Wingdings" panose="05000000000000000000" charset="0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数据模型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要素：数据结构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+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数据操作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+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数据约束。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关系的直观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认识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350260" y="3321685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758565" y="2637790"/>
            <a:ext cx="496951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举例：学生基本信息登记表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2188845" y="5770880"/>
            <a:ext cx="8424545" cy="535305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065" lvl="1" indent="0">
              <a:buNone/>
            </a:pPr>
            <a:r>
              <a:rPr lang="zh-CN" altLang="en-US" sz="2800" dirty="0" smtClean="0"/>
              <a:t>可以从</a:t>
            </a:r>
            <a:r>
              <a:rPr lang="zh-CN" altLang="en-US" sz="2800" dirty="0" smtClean="0">
                <a:solidFill>
                  <a:srgbClr val="FF0000"/>
                </a:solidFill>
              </a:rPr>
              <a:t>表名</a:t>
            </a:r>
            <a:r>
              <a:rPr lang="zh-CN" altLang="en-US" sz="2800" dirty="0" smtClean="0"/>
              <a:t>、</a:t>
            </a:r>
            <a:r>
              <a:rPr lang="zh-CN" altLang="en-US" sz="2800" dirty="0" smtClean="0">
                <a:solidFill>
                  <a:srgbClr val="FF0000"/>
                </a:solidFill>
              </a:rPr>
              <a:t>表头</a:t>
            </a:r>
            <a:r>
              <a:rPr lang="zh-CN" altLang="en-US" sz="2800" dirty="0" smtClean="0"/>
              <a:t>、</a:t>
            </a:r>
            <a:r>
              <a:rPr lang="zh-CN" altLang="en-US" sz="2800" dirty="0" smtClean="0">
                <a:solidFill>
                  <a:srgbClr val="FF0000"/>
                </a:solidFill>
              </a:rPr>
              <a:t>表</a:t>
            </a:r>
            <a:r>
              <a:rPr lang="zh-CN" altLang="en-US" sz="2800" dirty="0" smtClean="0"/>
              <a:t>（</a:t>
            </a:r>
            <a:r>
              <a:rPr lang="zh-CN" altLang="en-US" sz="2800" dirty="0" smtClean="0">
                <a:solidFill>
                  <a:srgbClr val="FF0000"/>
                </a:solidFill>
              </a:rPr>
              <a:t>行</a:t>
            </a:r>
            <a:r>
              <a:rPr lang="zh-CN" altLang="en-US" sz="2800" dirty="0" smtClean="0"/>
              <a:t>和</a:t>
            </a:r>
            <a:r>
              <a:rPr lang="zh-CN" altLang="en-US" sz="2800" dirty="0" smtClean="0">
                <a:solidFill>
                  <a:srgbClr val="FF0000"/>
                </a:solidFill>
              </a:rPr>
              <a:t>列）</a:t>
            </a:r>
            <a:r>
              <a:rPr lang="zh-CN" altLang="en-US" sz="2800" dirty="0" smtClean="0"/>
              <a:t>的角度来分析。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2642870" y="1341120"/>
            <a:ext cx="705739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393065" lvl="1" indent="0">
              <a:buNone/>
            </a:pPr>
            <a:r>
              <a:rPr lang="zh-CN" altLang="en-US" sz="2800" dirty="0" smtClean="0">
                <a:sym typeface="+mn-ea"/>
              </a:rPr>
              <a:t>关系数据库逻辑上由一张张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二维表</a:t>
            </a:r>
            <a:r>
              <a:rPr lang="zh-CN" altLang="en-US" sz="2800" dirty="0">
                <a:sym typeface="+mn-ea"/>
              </a:rPr>
              <a:t>构成 </a:t>
            </a:r>
            <a:r>
              <a:rPr lang="zh-CN" altLang="en-US" sz="2800" dirty="0" smtClean="0">
                <a:sym typeface="+mn-ea"/>
              </a:rPr>
              <a:t>，</a:t>
            </a:r>
            <a:endParaRPr lang="zh-CN" altLang="en-US" sz="2800" dirty="0" smtClean="0">
              <a:sym typeface="+mn-ea"/>
            </a:endParaRPr>
          </a:p>
          <a:p>
            <a:pPr marL="393065" lvl="1" indent="0">
              <a:buNone/>
            </a:pPr>
            <a:r>
              <a:rPr lang="zh-CN" altLang="en-US" sz="2800" dirty="0" smtClean="0">
                <a:sym typeface="+mn-ea"/>
              </a:rPr>
              <a:t>研究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关系数据结构</a:t>
            </a:r>
            <a:r>
              <a:rPr lang="zh-CN" altLang="en-US" sz="2800" dirty="0" smtClean="0">
                <a:sym typeface="+mn-ea"/>
              </a:rPr>
              <a:t>就是研究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二维表结构</a:t>
            </a:r>
            <a:r>
              <a:rPr lang="zh-CN" altLang="en-US" sz="2800" dirty="0" smtClean="0">
                <a:sym typeface="+mn-ea"/>
              </a:rPr>
              <a:t>。</a:t>
            </a:r>
            <a:endParaRPr lang="zh-CN" altLang="en-US" sz="2800" dirty="0" smtClean="0"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关系的直观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认识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27" name="TextBox 6"/>
          <p:cNvSpPr txBox="1"/>
          <p:nvPr/>
        </p:nvSpPr>
        <p:spPr>
          <a:xfrm>
            <a:off x="4556125" y="1758950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9775" y="2435860"/>
            <a:ext cx="6132195" cy="15601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标注 2"/>
          <p:cNvSpPr/>
          <p:nvPr/>
        </p:nvSpPr>
        <p:spPr>
          <a:xfrm>
            <a:off x="8310880" y="1468120"/>
            <a:ext cx="2181860" cy="658495"/>
          </a:xfrm>
          <a:prstGeom prst="wedgeRoundRectCallout">
            <a:avLst>
              <a:gd name="adj1" fmla="val -63445"/>
              <a:gd name="adj2" fmla="val 94165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表头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45205" y="2526030"/>
          <a:ext cx="5600700" cy="2769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714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4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字符型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字符型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布尔型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短整型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圆角矩形标注 9"/>
          <p:cNvSpPr/>
          <p:nvPr/>
        </p:nvSpPr>
        <p:spPr>
          <a:xfrm>
            <a:off x="1736090" y="1468120"/>
            <a:ext cx="1809115" cy="658495"/>
          </a:xfrm>
          <a:prstGeom prst="wedgeRoundRectCallout">
            <a:avLst>
              <a:gd name="adj1" fmla="val 107037"/>
              <a:gd name="adj2" fmla="val 41610"/>
              <a:gd name="adj3" fmla="val 16667"/>
            </a:avLst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表名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1718945" y="5767705"/>
            <a:ext cx="1723390" cy="643890"/>
          </a:xfrm>
          <a:prstGeom prst="wedgeRoundRectCallout">
            <a:avLst>
              <a:gd name="adj1" fmla="val 61164"/>
              <a:gd name="adj2" fmla="val -172480"/>
              <a:gd name="adj3" fmla="val 16667"/>
            </a:avLst>
          </a:prstGeom>
          <a:noFill/>
          <a:ln w="19050">
            <a:solidFill>
              <a:srgbClr val="1F2DA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表身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79140" y="4107180"/>
            <a:ext cx="6132195" cy="1395730"/>
          </a:xfrm>
          <a:prstGeom prst="rect">
            <a:avLst/>
          </a:prstGeom>
          <a:noFill/>
          <a:ln w="19050">
            <a:solidFill>
              <a:srgbClr val="1F2D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关系的直观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认识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17" name="TextBox 6"/>
          <p:cNvSpPr txBox="1"/>
          <p:nvPr/>
        </p:nvSpPr>
        <p:spPr>
          <a:xfrm>
            <a:off x="4556125" y="1758950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79775" y="2435860"/>
            <a:ext cx="6132195" cy="15601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标注 18"/>
          <p:cNvSpPr/>
          <p:nvPr/>
        </p:nvSpPr>
        <p:spPr>
          <a:xfrm>
            <a:off x="8310880" y="1468120"/>
            <a:ext cx="2181860" cy="658495"/>
          </a:xfrm>
          <a:prstGeom prst="wedgeRoundRectCallout">
            <a:avLst>
              <a:gd name="adj1" fmla="val -63445"/>
              <a:gd name="adj2" fmla="val 94165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关系模式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" name="表格 19"/>
          <p:cNvGraphicFramePr/>
          <p:nvPr>
            <p:custDataLst>
              <p:tags r:id="rId1"/>
            </p:custDataLst>
          </p:nvPr>
        </p:nvGraphicFramePr>
        <p:xfrm>
          <a:off x="3545205" y="2526030"/>
          <a:ext cx="5600700" cy="2769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714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4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字符型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字符型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布尔型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dirty="0">
                          <a:sym typeface="+mn-ea"/>
                        </a:rPr>
                        <a:t>短整型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圆角矩形标注 20"/>
          <p:cNvSpPr/>
          <p:nvPr/>
        </p:nvSpPr>
        <p:spPr>
          <a:xfrm>
            <a:off x="1736090" y="1468120"/>
            <a:ext cx="1809115" cy="658495"/>
          </a:xfrm>
          <a:prstGeom prst="wedgeRoundRectCallout">
            <a:avLst>
              <a:gd name="adj1" fmla="val 107037"/>
              <a:gd name="adj2" fmla="val 41610"/>
              <a:gd name="adj3" fmla="val 16667"/>
            </a:avLst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关系名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圆角矩形标注 21"/>
          <p:cNvSpPr/>
          <p:nvPr/>
        </p:nvSpPr>
        <p:spPr>
          <a:xfrm>
            <a:off x="1718945" y="5767705"/>
            <a:ext cx="1723390" cy="643890"/>
          </a:xfrm>
          <a:prstGeom prst="wedgeRoundRectCallout">
            <a:avLst>
              <a:gd name="adj1" fmla="val 61164"/>
              <a:gd name="adj2" fmla="val -172480"/>
              <a:gd name="adj3" fmla="val 16667"/>
            </a:avLst>
          </a:prstGeom>
          <a:noFill/>
          <a:ln w="19050">
            <a:solidFill>
              <a:srgbClr val="1F2DA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79140" y="4107180"/>
            <a:ext cx="6132195" cy="1395730"/>
          </a:xfrm>
          <a:prstGeom prst="rect">
            <a:avLst/>
          </a:prstGeom>
          <a:noFill/>
          <a:ln w="19050">
            <a:solidFill>
              <a:srgbClr val="1F2D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内容占位符 1"/>
          <p:cNvSpPr>
            <a:spLocks noGrp="1"/>
          </p:cNvSpPr>
          <p:nvPr/>
        </p:nvSpPr>
        <p:spPr>
          <a:xfrm>
            <a:off x="3618230" y="5823585"/>
            <a:ext cx="4516755" cy="58801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065" lvl="1" indent="0">
              <a:buNone/>
            </a:pPr>
            <a:r>
              <a:rPr lang="zh-CN" altLang="en-US" sz="2800" dirty="0"/>
              <a:t> 逻辑上对应一张二维表</a:t>
            </a:r>
            <a:r>
              <a:rPr lang="en-US" altLang="zh-CN" sz="2800" dirty="0" smtClean="0"/>
              <a:t>	</a:t>
            </a:r>
            <a:endParaRPr lang="zh-CN" altLang="en-US" sz="2800" dirty="0"/>
          </a:p>
        </p:txBody>
      </p:sp>
      <p:sp>
        <p:nvSpPr>
          <p:cNvPr id="25" name="文本框 24"/>
          <p:cNvSpPr txBox="1"/>
          <p:nvPr/>
        </p:nvSpPr>
        <p:spPr>
          <a:xfrm>
            <a:off x="10571480" y="1075690"/>
            <a:ext cx="613410" cy="2225040"/>
          </a:xfrm>
          <a:prstGeom prst="rect">
            <a:avLst/>
          </a:prstGeom>
          <a:noFill/>
        </p:spPr>
        <p:txBody>
          <a:bodyPr vert="eaVert" wrap="none" rtlCol="0" anchor="t">
            <a:spAutoFit/>
          </a:bodyPr>
          <a:p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对关系的描述</a:t>
            </a:r>
            <a:endParaRPr lang="zh-CN" altLang="en-US" sz="28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2" grpId="0" bldLvl="0" animBg="1"/>
      <p:bldP spid="24" grpId="1"/>
      <p:bldP spid="22" grpId="1" animBg="1"/>
      <p:bldP spid="21" grpId="0" bldLvl="0" animBg="1"/>
      <p:bldP spid="21" grpId="1" animBg="1"/>
      <p:bldP spid="19" grpId="0" bldLvl="0" animBg="1"/>
      <p:bldP spid="25" grpId="0"/>
      <p:bldP spid="19" grpId="1" animBg="1"/>
      <p:bldP spid="2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关系的直观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认识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829050" y="2469515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39970" y="1702435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2999740" y="4839970"/>
            <a:ext cx="725995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列</a:t>
            </a:r>
            <a:r>
              <a:rPr lang="zh-CN" altLang="en-US" sz="2800" dirty="0" smtClean="0">
                <a:latin typeface="+mn-ea"/>
                <a:ea typeface="+mn-ea"/>
                <a:cs typeface="+mn-ea"/>
              </a:rPr>
              <a:t>也称为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数据项</a:t>
            </a:r>
            <a:r>
              <a:rPr lang="zh-CN" altLang="en-US" sz="2800" dirty="0" smtClean="0">
                <a:latin typeface="+mn-ea"/>
                <a:ea typeface="+mn-ea"/>
                <a:cs typeface="+mn-ea"/>
                <a:sym typeface="+mn-ea"/>
              </a:rPr>
              <a:t>或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字段</a:t>
            </a:r>
            <a:r>
              <a:rPr lang="zh-CN" altLang="en-US" sz="2800" dirty="0" smtClean="0">
                <a:latin typeface="+mn-ea"/>
                <a:ea typeface="+mn-ea"/>
                <a:cs typeface="+mn-ea"/>
              </a:rPr>
              <a:t>或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属性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Attribute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3620197" y="1704885"/>
            <a:ext cx="877186" cy="563252"/>
          </a:xfrm>
          <a:prstGeom prst="wedgeRoundRectCallout">
            <a:avLst>
              <a:gd name="adj1" fmla="val 16440"/>
              <a:gd name="adj2" fmla="val 83838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2999740" y="5443855"/>
            <a:ext cx="724535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列</a:t>
            </a:r>
            <a:r>
              <a:rPr lang="zh-CN" altLang="en-US" sz="2800" dirty="0" smtClean="0">
                <a:latin typeface="+mn-ea"/>
                <a:ea typeface="+mn-ea"/>
                <a:cs typeface="+mn-ea"/>
                <a:sym typeface="+mn-ea"/>
              </a:rPr>
              <a:t>的个数称为关系的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元或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目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或度。</a:t>
            </a:r>
            <a:r>
              <a:rPr lang="zh-CN" altLang="en-US" sz="2800" dirty="0" smtClean="0">
                <a:latin typeface="+mn-ea"/>
                <a:ea typeface="+mn-ea"/>
                <a:cs typeface="+mn-ea"/>
                <a:sym typeface="+mn-ea"/>
              </a:rPr>
              <a:t> </a:t>
            </a:r>
            <a:endParaRPr lang="zh-CN" altLang="en-US" sz="2800" dirty="0" smtClean="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3" name="圆角矩形标注 12"/>
          <p:cNvSpPr/>
          <p:nvPr/>
        </p:nvSpPr>
        <p:spPr>
          <a:xfrm>
            <a:off x="8612186" y="1437209"/>
            <a:ext cx="1996440" cy="577850"/>
          </a:xfrm>
          <a:prstGeom prst="wedgeRoundRectCallout">
            <a:avLst>
              <a:gd name="adj1" fmla="val 5597"/>
              <a:gd name="adj2" fmla="val 112857"/>
              <a:gd name="adj3" fmla="val 16667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dirty="0" smtClean="0">
                <a:solidFill>
                  <a:schemeClr val="tx1"/>
                </a:solidFill>
                <a:latin typeface="手札体-简粗体" panose="03000700000000000000" pitchFamily="66" charset="-122"/>
                <a:ea typeface="手札体-简粗体" panose="03000700000000000000" pitchFamily="66" charset="-122"/>
                <a:sym typeface="+mn-ea"/>
              </a:rPr>
              <a:t>4</a:t>
            </a:r>
            <a:r>
              <a:rPr lang="zh-CN" altLang="en-US" sz="2800" dirty="0" smtClean="0">
                <a:solidFill>
                  <a:schemeClr val="tx1"/>
                </a:solidFill>
                <a:latin typeface="手札体-简粗体" panose="03000700000000000000" pitchFamily="66" charset="-122"/>
                <a:ea typeface="手札体-简粗体" panose="03000700000000000000" pitchFamily="66" charset="-122"/>
                <a:sym typeface="+mn-ea"/>
              </a:rPr>
              <a:t>元关系</a:t>
            </a:r>
            <a:endParaRPr lang="zh-CN" altLang="en-US" sz="2800" dirty="0">
              <a:solidFill>
                <a:schemeClr val="tx1"/>
              </a:solidFill>
              <a:latin typeface="手札体-简粗体" panose="03000700000000000000" pitchFamily="66" charset="-122"/>
              <a:ea typeface="手札体-简粗体" panose="03000700000000000000" pitchFamily="66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63620" y="2379345"/>
            <a:ext cx="6132195" cy="74993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999740" y="6049010"/>
            <a:ext cx="7223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列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取值范围称为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值域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，简称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Domain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74965" y="2383790"/>
            <a:ext cx="1501140" cy="2277745"/>
          </a:xfrm>
          <a:prstGeom prst="rect">
            <a:avLst/>
          </a:prstGeom>
          <a:noFill/>
          <a:ln>
            <a:solidFill>
              <a:srgbClr val="1F2DA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9476105" y="4033520"/>
            <a:ext cx="1597025" cy="577850"/>
          </a:xfrm>
          <a:prstGeom prst="wedgeRoundRectCallout">
            <a:avLst>
              <a:gd name="adj1" fmla="val 13659"/>
              <a:gd name="adj2" fmla="val -43296"/>
              <a:gd name="adj3" fmla="val 16667"/>
            </a:avLst>
          </a:prstGeom>
          <a:ln>
            <a:solidFill>
              <a:srgbClr val="1F2DA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19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zh-CN" altLang="en-US" sz="2800" dirty="0">
              <a:solidFill>
                <a:schemeClr val="tx1"/>
              </a:solidFill>
              <a:latin typeface="手札体-简粗体" panose="03000700000000000000" pitchFamily="66" charset="-122"/>
              <a:ea typeface="手札体-简粗体" panose="03000700000000000000" pitchFamily="66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3" grpId="0" bldLvl="0" animBg="1"/>
      <p:bldP spid="14" grpId="0" bldLvl="0" animBg="1"/>
      <p:bldP spid="13" grpId="1" animBg="1"/>
      <p:bldP spid="14" grpId="1" animBg="1"/>
      <p:bldP spid="16" grpId="0" bldLvl="0" animBg="1"/>
      <p:bldP spid="16" grpId="1" animBg="1"/>
      <p:bldP spid="17" grpId="0" bldLvl="0" animBg="1"/>
      <p:bldP spid="17" grpId="1" animBg="1"/>
      <p:bldP spid="15" grpId="0"/>
      <p:bldP spid="1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关系的直观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认识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778250" y="2304415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TextBox 6"/>
          <p:cNvSpPr txBox="1"/>
          <p:nvPr/>
        </p:nvSpPr>
        <p:spPr>
          <a:xfrm>
            <a:off x="4789170" y="1537335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51860" y="3321685"/>
            <a:ext cx="6200775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99055" y="4628515"/>
            <a:ext cx="6413500" cy="5657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lnSpc>
                <a:spcPts val="37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行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也称为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元组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(Tuple)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记录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(Record)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b="1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2294952" y="3207295"/>
            <a:ext cx="877186" cy="563252"/>
          </a:xfrm>
          <a:prstGeom prst="wedgeRoundRectCallout">
            <a:avLst>
              <a:gd name="adj1" fmla="val 75301"/>
              <a:gd name="adj2" fmla="val -1168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99055" y="5265420"/>
            <a:ext cx="6765290" cy="5657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lnSpc>
                <a:spcPts val="3700"/>
              </a:lnSpc>
            </a:pPr>
            <a:r>
              <a:rPr sz="2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行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中的一个属性值称为</a:t>
            </a:r>
            <a:r>
              <a:rPr sz="2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分量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Component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9148445" y="5234305"/>
            <a:ext cx="1720850" cy="577850"/>
          </a:xfrm>
          <a:prstGeom prst="wedgeRoundRectCallout">
            <a:avLst>
              <a:gd name="adj1" fmla="val -49704"/>
              <a:gd name="adj2" fmla="val -262527"/>
              <a:gd name="adj3" fmla="val 16667"/>
            </a:avLst>
          </a:prstGeom>
          <a:noFill/>
          <a:ln>
            <a:solidFill>
              <a:srgbClr val="1F2DA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一个分量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84160" y="3228975"/>
            <a:ext cx="1572260" cy="737235"/>
          </a:xfrm>
          <a:prstGeom prst="rect">
            <a:avLst/>
          </a:prstGeom>
          <a:noFill/>
          <a:ln>
            <a:solidFill>
              <a:srgbClr val="1F2DA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599055" y="5925185"/>
            <a:ext cx="7384415" cy="5657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3700"/>
              </a:lnSpc>
            </a:pPr>
            <a:r>
              <a:rPr sz="2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行</a:t>
            </a:r>
            <a:r>
              <a:rPr lang="zh-CN" altLang="en-US" sz="2800" dirty="0">
                <a:sym typeface="+mn-ea"/>
              </a:rPr>
              <a:t>的个数称为关系的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基数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(Cardinality)</a:t>
            </a:r>
            <a:r>
              <a:rPr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9" name="圆角矩形标注 18"/>
          <p:cNvSpPr/>
          <p:nvPr/>
        </p:nvSpPr>
        <p:spPr>
          <a:xfrm>
            <a:off x="9148445" y="6003925"/>
            <a:ext cx="1718310" cy="577850"/>
          </a:xfrm>
          <a:prstGeom prst="wedgeRoundRectCallout">
            <a:avLst>
              <a:gd name="adj1" fmla="val 13659"/>
              <a:gd name="adj2" fmla="val -43296"/>
              <a:gd name="adj3" fmla="val 16667"/>
            </a:avLst>
          </a:prstGeom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p>
            <a:pPr algn="ctr"/>
            <a:r>
              <a:rPr 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基数为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0" grpId="1"/>
      <p:bldP spid="11" grpId="0" bldLvl="0" animBg="1"/>
      <p:bldP spid="12" grpId="0" bldLvl="0" animBg="1"/>
      <p:bldP spid="11" grpId="1" animBg="1"/>
      <p:bldP spid="12" grpId="1" animBg="1"/>
      <p:bldP spid="18" grpId="0"/>
      <p:bldP spid="18" grpId="1"/>
      <p:bldP spid="19" grpId="0" bldLvl="0" animBg="1"/>
      <p:bldP spid="1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关系的直观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认识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029710" y="3034030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字符型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字符型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布尔型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短整型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40630" y="1959610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2513330" y="1275080"/>
            <a:ext cx="1472565" cy="658495"/>
          </a:xfrm>
          <a:prstGeom prst="wedgeRoundRectCallout">
            <a:avLst>
              <a:gd name="adj1" fmla="val 124816"/>
              <a:gd name="adj2" fmla="val 74397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关系名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64280" y="3108960"/>
            <a:ext cx="6132195" cy="95123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2513330" y="2192020"/>
            <a:ext cx="1849755" cy="658495"/>
          </a:xfrm>
          <a:prstGeom prst="wedgeRoundRectCallout">
            <a:avLst>
              <a:gd name="adj1" fmla="val 101868"/>
              <a:gd name="adj2" fmla="val 76808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关系模式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2538730" y="3361055"/>
            <a:ext cx="976630" cy="658495"/>
          </a:xfrm>
          <a:prstGeom prst="wedgeRoundRectCallout">
            <a:avLst>
              <a:gd name="adj1" fmla="val 94083"/>
              <a:gd name="adj2" fmla="val 106798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8709660" y="2037715"/>
            <a:ext cx="1105535" cy="563245"/>
          </a:xfrm>
          <a:prstGeom prst="wedgeRoundRectCallout">
            <a:avLst>
              <a:gd name="adj1" fmla="val -21165"/>
              <a:gd name="adj2" fmla="val 116854"/>
              <a:gd name="adj3" fmla="val 16667"/>
            </a:avLst>
          </a:prstGeom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8709660" y="708025"/>
            <a:ext cx="2220595" cy="566420"/>
          </a:xfrm>
          <a:prstGeom prst="wedgeRoundRectCallout">
            <a:avLst>
              <a:gd name="adj1" fmla="val -21946"/>
              <a:gd name="adj2" fmla="val 47951"/>
              <a:gd name="adj3" fmla="val 16667"/>
            </a:avLst>
          </a:prstGeom>
          <a:ln w="1905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列个数为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元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8709660" y="1355725"/>
            <a:ext cx="2220595" cy="577850"/>
          </a:xfrm>
          <a:prstGeom prst="wedgeRoundRectCallout">
            <a:avLst>
              <a:gd name="adj1" fmla="val -12982"/>
              <a:gd name="adj2" fmla="val 42857"/>
              <a:gd name="adj3" fmla="val 16667"/>
            </a:avLst>
          </a:prstGeom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列取值为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04615" y="4593590"/>
            <a:ext cx="5910580" cy="584835"/>
          </a:xfrm>
          <a:prstGeom prst="rect">
            <a:avLst/>
          </a:prstGeom>
          <a:noFill/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标注 20"/>
          <p:cNvSpPr/>
          <p:nvPr/>
        </p:nvSpPr>
        <p:spPr>
          <a:xfrm>
            <a:off x="2538730" y="4530090"/>
            <a:ext cx="1062990" cy="563245"/>
          </a:xfrm>
          <a:prstGeom prst="wedgeRoundRectCallout">
            <a:avLst>
              <a:gd name="adj1" fmla="val 75301"/>
              <a:gd name="adj2" fmla="val -1168"/>
              <a:gd name="adj3" fmla="val 16667"/>
            </a:avLst>
          </a:prstGeom>
          <a:noFill/>
          <a:ln w="19050"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圆角矩形标注 21"/>
          <p:cNvSpPr/>
          <p:nvPr/>
        </p:nvSpPr>
        <p:spPr>
          <a:xfrm>
            <a:off x="5338445" y="6265545"/>
            <a:ext cx="1720850" cy="577850"/>
          </a:xfrm>
          <a:prstGeom prst="wedgeRoundRectCallout">
            <a:avLst>
              <a:gd name="adj1" fmla="val -12435"/>
              <a:gd name="adj2" fmla="val -261758"/>
              <a:gd name="adj3" fmla="val 16667"/>
            </a:avLst>
          </a:prstGeom>
          <a:noFill/>
          <a:ln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一个分量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338445" y="4527550"/>
            <a:ext cx="1572260" cy="737235"/>
          </a:xfrm>
          <a:prstGeom prst="rect">
            <a:avLst/>
          </a:prstGeom>
          <a:noFill/>
          <a:ln w="19050"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标注 23"/>
          <p:cNvSpPr/>
          <p:nvPr/>
        </p:nvSpPr>
        <p:spPr>
          <a:xfrm>
            <a:off x="2513330" y="6265545"/>
            <a:ext cx="2039620" cy="577850"/>
          </a:xfrm>
          <a:prstGeom prst="wedgeRoundRectCallout">
            <a:avLst>
              <a:gd name="adj1" fmla="val 13659"/>
              <a:gd name="adj2" fmla="val -43296"/>
              <a:gd name="adj3" fmla="val 16667"/>
            </a:avLst>
          </a:prstGeom>
          <a:ln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p>
            <a:pPr algn="ctr"/>
            <a:r>
              <a:rPr 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行数为基数</a:t>
            </a: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181975" y="2987040"/>
            <a:ext cx="1501140" cy="330073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TextBox 7"/>
          <p:cNvSpPr txBox="1"/>
          <p:nvPr/>
        </p:nvSpPr>
        <p:spPr>
          <a:xfrm>
            <a:off x="338455" y="1392595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3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小结</a:t>
            </a:r>
            <a:endParaRPr lang="zh-CN" altLang="zh-CN" sz="36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13" grpId="0" bldLvl="0" animBg="1"/>
      <p:bldP spid="9" grpId="0" bldLvl="0" animBg="1"/>
      <p:bldP spid="13" grpId="1" animBg="1"/>
      <p:bldP spid="9" grpId="1" animBg="1"/>
      <p:bldP spid="14" grpId="0" bldLvl="0" animBg="1"/>
      <p:bldP spid="14" grpId="1" animBg="1"/>
      <p:bldP spid="21" grpId="0" bldLvl="0" animBg="1"/>
      <p:bldP spid="17" grpId="0" bldLvl="0" animBg="1"/>
      <p:bldP spid="21" grpId="1" animBg="1"/>
      <p:bldP spid="17" grpId="1" animBg="1"/>
      <p:bldP spid="24" grpId="0" bldLvl="0" animBg="1"/>
      <p:bldP spid="24" grpId="1" animBg="1"/>
      <p:bldP spid="23" grpId="0" bldLvl="0" animBg="1"/>
      <p:bldP spid="22" grpId="0" bldLvl="0" animBg="1"/>
      <p:bldP spid="23" grpId="1" animBg="1"/>
      <p:bldP spid="22" grpId="1" animBg="1"/>
      <p:bldP spid="20" grpId="0" bldLvl="0" animBg="1"/>
      <p:bldP spid="25" grpId="0" bldLvl="0" animBg="1"/>
      <p:bldP spid="20" grpId="1" animBg="1"/>
      <p:bldP spid="25" grpId="1" animBg="1"/>
      <p:bldP spid="16" grpId="0" bldLvl="0" animBg="1"/>
      <p:bldP spid="16" grpId="1" animBg="1"/>
      <p:bldP spid="15" grpId="0" bldLvl="0" animBg="1"/>
      <p:bldP spid="1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4" name="文本框 2"/>
          <p:cNvSpPr txBox="1"/>
          <p:nvPr>
            <p:custDataLst>
              <p:tags r:id="rId1"/>
            </p:custDataLst>
          </p:nvPr>
        </p:nvSpPr>
        <p:spPr>
          <a:xfrm>
            <a:off x="803910" y="1125220"/>
            <a:ext cx="10680065" cy="52705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111078" tIns="55543" rIns="111078" bIns="55543" rtlCol="0" anchor="t">
            <a:noAutofit/>
          </a:bodyPr>
          <a:lstStyle>
            <a:lvl1pPr defTabSz="685800">
              <a:lnSpc>
                <a:spcPct val="90000"/>
              </a:lnSpc>
              <a:spcBef>
                <a:spcPct val="0"/>
              </a:spcBef>
              <a:buNone/>
              <a:defRPr sz="3200" b="1" i="0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    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是关系数据库中最重要、最基本的操作对象，也是数据存储的基本单位，也是整个数据库系统的数据来源。</a:t>
            </a:r>
            <a:endParaRPr lang="en-US" altLang="zh-CN" sz="2800" b="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关系模式是对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    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的描述，</a:t>
            </a:r>
            <a:endParaRPr lang="en-US" altLang="zh-CN" sz="2800" b="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模式的一个具体值称为模式的一个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    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800" b="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在关系数据库中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，关系对应二维表，那么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二维表的</a:t>
            </a:r>
            <a:endParaRPr lang="zh-CN" altLang="en-US" sz="2800" b="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一般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称为（  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），列一般称为（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），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800" b="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行个数称为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  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），列个数称为（</a:t>
            </a: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 sz="2800" b="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在关系数据库中，（    ）表示属性的取值范围。</a:t>
            </a:r>
            <a:endParaRPr lang="zh-CN" altLang="en-US" sz="28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78860" y="4354830"/>
            <a:ext cx="1071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元组 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11110" y="4365625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属性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87240" y="5733415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35165" y="2997200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实例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67150" y="2349500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关系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78860" y="5054600"/>
            <a:ext cx="1071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基数 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88910" y="505460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23415" y="120142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12" grpId="0"/>
      <p:bldP spid="12" grpId="1"/>
      <p:bldP spid="11" grpId="0"/>
      <p:bldP spid="11" grpId="1"/>
      <p:bldP spid="2" grpId="0"/>
      <p:bldP spid="2" grpId="1"/>
      <p:bldP spid="3" grpId="0"/>
      <p:bldP spid="3" grpId="1"/>
      <p:bldP spid="18" grpId="0"/>
      <p:bldP spid="18" grpId="1"/>
      <p:bldP spid="19" grpId="0"/>
      <p:bldP spid="19" grpId="1"/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是键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码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892550" y="2632710"/>
          <a:ext cx="560070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圆角矩形标注 6"/>
          <p:cNvSpPr/>
          <p:nvPr/>
        </p:nvSpPr>
        <p:spPr>
          <a:xfrm>
            <a:off x="4415790" y="1603375"/>
            <a:ext cx="4554220" cy="658495"/>
          </a:xfrm>
          <a:prstGeom prst="wedgeRoundRectCallout">
            <a:avLst>
              <a:gd name="adj1" fmla="val -418"/>
              <a:gd name="adj2" fmla="val 45949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那些属性能确定一行内容？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01720" y="2632710"/>
            <a:ext cx="1843405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01720" y="3707130"/>
            <a:ext cx="3213735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TextBox 5"/>
          <p:cNvSpPr txBox="1"/>
          <p:nvPr/>
        </p:nvSpPr>
        <p:spPr>
          <a:xfrm>
            <a:off x="2751189" y="4596178"/>
            <a:ext cx="7501643" cy="19894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码或键（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Key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属性（或属性组）的值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都能用来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唯一标识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该关系的元组，则称这些属性（或属性组）为该关系的码或键。</a:t>
            </a:r>
            <a:endParaRPr lang="zh-CN" altLang="en-US" sz="28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是键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码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718560" y="2113915"/>
          <a:ext cx="560070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圆角矩形标注 1"/>
          <p:cNvSpPr/>
          <p:nvPr/>
        </p:nvSpPr>
        <p:spPr>
          <a:xfrm>
            <a:off x="2767700" y="1397000"/>
            <a:ext cx="7513586" cy="627902"/>
          </a:xfrm>
          <a:prstGeom prst="wedgeRoundRectCallout">
            <a:avLst>
              <a:gd name="adj1" fmla="val -21616"/>
              <a:gd name="adj2" fmla="val 46930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学号，（学号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姓名）做为码那种比较好？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27730" y="2113915"/>
            <a:ext cx="1843405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427730" y="3188335"/>
            <a:ext cx="3213735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TextBox 5"/>
          <p:cNvSpPr txBox="1"/>
          <p:nvPr/>
        </p:nvSpPr>
        <p:spPr>
          <a:xfrm>
            <a:off x="2500242" y="3945939"/>
            <a:ext cx="7501643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超码或超键（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Super Key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在码中去除某个属性，它仍然是这个关系的码</a:t>
            </a:r>
            <a:endParaRPr lang="en-US" altLang="zh-CN" sz="28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圆角矩形标注 32"/>
          <p:cNvSpPr/>
          <p:nvPr/>
        </p:nvSpPr>
        <p:spPr>
          <a:xfrm>
            <a:off x="1988445" y="2113915"/>
            <a:ext cx="1283335" cy="658495"/>
          </a:xfrm>
          <a:prstGeom prst="wedgeRoundRectCallout">
            <a:avLst>
              <a:gd name="adj1" fmla="val 61679"/>
              <a:gd name="adj2" fmla="val -2555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较好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Box 5"/>
          <p:cNvSpPr txBox="1"/>
          <p:nvPr/>
        </p:nvSpPr>
        <p:spPr>
          <a:xfrm>
            <a:off x="2542198" y="5157485"/>
            <a:ext cx="8215630" cy="1514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候选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码或候选键（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Candidate Key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能从中移去任何一个属性，否则它就不再是这个关系的码或键。</a:t>
            </a:r>
            <a:endParaRPr lang="en-US" altLang="zh-CN" sz="28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2" grpId="0"/>
      <p:bldP spid="34" grpId="0"/>
      <p:bldP spid="32" grpId="1"/>
      <p:bldP spid="3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是键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码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422650" y="2228215"/>
          <a:ext cx="560070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身份证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xxx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xxx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圆角矩形标注 6"/>
          <p:cNvSpPr/>
          <p:nvPr/>
        </p:nvSpPr>
        <p:spPr>
          <a:xfrm>
            <a:off x="3830954" y="1360057"/>
            <a:ext cx="4895850" cy="658495"/>
          </a:xfrm>
          <a:prstGeom prst="wedgeRoundRectCallout">
            <a:avLst>
              <a:gd name="adj1" fmla="val -21756"/>
              <a:gd name="adj2" fmla="val 47781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指出候选码？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2146505" y="5166995"/>
            <a:ext cx="8515985" cy="1515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主属性（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Primary Attribute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包含在任何一个候选码中的属性称为主属性或码属性</a:t>
            </a:r>
            <a:endParaRPr lang="en-US" altLang="zh-CN"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反之，为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非主属性（</a:t>
            </a:r>
            <a:r>
              <a:rPr lang="en-US" altLang="zh-CN" sz="2800" dirty="0" err="1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Nonprimary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Attribute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）：</a:t>
            </a:r>
            <a:endParaRPr lang="zh-CN" altLang="en-US" sz="28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47390" y="2228215"/>
            <a:ext cx="1642110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588509" y="2234247"/>
            <a:ext cx="1615497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5"/>
          <p:cNvSpPr txBox="1"/>
          <p:nvPr/>
        </p:nvSpPr>
        <p:spPr>
          <a:xfrm>
            <a:off x="2146505" y="4022636"/>
            <a:ext cx="8134985" cy="104131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码或主键（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Primary Key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在若干个候选码中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指定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一个唯一标识关系的元组</a:t>
            </a:r>
            <a:endParaRPr lang="en-US" altLang="zh-CN" sz="28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bldLvl="0" animBg="1"/>
      <p:bldP spid="18" grpId="0" bldLvl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是键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码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3778250" y="1525905"/>
            <a:ext cx="5045710" cy="658495"/>
          </a:xfrm>
          <a:prstGeom prst="wedgeRoundRectCallout">
            <a:avLst>
              <a:gd name="adj1" fmla="val -9413"/>
              <a:gd name="adj2" fmla="val 46335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指出下面关系的候选码？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17240" y="2411095"/>
            <a:ext cx="5735320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19500" y="2470150"/>
          <a:ext cx="5307330" cy="22155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9110"/>
                <a:gridCol w="1769110"/>
                <a:gridCol w="1769110"/>
              </a:tblGrid>
              <a:tr h="583565">
                <a:tc>
                  <a:txBody>
                    <a:bodyPr/>
                    <a:p>
                      <a:pPr algn="ctr"/>
                      <a:r>
                        <a:rPr lang="zh-CN" altLang="en-US" sz="2800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课程</a:t>
                      </a:r>
                      <a:endParaRPr lang="zh-CN" altLang="en-US" sz="2800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2800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授课老师</a:t>
                      </a:r>
                      <a:endParaRPr lang="zh-CN" altLang="en-US" sz="2800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2800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上课学生</a:t>
                      </a:r>
                      <a:endParaRPr lang="zh-CN" altLang="en-US" sz="2800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anchor="ctr"/>
                </a:tc>
              </a:tr>
              <a:tr h="544195">
                <a:tc>
                  <a:txBody>
                    <a:bodyPr/>
                    <a:p>
                      <a:pPr algn="ctr"/>
                      <a:r>
                        <a:rPr lang="zh-CN" altLang="en-US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</a:t>
                      </a:r>
                      <a:endParaRPr lang="zh-CN" altLang="en-US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小辉辉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张三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</a:tr>
              <a:tr h="543560"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王老师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sz="2800" b="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李四</a:t>
                      </a:r>
                      <a:endParaRPr lang="zh-CN" sz="2800" b="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</a:tr>
              <a:tr h="544195"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C#</a:t>
                      </a:r>
                      <a:endParaRPr lang="en-US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小辉辉</a:t>
                      </a:r>
                      <a:endParaRPr lang="zh-CN" altLang="en-US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张三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  <p:sp>
        <p:nvSpPr>
          <p:cNvPr id="8" name="TextBox 6"/>
          <p:cNvSpPr txBox="1"/>
          <p:nvPr/>
        </p:nvSpPr>
        <p:spPr>
          <a:xfrm>
            <a:off x="2203450" y="4996815"/>
            <a:ext cx="8195945" cy="1514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黑体" panose="02010609060101010101" pitchFamily="49" charset="-122"/>
              </a:rPr>
              <a:t>全码或全键（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  <a:cs typeface="黑体" panose="02010609060101010101" pitchFamily="49" charset="-122"/>
              </a:rPr>
              <a:t>All Key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  <a:cs typeface="黑体" panose="02010609060101010101" pitchFamily="49" charset="-122"/>
              </a:rPr>
              <a:t>）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  <a:cs typeface="黑体" panose="02010609060101010101" pitchFamily="49" charset="-122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ea typeface="+mn-ea"/>
                <a:cs typeface="黑体" panose="02010609060101010101" pitchFamily="49" charset="-122"/>
              </a:rPr>
              <a:t>一</a:t>
            </a:r>
            <a:r>
              <a:rPr lang="zh-CN" altLang="en-US" sz="2800" dirty="0" smtClean="0">
                <a:latin typeface="+mn-ea"/>
                <a:ea typeface="+mn-ea"/>
                <a:cs typeface="黑体" panose="02010609060101010101" pitchFamily="49" charset="-122"/>
              </a:rPr>
              <a:t>个关系模式的所有属性集合是这个关系的主码或主键，这样的</a:t>
            </a:r>
            <a:r>
              <a:rPr lang="zh-CN" altLang="en-US" sz="2800" dirty="0">
                <a:latin typeface="+mn-ea"/>
                <a:ea typeface="+mn-ea"/>
                <a:cs typeface="黑体" panose="02010609060101010101" pitchFamily="49" charset="-122"/>
              </a:rPr>
              <a:t>主码或主</a:t>
            </a:r>
            <a:r>
              <a:rPr lang="zh-CN" altLang="en-US" sz="2800" dirty="0" smtClean="0">
                <a:latin typeface="+mn-ea"/>
                <a:ea typeface="+mn-ea"/>
                <a:cs typeface="黑体" panose="02010609060101010101" pitchFamily="49" charset="-122"/>
              </a:rPr>
              <a:t>键称为全码或全键。</a:t>
            </a:r>
            <a:endParaRPr lang="zh-CN" altLang="en-US" sz="2800" dirty="0" smtClean="0">
              <a:latin typeface="+mn-ea"/>
              <a:ea typeface="+mn-ea"/>
              <a:cs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是键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码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82775" y="3112770"/>
          <a:ext cx="4745990" cy="22155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9110"/>
                <a:gridCol w="1769110"/>
                <a:gridCol w="1207770"/>
              </a:tblGrid>
              <a:tr h="583565">
                <a:tc>
                  <a:txBody>
                    <a:bodyPr/>
                    <a:p>
                      <a:pPr algn="ctr"/>
                      <a:r>
                        <a:rPr lang="zh-CN" altLang="en-US" sz="2800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课程 </a:t>
                      </a:r>
                      <a:endParaRPr lang="zh-CN" altLang="en-US" sz="2800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2800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授课老师</a:t>
                      </a:r>
                      <a:endParaRPr lang="zh-CN" altLang="en-US" sz="2800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2800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学号</a:t>
                      </a:r>
                      <a:endParaRPr lang="zh-CN" altLang="en-US" sz="2800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8580" marR="68580" anchor="ctr"/>
                </a:tc>
              </a:tr>
              <a:tr h="544195">
                <a:tc>
                  <a:txBody>
                    <a:bodyPr/>
                    <a:p>
                      <a:pPr algn="ctr"/>
                      <a:r>
                        <a:rPr lang="zh-CN" altLang="en-US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</a:t>
                      </a:r>
                      <a:endParaRPr lang="zh-CN" altLang="en-US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小辉辉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en-US" sz="2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802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</a:tr>
              <a:tr h="543560"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王老师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algn="ctr"/>
                      <a:r>
                        <a:rPr lang="en-US" sz="2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802</a:t>
                      </a:r>
                      <a:endParaRPr lang="zh-CN" sz="2800" b="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</a:tr>
              <a:tr h="544195"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C#</a:t>
                      </a:r>
                      <a:endParaRPr lang="en-US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小辉辉</a:t>
                      </a:r>
                      <a:endParaRPr lang="zh-CN" altLang="en-US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801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  <p:graphicFrame>
        <p:nvGraphicFramePr>
          <p:cNvPr id="26" name="表格 25"/>
          <p:cNvGraphicFramePr/>
          <p:nvPr>
            <p:custDataLst>
              <p:tags r:id="rId2"/>
            </p:custDataLst>
          </p:nvPr>
        </p:nvGraphicFramePr>
        <p:xfrm>
          <a:off x="5504815" y="1394460"/>
          <a:ext cx="4792345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635"/>
                <a:gridCol w="1228725"/>
                <a:gridCol w="1162050"/>
                <a:gridCol w="125793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身份证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xxx</a:t>
                      </a:r>
                      <a:endParaRPr lang="en-US" altLang="zh-CN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xxx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1613535" y="5460365"/>
            <a:ext cx="8783320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外码或外键（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Foreign Key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某个属性（或属性组）不是这个关系的主码或候选码，而是另一个关系的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主码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22755" y="3112770"/>
            <a:ext cx="5031740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标注 19"/>
          <p:cNvSpPr/>
          <p:nvPr/>
        </p:nvSpPr>
        <p:spPr>
          <a:xfrm>
            <a:off x="2199005" y="1595120"/>
            <a:ext cx="2834005" cy="1181735"/>
          </a:xfrm>
          <a:prstGeom prst="wedgeRoundRectCallout">
            <a:avLst>
              <a:gd name="adj1" fmla="val 49126"/>
              <a:gd name="adj2" fmla="val 30763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找出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个关系候选码相似之处？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87327" y="1394460"/>
            <a:ext cx="1435735" cy="610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61437" y="1394460"/>
            <a:ext cx="1435735" cy="610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标注 9"/>
          <p:cNvSpPr/>
          <p:nvPr/>
        </p:nvSpPr>
        <p:spPr>
          <a:xfrm>
            <a:off x="6918960" y="3752850"/>
            <a:ext cx="3355975" cy="1181735"/>
          </a:xfrm>
          <a:prstGeom prst="wedgeRoundRectCallout">
            <a:avLst>
              <a:gd name="adj1" fmla="val -50700"/>
              <a:gd name="adj2" fmla="val -67571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如果身份证为主键，则学号不是外键</a:t>
            </a:r>
            <a:endParaRPr 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  <p:bldP spid="1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什么是键码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74125" y="3278526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外码</a:t>
            </a:r>
            <a:endParaRPr lang="zh-CN" altLang="en-US" sz="28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74348" y="4034831"/>
            <a:ext cx="1427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主属性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6056630" y="4290695"/>
            <a:ext cx="2651125" cy="0"/>
          </a:xfrm>
          <a:prstGeom prst="straightConnector1">
            <a:avLst/>
          </a:prstGeom>
          <a:ln w="1905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4657725" y="2540000"/>
            <a:ext cx="1494790" cy="738505"/>
          </a:xfrm>
          <a:prstGeom prst="ellipse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 anchorCtr="1"/>
          <a:p>
            <a:pPr algn="ctr"/>
            <a:r>
              <a:rPr lang="zh-CN" altLang="en-US" sz="28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全码</a:t>
            </a:r>
            <a:endParaRPr lang="zh-CN" altLang="en-US" sz="28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123690" y="2475865"/>
            <a:ext cx="2562860" cy="155892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b" anchorCtr="1"/>
          <a:p>
            <a:pPr algn="ctr"/>
            <a:r>
              <a:rPr lang="en-US" altLang="zh-CN" sz="2800"/>
              <a:t> 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主码</a:t>
            </a:r>
            <a:endParaRPr lang="zh-CN" altLang="en-US" sz="28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723640" y="2343785"/>
            <a:ext cx="3362960" cy="2604135"/>
          </a:xfrm>
          <a:prstGeom prst="ellipse">
            <a:avLst/>
          </a:prstGeom>
          <a:noFill/>
          <a:ln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b" anchorCtr="1"/>
          <a:p>
            <a:pPr algn="ctr"/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候选码</a:t>
            </a:r>
            <a:endParaRPr lang="zh-CN" altLang="en-US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14395" y="2240915"/>
            <a:ext cx="3981450" cy="3698875"/>
          </a:xfrm>
          <a:prstGeom prst="ellipse">
            <a:avLst/>
          </a:prstGeom>
          <a:noFill/>
          <a:ln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6990" tIns="46990" rIns="46990" bIns="0" rtlCol="0" anchor="b" anchorCtr="1"/>
          <a:p>
            <a:pPr algn="ctr"/>
            <a:r>
              <a:rPr lang="zh-CN" altLang="en-US" sz="280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超码</a:t>
            </a:r>
            <a:endParaRPr lang="zh-CN" altLang="en-US" sz="280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6056630" y="3539490"/>
            <a:ext cx="265112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标注 14"/>
          <p:cNvSpPr/>
          <p:nvPr/>
        </p:nvSpPr>
        <p:spPr>
          <a:xfrm>
            <a:off x="2498725" y="1412875"/>
            <a:ext cx="7639685" cy="658495"/>
          </a:xfrm>
          <a:prstGeom prst="wedgeRoundRectCallout">
            <a:avLst>
              <a:gd name="adj1" fmla="val -24735"/>
              <a:gd name="adj2" fmla="val 44985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那些属性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组能确定一行内容？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4" grpId="1" animBg="1"/>
      <p:bldP spid="13" grpId="1" animBg="1"/>
      <p:bldP spid="12" grpId="0" bldLvl="0" animBg="1"/>
      <p:bldP spid="12" grpId="1" animBg="1"/>
      <p:bldP spid="8" grpId="0" bldLvl="0" animBg="1"/>
      <p:bldP spid="8" grpId="1" animBg="1"/>
      <p:bldP spid="3" grpId="0"/>
      <p:bldP spid="3" grpId="1"/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什么是键码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练习题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0890" y="1125220"/>
            <a:ext cx="1055179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、设有课程关系Course（课程号，课程名，学分，专业号）和专业关系Speciality（专业号，专业名），则课程关系Course的外键是（       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课程号	B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学分	C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专业名	D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专业号</a:t>
            </a:r>
            <a:endParaRPr lang="en-US" altLang="zh-CN" sz="28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、如果在关系的一个码中移去某个属性，它仍然是这个关系的码，则称这样的码或键为该关系的（    ）</a:t>
            </a:r>
            <a:endParaRPr lang="en-US" altLang="zh-CN" sz="2800" b="0" dirty="0" smtClean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超码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r>
              <a:rPr lang="en-US" altLang="zh-CN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候选码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r>
              <a:rPr lang="en-US" altLang="zh-CN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主码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r>
              <a:rPr lang="en-US" altLang="zh-CN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全码</a:t>
            </a:r>
            <a:endParaRPr lang="en-US" altLang="zh-CN" sz="28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、当关系有多个候选码时，选定一个作为主键，若主键为全码，应包含（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）。</a:t>
            </a:r>
            <a:endParaRPr lang="zh-CN" altLang="en-US" sz="28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单个属性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B.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两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个属性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</a:t>
            </a:r>
            <a:r>
              <a:rPr lang="zh-CN" altLang="en-US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个属性</a:t>
            </a:r>
            <a:r>
              <a:rPr lang="en-US" altLang="zh-CN" sz="2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全部属性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90945" y="2495550"/>
            <a:ext cx="1731010" cy="610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32155" y="4098290"/>
            <a:ext cx="1706880" cy="610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105015" y="5664835"/>
            <a:ext cx="2322195" cy="610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9" grpId="0" bldLvl="0" animBg="1"/>
      <p:bldP spid="9" grpId="1" animBg="1"/>
      <p:bldP spid="16" grpId="0" bldLvl="0" animBg="1"/>
      <p:bldP spid="1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本质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543935" y="2935605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6"/>
          <p:cNvSpPr txBox="1"/>
          <p:nvPr/>
        </p:nvSpPr>
        <p:spPr>
          <a:xfrm>
            <a:off x="3952240" y="2251710"/>
            <a:ext cx="496951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举例：学生基本信息登记表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2306320" y="5550535"/>
            <a:ext cx="8424545" cy="52197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065" lvl="1" indent="0">
              <a:buNone/>
            </a:pPr>
            <a:r>
              <a:rPr lang="zh-CN" altLang="en-US" sz="2800" dirty="0" smtClean="0"/>
              <a:t>那二维表的</a:t>
            </a:r>
            <a:r>
              <a:rPr lang="zh-CN" altLang="en-US" sz="2800" b="1" dirty="0" smtClean="0">
                <a:solidFill>
                  <a:srgbClr val="1F2DA8"/>
                </a:solidFill>
              </a:rPr>
              <a:t>数学本质</a:t>
            </a:r>
            <a:r>
              <a:rPr lang="zh-CN" altLang="en-US" sz="2800" dirty="0" smtClean="0"/>
              <a:t>是什么？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2426970" y="1441450"/>
            <a:ext cx="748474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393065" lvl="1" indent="0">
              <a:buNone/>
            </a:pPr>
            <a:r>
              <a:rPr lang="zh-CN" altLang="en-US" sz="3200" dirty="0" smtClean="0">
                <a:sym typeface="+mn-ea"/>
              </a:rPr>
              <a:t>形式上直观认识到：关系就是二维表。</a:t>
            </a:r>
            <a:endParaRPr lang="zh-CN" altLang="en-US" sz="3200" dirty="0" smtClean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14590" y="5550535"/>
            <a:ext cx="26854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集合和笛卡尔积</a:t>
            </a:r>
            <a:endParaRPr lang="zh-CN" altLang="en-US" sz="28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1"/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域与笛卡尔积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1141730" y="1416685"/>
            <a:ext cx="10615295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域：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109855" indent="0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域是一组具有相同数据类型的值的集合。</a:t>
            </a:r>
            <a:endParaRPr lang="en-US" altLang="zh-CN" sz="2800" dirty="0" smtClean="0"/>
          </a:p>
          <a:p>
            <a:pPr marL="109855" indent="0">
              <a:buNone/>
            </a:pPr>
            <a:endParaRPr lang="en-US" altLang="zh-CN" sz="2800" dirty="0"/>
          </a:p>
          <a:p>
            <a:pPr marL="109855" indent="0">
              <a:buNone/>
            </a:pPr>
            <a:endParaRPr lang="en-US" altLang="zh-CN" sz="2800" dirty="0"/>
          </a:p>
          <a:p>
            <a:pPr marL="109855" indent="0">
              <a:buNone/>
            </a:pPr>
            <a:r>
              <a:rPr lang="zh-CN" altLang="en-US" sz="2800" dirty="0"/>
              <a:t>正例：</a:t>
            </a:r>
            <a:endParaRPr lang="zh-CN" altLang="en-US" sz="2800" dirty="0"/>
          </a:p>
          <a:p>
            <a:pPr marL="109855" indent="0">
              <a:buNone/>
            </a:pPr>
            <a:r>
              <a:rPr lang="en-US" altLang="zh-CN" sz="2800" dirty="0" smtClean="0"/>
              <a:t>	D1={</a:t>
            </a:r>
            <a:r>
              <a:rPr lang="zh-CN" altLang="en-US" sz="2800" dirty="0" smtClean="0"/>
              <a:t>张三，李四</a:t>
            </a:r>
            <a:r>
              <a:rPr lang="en-US" altLang="zh-CN" sz="2800" dirty="0" smtClean="0"/>
              <a:t>}	    </a:t>
            </a:r>
            <a:r>
              <a:rPr lang="zh-CN" altLang="en-US" sz="2800" dirty="0" smtClean="0"/>
              <a:t>数据类型为字符串</a:t>
            </a:r>
            <a:r>
              <a:rPr lang="en-US" altLang="zh-CN" sz="2800" dirty="0" smtClean="0"/>
              <a:t> </a:t>
            </a:r>
            <a:endParaRPr lang="en-US" altLang="zh-CN" sz="2800" dirty="0" smtClean="0"/>
          </a:p>
          <a:p>
            <a:pPr marL="109855" indent="0">
              <a:buNone/>
            </a:pPr>
            <a:r>
              <a:rPr lang="en-US" altLang="zh-CN" sz="2800" dirty="0" smtClean="0"/>
              <a:t>	D2={18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20}               </a:t>
            </a:r>
            <a:r>
              <a:rPr lang="zh-CN" altLang="en-US" sz="2800" dirty="0" smtClean="0"/>
              <a:t>数据类型为整数</a:t>
            </a:r>
            <a:endParaRPr lang="en-US" altLang="zh-CN" sz="2800" dirty="0" smtClean="0"/>
          </a:p>
          <a:p>
            <a:pPr marL="109855" indent="0">
              <a:buNone/>
            </a:pPr>
            <a:r>
              <a:rPr lang="en-US" altLang="zh-CN" sz="2800" dirty="0" smtClean="0"/>
              <a:t>	D3={</a:t>
            </a:r>
            <a:r>
              <a:rPr lang="zh-CN" altLang="en-US" sz="2800" dirty="0" smtClean="0"/>
              <a:t>男，女</a:t>
            </a:r>
            <a:r>
              <a:rPr lang="en-US" altLang="zh-CN" sz="2800" dirty="0" smtClean="0"/>
              <a:t>}	    </a:t>
            </a:r>
            <a:r>
              <a:rPr lang="zh-CN" altLang="en-US" sz="2800" dirty="0" smtClean="0"/>
              <a:t>数据类型为枚举或字符串</a:t>
            </a:r>
            <a:endParaRPr lang="zh-CN" altLang="en-US" sz="2800" dirty="0" smtClean="0"/>
          </a:p>
          <a:p>
            <a:pPr marL="109855" indent="0">
              <a:buNone/>
            </a:pPr>
            <a:endParaRPr lang="zh-CN" altLang="en-US" sz="2800" dirty="0" smtClean="0"/>
          </a:p>
          <a:p>
            <a:pPr marL="109855" indent="0">
              <a:buNone/>
            </a:pPr>
            <a:r>
              <a:rPr lang="zh-CN" altLang="en-US" sz="2800" dirty="0" smtClean="0"/>
              <a:t>反例</a:t>
            </a:r>
            <a:r>
              <a:rPr lang="en-US" altLang="zh-CN" sz="2800" dirty="0" smtClean="0"/>
              <a:t>:</a:t>
            </a:r>
            <a:endParaRPr lang="en-US" altLang="zh-CN" sz="2800" dirty="0" smtClean="0"/>
          </a:p>
          <a:p>
            <a:pPr marL="109855" indent="0">
              <a:buNone/>
            </a:pPr>
            <a:r>
              <a:rPr lang="en-US" altLang="zh-CN" sz="2800" dirty="0" smtClean="0"/>
              <a:t>         D4={ 19, </a:t>
            </a:r>
            <a:r>
              <a:rPr lang="zh-CN" altLang="en-US" sz="2800" dirty="0" smtClean="0"/>
              <a:t>年芳二八，耄耋之年</a:t>
            </a:r>
            <a:r>
              <a:rPr lang="en-US" altLang="zh-CN" sz="2800" dirty="0" smtClean="0"/>
              <a:t>}  </a:t>
            </a:r>
            <a:r>
              <a:rPr lang="zh-CN" altLang="en-US" sz="2800" dirty="0" smtClean="0"/>
              <a:t>数据类型不统一</a:t>
            </a:r>
            <a:endParaRPr lang="en-US" altLang="zh-CN" sz="2800" dirty="0" smtClean="0"/>
          </a:p>
          <a:p>
            <a:pPr marL="109855" indent="0">
              <a:buNone/>
            </a:pPr>
            <a:endParaRPr lang="en-US" altLang="zh-CN" sz="28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域与笛卡尔积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285115" y="141668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r>
              <a:rPr lang="zh-CN" altLang="en-US" sz="2800" dirty="0" smtClean="0">
                <a:solidFill>
                  <a:srgbClr val="FF0000"/>
                </a:solidFill>
              </a:rPr>
              <a:t>笛</a:t>
            </a:r>
            <a:r>
              <a:rPr lang="zh-CN" altLang="en-US" sz="2800" dirty="0">
                <a:solidFill>
                  <a:srgbClr val="FF0000"/>
                </a:solidFill>
              </a:rPr>
              <a:t>卡尔积：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109855" indent="0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给定</a:t>
            </a:r>
            <a:r>
              <a:rPr lang="zh-CN" altLang="en-US" sz="2800" dirty="0"/>
              <a:t>一组域 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…, </a:t>
            </a:r>
            <a:r>
              <a:rPr lang="en-US" altLang="zh-CN" sz="2800" dirty="0" err="1"/>
              <a:t>D</a:t>
            </a:r>
            <a:r>
              <a:rPr lang="en-US" altLang="zh-CN" sz="2800" baseline="-25000" dirty="0" err="1"/>
              <a:t>n</a:t>
            </a:r>
            <a:r>
              <a:rPr lang="zh-CN" altLang="en-US" sz="2800" dirty="0"/>
              <a:t>，这些域中可以有相同的域。则 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…, </a:t>
            </a:r>
            <a:r>
              <a:rPr lang="en-US" altLang="zh-CN" sz="2800" dirty="0" err="1"/>
              <a:t>D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的笛卡尔积为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marL="109855" indent="0">
              <a:buNone/>
            </a:pPr>
            <a:endParaRPr lang="en-US" altLang="zh-CN" sz="2800" dirty="0"/>
          </a:p>
          <a:p>
            <a:pPr marL="109855" indent="0">
              <a:buNone/>
            </a:pPr>
            <a:endParaRPr lang="en-US" altLang="zh-CN" sz="2800" dirty="0"/>
          </a:p>
          <a:p>
            <a:pPr marL="109855" indent="0">
              <a:buNone/>
            </a:pPr>
            <a:r>
              <a:rPr lang="zh-CN" altLang="en-US" sz="2800" dirty="0"/>
              <a:t>举例：</a:t>
            </a:r>
            <a:endParaRPr lang="zh-CN" altLang="en-US" sz="2800" dirty="0"/>
          </a:p>
          <a:p>
            <a:pPr marL="109855" indent="0">
              <a:buNone/>
            </a:pPr>
            <a:r>
              <a:rPr lang="en-US" altLang="zh-CN" sz="2800" dirty="0" smtClean="0"/>
              <a:t>	D1={</a:t>
            </a:r>
            <a:r>
              <a:rPr lang="zh-CN" altLang="en-US" sz="2800" dirty="0" smtClean="0"/>
              <a:t>张三，李四</a:t>
            </a:r>
            <a:r>
              <a:rPr lang="en-US" altLang="zh-CN" sz="2800" dirty="0" smtClean="0"/>
              <a:t>}	  D2={18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20}     D3={</a:t>
            </a:r>
            <a:r>
              <a:rPr lang="zh-CN" altLang="en-US" sz="2800" dirty="0" smtClean="0"/>
              <a:t>男，女</a:t>
            </a:r>
            <a:r>
              <a:rPr lang="en-US" altLang="zh-CN" sz="2800" dirty="0" smtClean="0"/>
              <a:t>}	</a:t>
            </a:r>
            <a:endParaRPr lang="en-US" altLang="zh-CN" sz="2800" dirty="0" smtClean="0"/>
          </a:p>
          <a:p>
            <a:pPr marL="109855" indent="0">
              <a:buNone/>
            </a:pPr>
            <a:r>
              <a:rPr lang="en-US" altLang="zh-CN" sz="2800" dirty="0" smtClean="0"/>
              <a:t>D1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×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D2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 ×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D3 ={</a:t>
            </a:r>
            <a:endParaRPr lang="en-US" altLang="zh-CN" sz="2800" dirty="0" smtClean="0"/>
          </a:p>
          <a:p>
            <a:pPr marL="109855" indent="0">
              <a:buNone/>
            </a:pPr>
            <a:r>
              <a:rPr lang="en-US" altLang="zh-CN" sz="2800" dirty="0" smtClean="0"/>
              <a:t>(</a:t>
            </a:r>
            <a:r>
              <a:rPr lang="zh-CN" altLang="en-US" sz="2800" dirty="0"/>
              <a:t>张三</a:t>
            </a:r>
            <a:r>
              <a:rPr lang="en-US" altLang="zh-CN" sz="2800" dirty="0" smtClean="0"/>
              <a:t>, </a:t>
            </a:r>
            <a:r>
              <a:rPr lang="en-US" altLang="zh-CN" sz="2800" dirty="0"/>
              <a:t>18</a:t>
            </a:r>
            <a:r>
              <a:rPr lang="en-US" altLang="zh-CN" sz="2800" dirty="0" smtClean="0"/>
              <a:t>,</a:t>
            </a:r>
            <a:r>
              <a:rPr lang="zh-CN" altLang="en-US" sz="2800" dirty="0"/>
              <a:t>男</a:t>
            </a:r>
            <a:r>
              <a:rPr lang="en-US" altLang="zh-CN" sz="2800" dirty="0" smtClean="0"/>
              <a:t>),</a:t>
            </a:r>
            <a:r>
              <a:rPr lang="en-US" altLang="zh-CN" sz="2800" dirty="0"/>
              <a:t> (</a:t>
            </a:r>
            <a:r>
              <a:rPr lang="zh-CN" altLang="en-US" sz="2800" dirty="0"/>
              <a:t>张三</a:t>
            </a:r>
            <a:r>
              <a:rPr lang="en-US" altLang="zh-CN" sz="2800" dirty="0"/>
              <a:t>, </a:t>
            </a:r>
            <a:r>
              <a:rPr lang="en-US" altLang="zh-CN" sz="2800" dirty="0" smtClean="0"/>
              <a:t>18,</a:t>
            </a:r>
            <a:r>
              <a:rPr lang="zh-CN" altLang="en-US" sz="2800" dirty="0" smtClean="0"/>
              <a:t>女</a:t>
            </a:r>
            <a:r>
              <a:rPr lang="en-US" altLang="zh-CN" sz="2800" dirty="0" smtClean="0"/>
              <a:t>), </a:t>
            </a:r>
            <a:r>
              <a:rPr lang="en-US" altLang="zh-CN" sz="2800" dirty="0"/>
              <a:t>(</a:t>
            </a:r>
            <a:r>
              <a:rPr lang="zh-CN" altLang="en-US" sz="2800" dirty="0"/>
              <a:t>张三</a:t>
            </a:r>
            <a:r>
              <a:rPr lang="en-US" altLang="zh-CN" sz="2800" dirty="0"/>
              <a:t>, </a:t>
            </a:r>
            <a:r>
              <a:rPr lang="en-US" altLang="zh-CN" sz="2800" dirty="0" smtClean="0"/>
              <a:t>20,</a:t>
            </a:r>
            <a:r>
              <a:rPr lang="zh-CN" altLang="en-US" sz="2800" dirty="0"/>
              <a:t>男</a:t>
            </a:r>
            <a:r>
              <a:rPr lang="en-US" altLang="zh-CN" sz="2800" dirty="0" smtClean="0"/>
              <a:t>), </a:t>
            </a:r>
            <a:r>
              <a:rPr lang="en-US" altLang="zh-CN" sz="2800" dirty="0"/>
              <a:t>(</a:t>
            </a:r>
            <a:r>
              <a:rPr lang="zh-CN" altLang="en-US" sz="2800" dirty="0"/>
              <a:t>张三</a:t>
            </a:r>
            <a:r>
              <a:rPr lang="en-US" altLang="zh-CN" sz="2800" dirty="0"/>
              <a:t>, </a:t>
            </a:r>
            <a:r>
              <a:rPr lang="en-US" altLang="zh-CN" sz="2800" dirty="0" smtClean="0"/>
              <a:t>20,</a:t>
            </a:r>
            <a:r>
              <a:rPr lang="zh-CN" altLang="en-US" sz="2800" dirty="0"/>
              <a:t>女</a:t>
            </a:r>
            <a:r>
              <a:rPr lang="en-US" altLang="zh-CN" sz="2800" dirty="0" smtClean="0"/>
              <a:t>),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(</a:t>
            </a:r>
            <a:r>
              <a:rPr lang="zh-CN" altLang="en-US" sz="2800" dirty="0"/>
              <a:t>李四</a:t>
            </a:r>
            <a:r>
              <a:rPr lang="en-US" altLang="zh-CN" sz="2800" dirty="0" smtClean="0"/>
              <a:t>, </a:t>
            </a:r>
            <a:r>
              <a:rPr lang="en-US" altLang="zh-CN" sz="2800" dirty="0"/>
              <a:t>18,</a:t>
            </a:r>
            <a:r>
              <a:rPr lang="zh-CN" altLang="en-US" sz="2800" dirty="0"/>
              <a:t>男</a:t>
            </a:r>
            <a:r>
              <a:rPr lang="en-US" altLang="zh-CN" sz="2800" dirty="0"/>
              <a:t>), </a:t>
            </a:r>
            <a:r>
              <a:rPr lang="en-US" altLang="zh-CN" sz="2800" dirty="0" smtClean="0"/>
              <a:t>(</a:t>
            </a:r>
            <a:r>
              <a:rPr lang="zh-CN" altLang="en-US" sz="2800" dirty="0"/>
              <a:t>李四</a:t>
            </a:r>
            <a:r>
              <a:rPr lang="en-US" altLang="zh-CN" sz="2800" dirty="0" smtClean="0"/>
              <a:t>, </a:t>
            </a:r>
            <a:r>
              <a:rPr lang="en-US" altLang="zh-CN" sz="2800" dirty="0"/>
              <a:t>18,</a:t>
            </a:r>
            <a:r>
              <a:rPr lang="zh-CN" altLang="en-US" sz="2800" dirty="0"/>
              <a:t>女</a:t>
            </a:r>
            <a:r>
              <a:rPr lang="en-US" altLang="zh-CN" sz="2800" dirty="0"/>
              <a:t>), </a:t>
            </a:r>
            <a:r>
              <a:rPr lang="en-US" altLang="zh-CN" sz="2800" dirty="0" smtClean="0"/>
              <a:t>(</a:t>
            </a:r>
            <a:r>
              <a:rPr lang="zh-CN" altLang="en-US" sz="2800" dirty="0"/>
              <a:t>李四</a:t>
            </a:r>
            <a:r>
              <a:rPr lang="en-US" altLang="zh-CN" sz="2800" dirty="0" smtClean="0"/>
              <a:t>, </a:t>
            </a:r>
            <a:r>
              <a:rPr lang="en-US" altLang="zh-CN" sz="2800" dirty="0"/>
              <a:t>20,</a:t>
            </a:r>
            <a:r>
              <a:rPr lang="zh-CN" altLang="en-US" sz="2800" dirty="0"/>
              <a:t>男</a:t>
            </a:r>
            <a:r>
              <a:rPr lang="en-US" altLang="zh-CN" sz="2800" dirty="0"/>
              <a:t>), </a:t>
            </a:r>
            <a:r>
              <a:rPr lang="en-US" altLang="zh-CN" sz="2800" dirty="0" smtClean="0"/>
              <a:t>(</a:t>
            </a:r>
            <a:r>
              <a:rPr lang="zh-CN" altLang="en-US" sz="2800" dirty="0"/>
              <a:t>李四</a:t>
            </a:r>
            <a:r>
              <a:rPr lang="en-US" altLang="zh-CN" sz="2800" dirty="0" smtClean="0"/>
              <a:t>, </a:t>
            </a:r>
            <a:r>
              <a:rPr lang="en-US" altLang="zh-CN" sz="2800" dirty="0"/>
              <a:t>20,</a:t>
            </a:r>
            <a:r>
              <a:rPr lang="zh-CN" altLang="en-US" sz="2800" dirty="0"/>
              <a:t>女</a:t>
            </a:r>
            <a:r>
              <a:rPr lang="en-US" altLang="zh-CN" sz="2800" dirty="0" smtClean="0"/>
              <a:t>)}</a:t>
            </a:r>
            <a:endParaRPr lang="en-US" altLang="zh-CN" sz="2800" dirty="0"/>
          </a:p>
        </p:txBody>
      </p:sp>
      <p:sp>
        <p:nvSpPr>
          <p:cNvPr id="34" name="矩形 33"/>
          <p:cNvSpPr/>
          <p:nvPr/>
        </p:nvSpPr>
        <p:spPr>
          <a:xfrm>
            <a:off x="1470025" y="2565400"/>
            <a:ext cx="9774555" cy="770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>
            <a:lvl1pPr marL="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3670300" algn="l"/>
              </a:tabLst>
            </a:pP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D</a:t>
            </a:r>
            <a:r>
              <a:rPr lang="en-US" altLang="zh-CN" sz="3200" baseline="-250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1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×D</a:t>
            </a:r>
            <a:r>
              <a:rPr lang="en-US" altLang="zh-CN" sz="3200" baseline="-250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×…×</a:t>
            </a:r>
            <a:r>
              <a:rPr lang="en-US" altLang="zh-CN" sz="32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D</a:t>
            </a:r>
            <a:r>
              <a:rPr lang="en-US" altLang="zh-CN" sz="3200" baseline="-250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n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={(d</a:t>
            </a:r>
            <a:r>
              <a:rPr lang="en-US" altLang="zh-CN" sz="3200" baseline="-250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1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,d</a:t>
            </a:r>
            <a:r>
              <a:rPr lang="en-US" altLang="zh-CN" sz="3200" baseline="-250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,…,</a:t>
            </a:r>
            <a:r>
              <a:rPr lang="en-US" altLang="zh-CN" sz="32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d</a:t>
            </a:r>
            <a:r>
              <a:rPr lang="en-US" altLang="zh-CN" sz="3200" baseline="-250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n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)|</a:t>
            </a:r>
            <a:r>
              <a:rPr lang="en-US" altLang="zh-CN" sz="32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d</a:t>
            </a:r>
            <a:r>
              <a:rPr lang="en-US" altLang="zh-CN" sz="3200" baseline="-250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i</a:t>
            </a:r>
            <a:r>
              <a:rPr lang="en-US" altLang="zh-CN" sz="3200" dirty="0" err="1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∈</a:t>
            </a:r>
            <a:r>
              <a:rPr lang="en-US" altLang="zh-CN" sz="3200" dirty="0" err="1" smtClean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D</a:t>
            </a:r>
            <a:r>
              <a:rPr lang="en-US" altLang="zh-CN" sz="3200" baseline="-25000" dirty="0" err="1" smtClean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i</a:t>
            </a:r>
            <a:r>
              <a:rPr lang="en-US" altLang="zh-CN" sz="3200" dirty="0" smtClean="0">
                <a:solidFill>
                  <a:srgbClr val="FF0000"/>
                </a:solidFill>
                <a:latin typeface="+mn-ea"/>
                <a:cs typeface="Courier New" panose="02070309020205020404" pitchFamily="49" charset="0"/>
              </a:rPr>
              <a:t>}</a:t>
            </a:r>
            <a:endParaRPr lang="en-US" altLang="zh-CN" sz="3200" dirty="0">
              <a:solidFill>
                <a:srgbClr val="FF0000"/>
              </a:solidFill>
              <a:latin typeface="+mn-ea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1205" y="5661660"/>
            <a:ext cx="5414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纯粹的笛卡尔积没有意义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1" animBg="1"/>
      <p:bldP spid="4" grpId="0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关系的数据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结构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285115" y="141668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endParaRPr lang="en-US" altLang="zh-CN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682625" y="1228725"/>
            <a:ext cx="1064196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09855" indent="0">
              <a:buNone/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关系（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Relation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109855" indent="0">
              <a:buNone/>
            </a:pPr>
            <a:r>
              <a:rPr lang="en-US" altLang="zh-CN" sz="2800" dirty="0">
                <a:sym typeface="+mn-ea"/>
              </a:rPr>
              <a:t>	</a:t>
            </a:r>
            <a:r>
              <a:rPr lang="en-US" altLang="zh-CN" sz="2800" dirty="0">
                <a:latin typeface="+mn-ea"/>
                <a:sym typeface="+mn-ea"/>
              </a:rPr>
              <a:t>D1×D2×…×</a:t>
            </a:r>
            <a:r>
              <a:rPr lang="en-US" altLang="zh-CN" sz="2800" dirty="0" err="1">
                <a:latin typeface="+mn-ea"/>
                <a:sym typeface="+mn-ea"/>
              </a:rPr>
              <a:t>Dn</a:t>
            </a:r>
            <a:r>
              <a:rPr lang="en-US" altLang="zh-CN" sz="2800" dirty="0">
                <a:latin typeface="+mn-ea"/>
                <a:sym typeface="+mn-ea"/>
              </a:rPr>
              <a:t> </a:t>
            </a:r>
            <a:r>
              <a:rPr lang="zh-CN" altLang="en-US" sz="2800" dirty="0">
                <a:latin typeface="+mn-ea"/>
                <a:sym typeface="+mn-ea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sym typeface="+mn-ea"/>
              </a:rPr>
              <a:t>子集</a:t>
            </a:r>
            <a:r>
              <a:rPr lang="zh-CN" altLang="en-US" sz="2800" dirty="0">
                <a:latin typeface="+mn-ea"/>
                <a:sym typeface="+mn-ea"/>
              </a:rPr>
              <a:t>叫作：在域 </a:t>
            </a:r>
            <a:r>
              <a:rPr lang="en-US" altLang="zh-CN" sz="2800" dirty="0">
                <a:latin typeface="+mn-ea"/>
                <a:sym typeface="+mn-ea"/>
              </a:rPr>
              <a:t>D1, D2, …, </a:t>
            </a:r>
            <a:r>
              <a:rPr lang="en-US" altLang="zh-CN" sz="2800" dirty="0" err="1">
                <a:latin typeface="+mn-ea"/>
                <a:sym typeface="+mn-ea"/>
              </a:rPr>
              <a:t>Dn</a:t>
            </a:r>
            <a:r>
              <a:rPr lang="zh-CN" altLang="en-US" sz="2800" dirty="0">
                <a:latin typeface="+mn-ea"/>
                <a:sym typeface="+mn-ea"/>
              </a:rPr>
              <a:t>上的关系，表示为 </a:t>
            </a:r>
            <a:r>
              <a:rPr lang="en-US" altLang="zh-CN" sz="2800" dirty="0">
                <a:latin typeface="+mn-ea"/>
                <a:sym typeface="+mn-ea"/>
              </a:rPr>
              <a:t>R(D1, D2, …, </a:t>
            </a:r>
            <a:r>
              <a:rPr lang="en-US" altLang="zh-CN" sz="2800" dirty="0" err="1">
                <a:latin typeface="+mn-ea"/>
                <a:sym typeface="+mn-ea"/>
              </a:rPr>
              <a:t>Dn</a:t>
            </a:r>
            <a:r>
              <a:rPr lang="en-US" altLang="zh-CN" sz="2800" dirty="0">
                <a:latin typeface="+mn-ea"/>
                <a:sym typeface="+mn-ea"/>
              </a:rPr>
              <a:t>)</a:t>
            </a:r>
            <a:r>
              <a:rPr lang="zh-CN" altLang="en-US" sz="2800" dirty="0" smtClean="0">
                <a:latin typeface="+mn-ea"/>
                <a:sym typeface="+mn-ea"/>
              </a:rPr>
              <a:t>。</a:t>
            </a:r>
            <a:r>
              <a:rPr lang="en-US" altLang="zh-CN" sz="2800" dirty="0" smtClean="0">
                <a:latin typeface="+mn-ea"/>
                <a:sym typeface="+mn-ea"/>
              </a:rPr>
              <a:t>R</a:t>
            </a:r>
            <a:r>
              <a:rPr lang="zh-CN" altLang="en-US" sz="2800" dirty="0">
                <a:latin typeface="+mn-ea"/>
                <a:sym typeface="+mn-ea"/>
              </a:rPr>
              <a:t>：关系</a:t>
            </a:r>
            <a:r>
              <a:rPr lang="zh-CN" altLang="en-US" sz="2800" dirty="0" smtClean="0">
                <a:latin typeface="+mn-ea"/>
                <a:sym typeface="+mn-ea"/>
              </a:rPr>
              <a:t>名</a:t>
            </a:r>
            <a:endParaRPr lang="en-US" altLang="zh-CN" sz="2800" dirty="0" smtClean="0">
              <a:latin typeface="+mn-ea"/>
            </a:endParaRPr>
          </a:p>
          <a:p>
            <a:pPr marL="109855" indent="0">
              <a:buNone/>
            </a:pPr>
            <a:r>
              <a:rPr lang="zh-CN" altLang="en-US" sz="2800" dirty="0" smtClean="0">
                <a:latin typeface="+mn-ea"/>
                <a:sym typeface="+mn-ea"/>
              </a:rPr>
              <a:t>举例</a:t>
            </a:r>
            <a:r>
              <a:rPr lang="zh-CN" altLang="en-US" sz="2800" dirty="0">
                <a:latin typeface="+mn-ea"/>
                <a:sym typeface="+mn-ea"/>
              </a:rPr>
              <a:t>：</a:t>
            </a:r>
            <a:endParaRPr lang="zh-CN" altLang="en-US" sz="2800" dirty="0">
              <a:latin typeface="+mn-ea"/>
            </a:endParaRPr>
          </a:p>
          <a:p>
            <a:pPr marL="109855" indent="0">
              <a:buNone/>
            </a:pPr>
            <a:r>
              <a:rPr lang="en-US" altLang="zh-CN" sz="2800" dirty="0" smtClean="0">
                <a:sym typeface="+mn-ea"/>
              </a:rPr>
              <a:t>	D1={</a:t>
            </a:r>
            <a:r>
              <a:rPr lang="zh-CN" altLang="en-US" sz="2800" dirty="0" smtClean="0">
                <a:sym typeface="+mn-ea"/>
              </a:rPr>
              <a:t>张三，李四</a:t>
            </a:r>
            <a:r>
              <a:rPr lang="en-US" altLang="zh-CN" sz="2800" dirty="0" smtClean="0">
                <a:sym typeface="+mn-ea"/>
              </a:rPr>
              <a:t>}	  D2={18</a:t>
            </a:r>
            <a:r>
              <a:rPr lang="zh-CN" altLang="en-US" sz="2800" dirty="0" smtClean="0">
                <a:sym typeface="+mn-ea"/>
              </a:rPr>
              <a:t>，</a:t>
            </a:r>
            <a:r>
              <a:rPr lang="en-US" altLang="zh-CN" sz="2800" dirty="0" smtClean="0">
                <a:sym typeface="+mn-ea"/>
              </a:rPr>
              <a:t>20}     D3={</a:t>
            </a:r>
            <a:r>
              <a:rPr lang="zh-CN" altLang="en-US" sz="2800" dirty="0" smtClean="0">
                <a:sym typeface="+mn-ea"/>
              </a:rPr>
              <a:t>男，女</a:t>
            </a:r>
            <a:r>
              <a:rPr lang="en-US" altLang="zh-CN" sz="2800" dirty="0" smtClean="0">
                <a:sym typeface="+mn-ea"/>
              </a:rPr>
              <a:t>}	</a:t>
            </a:r>
            <a:endParaRPr lang="en-US" altLang="zh-CN" sz="2800" dirty="0" smtClean="0">
              <a:latin typeface="+mn-ea"/>
            </a:endParaRPr>
          </a:p>
          <a:p>
            <a:pPr marL="109855" indent="0">
              <a:buNone/>
            </a:pPr>
            <a:r>
              <a:rPr lang="en-US" altLang="zh-CN" sz="2800" dirty="0" smtClean="0">
                <a:latin typeface="+mn-ea"/>
                <a:sym typeface="+mn-ea"/>
              </a:rPr>
              <a:t>R(D1</a:t>
            </a:r>
            <a:r>
              <a:rPr lang="zh-CN" altLang="en-US" sz="2800" dirty="0" smtClean="0">
                <a:latin typeface="+mn-ea"/>
                <a:sym typeface="+mn-ea"/>
              </a:rPr>
              <a:t>，</a:t>
            </a:r>
            <a:r>
              <a:rPr lang="en-US" altLang="zh-CN" sz="2800" dirty="0" smtClean="0">
                <a:latin typeface="+mn-ea"/>
                <a:sym typeface="+mn-ea"/>
              </a:rPr>
              <a:t> D2</a:t>
            </a:r>
            <a:r>
              <a:rPr lang="zh-CN" altLang="en-US" sz="2800" dirty="0" smtClean="0">
                <a:latin typeface="+mn-ea"/>
                <a:sym typeface="+mn-ea"/>
              </a:rPr>
              <a:t>，</a:t>
            </a:r>
            <a:r>
              <a:rPr lang="en-US" altLang="zh-CN" sz="2800" dirty="0" smtClean="0">
                <a:sym typeface="+mn-ea"/>
              </a:rPr>
              <a:t>D3)  =  { (</a:t>
            </a:r>
            <a:r>
              <a:rPr lang="zh-CN" altLang="en-US" sz="2800" dirty="0">
                <a:sym typeface="+mn-ea"/>
              </a:rPr>
              <a:t>张三</a:t>
            </a:r>
            <a:r>
              <a:rPr lang="en-US" altLang="zh-CN" sz="2800" dirty="0" smtClean="0">
                <a:sym typeface="+mn-ea"/>
              </a:rPr>
              <a:t>, </a:t>
            </a:r>
            <a:r>
              <a:rPr lang="en-US" altLang="zh-CN" sz="2800" dirty="0">
                <a:sym typeface="+mn-ea"/>
              </a:rPr>
              <a:t>18</a:t>
            </a:r>
            <a:r>
              <a:rPr lang="en-US" altLang="zh-CN" sz="2800" dirty="0" smtClean="0">
                <a:sym typeface="+mn-ea"/>
              </a:rPr>
              <a:t>,</a:t>
            </a:r>
            <a:r>
              <a:rPr lang="zh-CN" altLang="en-US" sz="2800" dirty="0" smtClean="0">
                <a:sym typeface="+mn-ea"/>
              </a:rPr>
              <a:t>男</a:t>
            </a:r>
            <a:r>
              <a:rPr lang="en-US" altLang="zh-CN" sz="2800" dirty="0">
                <a:sym typeface="+mn-ea"/>
              </a:rPr>
              <a:t>),</a:t>
            </a:r>
            <a:r>
              <a:rPr lang="en-US" altLang="zh-CN" sz="2800" dirty="0" smtClean="0">
                <a:sym typeface="+mn-ea"/>
              </a:rPr>
              <a:t> </a:t>
            </a:r>
            <a:r>
              <a:rPr lang="zh-CN" altLang="en-US" sz="2800" dirty="0" smtClean="0">
                <a:sym typeface="+mn-ea"/>
              </a:rPr>
              <a:t> </a:t>
            </a:r>
            <a:r>
              <a:rPr lang="en-US" altLang="zh-CN" sz="2800" dirty="0" smtClean="0">
                <a:sym typeface="+mn-ea"/>
              </a:rPr>
              <a:t>(</a:t>
            </a:r>
            <a:r>
              <a:rPr lang="zh-CN" altLang="en-US" sz="2800" dirty="0">
                <a:sym typeface="+mn-ea"/>
              </a:rPr>
              <a:t>李四</a:t>
            </a:r>
            <a:r>
              <a:rPr lang="en-US" altLang="zh-CN" sz="2800" dirty="0" smtClean="0">
                <a:sym typeface="+mn-ea"/>
              </a:rPr>
              <a:t>, </a:t>
            </a:r>
            <a:r>
              <a:rPr lang="en-US" altLang="zh-CN" sz="2800" dirty="0">
                <a:sym typeface="+mn-ea"/>
              </a:rPr>
              <a:t>20,</a:t>
            </a:r>
            <a:r>
              <a:rPr lang="zh-CN" altLang="en-US" sz="2800" dirty="0">
                <a:sym typeface="+mn-ea"/>
              </a:rPr>
              <a:t>女</a:t>
            </a:r>
            <a:r>
              <a:rPr lang="en-US" altLang="zh-CN" sz="2800" dirty="0" smtClean="0">
                <a:sym typeface="+mn-ea"/>
              </a:rPr>
              <a:t>) }</a:t>
            </a:r>
            <a:endParaRPr lang="en-US" altLang="zh-CN" sz="2800" dirty="0" smtClean="0">
              <a:sym typeface="+mn-ea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66775" y="3872594"/>
            <a:ext cx="7294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</a:rPr>
              <a:t>一个关系对应一张二维表，判断是否为关系？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95376" y="4509391"/>
          <a:ext cx="5410200" cy="17989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3985"/>
                <a:gridCol w="914584"/>
                <a:gridCol w="772856"/>
                <a:gridCol w="772856"/>
                <a:gridCol w="1545713"/>
              </a:tblGrid>
              <a:tr h="408584">
                <a:tc rowSpan="2"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姓名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出生日期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2800" u="none" strike="noStrike">
                          <a:effectLst/>
                        </a:rPr>
                        <a:t>性别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584">
                <a:tc vMerge="1">
                  <a:tcPr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年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月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日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463143"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>
                          <a:effectLst/>
                        </a:rPr>
                        <a:t>张三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>
                          <a:effectLst/>
                        </a:rPr>
                        <a:t>2019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>
                          <a:effectLst/>
                        </a:rPr>
                        <a:t>8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 dirty="0">
                          <a:effectLst/>
                        </a:rPr>
                        <a:t>7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男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143"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>
                          <a:effectLst/>
                        </a:rPr>
                        <a:t>李四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>
                          <a:effectLst/>
                        </a:rPr>
                        <a:t>2000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>
                          <a:effectLst/>
                        </a:rPr>
                        <a:t>7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800" u="none" strike="noStrike">
                          <a:effectLst/>
                        </a:rPr>
                        <a:t>20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800" u="none" strike="noStrike" dirty="0">
                          <a:effectLst/>
                        </a:rPr>
                        <a:t>女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19696" y="4931774"/>
            <a:ext cx="20383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FF0000"/>
                </a:solidFill>
              </a:rPr>
              <a:t>不是</a:t>
            </a:r>
            <a:r>
              <a:rPr lang="zh-CN" altLang="en-US" sz="2800" dirty="0" smtClean="0">
                <a:solidFill>
                  <a:srgbClr val="FF0000"/>
                </a:solidFill>
              </a:rPr>
              <a:t>关系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r>
              <a:rPr lang="zh-CN" sz="2800" dirty="0" smtClean="0"/>
              <a:t>列不可再分</a:t>
            </a:r>
            <a:endParaRPr lang="zh-CN" sz="28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关系的数据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结构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285115" y="141668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endParaRPr lang="en-US" altLang="zh-CN" sz="2800" dirty="0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1275080" y="1370965"/>
            <a:ext cx="9464675" cy="527748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 algn="ctr">
              <a:buNone/>
            </a:pPr>
            <a:r>
              <a:rPr lang="zh-CN" altLang="en-US" sz="2800" dirty="0" smtClean="0">
                <a:solidFill>
                  <a:srgbClr val="FF0000"/>
                </a:solidFill>
              </a:rPr>
              <a:t>      关系</a:t>
            </a:r>
            <a:r>
              <a:rPr lang="zh-CN" altLang="en-US" sz="2800" dirty="0">
                <a:solidFill>
                  <a:srgbClr val="FF0000"/>
                </a:solidFill>
              </a:rPr>
              <a:t>六条性质：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631190" lvl="2" indent="0">
              <a:buNone/>
            </a:pPr>
            <a:endParaRPr lang="en-US" altLang="zh-CN" sz="2800" dirty="0" smtClean="0"/>
          </a:p>
          <a:p>
            <a:pPr marL="631190" lvl="2" indent="0">
              <a:lnSpc>
                <a:spcPts val="4000"/>
              </a:lnSpc>
              <a:buNone/>
            </a:pPr>
            <a:r>
              <a:rPr lang="zh-CN" altLang="en-US" sz="2800" dirty="0" smtClean="0"/>
              <a:t>①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行的顺序无所谓</a:t>
            </a:r>
            <a:r>
              <a:rPr lang="zh-CN" altLang="en-US" sz="2800" dirty="0">
                <a:sym typeface="+mn-ea"/>
              </a:rPr>
              <a:t>，即行的次序可以任意交换。</a:t>
            </a:r>
            <a:endParaRPr lang="zh-CN" altLang="en-US" sz="2800" dirty="0"/>
          </a:p>
          <a:p>
            <a:pPr marL="631190" lvl="2" indent="0">
              <a:lnSpc>
                <a:spcPts val="4000"/>
              </a:lnSpc>
              <a:buNone/>
            </a:pPr>
            <a:r>
              <a:rPr lang="zh-CN" altLang="en-US" sz="2800" dirty="0"/>
              <a:t>②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列的顺序无所谓</a:t>
            </a:r>
            <a:r>
              <a:rPr lang="zh-CN" altLang="en-US" sz="2800" dirty="0">
                <a:sym typeface="+mn-ea"/>
              </a:rPr>
              <a:t>，即列的次序可以任意交换。</a:t>
            </a:r>
            <a:endParaRPr lang="zh-CN" altLang="en-US" sz="2800" dirty="0">
              <a:sym typeface="+mn-ea"/>
            </a:endParaRPr>
          </a:p>
          <a:p>
            <a:pPr marL="631190" lvl="2" indent="0">
              <a:lnSpc>
                <a:spcPts val="4000"/>
              </a:lnSpc>
              <a:spcBef>
                <a:spcPts val="1500"/>
              </a:spcBef>
              <a:buNone/>
            </a:pPr>
            <a:r>
              <a:rPr lang="zh-CN" altLang="en-US" sz="2800" dirty="0"/>
              <a:t>③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列</a:t>
            </a:r>
            <a:r>
              <a:rPr lang="zh-CN" altLang="en-US" sz="2800" dirty="0">
                <a:sym typeface="+mn-ea"/>
              </a:rPr>
              <a:t>是同质的，即</a:t>
            </a:r>
            <a:r>
              <a:rPr lang="zh-CN" altLang="en-US" sz="2800" dirty="0" smtClean="0">
                <a:sym typeface="+mn-ea"/>
              </a:rPr>
              <a:t>每列的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数据类型相同</a:t>
            </a:r>
            <a:r>
              <a:rPr lang="zh-CN" altLang="en-US" sz="2800" dirty="0" smtClean="0">
                <a:sym typeface="+mn-ea"/>
              </a:rPr>
              <a:t>。</a:t>
            </a:r>
            <a:endParaRPr lang="zh-CN" altLang="en-US" sz="2800" dirty="0"/>
          </a:p>
          <a:p>
            <a:pPr marL="0" lvl="2" indent="0">
              <a:lnSpc>
                <a:spcPts val="4000"/>
              </a:lnSpc>
              <a:buNone/>
            </a:pPr>
            <a:r>
              <a:rPr lang="en-US" altLang="zh-CN" sz="2800" dirty="0"/>
              <a:t>        </a:t>
            </a:r>
            <a:r>
              <a:rPr lang="zh-CN" altLang="en-US" sz="2800" dirty="0"/>
              <a:t>④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不同</a:t>
            </a:r>
            <a:r>
              <a:rPr lang="zh-CN" altLang="en-US" sz="2800" dirty="0">
                <a:sym typeface="+mn-ea"/>
              </a:rPr>
              <a:t>的列可出自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同一个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域</a:t>
            </a:r>
            <a:r>
              <a:rPr lang="zh-CN" altLang="en-US" sz="2800" dirty="0" smtClean="0">
                <a:sym typeface="+mn-ea"/>
              </a:rPr>
              <a:t>，但列名不能相同。</a:t>
            </a:r>
            <a:endParaRPr lang="zh-CN" altLang="en-US" sz="2800" dirty="0" smtClean="0">
              <a:sym typeface="+mn-ea"/>
            </a:endParaRPr>
          </a:p>
          <a:p>
            <a:pPr marL="631190" lvl="2" indent="0">
              <a:lnSpc>
                <a:spcPts val="4000"/>
              </a:lnSpc>
              <a:spcBef>
                <a:spcPts val="1500"/>
              </a:spcBef>
              <a:buNone/>
            </a:pPr>
            <a:r>
              <a:rPr lang="zh-CN" altLang="en-US" sz="2800" dirty="0"/>
              <a:t>⑤ </a:t>
            </a:r>
            <a:r>
              <a:rPr lang="zh-CN" altLang="en-US" sz="2800" dirty="0">
                <a:sym typeface="+mn-ea"/>
              </a:rPr>
              <a:t>任意两个元组的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候选码不能取相同</a:t>
            </a:r>
            <a:r>
              <a:rPr lang="zh-CN" altLang="en-US" sz="2800" dirty="0">
                <a:sym typeface="+mn-ea"/>
              </a:rPr>
              <a:t>的值。</a:t>
            </a:r>
            <a:endParaRPr lang="en-US" altLang="zh-CN" sz="2800" dirty="0"/>
          </a:p>
          <a:p>
            <a:pPr marL="631190" lvl="2" indent="0">
              <a:lnSpc>
                <a:spcPts val="4000"/>
              </a:lnSpc>
              <a:buNone/>
            </a:pPr>
            <a:r>
              <a:rPr lang="zh-CN" altLang="en-US" sz="2800" dirty="0"/>
              <a:t>⑥ 分量</a:t>
            </a:r>
            <a:r>
              <a:rPr lang="zh-CN" altLang="en-US" sz="2800" dirty="0" smtClean="0"/>
              <a:t>必须</a:t>
            </a:r>
            <a:r>
              <a:rPr lang="zh-CN" altLang="en-US" sz="2800" dirty="0"/>
              <a:t>取原子值，</a:t>
            </a:r>
            <a:r>
              <a:rPr lang="zh-CN" altLang="en-US" sz="2800" dirty="0" smtClean="0"/>
              <a:t>即列取值是</a:t>
            </a:r>
            <a:r>
              <a:rPr lang="zh-CN" altLang="en-US" sz="2800" dirty="0">
                <a:solidFill>
                  <a:srgbClr val="FF0000"/>
                </a:solidFill>
              </a:rPr>
              <a:t>不可分</a:t>
            </a:r>
            <a:r>
              <a:rPr lang="zh-CN" altLang="en-US" sz="2800" dirty="0"/>
              <a:t>的数据项。</a:t>
            </a:r>
            <a:endParaRPr lang="en-US" altLang="zh-CN" sz="28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关系的数据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结构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285115" y="141668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endParaRPr lang="en-US" altLang="zh-CN" sz="2800" dirty="0"/>
          </a:p>
        </p:txBody>
      </p:sp>
      <p:sp>
        <p:nvSpPr>
          <p:cNvPr id="2" name="内容占位符 1"/>
          <p:cNvSpPr>
            <a:spLocks noGrp="1"/>
          </p:cNvSpPr>
          <p:nvPr/>
        </p:nvSpPr>
        <p:spPr>
          <a:xfrm>
            <a:off x="2266950" y="1475569"/>
            <a:ext cx="8892480" cy="527719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065" lvl="1" indent="0"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关系模式</a:t>
            </a:r>
            <a:r>
              <a:rPr lang="en-US" altLang="zh-CN" sz="2800" dirty="0">
                <a:latin typeface="+mn-ea"/>
              </a:rPr>
              <a:t>:</a:t>
            </a:r>
            <a:r>
              <a:rPr lang="zh-CN" altLang="en-US" sz="2800" dirty="0">
                <a:latin typeface="+mn-ea"/>
              </a:rPr>
              <a:t>关系模式是对关系的描述。包括：</a:t>
            </a:r>
            <a:endParaRPr lang="zh-CN" altLang="en-US" sz="2800" dirty="0">
              <a:latin typeface="+mn-ea"/>
            </a:endParaRPr>
          </a:p>
          <a:p>
            <a:pPr marL="1088390" lvl="2" indent="-457200">
              <a:buFont typeface="+mj-lt"/>
              <a:buAutoNum type="arabicPeriod"/>
            </a:pPr>
            <a:endParaRPr lang="en-US" altLang="zh-CN" sz="2800" dirty="0" smtClean="0">
              <a:latin typeface="+mn-ea"/>
            </a:endParaRPr>
          </a:p>
          <a:p>
            <a:pPr marL="1088390" lvl="2" indent="-457200">
              <a:buClrTx/>
              <a:buFont typeface="+mj-lt"/>
              <a:buAutoNum type="arabicPeriod"/>
            </a:pPr>
            <a:r>
              <a:rPr lang="zh-CN" altLang="en-US" sz="2800" dirty="0" smtClean="0">
                <a:latin typeface="+mn-ea"/>
              </a:rPr>
              <a:t>属性</a:t>
            </a:r>
            <a:r>
              <a:rPr lang="zh-CN" altLang="en-US" sz="2800" dirty="0">
                <a:latin typeface="+mn-ea"/>
              </a:rPr>
              <a:t>的构成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属性来自哪些域和映像关系</a:t>
            </a:r>
            <a:r>
              <a:rPr lang="en-US" altLang="zh-CN" sz="2800" dirty="0">
                <a:latin typeface="+mn-ea"/>
              </a:rPr>
              <a:t>)</a:t>
            </a:r>
            <a:endParaRPr lang="zh-CN" altLang="en-US" sz="2800" dirty="0">
              <a:latin typeface="+mn-ea"/>
            </a:endParaRPr>
          </a:p>
          <a:p>
            <a:pPr marL="1088390" lvl="2" indent="-457200">
              <a:buClrTx/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元组的构成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元组由哪些属性构成</a:t>
            </a:r>
            <a:r>
              <a:rPr lang="en-US" altLang="zh-CN" sz="2800" dirty="0" smtClean="0">
                <a:latin typeface="+mn-ea"/>
              </a:rPr>
              <a:t>)</a:t>
            </a:r>
            <a:endParaRPr lang="en-US" altLang="zh-CN" sz="2800" dirty="0" smtClean="0">
              <a:latin typeface="+mn-ea"/>
            </a:endParaRPr>
          </a:p>
          <a:p>
            <a:pPr marL="1088390" lvl="2" indent="-457200">
              <a:buClrTx/>
              <a:buFont typeface="+mj-lt"/>
              <a:buAutoNum type="arabicPeriod"/>
            </a:pPr>
            <a:r>
              <a:rPr lang="zh-CN" altLang="en-US" sz="2800" dirty="0" smtClean="0">
                <a:latin typeface="+mn-ea"/>
              </a:rPr>
              <a:t>元组</a:t>
            </a:r>
            <a:r>
              <a:rPr lang="zh-CN" altLang="en-US" sz="2800" dirty="0">
                <a:latin typeface="+mn-ea"/>
              </a:rPr>
              <a:t>语义</a:t>
            </a:r>
            <a:endParaRPr lang="en-US" altLang="zh-CN" sz="2800" dirty="0">
              <a:latin typeface="+mn-ea"/>
            </a:endParaRPr>
          </a:p>
          <a:p>
            <a:pPr marL="1088390" lvl="2" indent="-457200">
              <a:buClrTx/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完整性约束条件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4410425" y="4388703"/>
            <a:ext cx="554319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 smtClean="0">
                <a:solidFill>
                  <a:srgbClr val="FF0000"/>
                </a:solidFill>
              </a:rPr>
              <a:t>表结构</a:t>
            </a:r>
            <a:r>
              <a:rPr lang="en-US" altLang="zh-CN" sz="3200" dirty="0" smtClean="0">
                <a:solidFill>
                  <a:srgbClr val="FF0000"/>
                </a:solidFill>
              </a:rPr>
              <a:t>----------</a:t>
            </a:r>
            <a:r>
              <a:rPr lang="zh-CN" altLang="en-US" sz="3200" dirty="0" smtClean="0">
                <a:solidFill>
                  <a:srgbClr val="FF0000"/>
                </a:solidFill>
              </a:rPr>
              <a:t>关系模式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r>
              <a:rPr lang="zh-CN" altLang="en-US" sz="3200" dirty="0" smtClean="0">
                <a:solidFill>
                  <a:srgbClr val="FF0000"/>
                </a:solidFill>
              </a:rPr>
              <a:t>带内容二维表</a:t>
            </a:r>
            <a:r>
              <a:rPr lang="en-US" altLang="zh-CN" sz="3200" dirty="0" smtClean="0">
                <a:solidFill>
                  <a:srgbClr val="FF0000"/>
                </a:solidFill>
              </a:rPr>
              <a:t>----</a:t>
            </a:r>
            <a:r>
              <a:rPr lang="zh-CN" altLang="en-US" sz="3200" dirty="0" smtClean="0">
                <a:solidFill>
                  <a:srgbClr val="FF0000"/>
                </a:solidFill>
              </a:rPr>
              <a:t>关系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关系的数据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结构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285115" y="141668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endParaRPr lang="en-US" altLang="zh-CN" sz="2800" dirty="0"/>
          </a:p>
        </p:txBody>
      </p:sp>
      <p:sp>
        <p:nvSpPr>
          <p:cNvPr id="4" name="矩形 3"/>
          <p:cNvSpPr/>
          <p:nvPr/>
        </p:nvSpPr>
        <p:spPr>
          <a:xfrm>
            <a:off x="1982440" y="1125270"/>
            <a:ext cx="8286750" cy="4461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US" altLang="zh-CN" sz="2800" dirty="0" smtClean="0">
              <a:latin typeface="+mn-ea"/>
              <a:ea typeface="+mn-ea"/>
            </a:endParaRPr>
          </a:p>
          <a:p>
            <a:pPr lvl="1"/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关系模式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形式化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lvl="1"/>
            <a:r>
              <a:rPr lang="en-US" altLang="zh-CN" sz="2800" dirty="0" smtClean="0">
                <a:latin typeface="+mn-ea"/>
                <a:ea typeface="+mn-ea"/>
              </a:rPr>
              <a:t>		</a:t>
            </a:r>
            <a:r>
              <a:rPr lang="en-US" altLang="zh-CN" sz="3200" dirty="0" smtClean="0">
                <a:solidFill>
                  <a:srgbClr val="FF0000"/>
                </a:solidFill>
                <a:latin typeface="+mn-ea"/>
                <a:ea typeface="+mn-ea"/>
              </a:rPr>
              <a:t>R(U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ea typeface="+mn-ea"/>
              </a:rPr>
              <a:t>, D, DOM, F</a:t>
            </a:r>
            <a:r>
              <a:rPr lang="en-US" altLang="zh-CN" sz="3200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zh-CN" sz="32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lvl="1"/>
            <a:r>
              <a:rPr lang="zh-CN" altLang="en-US" sz="2800" dirty="0" smtClean="0">
                <a:latin typeface="+mn-ea"/>
                <a:ea typeface="+mn-ea"/>
              </a:rPr>
              <a:t> 简记</a:t>
            </a:r>
            <a:r>
              <a:rPr lang="zh-CN" altLang="en-US" sz="2800" dirty="0">
                <a:latin typeface="+mn-ea"/>
                <a:ea typeface="+mn-ea"/>
              </a:rPr>
              <a:t>为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R(U) </a:t>
            </a:r>
            <a:r>
              <a:rPr lang="zh-CN" altLang="en-US" sz="2800" dirty="0">
                <a:latin typeface="+mn-ea"/>
                <a:ea typeface="+mn-ea"/>
              </a:rPr>
              <a:t>或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R(A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, 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, …, 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800" dirty="0">
                <a:latin typeface="+mn-ea"/>
                <a:ea typeface="+mn-ea"/>
              </a:rPr>
              <a:t>其中：</a:t>
            </a:r>
            <a:endParaRPr lang="en-US" altLang="zh-CN" sz="2800" dirty="0">
              <a:latin typeface="+mn-ea"/>
              <a:ea typeface="+mn-ea"/>
            </a:endParaRPr>
          </a:p>
          <a:p>
            <a:pPr lvl="2"/>
            <a:r>
              <a:rPr lang="en-US" altLang="zh-CN" sz="2800" dirty="0">
                <a:latin typeface="+mn-ea"/>
                <a:ea typeface="+mn-ea"/>
              </a:rPr>
              <a:t>R </a:t>
            </a:r>
            <a:r>
              <a:rPr lang="zh-CN" altLang="en-US" sz="2800" dirty="0">
                <a:latin typeface="+mn-ea"/>
                <a:ea typeface="+mn-ea"/>
              </a:rPr>
              <a:t>为关系名</a:t>
            </a:r>
            <a:endParaRPr lang="zh-CN" altLang="en-US" sz="2800" dirty="0">
              <a:latin typeface="+mn-ea"/>
              <a:ea typeface="+mn-ea"/>
            </a:endParaRPr>
          </a:p>
          <a:p>
            <a:pPr lvl="2"/>
            <a:r>
              <a:rPr lang="en-US" altLang="zh-CN" sz="2800" dirty="0">
                <a:latin typeface="+mn-ea"/>
                <a:ea typeface="+mn-ea"/>
              </a:rPr>
              <a:t>U </a:t>
            </a:r>
            <a:r>
              <a:rPr lang="zh-CN" altLang="en-US" sz="2800" dirty="0">
                <a:latin typeface="+mn-ea"/>
                <a:ea typeface="+mn-ea"/>
              </a:rPr>
              <a:t>为组成该关系的属性名集合</a:t>
            </a:r>
            <a:endParaRPr lang="zh-CN" altLang="en-US" sz="2800" dirty="0">
              <a:latin typeface="+mn-ea"/>
              <a:ea typeface="+mn-ea"/>
            </a:endParaRPr>
          </a:p>
          <a:p>
            <a:pPr lvl="2"/>
            <a:r>
              <a:rPr lang="en-US" altLang="zh-CN" sz="2800" dirty="0">
                <a:latin typeface="+mn-ea"/>
                <a:ea typeface="+mn-ea"/>
              </a:rPr>
              <a:t>D </a:t>
            </a:r>
            <a:r>
              <a:rPr lang="zh-CN" altLang="en-US" sz="2800" dirty="0">
                <a:latin typeface="+mn-ea"/>
                <a:ea typeface="+mn-ea"/>
              </a:rPr>
              <a:t>为属性组 </a:t>
            </a:r>
            <a:r>
              <a:rPr lang="en-US" altLang="zh-CN" sz="2800" dirty="0">
                <a:latin typeface="+mn-ea"/>
                <a:ea typeface="+mn-ea"/>
              </a:rPr>
              <a:t>U </a:t>
            </a:r>
            <a:r>
              <a:rPr lang="zh-CN" altLang="en-US" sz="2800" dirty="0">
                <a:latin typeface="+mn-ea"/>
                <a:ea typeface="+mn-ea"/>
              </a:rPr>
              <a:t>中的属性所来自的域</a:t>
            </a:r>
            <a:endParaRPr lang="zh-CN" altLang="en-US" sz="2800" dirty="0">
              <a:latin typeface="+mn-ea"/>
              <a:ea typeface="+mn-ea"/>
            </a:endParaRPr>
          </a:p>
          <a:p>
            <a:pPr lvl="2"/>
            <a:r>
              <a:rPr lang="en-US" altLang="zh-CN" sz="2800" dirty="0">
                <a:latin typeface="+mn-ea"/>
                <a:ea typeface="+mn-ea"/>
              </a:rPr>
              <a:t>DOM </a:t>
            </a:r>
            <a:r>
              <a:rPr lang="zh-CN" altLang="en-US" sz="2800" dirty="0">
                <a:latin typeface="+mn-ea"/>
                <a:ea typeface="+mn-ea"/>
              </a:rPr>
              <a:t>为属性向域的映象集合</a:t>
            </a:r>
            <a:endParaRPr lang="zh-CN" altLang="en-US" sz="2800" dirty="0">
              <a:latin typeface="+mn-ea"/>
              <a:ea typeface="+mn-ea"/>
            </a:endParaRPr>
          </a:p>
          <a:p>
            <a:pPr lvl="2"/>
            <a:r>
              <a:rPr lang="en-US" altLang="zh-CN" sz="2800" dirty="0">
                <a:latin typeface="+mn-ea"/>
                <a:ea typeface="+mn-ea"/>
              </a:rPr>
              <a:t>F </a:t>
            </a:r>
            <a:r>
              <a:rPr lang="zh-CN" altLang="en-US" sz="2800" dirty="0">
                <a:latin typeface="+mn-ea"/>
                <a:ea typeface="+mn-ea"/>
              </a:rPr>
              <a:t>为属性间的数据依赖关系集合（后面</a:t>
            </a:r>
            <a:r>
              <a:rPr lang="zh-CN" altLang="en-US" sz="2800" dirty="0">
                <a:latin typeface="+mn-ea"/>
                <a:ea typeface="+mn-ea"/>
              </a:rPr>
              <a:t>章节）</a:t>
            </a:r>
            <a:endParaRPr lang="zh-CN" altLang="en-US" sz="2800" dirty="0">
              <a:latin typeface="+mn-ea"/>
              <a:ea typeface="+mn-ea"/>
            </a:endParaRPr>
          </a:p>
          <a:p>
            <a:pPr lvl="2"/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en-US" altLang="zh-CN" sz="2800" baseline="-25000" dirty="0">
                <a:latin typeface="+mn-ea"/>
                <a:ea typeface="+mn-ea"/>
              </a:rPr>
              <a:t>1</a:t>
            </a:r>
            <a:r>
              <a:rPr lang="en-US" altLang="zh-CN" sz="2800" dirty="0">
                <a:latin typeface="+mn-ea"/>
                <a:ea typeface="+mn-ea"/>
              </a:rPr>
              <a:t>, A</a:t>
            </a:r>
            <a:r>
              <a:rPr lang="en-US" altLang="zh-CN" sz="2800" baseline="-25000" dirty="0">
                <a:latin typeface="+mn-ea"/>
                <a:ea typeface="+mn-ea"/>
              </a:rPr>
              <a:t>2</a:t>
            </a:r>
            <a:r>
              <a:rPr lang="en-US" altLang="zh-CN" sz="2800" dirty="0">
                <a:latin typeface="+mn-ea"/>
                <a:ea typeface="+mn-ea"/>
              </a:rPr>
              <a:t>, …, A</a:t>
            </a:r>
            <a:r>
              <a:rPr lang="en-US" altLang="zh-CN" sz="2800" baseline="-25000" dirty="0">
                <a:latin typeface="+mn-ea"/>
                <a:ea typeface="+mn-ea"/>
              </a:rPr>
              <a:t>n</a:t>
            </a:r>
            <a:r>
              <a:rPr lang="zh-CN" altLang="en-US" sz="2800" dirty="0">
                <a:latin typeface="+mn-ea"/>
                <a:ea typeface="+mn-ea"/>
              </a:rPr>
              <a:t> 为属性名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2813400" y="5849996"/>
            <a:ext cx="6438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 smtClean="0">
                <a:solidFill>
                  <a:srgbClr val="FF0000"/>
                </a:solidFill>
              </a:rPr>
              <a:t>例如：学生（姓名，年龄，性别）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关系的数据结构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小结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3578860" y="314134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endParaRPr lang="en-US" altLang="zh-CN" sz="28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288415" y="1336675"/>
            <a:ext cx="1022985" cy="962660"/>
            <a:chOff x="4186" y="2841"/>
            <a:chExt cx="1611" cy="1516"/>
          </a:xfrm>
        </p:grpSpPr>
        <p:sp>
          <p:nvSpPr>
            <p:cNvPr id="20" name="椭圆 19"/>
            <p:cNvSpPr/>
            <p:nvPr>
              <p:custDataLst>
                <p:tags r:id="rId1"/>
              </p:custDataLst>
            </p:nvPr>
          </p:nvSpPr>
          <p:spPr>
            <a:xfrm>
              <a:off x="4186" y="2841"/>
              <a:ext cx="1611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4567" y="3188"/>
              <a:ext cx="928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3200">
                  <a:solidFill>
                    <a:srgbClr val="1F2DA8"/>
                  </a:solidFill>
                </a:rPr>
                <a:t>域</a:t>
              </a:r>
              <a:endParaRPr lang="zh-CN" altLang="en-US" sz="3200">
                <a:solidFill>
                  <a:srgbClr val="1F2DA8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386205" y="3455035"/>
            <a:ext cx="2027555" cy="962660"/>
            <a:chOff x="4186" y="2841"/>
            <a:chExt cx="3193" cy="1516"/>
          </a:xfrm>
        </p:grpSpPr>
        <p:sp>
          <p:nvSpPr>
            <p:cNvPr id="23" name="椭圆 22"/>
            <p:cNvSpPr/>
            <p:nvPr>
              <p:custDataLst>
                <p:tags r:id="rId3"/>
              </p:custDataLst>
            </p:nvPr>
          </p:nvSpPr>
          <p:spPr>
            <a:xfrm>
              <a:off x="4186" y="2841"/>
              <a:ext cx="3193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>
              <p:custDataLst>
                <p:tags r:id="rId4"/>
              </p:custDataLst>
            </p:nvPr>
          </p:nvSpPr>
          <p:spPr>
            <a:xfrm>
              <a:off x="4567" y="3188"/>
              <a:ext cx="2528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2800">
                  <a:solidFill>
                    <a:srgbClr val="1F2DA8"/>
                  </a:solidFill>
                </a:rPr>
                <a:t>笛卡尔积</a:t>
              </a:r>
              <a:endParaRPr lang="zh-CN" altLang="en-US" sz="2800">
                <a:solidFill>
                  <a:srgbClr val="1F2DA8"/>
                </a:solidFill>
              </a:endParaRPr>
            </a:p>
          </p:txBody>
        </p:sp>
      </p:grpSp>
      <p:sp>
        <p:nvSpPr>
          <p:cNvPr id="25" name="右箭头 24"/>
          <p:cNvSpPr/>
          <p:nvPr>
            <p:custDataLst>
              <p:tags r:id="rId5"/>
            </p:custDataLst>
          </p:nvPr>
        </p:nvSpPr>
        <p:spPr>
          <a:xfrm rot="5400000">
            <a:off x="1786890" y="2223770"/>
            <a:ext cx="1228090" cy="122682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乘</a:t>
            </a:r>
            <a:endParaRPr lang="zh-CN" altLang="en-US" sz="2800" dirty="0" smtClean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506345" y="1336675"/>
            <a:ext cx="1022985" cy="962660"/>
            <a:chOff x="4186" y="2841"/>
            <a:chExt cx="1611" cy="1516"/>
          </a:xfrm>
        </p:grpSpPr>
        <p:sp>
          <p:nvSpPr>
            <p:cNvPr id="27" name="椭圆 26"/>
            <p:cNvSpPr/>
            <p:nvPr>
              <p:custDataLst>
                <p:tags r:id="rId6"/>
              </p:custDataLst>
            </p:nvPr>
          </p:nvSpPr>
          <p:spPr>
            <a:xfrm>
              <a:off x="4186" y="2841"/>
              <a:ext cx="1611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>
              <p:custDataLst>
                <p:tags r:id="rId7"/>
              </p:custDataLst>
            </p:nvPr>
          </p:nvSpPr>
          <p:spPr>
            <a:xfrm>
              <a:off x="4527" y="3143"/>
              <a:ext cx="928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3200">
                  <a:solidFill>
                    <a:srgbClr val="1F2DA8"/>
                  </a:solidFill>
                </a:rPr>
                <a:t>域</a:t>
              </a:r>
              <a:endParaRPr lang="zh-CN" altLang="en-US" sz="3200">
                <a:solidFill>
                  <a:srgbClr val="1F2DA8"/>
                </a:solidFill>
              </a:endParaRPr>
            </a:p>
          </p:txBody>
        </p:sp>
      </p:grpSp>
      <p:sp>
        <p:nvSpPr>
          <p:cNvPr id="29" name="右箭头 28"/>
          <p:cNvSpPr/>
          <p:nvPr>
            <p:custDataLst>
              <p:tags r:id="rId8"/>
            </p:custDataLst>
          </p:nvPr>
        </p:nvSpPr>
        <p:spPr>
          <a:xfrm rot="5400000">
            <a:off x="1786255" y="4497705"/>
            <a:ext cx="1228090" cy="122682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子集</a:t>
            </a:r>
            <a:endParaRPr lang="zh-CN" altLang="en-US" sz="2800" dirty="0" smtClean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386205" y="5732145"/>
            <a:ext cx="2027555" cy="962660"/>
            <a:chOff x="4186" y="2841"/>
            <a:chExt cx="3193" cy="1516"/>
          </a:xfrm>
        </p:grpSpPr>
        <p:sp>
          <p:nvSpPr>
            <p:cNvPr id="31" name="椭圆 30"/>
            <p:cNvSpPr/>
            <p:nvPr>
              <p:custDataLst>
                <p:tags r:id="rId9"/>
              </p:custDataLst>
            </p:nvPr>
          </p:nvSpPr>
          <p:spPr>
            <a:xfrm>
              <a:off x="4186" y="2841"/>
              <a:ext cx="3193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>
              <p:custDataLst>
                <p:tags r:id="rId10"/>
              </p:custDataLst>
            </p:nvPr>
          </p:nvSpPr>
          <p:spPr>
            <a:xfrm>
              <a:off x="5047" y="3140"/>
              <a:ext cx="1568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3200">
                  <a:solidFill>
                    <a:srgbClr val="1F2DA8"/>
                  </a:solidFill>
                </a:rPr>
                <a:t>关系</a:t>
              </a:r>
              <a:endParaRPr lang="zh-CN" altLang="en-US" sz="3200">
                <a:solidFill>
                  <a:srgbClr val="1F2DA8"/>
                </a:solidFill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11"/>
            </p:custDataLst>
          </p:nvPr>
        </p:nvSpPr>
        <p:spPr>
          <a:xfrm>
            <a:off x="3723640" y="1557020"/>
            <a:ext cx="6583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域是一组具有相同数据类型的值的集合。</a:t>
            </a:r>
            <a:endParaRPr lang="zh-CN" altLang="en-US" sz="28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12"/>
            </p:custDataLst>
          </p:nvPr>
        </p:nvSpPr>
        <p:spPr>
          <a:xfrm>
            <a:off x="3723640" y="5445125"/>
            <a:ext cx="6096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/>
            <a:r>
              <a:rPr lang="zh-CN" altLang="en-US" sz="2800" dirty="0" smtClean="0">
                <a:solidFill>
                  <a:schemeClr val="tx1"/>
                </a:solidFill>
                <a:latin typeface="+mn-ea"/>
                <a:sym typeface="+mn-ea"/>
              </a:rPr>
              <a:t>记做：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R(U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, D, DOM, F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) </a:t>
            </a:r>
            <a:endParaRPr lang="zh-CN" altLang="en-US" sz="2800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0" lvl="1" algn="l"/>
            <a:r>
              <a:rPr lang="zh-CN" altLang="en-US" sz="2800" dirty="0" smtClean="0">
                <a:latin typeface="+mn-ea"/>
                <a:sym typeface="+mn-ea"/>
              </a:rPr>
              <a:t>简记：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R(U) </a:t>
            </a:r>
            <a:r>
              <a:rPr lang="zh-CN" altLang="en-US" sz="2800" dirty="0">
                <a:latin typeface="+mn-ea"/>
                <a:sym typeface="+mn-ea"/>
              </a:rPr>
              <a:t>或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R(A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sym typeface="+mn-ea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, 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sym typeface="+mn-ea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, …, 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sym typeface="+mn-ea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)</a:t>
            </a:r>
            <a:endParaRPr lang="en-US" altLang="zh-CN" sz="2800" dirty="0">
              <a:solidFill>
                <a:srgbClr val="FF0000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5" grpId="0" bldLvl="0" animBg="1"/>
      <p:bldP spid="25" grpId="1" animBg="1"/>
      <p:bldP spid="29" grpId="0" bldLvl="0" animBg="1"/>
      <p:bldP spid="36" grpId="0"/>
      <p:bldP spid="29" grpId="1" animBg="1"/>
      <p:bldP spid="3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关系的数据结构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练习题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3" name="内容占位符 1"/>
          <p:cNvSpPr>
            <a:spLocks noGrp="1"/>
          </p:cNvSpPr>
          <p:nvPr/>
        </p:nvSpPr>
        <p:spPr>
          <a:xfrm>
            <a:off x="3578860" y="3141345"/>
            <a:ext cx="11318240" cy="4790440"/>
          </a:xfrm>
          <a:prstGeom prst="rect">
            <a:avLst/>
          </a:prstGeom>
        </p:spPr>
        <p:txBody>
          <a:bodyPr vert="horz">
            <a:normAutofit lnSpcReduction="2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855" indent="0">
              <a:buNone/>
            </a:pPr>
            <a:endParaRPr lang="en-US" altLang="zh-CN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770890" y="1341120"/>
            <a:ext cx="931291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2800"/>
              <a:t>1.具有相同数据类型的值的集合,被称为（       ）。</a:t>
            </a:r>
            <a:endParaRPr lang="en-US" altLang="zh-CN" sz="2800"/>
          </a:p>
          <a:p>
            <a:pPr indent="457200" fontAlgn="auto">
              <a:lnSpc>
                <a:spcPct val="150000"/>
              </a:lnSpc>
            </a:pPr>
            <a:r>
              <a:rPr lang="en-US" altLang="zh-CN" sz="2800"/>
              <a:t>A.域    	            B.关系    	 C.元组 	D.笛卡儿积</a:t>
            </a:r>
            <a:endParaRPr lang="en-US" altLang="zh-CN" sz="2800"/>
          </a:p>
          <a:p>
            <a:pPr fontAlgn="auto">
              <a:lnSpc>
                <a:spcPct val="150000"/>
              </a:lnSpc>
            </a:pPr>
            <a:r>
              <a:rPr lang="en-US" altLang="zh-CN" sz="2800"/>
              <a:t>2.从数学集合论的角度上看,关系是（        ）的子集。</a:t>
            </a:r>
            <a:endParaRPr lang="en-US" altLang="zh-CN" sz="2800"/>
          </a:p>
          <a:p>
            <a:pPr indent="457200" fontAlgn="auto">
              <a:lnSpc>
                <a:spcPct val="150000"/>
              </a:lnSpc>
            </a:pPr>
            <a:r>
              <a:rPr lang="en-US" altLang="zh-CN" sz="2800"/>
              <a:t>A.笛卡儿积   	 B.基数 	  C.元组    	 D.表格</a:t>
            </a:r>
            <a:endParaRPr lang="en-US" altLang="zh-CN" sz="2800"/>
          </a:p>
          <a:p>
            <a:pPr fontAlgn="auto">
              <a:lnSpc>
                <a:spcPct val="150000"/>
              </a:lnSpc>
            </a:pPr>
            <a:r>
              <a:rPr lang="en-US" altLang="zh-CN" sz="2800"/>
              <a:t>3.</a:t>
            </a:r>
            <a:r>
              <a:rPr lang="zh-CN" altLang="en-US" sz="2800"/>
              <a:t>关系模型的任何属性(</a:t>
            </a:r>
            <a:r>
              <a:rPr lang="en-US" altLang="zh-CN" sz="2800"/>
              <a:t>         </a:t>
            </a:r>
            <a:r>
              <a:rPr lang="zh-CN" altLang="en-US" sz="2800"/>
              <a:t> )</a:t>
            </a:r>
            <a:endParaRPr lang="zh-CN" altLang="en-US" sz="2800"/>
          </a:p>
          <a:p>
            <a:pPr indent="457200" fontAlgn="auto">
              <a:lnSpc>
                <a:spcPct val="150000"/>
              </a:lnSpc>
            </a:pPr>
            <a:r>
              <a:rPr lang="zh-CN" altLang="en-US" sz="2800"/>
              <a:t>A. 不可再分</a:t>
            </a:r>
            <a:r>
              <a:rPr lang="en-US" altLang="zh-CN" sz="2800"/>
              <a:t>					</a:t>
            </a:r>
            <a:r>
              <a:rPr lang="zh-CN" altLang="en-US" sz="2800"/>
              <a:t>B. 可再分</a:t>
            </a:r>
            <a:endParaRPr lang="zh-CN" altLang="en-US" sz="2800"/>
          </a:p>
          <a:p>
            <a:pPr indent="457200" fontAlgn="auto">
              <a:lnSpc>
                <a:spcPct val="150000"/>
              </a:lnSpc>
            </a:pPr>
            <a:r>
              <a:rPr lang="zh-CN" altLang="en-US" sz="2800"/>
              <a:t>C. 命名在改关系模式中可以不唯一</a:t>
            </a:r>
            <a:r>
              <a:rPr lang="en-US" altLang="zh-CN" sz="2800"/>
              <a:t>	</a:t>
            </a:r>
            <a:r>
              <a:rPr lang="zh-CN" altLang="en-US" sz="2800"/>
              <a:t>D. 以上都不是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7395210" y="1510665"/>
            <a:ext cx="584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 A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675120" y="2795270"/>
            <a:ext cx="584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 A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658995" y="4104640"/>
            <a:ext cx="584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 A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7" grpId="0"/>
      <p:bldP spid="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关系的完整性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约束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13" name="任意多边形: 形状 43"/>
          <p:cNvSpPr/>
          <p:nvPr>
            <p:custDataLst>
              <p:tags r:id="rId1"/>
            </p:custDataLst>
          </p:nvPr>
        </p:nvSpPr>
        <p:spPr>
          <a:xfrm>
            <a:off x="6370032" y="2610051"/>
            <a:ext cx="1231466" cy="3065396"/>
          </a:xfrm>
          <a:custGeom>
            <a:avLst/>
            <a:gdLst>
              <a:gd name="connsiteX0" fmla="*/ 469597 w 1441073"/>
              <a:gd name="connsiteY0" fmla="*/ 0 h 3587156"/>
              <a:gd name="connsiteX1" fmla="*/ 509370 w 1441073"/>
              <a:gd name="connsiteY1" fmla="*/ 24364 h 3587156"/>
              <a:gd name="connsiteX2" fmla="*/ 1441073 w 1441073"/>
              <a:gd name="connsiteY2" fmla="*/ 1791265 h 3587156"/>
              <a:gd name="connsiteX3" fmla="*/ 839942 w 1441073"/>
              <a:gd name="connsiteY3" fmla="*/ 3279793 h 3587156"/>
              <a:gd name="connsiteX4" fmla="*/ 675483 w 1441073"/>
              <a:gd name="connsiteY4" fmla="*/ 3432322 h 3587156"/>
              <a:gd name="connsiteX5" fmla="*/ 763959 w 1441073"/>
              <a:gd name="connsiteY5" fmla="*/ 3587156 h 3587156"/>
              <a:gd name="connsiteX6" fmla="*/ 57881 w 1441073"/>
              <a:gd name="connsiteY6" fmla="*/ 3145131 h 3587156"/>
              <a:gd name="connsiteX7" fmla="*/ 49471 w 1441073"/>
              <a:gd name="connsiteY7" fmla="*/ 2336796 h 3587156"/>
              <a:gd name="connsiteX8" fmla="*/ 137601 w 1441073"/>
              <a:gd name="connsiteY8" fmla="*/ 2491025 h 3587156"/>
              <a:gd name="connsiteX9" fmla="*/ 162659 w 1441073"/>
              <a:gd name="connsiteY9" fmla="*/ 2462778 h 3587156"/>
              <a:gd name="connsiteX10" fmla="*/ 405457 w 1441073"/>
              <a:gd name="connsiteY10" fmla="*/ 1769866 h 3587156"/>
              <a:gd name="connsiteX11" fmla="*/ 18528 w 1441073"/>
              <a:gd name="connsiteY11" fmla="*/ 929290 h 3587156"/>
              <a:gd name="connsiteX12" fmla="*/ 0 w 1441073"/>
              <a:gd name="connsiteY12" fmla="*/ 915096 h 3587156"/>
              <a:gd name="connsiteX13" fmla="*/ 470549 w 1441073"/>
              <a:gd name="connsiteY13" fmla="*/ 602917 h 3587156"/>
              <a:gd name="connsiteX14" fmla="*/ 479363 w 1441073"/>
              <a:gd name="connsiteY14" fmla="*/ 602774 h 35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41073" h="3587156">
                <a:moveTo>
                  <a:pt x="469597" y="0"/>
                </a:moveTo>
                <a:lnTo>
                  <a:pt x="509370" y="24364"/>
                </a:lnTo>
                <a:cubicBezTo>
                  <a:pt x="1071493" y="407286"/>
                  <a:pt x="1441073" y="1055757"/>
                  <a:pt x="1441073" y="1791265"/>
                </a:cubicBezTo>
                <a:cubicBezTo>
                  <a:pt x="1441073" y="2370479"/>
                  <a:pt x="1211876" y="2895714"/>
                  <a:pt x="839942" y="3279793"/>
                </a:cubicBezTo>
                <a:lnTo>
                  <a:pt x="675483" y="3432322"/>
                </a:lnTo>
                <a:lnTo>
                  <a:pt x="763959" y="3587156"/>
                </a:lnTo>
                <a:lnTo>
                  <a:pt x="57881" y="3145131"/>
                </a:lnTo>
                <a:lnTo>
                  <a:pt x="49471" y="2336796"/>
                </a:lnTo>
                <a:lnTo>
                  <a:pt x="137601" y="2491025"/>
                </a:lnTo>
                <a:lnTo>
                  <a:pt x="162659" y="2462778"/>
                </a:lnTo>
                <a:cubicBezTo>
                  <a:pt x="314340" y="2274478"/>
                  <a:pt x="405457" y="2033074"/>
                  <a:pt x="405457" y="1769866"/>
                </a:cubicBezTo>
                <a:cubicBezTo>
                  <a:pt x="405457" y="1431456"/>
                  <a:pt x="254835" y="1129088"/>
                  <a:pt x="18528" y="929290"/>
                </a:cubicBezTo>
                <a:lnTo>
                  <a:pt x="0" y="915096"/>
                </a:lnTo>
                <a:lnTo>
                  <a:pt x="470549" y="602917"/>
                </a:lnTo>
                <a:lnTo>
                  <a:pt x="479363" y="602774"/>
                </a:lnTo>
                <a:close/>
              </a:path>
            </a:pathLst>
          </a:custGeom>
          <a:solidFill>
            <a:srgbClr val="70AD47">
              <a:lumMod val="60000"/>
              <a:lumOff val="4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: 形状 37"/>
          <p:cNvSpPr/>
          <p:nvPr>
            <p:custDataLst>
              <p:tags r:id="rId2"/>
            </p:custDataLst>
          </p:nvPr>
        </p:nvSpPr>
        <p:spPr>
          <a:xfrm rot="7086092">
            <a:off x="3944435" y="2287148"/>
            <a:ext cx="2881186" cy="2112199"/>
          </a:xfrm>
          <a:custGeom>
            <a:avLst/>
            <a:gdLst>
              <a:gd name="connsiteX0" fmla="*/ 408525 w 3371593"/>
              <a:gd name="connsiteY0" fmla="*/ 1357849 h 2471715"/>
              <a:gd name="connsiteX1" fmla="*/ 173911 w 3371593"/>
              <a:gd name="connsiteY1" fmla="*/ 604707 h 2471715"/>
              <a:gd name="connsiteX2" fmla="*/ 164013 w 3371593"/>
              <a:gd name="connsiteY2" fmla="*/ 409318 h 2471715"/>
              <a:gd name="connsiteX3" fmla="*/ 0 w 3371593"/>
              <a:gd name="connsiteY3" fmla="*/ 409963 h 2471715"/>
              <a:gd name="connsiteX4" fmla="*/ 687323 w 3371593"/>
              <a:gd name="connsiteY4" fmla="*/ 0 h 2471715"/>
              <a:gd name="connsiteX5" fmla="*/ 1142445 w 3371593"/>
              <a:gd name="connsiteY5" fmla="*/ 263142 h 2471715"/>
              <a:gd name="connsiteX6" fmla="*/ 1183519 w 3371593"/>
              <a:gd name="connsiteY6" fmla="*/ 285292 h 2471715"/>
              <a:gd name="connsiteX7" fmla="*/ 1183417 w 3371593"/>
              <a:gd name="connsiteY7" fmla="*/ 286831 h 2471715"/>
              <a:gd name="connsiteX8" fmla="*/ 1386941 w 3371593"/>
              <a:gd name="connsiteY8" fmla="*/ 404505 h 2471715"/>
              <a:gd name="connsiteX9" fmla="*/ 1181054 w 3371593"/>
              <a:gd name="connsiteY9" fmla="*/ 405315 h 2471715"/>
              <a:gd name="connsiteX10" fmla="*/ 1184606 w 3371593"/>
              <a:gd name="connsiteY10" fmla="*/ 485191 h 2471715"/>
              <a:gd name="connsiteX11" fmla="*/ 1301598 w 3371593"/>
              <a:gd name="connsiteY11" fmla="*/ 864693 h 2471715"/>
              <a:gd name="connsiteX12" fmla="*/ 2662508 w 3371593"/>
              <a:gd name="connsiteY12" fmla="*/ 1337122 h 2471715"/>
              <a:gd name="connsiteX13" fmla="*/ 2745586 w 3371593"/>
              <a:gd name="connsiteY13" fmla="*/ 1297887 h 2471715"/>
              <a:gd name="connsiteX14" fmla="*/ 2799626 w 3371593"/>
              <a:gd name="connsiteY14" fmla="*/ 1862057 h 2471715"/>
              <a:gd name="connsiteX15" fmla="*/ 2795602 w 3371593"/>
              <a:gd name="connsiteY15" fmla="*/ 1869898 h 2471715"/>
              <a:gd name="connsiteX16" fmla="*/ 3371593 w 3371593"/>
              <a:gd name="connsiteY16" fmla="*/ 2165436 h 2471715"/>
              <a:gd name="connsiteX17" fmla="*/ 3283549 w 3371593"/>
              <a:gd name="connsiteY17" fmla="*/ 2218272 h 2471715"/>
              <a:gd name="connsiteX18" fmla="*/ 408525 w 3371593"/>
              <a:gd name="connsiteY18" fmla="*/ 1357849 h 247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71593" h="2471715">
                <a:moveTo>
                  <a:pt x="408525" y="1357849"/>
                </a:moveTo>
                <a:cubicBezTo>
                  <a:pt x="279678" y="1116556"/>
                  <a:pt x="202775" y="861285"/>
                  <a:pt x="173911" y="604707"/>
                </a:cubicBezTo>
                <a:lnTo>
                  <a:pt x="164013" y="409318"/>
                </a:lnTo>
                <a:lnTo>
                  <a:pt x="0" y="409963"/>
                </a:lnTo>
                <a:lnTo>
                  <a:pt x="687323" y="0"/>
                </a:lnTo>
                <a:lnTo>
                  <a:pt x="1142445" y="263142"/>
                </a:lnTo>
                <a:lnTo>
                  <a:pt x="1183519" y="285292"/>
                </a:lnTo>
                <a:lnTo>
                  <a:pt x="1183417" y="286831"/>
                </a:lnTo>
                <a:lnTo>
                  <a:pt x="1386941" y="404505"/>
                </a:lnTo>
                <a:lnTo>
                  <a:pt x="1181054" y="405315"/>
                </a:lnTo>
                <a:lnTo>
                  <a:pt x="1184606" y="485191"/>
                </a:lnTo>
                <a:cubicBezTo>
                  <a:pt x="1198449" y="614649"/>
                  <a:pt x="1236769" y="743287"/>
                  <a:pt x="1301598" y="864693"/>
                </a:cubicBezTo>
                <a:cubicBezTo>
                  <a:pt x="1560913" y="1350316"/>
                  <a:pt x="2152316" y="1547831"/>
                  <a:pt x="2662508" y="1337122"/>
                </a:cubicBezTo>
                <a:lnTo>
                  <a:pt x="2745586" y="1297887"/>
                </a:lnTo>
                <a:lnTo>
                  <a:pt x="2799626" y="1862057"/>
                </a:lnTo>
                <a:lnTo>
                  <a:pt x="2795602" y="1869898"/>
                </a:lnTo>
                <a:lnTo>
                  <a:pt x="3371593" y="2165436"/>
                </a:lnTo>
                <a:lnTo>
                  <a:pt x="3283549" y="2218272"/>
                </a:lnTo>
                <a:cubicBezTo>
                  <a:pt x="2245464" y="2772594"/>
                  <a:pt x="958272" y="2387369"/>
                  <a:pt x="408525" y="1357849"/>
                </a:cubicBezTo>
                <a:close/>
              </a:path>
            </a:pathLst>
          </a:custGeom>
          <a:solidFill>
            <a:srgbClr val="70AD47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: 形状 41"/>
          <p:cNvSpPr/>
          <p:nvPr>
            <p:custDataLst>
              <p:tags r:id="rId3"/>
            </p:custDataLst>
          </p:nvPr>
        </p:nvSpPr>
        <p:spPr>
          <a:xfrm rot="21129011">
            <a:off x="3977336" y="3884253"/>
            <a:ext cx="2744568" cy="2136095"/>
          </a:xfrm>
          <a:custGeom>
            <a:avLst/>
            <a:gdLst>
              <a:gd name="connsiteX0" fmla="*/ 737885 w 3211721"/>
              <a:gd name="connsiteY0" fmla="*/ 0 h 2499680"/>
              <a:gd name="connsiteX1" fmla="*/ 1440034 w 3211721"/>
              <a:gd name="connsiteY1" fmla="*/ 400579 h 2499680"/>
              <a:gd name="connsiteX2" fmla="*/ 1226190 w 3211721"/>
              <a:gd name="connsiteY2" fmla="*/ 398503 h 2499680"/>
              <a:gd name="connsiteX3" fmla="*/ 1232619 w 3211721"/>
              <a:gd name="connsiteY3" fmla="*/ 518686 h 2499680"/>
              <a:gd name="connsiteX4" fmla="*/ 2136050 w 3211721"/>
              <a:gd name="connsiteY4" fmla="*/ 1428820 h 2499680"/>
              <a:gd name="connsiteX5" fmla="*/ 2750368 w 3211721"/>
              <a:gd name="connsiteY5" fmla="*/ 1325717 h 2499680"/>
              <a:gd name="connsiteX6" fmla="*/ 2786722 w 3211721"/>
              <a:gd name="connsiteY6" fmla="*/ 1305060 h 2499680"/>
              <a:gd name="connsiteX7" fmla="*/ 2713583 w 3211721"/>
              <a:gd name="connsiteY7" fmla="*/ 1835554 h 2499680"/>
              <a:gd name="connsiteX8" fmla="*/ 2707861 w 3211721"/>
              <a:gd name="connsiteY8" fmla="*/ 1842259 h 2499680"/>
              <a:gd name="connsiteX9" fmla="*/ 3211721 w 3211721"/>
              <a:gd name="connsiteY9" fmla="*/ 2272342 h 2499680"/>
              <a:gd name="connsiteX10" fmla="*/ 3196825 w 3211721"/>
              <a:gd name="connsiteY10" fmla="*/ 2280655 h 2499680"/>
              <a:gd name="connsiteX11" fmla="*/ 1976668 w 3211721"/>
              <a:gd name="connsiteY11" fmla="*/ 2479785 h 2499680"/>
              <a:gd name="connsiteX12" fmla="*/ 158141 w 3211721"/>
              <a:gd name="connsiteY12" fmla="*/ 511596 h 2499680"/>
              <a:gd name="connsiteX13" fmla="*/ 156509 w 3211721"/>
              <a:gd name="connsiteY13" fmla="*/ 388118 h 2499680"/>
              <a:gd name="connsiteX14" fmla="*/ 0 w 3211721"/>
              <a:gd name="connsiteY14" fmla="*/ 386598 h 24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11721" h="2499680">
                <a:moveTo>
                  <a:pt x="737885" y="0"/>
                </a:moveTo>
                <a:lnTo>
                  <a:pt x="1440034" y="400579"/>
                </a:lnTo>
                <a:lnTo>
                  <a:pt x="1226190" y="398503"/>
                </a:lnTo>
                <a:lnTo>
                  <a:pt x="1232619" y="518686"/>
                </a:lnTo>
                <a:cubicBezTo>
                  <a:pt x="1300603" y="982349"/>
                  <a:pt x="1658857" y="1363030"/>
                  <a:pt x="2136050" y="1428820"/>
                </a:cubicBezTo>
                <a:cubicBezTo>
                  <a:pt x="2354196" y="1458896"/>
                  <a:pt x="2566220" y="1418895"/>
                  <a:pt x="2750368" y="1325717"/>
                </a:cubicBezTo>
                <a:lnTo>
                  <a:pt x="2786722" y="1305060"/>
                </a:lnTo>
                <a:lnTo>
                  <a:pt x="2713583" y="1835554"/>
                </a:lnTo>
                <a:lnTo>
                  <a:pt x="2707861" y="1842259"/>
                </a:lnTo>
                <a:lnTo>
                  <a:pt x="3211721" y="2272342"/>
                </a:lnTo>
                <a:lnTo>
                  <a:pt x="3196825" y="2280655"/>
                </a:lnTo>
                <a:cubicBezTo>
                  <a:pt x="2831332" y="2462192"/>
                  <a:pt x="2410231" y="2539559"/>
                  <a:pt x="1976668" y="2479785"/>
                </a:cubicBezTo>
                <a:cubicBezTo>
                  <a:pt x="965020" y="2340310"/>
                  <a:pt x="220732" y="1500384"/>
                  <a:pt x="158141" y="511596"/>
                </a:cubicBezTo>
                <a:lnTo>
                  <a:pt x="156509" y="388118"/>
                </a:lnTo>
                <a:lnTo>
                  <a:pt x="0" y="386598"/>
                </a:lnTo>
                <a:close/>
              </a:path>
            </a:pathLst>
          </a:custGeom>
          <a:solidFill>
            <a:srgbClr val="70AD47">
              <a:lumMod val="7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线条"/>
          <p:cNvSpPr/>
          <p:nvPr>
            <p:custDataLst>
              <p:tags r:id="rId4"/>
            </p:custDataLst>
          </p:nvPr>
        </p:nvSpPr>
        <p:spPr>
          <a:xfrm flipV="1">
            <a:off x="2153285" y="3644576"/>
            <a:ext cx="2128512" cy="27968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34289" rIns="342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线条"/>
          <p:cNvSpPr/>
          <p:nvPr>
            <p:custDataLst>
              <p:tags r:id="rId5"/>
            </p:custDataLst>
          </p:nvPr>
        </p:nvSpPr>
        <p:spPr>
          <a:xfrm flipV="1">
            <a:off x="2774063" y="5797984"/>
            <a:ext cx="2109396" cy="29288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34289" rIns="342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972557" y="2649476"/>
            <a:ext cx="122857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what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883459" y="5000195"/>
            <a:ext cx="9544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why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6694242" y="3915253"/>
            <a:ext cx="97924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how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1730375" y="5318125"/>
            <a:ext cx="3050540" cy="476885"/>
          </a:xfrm>
          <a:prstGeom prst="rect">
            <a:avLst/>
          </a:prstGeom>
          <a:noFill/>
        </p:spPr>
        <p:txBody>
          <a:bodyPr wrap="square" lIns="67500" tIns="35100" rIns="67500" bIns="0" anchor="b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2800" b="1" spc="3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现实世界的要求</a:t>
            </a:r>
            <a:endParaRPr lang="zh-CN" altLang="en-US" sz="2800" b="1" spc="300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7601585" y="1564640"/>
            <a:ext cx="3025775" cy="2078355"/>
          </a:xfrm>
          <a:prstGeom prst="rect">
            <a:avLst/>
          </a:prstGeom>
          <a:noFill/>
        </p:spPr>
        <p:txBody>
          <a:bodyPr wrap="square" lIns="67500" tIns="35100" rIns="67500" bIns="0" anchor="b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完整性约束条件：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实体完整性、</a:t>
            </a:r>
            <a:endParaRPr lang="en-US" altLang="zh-CN" sz="28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参照完整性、</a:t>
            </a:r>
            <a:endParaRPr lang="en-US" altLang="zh-CN" sz="28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用户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定义的</a:t>
            </a: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完整性</a:t>
            </a:r>
            <a:endParaRPr lang="zh-CN" altLang="en-US" sz="2800" b="1" spc="300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851025" y="1574800"/>
            <a:ext cx="2931160" cy="1915795"/>
          </a:xfrm>
          <a:prstGeom prst="rect">
            <a:avLst/>
          </a:prstGeom>
          <a:noFill/>
        </p:spPr>
        <p:txBody>
          <a:bodyPr wrap="square" lIns="67500" tIns="35100" rIns="67500" bIns="0" anchor="b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sz="2800" b="1" spc="3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数据库中数据的</a:t>
            </a:r>
            <a:endParaRPr lang="zh-CN" sz="2800" b="1" spc="3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正确性</a:t>
            </a:r>
            <a:endParaRPr lang="zh-CN" sz="2800" b="1" spc="3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合理</a:t>
            </a:r>
            <a:r>
              <a:rPr lang="en-US" alt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有效)性</a:t>
            </a:r>
            <a:endParaRPr lang="zh-CN" sz="2800" b="1" spc="3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相容(一致)</a:t>
            </a: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性</a:t>
            </a:r>
            <a:endParaRPr lang="zh-CN" sz="2800" b="1" spc="300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25" name="线条"/>
          <p:cNvSpPr/>
          <p:nvPr>
            <p:custDataLst>
              <p:tags r:id="rId12"/>
            </p:custDataLst>
          </p:nvPr>
        </p:nvSpPr>
        <p:spPr>
          <a:xfrm flipV="1">
            <a:off x="7770331" y="3688391"/>
            <a:ext cx="1905015" cy="19101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34289" rIns="342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48275" y="3699510"/>
            <a:ext cx="1255395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2800" b="1" dirty="0" smtClean="0">
                <a:solidFill>
                  <a:srgbClr val="0000CC"/>
                </a:solidFill>
                <a:latin typeface="+mn-ea"/>
                <a:sym typeface="+mn-ea"/>
              </a:rPr>
              <a:t>数据</a:t>
            </a:r>
            <a:endParaRPr lang="zh-CN" altLang="en-US" sz="2800" b="1" dirty="0" smtClean="0">
              <a:solidFill>
                <a:srgbClr val="0000CC"/>
              </a:solidFill>
              <a:latin typeface="+mn-ea"/>
              <a:sym typeface="+mn-ea"/>
            </a:endParaRPr>
          </a:p>
          <a:p>
            <a:pPr algn="ctr"/>
            <a:r>
              <a:rPr lang="zh-CN" altLang="en-US" sz="2800" b="1" dirty="0" smtClean="0">
                <a:solidFill>
                  <a:srgbClr val="0000CC"/>
                </a:solidFill>
                <a:latin typeface="+mn-ea"/>
                <a:sym typeface="+mn-ea"/>
              </a:rPr>
              <a:t>完整性</a:t>
            </a:r>
            <a:endParaRPr lang="zh-CN" altLang="en-US" sz="2800" b="1" dirty="0" smtClean="0">
              <a:solidFill>
                <a:srgbClr val="0000CC"/>
              </a:solidFill>
              <a:latin typeface="+mn-ea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32675" y="4295140"/>
            <a:ext cx="308419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37160"/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说明</a:t>
            </a:r>
            <a:r>
              <a:rPr lang="zh-CN" altLang="en-US" sz="2400" dirty="0">
                <a:sym typeface="+mn-ea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实体完整性和参照完整性</a:t>
            </a:r>
            <a:r>
              <a:rPr lang="zh-CN" altLang="en-US" sz="2400" dirty="0">
                <a:sym typeface="+mn-ea"/>
              </a:rPr>
              <a:t>是关系模型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必须</a:t>
            </a:r>
            <a:r>
              <a:rPr lang="zh-CN" altLang="en-US" sz="2400" dirty="0">
                <a:sym typeface="+mn-ea"/>
              </a:rPr>
              <a:t>满足的完整性约束条件，称为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关系的两个不变性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。</a:t>
            </a:r>
            <a:endParaRPr lang="zh-CN" altLang="en-US" sz="2400" b="1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4" grpId="0"/>
      <p:bldP spid="24" grpId="1"/>
      <p:bldP spid="23" grpId="0"/>
      <p:bldP spid="23" grpId="1"/>
      <p:bldP spid="27" grpId="0"/>
      <p:bldP spid="2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关系的完整性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约束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28" name="内容占位符 1"/>
          <p:cNvSpPr>
            <a:spLocks noGrp="1"/>
          </p:cNvSpPr>
          <p:nvPr/>
        </p:nvSpPr>
        <p:spPr>
          <a:xfrm>
            <a:off x="1073785" y="2651760"/>
            <a:ext cx="8448675" cy="2750185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None/>
            </a:pPr>
            <a:r>
              <a:rPr lang="zh-CN" altLang="en-US" sz="2800" dirty="0"/>
              <a:t>说明：</a:t>
            </a:r>
            <a:endParaRPr lang="zh-CN" altLang="en-US" sz="2800" dirty="0"/>
          </a:p>
          <a:p>
            <a:pPr marL="13716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）一个基本表通常</a:t>
            </a:r>
            <a:r>
              <a:rPr lang="zh-CN" altLang="en-US" sz="2800" dirty="0">
                <a:solidFill>
                  <a:srgbClr val="FF0000"/>
                </a:solidFill>
              </a:rPr>
              <a:t>对应</a:t>
            </a:r>
            <a:r>
              <a:rPr lang="zh-CN" altLang="en-US" sz="2800" dirty="0"/>
              <a:t>现实世界的一个实体集。</a:t>
            </a:r>
            <a:endParaRPr lang="zh-CN" altLang="en-US" sz="2800" dirty="0"/>
          </a:p>
          <a:p>
            <a:pPr marL="13716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）现实世界中实体可区分，即具有</a:t>
            </a:r>
            <a:r>
              <a:rPr lang="zh-CN" altLang="en-US" sz="2800" dirty="0">
                <a:solidFill>
                  <a:srgbClr val="FF0000"/>
                </a:solidFill>
              </a:rPr>
              <a:t>唯一性</a:t>
            </a:r>
            <a:r>
              <a:rPr lang="zh-CN" altLang="en-US" sz="2800" dirty="0"/>
              <a:t>标识。</a:t>
            </a:r>
            <a:endParaRPr lang="zh-CN" altLang="en-US" sz="2800" dirty="0"/>
          </a:p>
          <a:p>
            <a:pPr marL="13716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）关系模型中以</a:t>
            </a:r>
            <a:r>
              <a:rPr lang="zh-CN" altLang="en-US" sz="2800" dirty="0">
                <a:solidFill>
                  <a:srgbClr val="FF0000"/>
                </a:solidFill>
              </a:rPr>
              <a:t>候选码</a:t>
            </a:r>
            <a:r>
              <a:rPr lang="zh-CN" altLang="en-US" sz="2800" dirty="0"/>
              <a:t>作为唯一性标识。</a:t>
            </a:r>
            <a:endParaRPr lang="zh-CN" altLang="en-US" sz="2800" dirty="0"/>
          </a:p>
          <a:p>
            <a:pPr marL="13716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候选码</a:t>
            </a:r>
            <a:r>
              <a:rPr lang="zh-CN" altLang="en-US" sz="2800" dirty="0"/>
              <a:t>中的属性即</a:t>
            </a:r>
            <a:r>
              <a:rPr lang="zh-CN" altLang="en-US" sz="2800" dirty="0">
                <a:solidFill>
                  <a:srgbClr val="FF0000"/>
                </a:solidFill>
              </a:rPr>
              <a:t>主属性不能取空值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  <p:sp>
        <p:nvSpPr>
          <p:cNvPr id="37" name="TextBox 4"/>
          <p:cNvSpPr txBox="1"/>
          <p:nvPr/>
        </p:nvSpPr>
        <p:spPr>
          <a:xfrm>
            <a:off x="1131140" y="1340919"/>
            <a:ext cx="8543720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数据库的</a:t>
            </a: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实体完整性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endParaRPr lang="en-US" altLang="zh-CN" sz="2800" dirty="0">
              <a:latin typeface="+mn-ea"/>
            </a:endParaRPr>
          </a:p>
          <a:p>
            <a:pPr>
              <a:lnSpc>
                <a:spcPts val="3700"/>
              </a:lnSpc>
            </a:pPr>
            <a:r>
              <a:rPr lang="en-US" altLang="zh-CN" sz="2800" dirty="0" smtClean="0">
                <a:latin typeface="+mn-ea"/>
              </a:rPr>
              <a:t>	</a:t>
            </a:r>
            <a:r>
              <a:rPr lang="zh-CN" altLang="en-US" sz="2800" dirty="0">
                <a:latin typeface="+mn-ea"/>
              </a:rPr>
              <a:t>基本关系 </a:t>
            </a:r>
            <a:r>
              <a:rPr lang="en-US" altLang="zh-CN" sz="2800" dirty="0">
                <a:latin typeface="+mn-ea"/>
              </a:rPr>
              <a:t>R </a:t>
            </a:r>
            <a:r>
              <a:rPr lang="zh-CN" altLang="en-US" sz="2800" dirty="0">
                <a:latin typeface="+mn-ea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主属性不能取空值</a:t>
            </a:r>
            <a:r>
              <a:rPr lang="zh-CN" altLang="en-US" sz="2800" dirty="0">
                <a:latin typeface="+mn-ea"/>
              </a:rPr>
              <a:t>（</a:t>
            </a:r>
            <a:r>
              <a:rPr lang="en-US" altLang="zh-CN" sz="2800" dirty="0">
                <a:latin typeface="+mn-ea"/>
              </a:rPr>
              <a:t>NULL</a:t>
            </a:r>
            <a:r>
              <a:rPr lang="zh-CN" altLang="en-US" sz="2800" dirty="0">
                <a:latin typeface="+mn-ea"/>
              </a:rPr>
              <a:t>）。</a:t>
            </a:r>
            <a:endParaRPr lang="en-US" altLang="zh-CN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64412" y="5402064"/>
            <a:ext cx="600964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7160"/>
            <a:r>
              <a:rPr lang="zh-CN" altLang="en-US" sz="2800" dirty="0">
                <a:solidFill>
                  <a:srgbClr val="FF0000"/>
                </a:solidFill>
              </a:rPr>
              <a:t>例如</a:t>
            </a:r>
            <a:r>
              <a:rPr lang="zh-CN" altLang="en-US" sz="2800" dirty="0"/>
              <a:t>：</a:t>
            </a:r>
            <a:r>
              <a:rPr lang="zh-CN" altLang="en-US" sz="2800" dirty="0" smtClean="0"/>
              <a:t>学生实体中学</a:t>
            </a:r>
            <a:r>
              <a:rPr lang="zh-CN" altLang="en-US" sz="2800" dirty="0"/>
              <a:t>号</a:t>
            </a:r>
            <a:r>
              <a:rPr lang="zh-CN" altLang="en-US" sz="2800" dirty="0" smtClean="0"/>
              <a:t>必须不能为空</a:t>
            </a:r>
            <a:endParaRPr lang="en-US" altLang="zh-CN" sz="28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关系的完整性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约束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131140" y="1340919"/>
            <a:ext cx="854372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数据库的</a:t>
            </a: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参照完整性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1283335" y="2018665"/>
            <a:ext cx="8391525" cy="156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lnSpc>
                <a:spcPts val="3500"/>
              </a:lnSpc>
              <a:buFont typeface="Wingdings" panose="05000000000000000000" charset="0"/>
              <a:buChar char="u"/>
            </a:pP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定义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外码和主码之间的引用规则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charset="0"/>
              <a:buChar char="u"/>
            </a:pP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要么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外码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等于被参照关系中某个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元组的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主码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值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marL="914400" lvl="1" indent="-457200">
              <a:lnSpc>
                <a:spcPts val="3500"/>
              </a:lnSpc>
              <a:buFont typeface="Wingdings" panose="05000000000000000000" charset="0"/>
              <a:buChar char="u"/>
            </a:pP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要么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为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空值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NULL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）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30935" y="4274820"/>
            <a:ext cx="8710295" cy="1901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举例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    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被参照关系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教师关系模式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教师号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姓名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2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500"/>
              </a:lnSpc>
            </a:pPr>
            <a:endParaRPr lang="en-US" altLang="zh-CN" sz="28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500"/>
              </a:lnSpc>
            </a:pPr>
            <a:endParaRPr lang="en-US" altLang="zh-CN" sz="2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35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参照关系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学生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  <a:sym typeface="+mn-ea"/>
              </a:rPr>
              <a:t>关系模式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姓名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性别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教师号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28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170548" y="4832666"/>
            <a:ext cx="1" cy="837569"/>
          </a:xfrm>
          <a:prstGeom prst="straightConnector1">
            <a:avLst/>
          </a:prstGeom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关系的完整性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约束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28" name="内容占位符 1"/>
          <p:cNvSpPr>
            <a:spLocks noGrp="1"/>
          </p:cNvSpPr>
          <p:nvPr/>
        </p:nvSpPr>
        <p:spPr>
          <a:xfrm>
            <a:off x="1250418" y="3362325"/>
            <a:ext cx="8448674" cy="2506339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None/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zh-CN" altLang="en-US" sz="2800" dirty="0" smtClean="0"/>
              <a:t>：学生关系（学号，姓名，性别，</a:t>
            </a:r>
            <a:r>
              <a:rPr lang="zh-CN" altLang="en-US" sz="2800" dirty="0" smtClean="0"/>
              <a:t>民族）</a:t>
            </a:r>
            <a:endParaRPr lang="en-US" altLang="zh-CN" sz="2800" dirty="0" smtClean="0"/>
          </a:p>
          <a:p>
            <a:pPr marL="1508760" lvl="2" indent="-457200">
              <a:buClr>
                <a:srgbClr val="000000"/>
              </a:buClr>
              <a:buFont typeface="Wingdings" panose="05000000000000000000" charset="0"/>
              <a:buChar char="u"/>
            </a:pPr>
            <a:r>
              <a:rPr lang="en-US" altLang="zh-CN" sz="2800" dirty="0"/>
              <a:t>	</a:t>
            </a:r>
            <a:r>
              <a:rPr lang="zh-CN" altLang="en-US" sz="2800" dirty="0"/>
              <a:t>学号唯一不重复；</a:t>
            </a:r>
            <a:endParaRPr lang="en-US" altLang="zh-CN" sz="2800" dirty="0" smtClean="0"/>
          </a:p>
          <a:p>
            <a:pPr marL="1508760" lvl="2" indent="-457200">
              <a:buClr>
                <a:srgbClr val="000000"/>
              </a:buClr>
              <a:buFont typeface="Wingdings" panose="05000000000000000000" charset="0"/>
              <a:buChar char="u"/>
            </a:pPr>
            <a:r>
              <a:rPr lang="en-US" altLang="zh-CN" sz="2800" dirty="0" smtClean="0"/>
              <a:t>	</a:t>
            </a:r>
            <a:r>
              <a:rPr lang="zh-CN" altLang="en-US" sz="2800" dirty="0"/>
              <a:t>姓名</a:t>
            </a:r>
            <a:r>
              <a:rPr lang="zh-CN" altLang="en-US" sz="2800" dirty="0" smtClean="0"/>
              <a:t>限定不能为空；</a:t>
            </a:r>
            <a:endParaRPr lang="en-US" altLang="zh-CN" sz="2800" dirty="0" smtClean="0"/>
          </a:p>
          <a:p>
            <a:pPr marL="1508760" lvl="2" indent="-457200">
              <a:buClr>
                <a:srgbClr val="000000"/>
              </a:buClr>
              <a:buFont typeface="Wingdings" panose="05000000000000000000" charset="0"/>
              <a:buChar char="u"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性别</a:t>
            </a:r>
            <a:r>
              <a:rPr lang="zh-CN" altLang="en-US" sz="2800" dirty="0"/>
              <a:t>限定为</a:t>
            </a:r>
            <a:r>
              <a:rPr lang="en-US" altLang="zh-CN" sz="2800" dirty="0"/>
              <a:t> {</a:t>
            </a:r>
            <a:r>
              <a:rPr lang="zh-CN" altLang="en-US" sz="2800" dirty="0"/>
              <a:t>male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zh-CN" altLang="en-US" sz="2800" dirty="0">
                <a:sym typeface="+mn-ea"/>
              </a:rPr>
              <a:t>female，</a:t>
            </a:r>
            <a:r>
              <a:rPr lang="en-US" altLang="zh-CN" sz="2800" dirty="0">
                <a:sym typeface="+mn-ea"/>
              </a:rPr>
              <a:t>others</a:t>
            </a:r>
            <a:r>
              <a:rPr lang="en-US" altLang="zh-CN" sz="2800" dirty="0" smtClean="0"/>
              <a:t>}</a:t>
            </a:r>
            <a:r>
              <a:rPr lang="zh-CN" altLang="en-US" sz="2800" dirty="0" smtClean="0">
                <a:sym typeface="+mn-ea"/>
              </a:rPr>
              <a:t>；</a:t>
            </a:r>
            <a:endParaRPr lang="en-US" altLang="zh-CN" sz="2800" dirty="0" smtClean="0"/>
          </a:p>
          <a:p>
            <a:pPr marL="1508760" lvl="2" indent="-457200">
              <a:buClr>
                <a:srgbClr val="000000"/>
              </a:buClr>
              <a:buFont typeface="Wingdings" panose="05000000000000000000" charset="0"/>
              <a:buChar char="u"/>
            </a:pPr>
            <a:r>
              <a:rPr lang="en-US" altLang="zh-CN" sz="2800" dirty="0" smtClean="0">
                <a:sym typeface="+mn-ea"/>
              </a:rPr>
              <a:t>    </a:t>
            </a:r>
            <a:r>
              <a:rPr lang="zh-CN" altLang="en-US" sz="2800" dirty="0" smtClean="0">
                <a:sym typeface="+mn-ea"/>
              </a:rPr>
              <a:t>民族</a:t>
            </a:r>
            <a:r>
              <a:rPr lang="zh-CN" altLang="en-US" sz="2800" dirty="0">
                <a:sym typeface="+mn-ea"/>
              </a:rPr>
              <a:t>默认为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 smtClean="0">
                <a:sym typeface="+mn-ea"/>
              </a:rPr>
              <a:t>{</a:t>
            </a:r>
            <a:r>
              <a:rPr lang="zh-CN" altLang="en-US" sz="2800" dirty="0" smtClean="0">
                <a:sym typeface="+mn-ea"/>
              </a:rPr>
              <a:t>汉族</a:t>
            </a:r>
            <a:r>
              <a:rPr lang="en-US" altLang="zh-CN" sz="2800" dirty="0" smtClean="0">
                <a:sym typeface="+mn-ea"/>
              </a:rPr>
              <a:t>} </a:t>
            </a:r>
            <a:r>
              <a:rPr lang="zh-CN" altLang="en-US" sz="2800" dirty="0" smtClean="0">
                <a:sym typeface="+mn-ea"/>
              </a:rPr>
              <a:t>。</a:t>
            </a:r>
            <a:endParaRPr lang="en-US" altLang="zh-CN" sz="2800" dirty="0" smtClean="0"/>
          </a:p>
          <a:p>
            <a:pPr marL="594360" indent="-457200">
              <a:buNone/>
            </a:pPr>
            <a:r>
              <a:rPr lang="en-US" altLang="zh-CN" sz="2800" dirty="0" smtClean="0"/>
              <a:t>	</a:t>
            </a:r>
            <a:endParaRPr lang="en-US" altLang="zh-CN" sz="2800" dirty="0"/>
          </a:p>
        </p:txBody>
      </p:sp>
      <p:sp>
        <p:nvSpPr>
          <p:cNvPr id="37" name="TextBox 4"/>
          <p:cNvSpPr txBox="1"/>
          <p:nvPr/>
        </p:nvSpPr>
        <p:spPr>
          <a:xfrm>
            <a:off x="1202690" y="1329055"/>
            <a:ext cx="9457690" cy="1514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数据库的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用户自定义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完整性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3700"/>
              </a:lnSpc>
            </a:pPr>
            <a:r>
              <a:rPr lang="en-US" altLang="zh-CN" sz="2800" dirty="0" smtClean="0">
                <a:latin typeface="+mn-ea"/>
              </a:rPr>
              <a:t>	</a:t>
            </a:r>
            <a:r>
              <a:rPr lang="zh-CN" altLang="en-US" sz="2800" dirty="0"/>
              <a:t>是指针对某一具体关系数据库的约束条件，</a:t>
            </a:r>
            <a:endParaRPr lang="zh-CN" altLang="en-US" sz="2800" dirty="0"/>
          </a:p>
          <a:p>
            <a:pPr>
              <a:lnSpc>
                <a:spcPts val="37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           </a:t>
            </a:r>
            <a:r>
              <a:rPr lang="zh-CN" altLang="en-US" sz="2800" dirty="0">
                <a:solidFill>
                  <a:srgbClr val="FF0000"/>
                </a:solidFill>
              </a:rPr>
              <a:t>反映某一具体应用所涉及的数据必须满足的语义要求</a:t>
            </a:r>
            <a:r>
              <a:rPr lang="zh-CN" altLang="en-US" sz="2800" dirty="0"/>
              <a:t>。</a:t>
            </a:r>
            <a:endParaRPr lang="en-US" altLang="zh-CN" sz="28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关系的完整性约束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986995" y="1196774"/>
            <a:ext cx="8543720" cy="4918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数据完整性：</a:t>
            </a:r>
            <a:endParaRPr lang="en-US" altLang="zh-CN" sz="28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ts val="3700"/>
              </a:lnSpc>
            </a:pPr>
            <a:r>
              <a:rPr lang="en-US" altLang="zh-CN" sz="2800" dirty="0" smtClean="0">
                <a:latin typeface="+mn-ea"/>
              </a:rPr>
              <a:t>	</a:t>
            </a:r>
            <a:r>
              <a:rPr lang="zh-CN" altLang="en-US" sz="2800" dirty="0" smtClean="0">
                <a:latin typeface="+mn-ea"/>
              </a:rPr>
              <a:t>指数</a:t>
            </a:r>
            <a:r>
              <a:rPr lang="en-US" altLang="zh-CN" sz="2800" dirty="0" smtClean="0">
                <a:latin typeface="+mn-ea"/>
              </a:rPr>
              <a:t>	</a:t>
            </a:r>
            <a:r>
              <a:rPr lang="zh-CN" altLang="en-US" sz="2800" dirty="0" smtClean="0">
                <a:latin typeface="+mn-ea"/>
              </a:rPr>
              <a:t>据库中数据的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正确性、合理性、相容性。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CN" sz="2800" dirty="0" smtClean="0">
              <a:latin typeface="+mn-ea"/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  <a:latin typeface="+mn-ea"/>
                <a:sym typeface="+mn-ea"/>
              </a:rPr>
              <a:t>数据完整性约束</a:t>
            </a:r>
            <a:r>
              <a:rPr lang="zh-CN" altLang="en-US" sz="2800" dirty="0" smtClean="0">
                <a:latin typeface="+mn-ea"/>
              </a:rPr>
              <a:t>：</a:t>
            </a:r>
            <a:endParaRPr lang="zh-CN" altLang="en-US" sz="2800" dirty="0" smtClean="0">
              <a:latin typeface="+mn-ea"/>
            </a:endParaRPr>
          </a:p>
          <a:p>
            <a:r>
              <a:rPr lang="en-US" altLang="zh-CN" sz="2800" dirty="0" smtClean="0">
                <a:solidFill>
                  <a:srgbClr val="FF0000"/>
                </a:solidFill>
              </a:rPr>
              <a:t>	 </a:t>
            </a:r>
            <a:r>
              <a:rPr lang="zh-CN" altLang="en-US" sz="2800" dirty="0" smtClean="0">
                <a:solidFill>
                  <a:schemeClr val="tx1"/>
                </a:solidFill>
              </a:rPr>
              <a:t>实体完整性（主属性不空，码值唯一）、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r>
              <a:rPr lang="en-US" altLang="zh-CN" sz="2800" dirty="0" smtClean="0">
                <a:solidFill>
                  <a:schemeClr val="tx1"/>
                </a:solidFill>
              </a:rPr>
              <a:t>	 </a:t>
            </a:r>
            <a:r>
              <a:rPr lang="zh-CN" altLang="en-US" sz="2800" dirty="0" smtClean="0">
                <a:solidFill>
                  <a:schemeClr val="tx1"/>
                </a:solidFill>
              </a:rPr>
              <a:t>参照完整性（外码为空或为主码）、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r>
              <a:rPr lang="en-US" altLang="zh-CN" sz="2800" dirty="0" smtClean="0">
                <a:solidFill>
                  <a:schemeClr val="tx1"/>
                </a:solidFill>
              </a:rPr>
              <a:t>	 </a:t>
            </a:r>
            <a:r>
              <a:rPr lang="zh-CN" altLang="en-US" sz="2800" dirty="0" smtClean="0">
                <a:solidFill>
                  <a:schemeClr val="tx1"/>
                </a:solidFill>
              </a:rPr>
              <a:t>用户</a:t>
            </a:r>
            <a:r>
              <a:rPr lang="zh-CN" altLang="en-US" sz="2800" dirty="0">
                <a:solidFill>
                  <a:schemeClr val="tx1"/>
                </a:solidFill>
              </a:rPr>
              <a:t>定义的</a:t>
            </a:r>
            <a:r>
              <a:rPr lang="zh-CN" altLang="en-US" sz="2800" dirty="0" smtClean="0">
                <a:solidFill>
                  <a:schemeClr val="tx1"/>
                </a:solidFill>
              </a:rPr>
              <a:t>完整性（唯一</a:t>
            </a:r>
            <a:r>
              <a:rPr lang="en-US" altLang="zh-CN" sz="2800" dirty="0" smtClean="0">
                <a:solidFill>
                  <a:schemeClr val="tx1"/>
                </a:solidFill>
              </a:rPr>
              <a:t>|</a:t>
            </a:r>
            <a:r>
              <a:rPr lang="zh-CN" altLang="en-US" sz="2800" dirty="0" smtClean="0">
                <a:solidFill>
                  <a:schemeClr val="tx1"/>
                </a:solidFill>
              </a:rPr>
              <a:t>非空</a:t>
            </a:r>
            <a:r>
              <a:rPr lang="en-US" altLang="zh-CN" sz="2800" dirty="0" smtClean="0">
                <a:solidFill>
                  <a:schemeClr val="tx1"/>
                </a:solidFill>
              </a:rPr>
              <a:t>|</a:t>
            </a:r>
            <a:r>
              <a:rPr lang="zh-CN" altLang="en-US" sz="2800" dirty="0" smtClean="0">
                <a:solidFill>
                  <a:schemeClr val="tx1"/>
                </a:solidFill>
              </a:rPr>
              <a:t>默认</a:t>
            </a:r>
            <a:r>
              <a:rPr lang="en-US" altLang="zh-CN" sz="2800" dirty="0" smtClean="0">
                <a:sym typeface="+mn-ea"/>
              </a:rPr>
              <a:t>|check</a:t>
            </a:r>
            <a:r>
              <a:rPr lang="zh-CN" altLang="en-US" sz="2800" dirty="0" smtClean="0">
                <a:solidFill>
                  <a:schemeClr val="tx1"/>
                </a:solidFill>
              </a:rPr>
              <a:t>）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endParaRPr lang="en-US" altLang="zh-CN" sz="2800" dirty="0" smtClean="0">
              <a:solidFill>
                <a:srgbClr val="FF0000"/>
              </a:solidFill>
            </a:endParaRPr>
          </a:p>
          <a:p>
            <a:r>
              <a:rPr lang="zh-CN" altLang="en-US" sz="2800" b="1" dirty="0">
                <a:solidFill>
                  <a:srgbClr val="FF0000"/>
                </a:solidFill>
              </a:rPr>
              <a:t>关系的两个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不变性：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	</a:t>
            </a:r>
            <a:r>
              <a:rPr lang="zh-CN" altLang="en-US" sz="2800" dirty="0" smtClean="0">
                <a:solidFill>
                  <a:srgbClr val="FF0000"/>
                </a:solidFill>
              </a:rPr>
              <a:t>实体完整性</a:t>
            </a:r>
            <a:r>
              <a:rPr lang="zh-CN" altLang="en-US" sz="2800" dirty="0">
                <a:solidFill>
                  <a:srgbClr val="FF0000"/>
                </a:solidFill>
              </a:rPr>
              <a:t>和参照完整性</a:t>
            </a:r>
            <a:r>
              <a:rPr lang="zh-CN" altLang="en-US" sz="2800" dirty="0"/>
              <a:t>是关系模型</a:t>
            </a:r>
            <a:r>
              <a:rPr lang="zh-CN" altLang="en-US" sz="2800" dirty="0">
                <a:solidFill>
                  <a:srgbClr val="FF0000"/>
                </a:solidFill>
              </a:rPr>
              <a:t>必须</a:t>
            </a:r>
            <a:r>
              <a:rPr lang="zh-CN" altLang="en-US" sz="2800" dirty="0"/>
              <a:t>满足的完整性约束</a:t>
            </a:r>
            <a:r>
              <a:rPr lang="zh-CN" altLang="en-US" sz="2800" dirty="0" smtClean="0"/>
              <a:t>条件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关系的完整性约束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2115" y="1269365"/>
            <a:ext cx="11169650" cy="5303520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10000"/>
              </a:lnSpc>
            </a:pP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en-US" altLang="zh-CN" sz="2800" dirty="0" smtClean="0">
                <a:latin typeface="+mn-ea"/>
                <a:ea typeface="+mn-ea"/>
              </a:rPr>
              <a:t>.</a:t>
            </a:r>
            <a:r>
              <a:rPr lang="zh-CN" altLang="en-US" sz="2800" dirty="0" smtClean="0">
                <a:latin typeface="+mn-ea"/>
                <a:ea typeface="+mn-ea"/>
              </a:rPr>
              <a:t>关系数据库</a:t>
            </a:r>
            <a:r>
              <a:rPr lang="zh-CN" altLang="en-US" sz="2800" dirty="0">
                <a:latin typeface="+mn-ea"/>
                <a:ea typeface="+mn-ea"/>
              </a:rPr>
              <a:t>的实体完整性规则</a:t>
            </a:r>
            <a:r>
              <a:rPr lang="zh-CN" altLang="en-US" sz="2800" dirty="0" smtClean="0">
                <a:latin typeface="+mn-ea"/>
                <a:ea typeface="+mn-ea"/>
              </a:rPr>
              <a:t>规定：</a:t>
            </a:r>
            <a:endParaRPr lang="en-US" altLang="zh-CN" sz="2800" dirty="0" smtClean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   </a:t>
            </a:r>
            <a:r>
              <a:rPr lang="zh-CN" altLang="en-US" sz="2800" dirty="0" smtClean="0">
                <a:latin typeface="+mn-ea"/>
                <a:ea typeface="+mn-ea"/>
              </a:rPr>
              <a:t>基本</a:t>
            </a:r>
            <a:r>
              <a:rPr lang="zh-CN" altLang="en-US" sz="2800" dirty="0">
                <a:latin typeface="+mn-ea"/>
                <a:ea typeface="+mn-ea"/>
              </a:rPr>
              <a:t>关系</a:t>
            </a:r>
            <a:r>
              <a:rPr lang="zh-CN" altLang="en-US" sz="2800" dirty="0" smtClean="0">
                <a:latin typeface="+mn-ea"/>
                <a:ea typeface="+mn-ea"/>
              </a:rPr>
              <a:t>的</a:t>
            </a:r>
            <a:r>
              <a:rPr lang="zh-CN" altLang="en-US" sz="2800" u="sng" dirty="0" smtClean="0">
                <a:latin typeface="+mn-ea"/>
                <a:ea typeface="+mn-ea"/>
              </a:rPr>
              <a:t>              </a:t>
            </a:r>
            <a:r>
              <a:rPr lang="zh-CN" altLang="en-US" sz="2800" dirty="0" smtClean="0">
                <a:latin typeface="+mn-ea"/>
                <a:ea typeface="+mn-ea"/>
              </a:rPr>
              <a:t>都</a:t>
            </a:r>
            <a:r>
              <a:rPr lang="zh-CN" altLang="en-US" sz="2800" dirty="0">
                <a:latin typeface="+mn-ea"/>
                <a:ea typeface="+mn-ea"/>
              </a:rPr>
              <a:t>不能取</a:t>
            </a:r>
            <a:r>
              <a:rPr lang="zh-CN" altLang="en-US" sz="2800" u="sng" dirty="0">
                <a:latin typeface="+mn-ea"/>
                <a:ea typeface="+mn-ea"/>
              </a:rPr>
              <a:t>       </a:t>
            </a:r>
            <a:r>
              <a:rPr lang="zh-CN" altLang="en-US" sz="2800" u="sng" dirty="0" smtClean="0">
                <a:latin typeface="+mn-ea"/>
                <a:ea typeface="+mn-ea"/>
              </a:rPr>
              <a:t>    </a:t>
            </a:r>
            <a:r>
              <a:rPr lang="zh-CN" altLang="en-US" sz="2800" dirty="0" smtClean="0">
                <a:latin typeface="+mn-ea"/>
                <a:ea typeface="+mn-ea"/>
              </a:rPr>
              <a:t>。</a:t>
            </a:r>
            <a:endParaRPr lang="zh-CN" altLang="en-US" sz="2800" dirty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2.</a:t>
            </a:r>
            <a:r>
              <a:rPr lang="zh-CN" altLang="en-US" sz="2800" dirty="0" smtClean="0">
                <a:latin typeface="+mn-ea"/>
                <a:ea typeface="+mn-ea"/>
              </a:rPr>
              <a:t>在</a:t>
            </a:r>
            <a:r>
              <a:rPr lang="zh-CN" altLang="en-US" sz="2800" dirty="0">
                <a:latin typeface="+mn-ea"/>
                <a:ea typeface="+mn-ea"/>
              </a:rPr>
              <a:t>关系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S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SN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D</a:t>
            </a:r>
            <a:r>
              <a:rPr lang="zh-CN" altLang="en-US" sz="2800" dirty="0">
                <a:latin typeface="+mn-ea"/>
                <a:ea typeface="+mn-ea"/>
              </a:rPr>
              <a:t>）和</a:t>
            </a:r>
            <a:r>
              <a:rPr lang="en-US" altLang="zh-CN" sz="2800" dirty="0">
                <a:latin typeface="+mn-ea"/>
                <a:ea typeface="+mn-ea"/>
              </a:rPr>
              <a:t>B</a:t>
            </a:r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D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CN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NM</a:t>
            </a:r>
            <a:r>
              <a:rPr lang="zh-CN" altLang="en-US" sz="2800" dirty="0">
                <a:latin typeface="+mn-ea"/>
                <a:ea typeface="+mn-ea"/>
              </a:rPr>
              <a:t>）中，</a:t>
            </a:r>
            <a:endParaRPr lang="zh-CN" altLang="en-US" sz="2800" dirty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 A</a:t>
            </a:r>
            <a:r>
              <a:rPr lang="zh-CN" altLang="en-US" sz="2800" dirty="0">
                <a:latin typeface="+mn-ea"/>
                <a:ea typeface="+mn-ea"/>
              </a:rPr>
              <a:t>的主码是</a:t>
            </a:r>
            <a:r>
              <a:rPr lang="en-US" altLang="zh-CN" sz="2800" dirty="0">
                <a:latin typeface="+mn-ea"/>
                <a:ea typeface="+mn-ea"/>
              </a:rPr>
              <a:t>S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B</a:t>
            </a:r>
            <a:r>
              <a:rPr lang="zh-CN" altLang="en-US" sz="2800" dirty="0">
                <a:latin typeface="+mn-ea"/>
                <a:ea typeface="+mn-ea"/>
              </a:rPr>
              <a:t>的主码是</a:t>
            </a:r>
            <a:r>
              <a:rPr lang="en-US" altLang="zh-CN" sz="2800" dirty="0">
                <a:latin typeface="+mn-ea"/>
                <a:ea typeface="+mn-ea"/>
              </a:rPr>
              <a:t>D</a:t>
            </a:r>
            <a:r>
              <a:rPr lang="zh-CN" altLang="en-US" sz="2800" dirty="0">
                <a:latin typeface="+mn-ea"/>
                <a:ea typeface="+mn-ea"/>
              </a:rPr>
              <a:t>，则</a:t>
            </a:r>
            <a:r>
              <a:rPr lang="en-US" altLang="zh-CN" sz="2800" dirty="0">
                <a:latin typeface="+mn-ea"/>
                <a:ea typeface="+mn-ea"/>
              </a:rPr>
              <a:t>D</a:t>
            </a:r>
            <a:r>
              <a:rPr lang="zh-CN" altLang="en-US" sz="2800" dirty="0">
                <a:latin typeface="+mn-ea"/>
                <a:ea typeface="+mn-ea"/>
              </a:rPr>
              <a:t>在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中称为</a:t>
            </a:r>
            <a:r>
              <a:rPr lang="zh-CN" altLang="en-US" sz="2800" u="sng" dirty="0">
                <a:latin typeface="+mn-ea"/>
                <a:ea typeface="+mn-ea"/>
              </a:rPr>
              <a:t>        </a:t>
            </a:r>
            <a:r>
              <a:rPr lang="zh-CN" altLang="en-US" sz="2800" u="sng" dirty="0" smtClean="0">
                <a:latin typeface="+mn-ea"/>
                <a:ea typeface="+mn-ea"/>
              </a:rPr>
              <a:t>      </a:t>
            </a:r>
            <a:r>
              <a:rPr lang="zh-CN" altLang="en-US" sz="2800" dirty="0" smtClean="0">
                <a:latin typeface="+mn-ea"/>
                <a:ea typeface="+mn-ea"/>
              </a:rPr>
              <a:t>。</a:t>
            </a:r>
            <a:endParaRPr lang="en-US" altLang="zh-CN" sz="2800" dirty="0" smtClean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3.</a:t>
            </a:r>
            <a:r>
              <a:rPr lang="zh-CN" altLang="en-US" sz="2800" dirty="0" smtClean="0">
                <a:latin typeface="+mn-ea"/>
                <a:ea typeface="+mn-ea"/>
              </a:rPr>
              <a:t>现有</a:t>
            </a:r>
            <a:r>
              <a:rPr lang="zh-CN" altLang="en-US" sz="2800" dirty="0">
                <a:latin typeface="+mn-ea"/>
                <a:ea typeface="+mn-ea"/>
              </a:rPr>
              <a:t>关系表：学生（宿舍编号，宿舍地址，学号，姓名，性别，专业，出生日期）的主码是（      </a:t>
            </a:r>
            <a:r>
              <a:rPr lang="zh-CN" altLang="en-US" sz="2800" dirty="0" smtClean="0">
                <a:latin typeface="+mn-ea"/>
                <a:ea typeface="+mn-ea"/>
              </a:rPr>
              <a:t>）</a:t>
            </a:r>
            <a:endParaRPr lang="en-US" altLang="zh-CN" sz="2800" dirty="0" smtClean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   A</a:t>
            </a:r>
            <a:r>
              <a:rPr lang="zh-CN" altLang="en-US" sz="2800" dirty="0">
                <a:latin typeface="+mn-ea"/>
                <a:ea typeface="+mn-ea"/>
              </a:rPr>
              <a:t>．宿舍</a:t>
            </a:r>
            <a:r>
              <a:rPr lang="zh-CN" altLang="en-US" sz="2800" dirty="0" smtClean="0">
                <a:latin typeface="+mn-ea"/>
                <a:ea typeface="+mn-ea"/>
              </a:rPr>
              <a:t>编号</a:t>
            </a:r>
            <a:r>
              <a:rPr lang="en-US" altLang="zh-CN" sz="2800" dirty="0" smtClean="0">
                <a:latin typeface="+mn-ea"/>
                <a:ea typeface="+mn-ea"/>
              </a:rPr>
              <a:t> B</a:t>
            </a:r>
            <a:r>
              <a:rPr lang="zh-CN" altLang="en-US" sz="2800" dirty="0">
                <a:latin typeface="+mn-ea"/>
                <a:ea typeface="+mn-ea"/>
              </a:rPr>
              <a:t>．学号</a:t>
            </a:r>
            <a:r>
              <a:rPr lang="en-US" altLang="zh-CN" sz="2800" dirty="0">
                <a:latin typeface="+mn-ea"/>
                <a:ea typeface="+mn-ea"/>
              </a:rPr>
              <a:t> C</a:t>
            </a:r>
            <a:r>
              <a:rPr lang="zh-CN" altLang="en-US" sz="2800" dirty="0">
                <a:latin typeface="+mn-ea"/>
                <a:ea typeface="+mn-ea"/>
              </a:rPr>
              <a:t>．宿舍编号，学</a:t>
            </a:r>
            <a:r>
              <a:rPr lang="zh-CN" altLang="en-US" sz="2800" dirty="0" smtClean="0">
                <a:latin typeface="+mn-ea"/>
                <a:ea typeface="+mn-ea"/>
              </a:rPr>
              <a:t>号</a:t>
            </a:r>
            <a:endParaRPr lang="en-US" altLang="zh-CN" sz="2800" dirty="0" smtClean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4.</a:t>
            </a:r>
            <a:r>
              <a:rPr lang="zh-CN" altLang="en-US" sz="2800" dirty="0" smtClean="0">
                <a:latin typeface="+mn-ea"/>
                <a:ea typeface="+mn-ea"/>
              </a:rPr>
              <a:t>有</a:t>
            </a:r>
            <a:r>
              <a:rPr lang="zh-CN" altLang="en-US" sz="2800" dirty="0">
                <a:latin typeface="+mn-ea"/>
                <a:ea typeface="+mn-ea"/>
              </a:rPr>
              <a:t>一个关系：学生（学号，姓名，系别），</a:t>
            </a:r>
            <a:endParaRPr lang="zh-CN" altLang="en-US" sz="2800" dirty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规定学号</a:t>
            </a:r>
            <a:r>
              <a:rPr lang="zh-CN" altLang="en-US" sz="2800" dirty="0" smtClean="0">
                <a:latin typeface="+mn-ea"/>
                <a:ea typeface="+mn-ea"/>
              </a:rPr>
              <a:t>的为</a:t>
            </a:r>
            <a:r>
              <a:rPr lang="en-US" altLang="zh-CN" sz="2800" dirty="0" smtClean="0">
                <a:latin typeface="+mn-ea"/>
                <a:ea typeface="+mn-ea"/>
              </a:rPr>
              <a:t>10</a:t>
            </a:r>
            <a:r>
              <a:rPr lang="zh-CN" altLang="en-US" sz="2800" dirty="0">
                <a:latin typeface="+mn-ea"/>
                <a:ea typeface="+mn-ea"/>
              </a:rPr>
              <a:t>个</a:t>
            </a:r>
            <a:r>
              <a:rPr lang="zh-CN" altLang="en-US" sz="2800" dirty="0" smtClean="0">
                <a:latin typeface="+mn-ea"/>
                <a:ea typeface="+mn-ea"/>
              </a:rPr>
              <a:t>数字字符串</a:t>
            </a:r>
            <a:r>
              <a:rPr lang="zh-CN" altLang="en-US" sz="2800" dirty="0">
                <a:latin typeface="+mn-ea"/>
                <a:ea typeface="+mn-ea"/>
              </a:rPr>
              <a:t>，这一规则属于（      ）。</a:t>
            </a:r>
            <a:endParaRPr lang="zh-CN" altLang="en-US" sz="2800" dirty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>
                <a:latin typeface="+mn-ea"/>
                <a:ea typeface="+mn-ea"/>
              </a:rPr>
              <a:t>  A</a:t>
            </a:r>
            <a:r>
              <a:rPr lang="zh-CN" altLang="en-US" sz="2800" dirty="0">
                <a:latin typeface="+mn-ea"/>
                <a:ea typeface="+mn-ea"/>
              </a:rPr>
              <a:t>．实体完整性</a:t>
            </a:r>
            <a:r>
              <a:rPr lang="zh-CN" altLang="en-US" sz="2800" dirty="0" smtClean="0">
                <a:latin typeface="+mn-ea"/>
                <a:ea typeface="+mn-ea"/>
              </a:rPr>
              <a:t>约束</a:t>
            </a:r>
            <a:r>
              <a:rPr lang="en-US" altLang="zh-CN" sz="2800" dirty="0" smtClean="0">
                <a:latin typeface="+mn-ea"/>
                <a:ea typeface="+mn-ea"/>
              </a:rPr>
              <a:t>		B</a:t>
            </a:r>
            <a:r>
              <a:rPr lang="zh-CN" altLang="en-US" sz="2800" dirty="0">
                <a:latin typeface="+mn-ea"/>
                <a:ea typeface="+mn-ea"/>
              </a:rPr>
              <a:t>．参照完整性约束</a:t>
            </a:r>
            <a:endParaRPr lang="zh-CN" altLang="en-US" sz="2800" dirty="0"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2800" dirty="0">
                <a:latin typeface="+mn-ea"/>
                <a:ea typeface="+mn-ea"/>
              </a:rPr>
              <a:t>  C</a:t>
            </a:r>
            <a:r>
              <a:rPr lang="zh-CN" altLang="en-US" sz="2800" dirty="0">
                <a:latin typeface="+mn-ea"/>
                <a:ea typeface="+mn-ea"/>
              </a:rPr>
              <a:t>．用户自定义</a:t>
            </a:r>
            <a:r>
              <a:rPr lang="zh-CN" altLang="en-US" sz="2800" dirty="0" smtClean="0">
                <a:latin typeface="+mn-ea"/>
                <a:ea typeface="+mn-ea"/>
              </a:rPr>
              <a:t>完整性约束</a:t>
            </a:r>
            <a:r>
              <a:rPr lang="en-US" altLang="zh-CN" sz="2800" dirty="0" smtClean="0">
                <a:latin typeface="+mn-ea"/>
                <a:ea typeface="+mn-ea"/>
              </a:rPr>
              <a:t>	D</a:t>
            </a:r>
            <a:r>
              <a:rPr lang="zh-CN" altLang="en-US" sz="2800" dirty="0">
                <a:latin typeface="+mn-ea"/>
                <a:ea typeface="+mn-ea"/>
              </a:rPr>
              <a:t>．关键字</a:t>
            </a:r>
            <a:r>
              <a:rPr lang="zh-CN" altLang="en-US" sz="2800" dirty="0" smtClean="0">
                <a:latin typeface="+mn-ea"/>
                <a:ea typeface="+mn-ea"/>
              </a:rPr>
              <a:t>完整性约束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62990" y="1701086"/>
            <a:ext cx="142748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主属性 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7174358" y="1629570"/>
            <a:ext cx="89408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空值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7899362" y="2637354"/>
            <a:ext cx="107188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 外码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947418" y="3645684"/>
            <a:ext cx="53848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8547054" y="5085319"/>
            <a:ext cx="53848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4" name="TextBox 27"/>
          <p:cNvSpPr txBox="1"/>
          <p:nvPr/>
        </p:nvSpPr>
        <p:spPr>
          <a:xfrm>
            <a:off x="3109595" y="5433060"/>
            <a:ext cx="7000240" cy="1040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数据操作包括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查询、插入、删除、修改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等；</a:t>
            </a:r>
            <a:endParaRPr lang="zh-CN" altLang="en-US" sz="2800" dirty="0">
              <a:latin typeface="+mn-ea"/>
              <a:ea typeface="+mn-ea"/>
            </a:endParaRPr>
          </a:p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ea typeface="+mn-ea"/>
              </a:rPr>
              <a:t>那么，对二维表有哪些操作？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295650" y="2183765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TextBox 6"/>
          <p:cNvSpPr txBox="1"/>
          <p:nvPr/>
        </p:nvSpPr>
        <p:spPr>
          <a:xfrm>
            <a:off x="4306570" y="1416685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7" name="TextBox 4"/>
          <p:cNvSpPr txBox="1"/>
          <p:nvPr/>
        </p:nvSpPr>
        <p:spPr>
          <a:xfrm>
            <a:off x="1418590" y="1196975"/>
            <a:ext cx="9048750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600" dirty="0" smtClean="0">
                <a:latin typeface="+mn-ea"/>
              </a:rPr>
              <a:t>二维表的操作</a:t>
            </a:r>
            <a:endParaRPr lang="zh-CN" altLang="en-US" sz="3600" dirty="0" smtClean="0">
              <a:latin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  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更新</a:t>
            </a:r>
            <a:r>
              <a:rPr lang="zh-CN" altLang="en-US" sz="2800" dirty="0" smtClean="0">
                <a:latin typeface="+mn-ea"/>
              </a:rPr>
              <a:t>：添加、修改、删除</a:t>
            </a:r>
            <a:endParaRPr lang="en-US" altLang="zh-CN" sz="2800" dirty="0" smtClean="0">
              <a:latin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  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查询</a:t>
            </a:r>
            <a:r>
              <a:rPr lang="zh-CN" altLang="en-US" sz="2800" dirty="0" smtClean="0">
                <a:latin typeface="+mn-ea"/>
              </a:rPr>
              <a:t>：</a:t>
            </a:r>
            <a:r>
              <a:rPr lang="zh-CN" altLang="en-US" sz="2800" dirty="0">
                <a:latin typeface="+mn-ea"/>
              </a:rPr>
              <a:t>选择、投影</a:t>
            </a:r>
            <a:r>
              <a:rPr lang="zh-CN" altLang="en-US" sz="2800" dirty="0" smtClean="0">
                <a:latin typeface="+mn-ea"/>
              </a:rPr>
              <a:t>、</a:t>
            </a:r>
            <a:r>
              <a:rPr lang="zh-CN" altLang="en-US" sz="2800" dirty="0">
                <a:latin typeface="+mn-ea"/>
              </a:rPr>
              <a:t>并</a:t>
            </a:r>
            <a:r>
              <a:rPr lang="zh-CN" altLang="en-US" sz="2800" dirty="0" smtClean="0">
                <a:latin typeface="+mn-ea"/>
              </a:rPr>
              <a:t>、差、</a:t>
            </a:r>
            <a:r>
              <a:rPr lang="zh-CN" altLang="en-US" sz="2800" dirty="0">
                <a:latin typeface="+mn-ea"/>
              </a:rPr>
              <a:t>笛卡尔</a:t>
            </a:r>
            <a:r>
              <a:rPr lang="zh-CN" altLang="en-US" sz="2800" dirty="0" smtClean="0">
                <a:latin typeface="+mn-ea"/>
              </a:rPr>
              <a:t>积</a:t>
            </a:r>
            <a:r>
              <a:rPr lang="en-US" altLang="zh-CN" sz="2800" dirty="0" smtClean="0">
                <a:latin typeface="+mn-ea"/>
              </a:rPr>
              <a:t>(5</a:t>
            </a:r>
            <a:r>
              <a:rPr lang="zh-CN" altLang="en-US" sz="2800" dirty="0" smtClean="0">
                <a:latin typeface="+mn-ea"/>
              </a:rPr>
              <a:t>种基础操作</a:t>
            </a:r>
            <a:r>
              <a:rPr lang="en-US" altLang="zh-CN" sz="2800" dirty="0" smtClean="0">
                <a:latin typeface="+mn-ea"/>
              </a:rPr>
              <a:t>)</a:t>
            </a:r>
            <a:endParaRPr lang="zh-CN" altLang="en-US" sz="2800" dirty="0">
              <a:latin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 smtClean="0">
                <a:latin typeface="+mn-ea"/>
              </a:rPr>
              <a:t>	   </a:t>
            </a:r>
            <a:r>
              <a:rPr lang="zh-CN" altLang="en-US" sz="2800" dirty="0" smtClean="0">
                <a:latin typeface="+mn-ea"/>
              </a:rPr>
              <a:t>连接</a:t>
            </a:r>
            <a:r>
              <a:rPr lang="zh-CN" altLang="en-US" sz="2800" dirty="0">
                <a:latin typeface="+mn-ea"/>
              </a:rPr>
              <a:t>、除</a:t>
            </a:r>
            <a:r>
              <a:rPr lang="zh-CN" altLang="en-US" sz="2800" dirty="0" smtClean="0">
                <a:latin typeface="+mn-ea"/>
              </a:rPr>
              <a:t>、交</a:t>
            </a:r>
            <a:endParaRPr lang="zh-CN" altLang="en-US" sz="2800" dirty="0">
              <a:latin typeface="+mn-ea"/>
            </a:endParaRPr>
          </a:p>
          <a:p>
            <a:pPr algn="ctr" fontAlgn="auto">
              <a:lnSpc>
                <a:spcPct val="150000"/>
              </a:lnSpc>
            </a:pPr>
            <a:r>
              <a:rPr lang="zh-CN" altLang="en-US" sz="3600" dirty="0" smtClean="0">
                <a:latin typeface="+mn-ea"/>
              </a:rPr>
              <a:t>查询表达语言</a:t>
            </a:r>
            <a:endParaRPr lang="en-US" altLang="zh-CN" sz="3600" dirty="0" smtClean="0">
              <a:latin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  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关系代数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查询语言（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SQL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</a:t>
            </a:r>
            <a:r>
              <a:rPr lang="zh-CN" altLang="en-US" sz="2800" dirty="0" smtClean="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关系</a:t>
            </a:r>
            <a:r>
              <a:rPr lang="zh-CN" altLang="en-US" sz="2800" dirty="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演算</a:t>
            </a:r>
            <a:r>
              <a:rPr lang="zh-CN" altLang="en-US" sz="2800" dirty="0" smtClean="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</a:t>
            </a:r>
            <a:endParaRPr lang="en-US" altLang="zh-CN" sz="28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687680" y="5752276"/>
            <a:ext cx="3205480" cy="5219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p>
            <a:pPr algn="l"/>
            <a:r>
              <a:rPr 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叉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笛卡尔积</a:t>
            </a:r>
            <a:endParaRPr lang="zh-CN" sz="2800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5030955" y="5752276"/>
            <a:ext cx="3205480" cy="52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p>
            <a:pPr algn="l"/>
            <a:r>
              <a:rPr 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投影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en-US" altLang="zh-CN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</a:t>
            </a:r>
            <a:endParaRPr lang="zh-CN" altLang="en-US" sz="2800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 bldLvl="0" animBg="1"/>
      <p:bldP spid="5" grpId="1" animBg="1"/>
      <p:bldP spid="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347137" y="2193069"/>
            <a:ext cx="3216164" cy="3216164"/>
            <a:chOff x="1068251" y="2861983"/>
            <a:chExt cx="3343834" cy="3343834"/>
          </a:xfrm>
          <a:solidFill>
            <a:srgbClr val="0080CB"/>
          </a:solidFill>
        </p:grpSpPr>
        <p:sp>
          <p:nvSpPr>
            <p:cNvPr id="27" name="椭圆 26"/>
            <p:cNvSpPr/>
            <p:nvPr>
              <p:custDataLst>
                <p:tags r:id="rId1"/>
              </p:custDataLst>
            </p:nvPr>
          </p:nvSpPr>
          <p:spPr>
            <a:xfrm>
              <a:off x="1068251" y="2861983"/>
              <a:ext cx="3343834" cy="3343834"/>
            </a:xfrm>
            <a:prstGeom prst="ellipse">
              <a:avLst/>
            </a:prstGeom>
            <a:solidFill>
              <a:srgbClr val="4E67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"/>
              </p:custDataLst>
            </p:nvPr>
          </p:nvSpPr>
          <p:spPr>
            <a:xfrm>
              <a:off x="1225838" y="3019572"/>
              <a:ext cx="3028664" cy="30286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4E67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36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</a:t>
              </a:r>
              <a:endParaRPr lang="zh-CN" altLang="en-US" sz="3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36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代数</a:t>
              </a:r>
              <a:endParaRPr lang="en-US" altLang="zh-CN" sz="3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Freeform 11"/>
          <p:cNvSpPr/>
          <p:nvPr userDrawn="1">
            <p:custDataLst>
              <p:tags r:id="rId3"/>
            </p:custDataLst>
          </p:nvPr>
        </p:nvSpPr>
        <p:spPr bwMode="auto">
          <a:xfrm flipH="1">
            <a:off x="4831715" y="1837690"/>
            <a:ext cx="617855" cy="3684905"/>
          </a:xfrm>
          <a:custGeom>
            <a:avLst/>
            <a:gdLst>
              <a:gd name="T0" fmla="*/ 0 w 1412"/>
              <a:gd name="T1" fmla="*/ 82 h 6009"/>
              <a:gd name="T2" fmla="*/ 0 w 1412"/>
              <a:gd name="T3" fmla="*/ 0 h 6009"/>
              <a:gd name="T4" fmla="*/ 283 w 1412"/>
              <a:gd name="T5" fmla="*/ 71 h 6009"/>
              <a:gd name="T6" fmla="*/ 518 w 1412"/>
              <a:gd name="T7" fmla="*/ 182 h 6009"/>
              <a:gd name="T8" fmla="*/ 723 w 1412"/>
              <a:gd name="T9" fmla="*/ 367 h 6009"/>
              <a:gd name="T10" fmla="*/ 863 w 1412"/>
              <a:gd name="T11" fmla="*/ 597 h 6009"/>
              <a:gd name="T12" fmla="*/ 935 w 1412"/>
              <a:gd name="T13" fmla="*/ 848 h 6009"/>
              <a:gd name="T14" fmla="*/ 966 w 1412"/>
              <a:gd name="T15" fmla="*/ 1141 h 6009"/>
              <a:gd name="T16" fmla="*/ 931 w 1412"/>
              <a:gd name="T17" fmla="*/ 1500 h 6009"/>
              <a:gd name="T18" fmla="*/ 856 w 1412"/>
              <a:gd name="T19" fmla="*/ 1831 h 6009"/>
              <a:gd name="T20" fmla="*/ 828 w 1412"/>
              <a:gd name="T21" fmla="*/ 2176 h 6009"/>
              <a:gd name="T22" fmla="*/ 869 w 1412"/>
              <a:gd name="T23" fmla="*/ 2502 h 6009"/>
              <a:gd name="T24" fmla="*/ 961 w 1412"/>
              <a:gd name="T25" fmla="*/ 2687 h 6009"/>
              <a:gd name="T26" fmla="*/ 1110 w 1412"/>
              <a:gd name="T27" fmla="*/ 2815 h 6009"/>
              <a:gd name="T28" fmla="*/ 1244 w 1412"/>
              <a:gd name="T29" fmla="*/ 2889 h 6009"/>
              <a:gd name="T30" fmla="*/ 1412 w 1412"/>
              <a:gd name="T31" fmla="*/ 2920 h 6009"/>
              <a:gd name="T32" fmla="*/ 1412 w 1412"/>
              <a:gd name="T33" fmla="*/ 3079 h 6009"/>
              <a:gd name="T34" fmla="*/ 1156 w 1412"/>
              <a:gd name="T35" fmla="*/ 3164 h 6009"/>
              <a:gd name="T36" fmla="*/ 999 w 1412"/>
              <a:gd name="T37" fmla="*/ 3291 h 6009"/>
              <a:gd name="T38" fmla="*/ 880 w 1412"/>
              <a:gd name="T39" fmla="*/ 3508 h 6009"/>
              <a:gd name="T40" fmla="*/ 826 w 1412"/>
              <a:gd name="T41" fmla="*/ 3804 h 6009"/>
              <a:gd name="T42" fmla="*/ 850 w 1412"/>
              <a:gd name="T43" fmla="*/ 4193 h 6009"/>
              <a:gd name="T44" fmla="*/ 884 w 1412"/>
              <a:gd name="T45" fmla="*/ 4452 h 6009"/>
              <a:gd name="T46" fmla="*/ 935 w 1412"/>
              <a:gd name="T47" fmla="*/ 4752 h 6009"/>
              <a:gd name="T48" fmla="*/ 944 w 1412"/>
              <a:gd name="T49" fmla="*/ 5046 h 6009"/>
              <a:gd name="T50" fmla="*/ 893 w 1412"/>
              <a:gd name="T51" fmla="*/ 5331 h 6009"/>
              <a:gd name="T52" fmla="*/ 792 w 1412"/>
              <a:gd name="T53" fmla="*/ 5553 h 6009"/>
              <a:gd name="T54" fmla="*/ 639 w 1412"/>
              <a:gd name="T55" fmla="*/ 5737 h 6009"/>
              <a:gd name="T56" fmla="*/ 458 w 1412"/>
              <a:gd name="T57" fmla="*/ 5879 h 6009"/>
              <a:gd name="T58" fmla="*/ 310 w 1412"/>
              <a:gd name="T59" fmla="*/ 5967 h 6009"/>
              <a:gd name="T60" fmla="*/ 212 w 1412"/>
              <a:gd name="T61" fmla="*/ 6005 h 6009"/>
              <a:gd name="T62" fmla="*/ 171 w 1412"/>
              <a:gd name="T63" fmla="*/ 5973 h 6009"/>
              <a:gd name="T64" fmla="*/ 208 w 1412"/>
              <a:gd name="T65" fmla="*/ 5905 h 6009"/>
              <a:gd name="T66" fmla="*/ 300 w 1412"/>
              <a:gd name="T67" fmla="*/ 5840 h 6009"/>
              <a:gd name="T68" fmla="*/ 445 w 1412"/>
              <a:gd name="T69" fmla="*/ 5705 h 6009"/>
              <a:gd name="T70" fmla="*/ 564 w 1412"/>
              <a:gd name="T71" fmla="*/ 5512 h 6009"/>
              <a:gd name="T72" fmla="*/ 625 w 1412"/>
              <a:gd name="T73" fmla="*/ 5315 h 6009"/>
              <a:gd name="T74" fmla="*/ 638 w 1412"/>
              <a:gd name="T75" fmla="*/ 5121 h 6009"/>
              <a:gd name="T76" fmla="*/ 618 w 1412"/>
              <a:gd name="T77" fmla="*/ 4825 h 6009"/>
              <a:gd name="T78" fmla="*/ 584 w 1412"/>
              <a:gd name="T79" fmla="*/ 4415 h 6009"/>
              <a:gd name="T80" fmla="*/ 578 w 1412"/>
              <a:gd name="T81" fmla="*/ 4048 h 6009"/>
              <a:gd name="T82" fmla="*/ 632 w 1412"/>
              <a:gd name="T83" fmla="*/ 3704 h 6009"/>
              <a:gd name="T84" fmla="*/ 772 w 1412"/>
              <a:gd name="T85" fmla="*/ 3412 h 6009"/>
              <a:gd name="T86" fmla="*/ 941 w 1412"/>
              <a:gd name="T87" fmla="*/ 3215 h 6009"/>
              <a:gd name="T88" fmla="*/ 1273 w 1412"/>
              <a:gd name="T89" fmla="*/ 3012 h 6009"/>
              <a:gd name="T90" fmla="*/ 1034 w 1412"/>
              <a:gd name="T91" fmla="*/ 2880 h 6009"/>
              <a:gd name="T92" fmla="*/ 884 w 1412"/>
              <a:gd name="T93" fmla="*/ 2767 h 6009"/>
              <a:gd name="T94" fmla="*/ 739 w 1412"/>
              <a:gd name="T95" fmla="*/ 2564 h 6009"/>
              <a:gd name="T96" fmla="*/ 611 w 1412"/>
              <a:gd name="T97" fmla="*/ 2279 h 6009"/>
              <a:gd name="T98" fmla="*/ 558 w 1412"/>
              <a:gd name="T99" fmla="*/ 1973 h 6009"/>
              <a:gd name="T100" fmla="*/ 562 w 1412"/>
              <a:gd name="T101" fmla="*/ 1648 h 6009"/>
              <a:gd name="T102" fmla="*/ 605 w 1412"/>
              <a:gd name="T103" fmla="*/ 1308 h 6009"/>
              <a:gd name="T104" fmla="*/ 646 w 1412"/>
              <a:gd name="T105" fmla="*/ 904 h 6009"/>
              <a:gd name="T106" fmla="*/ 619 w 1412"/>
              <a:gd name="T107" fmla="*/ 644 h 6009"/>
              <a:gd name="T108" fmla="*/ 520 w 1412"/>
              <a:gd name="T109" fmla="*/ 441 h 6009"/>
              <a:gd name="T110" fmla="*/ 341 w 1412"/>
              <a:gd name="T111" fmla="*/ 240 h 6009"/>
              <a:gd name="T112" fmla="*/ 152 w 1412"/>
              <a:gd name="T113" fmla="*/ 132 h 6009"/>
              <a:gd name="T114" fmla="*/ 0 w 1412"/>
              <a:gd name="T115" fmla="*/ 82 h 6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12" h="6009">
                <a:moveTo>
                  <a:pt x="0" y="82"/>
                </a:moveTo>
                <a:lnTo>
                  <a:pt x="0" y="0"/>
                </a:lnTo>
                <a:cubicBezTo>
                  <a:pt x="108" y="24"/>
                  <a:pt x="202" y="47"/>
                  <a:pt x="283" y="71"/>
                </a:cubicBezTo>
                <a:cubicBezTo>
                  <a:pt x="364" y="95"/>
                  <a:pt x="442" y="132"/>
                  <a:pt x="518" y="182"/>
                </a:cubicBezTo>
                <a:cubicBezTo>
                  <a:pt x="594" y="231"/>
                  <a:pt x="662" y="293"/>
                  <a:pt x="723" y="367"/>
                </a:cubicBezTo>
                <a:cubicBezTo>
                  <a:pt x="784" y="443"/>
                  <a:pt x="830" y="519"/>
                  <a:pt x="863" y="597"/>
                </a:cubicBezTo>
                <a:cubicBezTo>
                  <a:pt x="894" y="675"/>
                  <a:pt x="917" y="759"/>
                  <a:pt x="935" y="848"/>
                </a:cubicBezTo>
                <a:cubicBezTo>
                  <a:pt x="952" y="937"/>
                  <a:pt x="963" y="1036"/>
                  <a:pt x="966" y="1141"/>
                </a:cubicBezTo>
                <a:cubicBezTo>
                  <a:pt x="970" y="1248"/>
                  <a:pt x="959" y="1368"/>
                  <a:pt x="931" y="1500"/>
                </a:cubicBezTo>
                <a:lnTo>
                  <a:pt x="856" y="1831"/>
                </a:lnTo>
                <a:cubicBezTo>
                  <a:pt x="834" y="1941"/>
                  <a:pt x="826" y="2055"/>
                  <a:pt x="828" y="2176"/>
                </a:cubicBezTo>
                <a:cubicBezTo>
                  <a:pt x="828" y="2308"/>
                  <a:pt x="841" y="2417"/>
                  <a:pt x="869" y="2502"/>
                </a:cubicBezTo>
                <a:cubicBezTo>
                  <a:pt x="896" y="2587"/>
                  <a:pt x="926" y="2649"/>
                  <a:pt x="961" y="2687"/>
                </a:cubicBezTo>
                <a:cubicBezTo>
                  <a:pt x="994" y="2724"/>
                  <a:pt x="1044" y="2767"/>
                  <a:pt x="1110" y="2815"/>
                </a:cubicBezTo>
                <a:cubicBezTo>
                  <a:pt x="1176" y="2862"/>
                  <a:pt x="1221" y="2887"/>
                  <a:pt x="1244" y="2889"/>
                </a:cubicBezTo>
                <a:lnTo>
                  <a:pt x="1412" y="2920"/>
                </a:lnTo>
                <a:lnTo>
                  <a:pt x="1412" y="3079"/>
                </a:lnTo>
                <a:cubicBezTo>
                  <a:pt x="1298" y="3106"/>
                  <a:pt x="1213" y="3134"/>
                  <a:pt x="1156" y="3164"/>
                </a:cubicBezTo>
                <a:cubicBezTo>
                  <a:pt x="1099" y="3193"/>
                  <a:pt x="1047" y="3236"/>
                  <a:pt x="999" y="3291"/>
                </a:cubicBezTo>
                <a:cubicBezTo>
                  <a:pt x="952" y="3347"/>
                  <a:pt x="912" y="3419"/>
                  <a:pt x="880" y="3508"/>
                </a:cubicBezTo>
                <a:cubicBezTo>
                  <a:pt x="847" y="3596"/>
                  <a:pt x="829" y="3695"/>
                  <a:pt x="826" y="3804"/>
                </a:cubicBezTo>
                <a:cubicBezTo>
                  <a:pt x="823" y="3914"/>
                  <a:pt x="830" y="4043"/>
                  <a:pt x="850" y="4193"/>
                </a:cubicBezTo>
                <a:cubicBezTo>
                  <a:pt x="860" y="4296"/>
                  <a:pt x="872" y="4383"/>
                  <a:pt x="884" y="4452"/>
                </a:cubicBezTo>
                <a:lnTo>
                  <a:pt x="935" y="4752"/>
                </a:lnTo>
                <a:cubicBezTo>
                  <a:pt x="948" y="4855"/>
                  <a:pt x="951" y="4953"/>
                  <a:pt x="944" y="5046"/>
                </a:cubicBezTo>
                <a:cubicBezTo>
                  <a:pt x="936" y="5150"/>
                  <a:pt x="919" y="5246"/>
                  <a:pt x="893" y="5331"/>
                </a:cubicBezTo>
                <a:cubicBezTo>
                  <a:pt x="866" y="5416"/>
                  <a:pt x="832" y="5491"/>
                  <a:pt x="792" y="5553"/>
                </a:cubicBezTo>
                <a:cubicBezTo>
                  <a:pt x="753" y="5617"/>
                  <a:pt x="702" y="5678"/>
                  <a:pt x="639" y="5737"/>
                </a:cubicBezTo>
                <a:cubicBezTo>
                  <a:pt x="578" y="5796"/>
                  <a:pt x="517" y="5843"/>
                  <a:pt x="458" y="5879"/>
                </a:cubicBezTo>
                <a:lnTo>
                  <a:pt x="310" y="5967"/>
                </a:lnTo>
                <a:cubicBezTo>
                  <a:pt x="268" y="5997"/>
                  <a:pt x="235" y="6009"/>
                  <a:pt x="212" y="6005"/>
                </a:cubicBezTo>
                <a:cubicBezTo>
                  <a:pt x="189" y="6001"/>
                  <a:pt x="175" y="5990"/>
                  <a:pt x="171" y="5973"/>
                </a:cubicBezTo>
                <a:cubicBezTo>
                  <a:pt x="166" y="5954"/>
                  <a:pt x="179" y="5932"/>
                  <a:pt x="208" y="5905"/>
                </a:cubicBezTo>
                <a:cubicBezTo>
                  <a:pt x="219" y="5896"/>
                  <a:pt x="249" y="5874"/>
                  <a:pt x="300" y="5840"/>
                </a:cubicBezTo>
                <a:cubicBezTo>
                  <a:pt x="351" y="5804"/>
                  <a:pt x="399" y="5760"/>
                  <a:pt x="445" y="5705"/>
                </a:cubicBezTo>
                <a:cubicBezTo>
                  <a:pt x="492" y="5650"/>
                  <a:pt x="532" y="5587"/>
                  <a:pt x="564" y="5512"/>
                </a:cubicBezTo>
                <a:cubicBezTo>
                  <a:pt x="596" y="5439"/>
                  <a:pt x="617" y="5373"/>
                  <a:pt x="625" y="5315"/>
                </a:cubicBezTo>
                <a:cubicBezTo>
                  <a:pt x="634" y="5258"/>
                  <a:pt x="638" y="5192"/>
                  <a:pt x="638" y="5121"/>
                </a:cubicBezTo>
                <a:cubicBezTo>
                  <a:pt x="636" y="5058"/>
                  <a:pt x="629" y="4960"/>
                  <a:pt x="618" y="4825"/>
                </a:cubicBezTo>
                <a:cubicBezTo>
                  <a:pt x="606" y="4690"/>
                  <a:pt x="595" y="4553"/>
                  <a:pt x="584" y="4415"/>
                </a:cubicBezTo>
                <a:cubicBezTo>
                  <a:pt x="574" y="4277"/>
                  <a:pt x="572" y="4156"/>
                  <a:pt x="578" y="4048"/>
                </a:cubicBezTo>
                <a:cubicBezTo>
                  <a:pt x="584" y="3907"/>
                  <a:pt x="603" y="3792"/>
                  <a:pt x="632" y="3704"/>
                </a:cubicBezTo>
                <a:cubicBezTo>
                  <a:pt x="661" y="3616"/>
                  <a:pt x="708" y="3518"/>
                  <a:pt x="772" y="3412"/>
                </a:cubicBezTo>
                <a:cubicBezTo>
                  <a:pt x="837" y="3305"/>
                  <a:pt x="893" y="3239"/>
                  <a:pt x="941" y="3215"/>
                </a:cubicBezTo>
                <a:lnTo>
                  <a:pt x="1273" y="3012"/>
                </a:lnTo>
                <a:cubicBezTo>
                  <a:pt x="1174" y="2959"/>
                  <a:pt x="1094" y="2915"/>
                  <a:pt x="1034" y="2880"/>
                </a:cubicBezTo>
                <a:cubicBezTo>
                  <a:pt x="975" y="2844"/>
                  <a:pt x="924" y="2806"/>
                  <a:pt x="884" y="2767"/>
                </a:cubicBezTo>
                <a:cubicBezTo>
                  <a:pt x="844" y="2729"/>
                  <a:pt x="796" y="2661"/>
                  <a:pt x="739" y="2564"/>
                </a:cubicBezTo>
                <a:cubicBezTo>
                  <a:pt x="683" y="2467"/>
                  <a:pt x="639" y="2372"/>
                  <a:pt x="611" y="2279"/>
                </a:cubicBezTo>
                <a:cubicBezTo>
                  <a:pt x="582" y="2187"/>
                  <a:pt x="565" y="2085"/>
                  <a:pt x="558" y="1973"/>
                </a:cubicBezTo>
                <a:cubicBezTo>
                  <a:pt x="550" y="1862"/>
                  <a:pt x="552" y="1753"/>
                  <a:pt x="562" y="1648"/>
                </a:cubicBezTo>
                <a:cubicBezTo>
                  <a:pt x="566" y="1592"/>
                  <a:pt x="580" y="1478"/>
                  <a:pt x="605" y="1308"/>
                </a:cubicBezTo>
                <a:cubicBezTo>
                  <a:pt x="629" y="1139"/>
                  <a:pt x="643" y="1004"/>
                  <a:pt x="646" y="904"/>
                </a:cubicBezTo>
                <a:cubicBezTo>
                  <a:pt x="649" y="805"/>
                  <a:pt x="641" y="718"/>
                  <a:pt x="619" y="644"/>
                </a:cubicBezTo>
                <a:cubicBezTo>
                  <a:pt x="603" y="589"/>
                  <a:pt x="569" y="522"/>
                  <a:pt x="520" y="441"/>
                </a:cubicBezTo>
                <a:cubicBezTo>
                  <a:pt x="470" y="360"/>
                  <a:pt x="411" y="293"/>
                  <a:pt x="341" y="240"/>
                </a:cubicBezTo>
                <a:cubicBezTo>
                  <a:pt x="272" y="187"/>
                  <a:pt x="208" y="152"/>
                  <a:pt x="152" y="132"/>
                </a:cubicBezTo>
                <a:lnTo>
                  <a:pt x="0" y="82"/>
                </a:lnTo>
                <a:close/>
              </a:path>
            </a:pathLst>
          </a:custGeom>
          <a:solidFill>
            <a:srgbClr val="4E67C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 userDrawn="1">
            <p:custDataLst>
              <p:tags r:id="rId4"/>
            </p:custDataLst>
          </p:nvPr>
        </p:nvSpPr>
        <p:spPr>
          <a:xfrm>
            <a:off x="5486250" y="1736536"/>
            <a:ext cx="2957195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集合关系操作</a:t>
            </a:r>
            <a:endParaRPr lang="zh-CN" altLang="en-US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 userDrawn="1">
            <p:custDataLst>
              <p:tags r:id="rId5"/>
            </p:custDataLst>
          </p:nvPr>
        </p:nvSpPr>
        <p:spPr>
          <a:xfrm>
            <a:off x="5486250" y="4938841"/>
            <a:ext cx="2957195" cy="58356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专门关系操作</a:t>
            </a:r>
            <a:endParaRPr lang="zh-CN" altLang="en-US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>
            <a:off x="6029175" y="2402651"/>
            <a:ext cx="3637280" cy="58356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</a:t>
            </a:r>
            <a:r>
              <a:rPr lang="en-US" alt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</a:t>
            </a:r>
            <a:r>
              <a:rPr lang="en-US" alt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叉</a:t>
            </a:r>
            <a:r>
              <a:rPr lang="en-US" alt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笛卡尔积</a:t>
            </a:r>
            <a:endParaRPr lang="zh-CN" sz="3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6124425" y="4355276"/>
            <a:ext cx="3637280" cy="58356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lang="en-US" alt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投影</a:t>
            </a:r>
            <a:r>
              <a:rPr lang="en-US" alt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en-US" altLang="zh-CN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</a:t>
            </a:r>
            <a:endParaRPr lang="zh-CN" altLang="en-US" sz="3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5869305" y="2402840"/>
            <a:ext cx="3886835" cy="6572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76450" y="1485265"/>
            <a:ext cx="7707630" cy="5219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l"/>
            <a:r>
              <a:rPr lang="zh-CN" altLang="en-US" sz="2800" dirty="0" smtClean="0">
                <a:solidFill>
                  <a:srgbClr val="0000CC"/>
                </a:solidFill>
              </a:rPr>
              <a:t>并运算、交运算、</a:t>
            </a: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zh-CN" altLang="en-US" sz="2800" dirty="0" smtClean="0">
                <a:solidFill>
                  <a:srgbClr val="0000CC"/>
                </a:solidFill>
              </a:rPr>
              <a:t>差运算、笛卡尔积运算</a:t>
            </a:r>
            <a:endParaRPr lang="zh-CN" altLang="en-US" sz="2800" dirty="0" smtClean="0">
              <a:solidFill>
                <a:srgbClr val="0000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80865" y="2526665"/>
            <a:ext cx="431863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>
                <a:sym typeface="+mn-ea"/>
              </a:rPr>
              <a:t>并集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A∪B={x| x∈A或x∈B}</a:t>
            </a:r>
            <a:endParaRPr lang="zh-CN" altLang="en-US" sz="280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80865" y="4031615"/>
            <a:ext cx="42125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>
                <a:sym typeface="+mn-ea"/>
              </a:rPr>
              <a:t>交集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A∩B={x| x∈A且x∈B}</a:t>
            </a:r>
            <a:endParaRPr lang="zh-CN" altLang="en-US" sz="28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80865" y="5570220"/>
            <a:ext cx="40716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>
                <a:sym typeface="+mn-ea"/>
              </a:rPr>
              <a:t>差集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A</a:t>
            </a:r>
            <a:r>
              <a:rPr lang="en-US" altLang="zh-CN" sz="2800">
                <a:sym typeface="+mn-ea"/>
              </a:rPr>
              <a:t>-</a:t>
            </a:r>
            <a:r>
              <a:rPr lang="zh-CN" altLang="en-US" sz="2800">
                <a:sym typeface="+mn-ea"/>
              </a:rPr>
              <a:t>B={x| x∈A且x</a:t>
            </a:r>
            <a:r>
              <a:rPr lang="zh-CN" altLang="en-US" sz="2800">
                <a:sym typeface="+mn-ea"/>
              </a:rPr>
              <a:t>∉</a:t>
            </a:r>
            <a:r>
              <a:rPr lang="zh-CN" altLang="en-US" sz="2800">
                <a:sym typeface="+mn-ea"/>
              </a:rPr>
              <a:t>B}</a:t>
            </a:r>
            <a:endParaRPr lang="zh-CN" altLang="en-US" sz="2800">
              <a:sym typeface="+mn-ea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/>
          <a:srcRect l="67536" t="30700" r="7582" b="41861"/>
          <a:stretch>
            <a:fillRect/>
          </a:stretch>
        </p:blipFill>
        <p:spPr>
          <a:xfrm>
            <a:off x="2586355" y="5192395"/>
            <a:ext cx="1679575" cy="12769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/>
          <p:nvPr/>
        </p:nvPicPr>
        <p:blipFill>
          <a:blip r:embed="rId1"/>
          <a:srcRect l="37809" t="31628" r="37008" b="40660"/>
          <a:stretch>
            <a:fillRect/>
          </a:stretch>
        </p:blipFill>
        <p:spPr>
          <a:xfrm>
            <a:off x="2506345" y="3763010"/>
            <a:ext cx="1699895" cy="12896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/>
          <p:nvPr/>
        </p:nvPicPr>
        <p:blipFill>
          <a:blip r:embed="rId1"/>
          <a:srcRect l="7594" t="31655" r="66791" b="38913"/>
          <a:stretch>
            <a:fillRect/>
          </a:stretch>
        </p:blipFill>
        <p:spPr>
          <a:xfrm>
            <a:off x="2477135" y="2200275"/>
            <a:ext cx="1729105" cy="13696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2" grpId="0"/>
      <p:bldP spid="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2140585" y="1344930"/>
            <a:ext cx="799401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zh-CN" altLang="en-US" sz="2800" dirty="0" smtClean="0">
                <a:latin typeface="+mn-ea"/>
              </a:rPr>
              <a:t>并（</a:t>
            </a:r>
            <a:r>
              <a:rPr lang="en-US" altLang="zh-CN" sz="2800" dirty="0" smtClean="0">
                <a:latin typeface="+mn-ea"/>
              </a:rPr>
              <a:t>UNION</a:t>
            </a:r>
            <a:r>
              <a:rPr lang="zh-CN" altLang="en-US" sz="2800" dirty="0" smtClean="0">
                <a:latin typeface="+mn-ea"/>
              </a:rPr>
              <a:t>）：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T=R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=｛t│t∈R∨t∈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｝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2981325" y="2102485"/>
          <a:ext cx="280035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981325" y="4469130"/>
          <a:ext cx="2800350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 dirty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3"/>
            </p:custDataLst>
          </p:nvPr>
        </p:nvGraphicFramePr>
        <p:xfrm>
          <a:off x="7627289" y="3069590"/>
          <a:ext cx="280035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 dirty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右箭头 15"/>
          <p:cNvSpPr/>
          <p:nvPr/>
        </p:nvSpPr>
        <p:spPr>
          <a:xfrm>
            <a:off x="6094007" y="3611444"/>
            <a:ext cx="1318437" cy="1216263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并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40585" y="1344930"/>
            <a:ext cx="799401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zh-CN" altLang="en-US" sz="2800" dirty="0">
                <a:latin typeface="+mn-ea"/>
                <a:sym typeface="+mn-ea"/>
              </a:rPr>
              <a:t>交（</a:t>
            </a:r>
            <a:r>
              <a:rPr lang="en-US" altLang="zh-CN" sz="2800" dirty="0">
                <a:latin typeface="+mn-ea"/>
                <a:sym typeface="+mn-ea"/>
              </a:rPr>
              <a:t>INTERSECTION</a:t>
            </a:r>
            <a:r>
              <a:rPr lang="zh-CN" altLang="en-US" sz="2800" dirty="0">
                <a:latin typeface="+mn-ea"/>
                <a:sym typeface="+mn-ea"/>
              </a:rPr>
              <a:t>）</a:t>
            </a:r>
            <a:r>
              <a:rPr lang="zh-CN" altLang="en-US" sz="2800" dirty="0" smtClean="0">
                <a:latin typeface="+mn-ea"/>
                <a:sym typeface="+mn-ea"/>
              </a:rPr>
              <a:t>：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T=R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∩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 =｛t│t∈R∧t∈S｝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981325" y="2102485"/>
          <a:ext cx="280035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2981325" y="4469130"/>
          <a:ext cx="2800350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 dirty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7532039" y="3665855"/>
          <a:ext cx="280035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右箭头 7"/>
          <p:cNvSpPr/>
          <p:nvPr/>
        </p:nvSpPr>
        <p:spPr>
          <a:xfrm>
            <a:off x="6094007" y="3611444"/>
            <a:ext cx="1318437" cy="1216263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交</a:t>
            </a:r>
            <a:endParaRPr lang="zh-CN" altLang="en-US" sz="2800" dirty="0" smtClean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2140585" y="1344930"/>
            <a:ext cx="799401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zh-CN" altLang="en-US" sz="2800" dirty="0">
                <a:latin typeface="+mn-ea"/>
                <a:sym typeface="+mn-ea"/>
              </a:rPr>
              <a:t>差（</a:t>
            </a:r>
            <a:r>
              <a:rPr lang="en-US" altLang="zh-CN" sz="2800" dirty="0">
                <a:latin typeface="+mn-ea"/>
                <a:sym typeface="+mn-ea"/>
              </a:rPr>
              <a:t>DIFFERENCE</a:t>
            </a:r>
            <a:r>
              <a:rPr lang="zh-CN" altLang="en-US" sz="2800" dirty="0">
                <a:latin typeface="+mn-ea"/>
                <a:sym typeface="+mn-ea"/>
              </a:rPr>
              <a:t>）：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T=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S={t│t∈R∧t ∉S}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2981325" y="2102485"/>
          <a:ext cx="280035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981325" y="4469130"/>
          <a:ext cx="2800350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 dirty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右箭头 15"/>
          <p:cNvSpPr/>
          <p:nvPr/>
        </p:nvSpPr>
        <p:spPr>
          <a:xfrm>
            <a:off x="6094007" y="3611444"/>
            <a:ext cx="1318437" cy="1216263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差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7636814" y="3611245"/>
          <a:ext cx="280035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集合运算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40585" y="1344930"/>
            <a:ext cx="799401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笛卡尔积：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981325" y="2102485"/>
          <a:ext cx="280035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1F2DA8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rgbClr val="1F2DA8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2981325" y="4469130"/>
          <a:ext cx="2800350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右箭头 6"/>
          <p:cNvSpPr/>
          <p:nvPr/>
        </p:nvSpPr>
        <p:spPr>
          <a:xfrm>
            <a:off x="6094007" y="3611444"/>
            <a:ext cx="1318437" cy="1216263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乘</a:t>
            </a:r>
            <a:endParaRPr lang="zh-CN" altLang="en-US" sz="28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178300" y="1344930"/>
            <a:ext cx="589661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en-US" altLang="zh-CN" sz="2800" dirty="0">
                <a:latin typeface="+mn-ea"/>
                <a:sym typeface="+mn-ea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= </a:t>
            </a:r>
            <a:r>
              <a:rPr lang="en-US" altLang="zh-CN" sz="2800" dirty="0">
                <a:ea typeface="微软雅黑" panose="020B0503020204020204" pitchFamily="34" charset="-122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×</a:t>
            </a:r>
            <a:r>
              <a:rPr lang="en-US" altLang="zh-CN" sz="2800" dirty="0">
                <a:ea typeface="微软雅黑" panose="020B0503020204020204" pitchFamily="34" charset="-122"/>
                <a:sym typeface="+mn-ea"/>
              </a:rPr>
              <a:t>S  =</a:t>
            </a:r>
            <a:r>
              <a:rPr lang="zh-CN" altLang="en-US" sz="2800" dirty="0">
                <a:ea typeface="微软雅黑" panose="020B0503020204020204" pitchFamily="34" charset="-122"/>
                <a:sym typeface="+mn-ea"/>
              </a:rPr>
              <a:t>｛</a:t>
            </a:r>
            <a:r>
              <a:rPr lang="en-US" altLang="zh-CN" sz="2800" dirty="0" err="1">
                <a:ea typeface="微软雅黑" panose="020B0503020204020204" pitchFamily="34" charset="-122"/>
                <a:sym typeface="+mn-ea"/>
              </a:rPr>
              <a:t>tr⌒ts│</a:t>
            </a:r>
            <a:r>
              <a:rPr lang="en-US" altLang="zh-CN" sz="2800" dirty="0" err="1"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800" dirty="0" err="1">
                <a:ea typeface="微软雅黑" panose="020B0503020204020204" pitchFamily="34" charset="-122"/>
                <a:sym typeface="+mn-ea"/>
              </a:rPr>
              <a:t>r∈R∧</a:t>
            </a:r>
            <a:r>
              <a:rPr lang="en-US" altLang="zh-CN" sz="2800" dirty="0" err="1"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800" dirty="0" err="1">
                <a:ea typeface="微软雅黑" panose="020B0503020204020204" pitchFamily="34" charset="-122"/>
                <a:sym typeface="+mn-ea"/>
              </a:rPr>
              <a:t>s∈S</a:t>
            </a:r>
            <a:r>
              <a:rPr lang="zh-CN" altLang="en-US" sz="2800" dirty="0">
                <a:ea typeface="微软雅黑" panose="020B0503020204020204" pitchFamily="34" charset="-122"/>
                <a:sym typeface="+mn-ea"/>
              </a:rPr>
              <a:t>｝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7581900" y="2168113"/>
          <a:ext cx="3781424" cy="2523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56"/>
                <a:gridCol w="945356"/>
                <a:gridCol w="945356"/>
                <a:gridCol w="945356"/>
              </a:tblGrid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CC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rgbClr val="0000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CC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rgbClr val="0000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矩形 29"/>
          <p:cNvSpPr/>
          <p:nvPr/>
        </p:nvSpPr>
        <p:spPr>
          <a:xfrm>
            <a:off x="6160770" y="5098415"/>
            <a:ext cx="5202555" cy="1383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800" dirty="0" smtClean="0"/>
              <a:t>1.</a:t>
            </a:r>
            <a:r>
              <a:rPr lang="zh-CN" altLang="en-US" sz="2800" dirty="0" smtClean="0"/>
              <a:t>纯粹的笛卡尔积没有实际意义</a:t>
            </a:r>
            <a:endParaRPr lang="en-US" altLang="zh-CN" sz="2800" dirty="0" smtClean="0"/>
          </a:p>
          <a:p>
            <a:pPr algn="l">
              <a:buClrTx/>
              <a:buSzTx/>
              <a:buFontTx/>
            </a:pPr>
            <a:r>
              <a:rPr lang="en-US" altLang="zh-CN" sz="2800" dirty="0" smtClean="0">
                <a:sym typeface="+mn-ea"/>
              </a:rPr>
              <a:t>2.</a:t>
            </a:r>
            <a:r>
              <a:rPr lang="zh-CN" altLang="en-US" sz="2800" dirty="0" smtClean="0">
                <a:sym typeface="+mn-ea"/>
              </a:rPr>
              <a:t>列数</a:t>
            </a:r>
            <a:r>
              <a:rPr lang="en-US" altLang="zh-CN" sz="2800" dirty="0" smtClean="0">
                <a:sym typeface="+mn-ea"/>
              </a:rPr>
              <a:t>=   </a:t>
            </a:r>
            <a:r>
              <a:rPr lang="zh-CN" altLang="en-US" sz="2800" dirty="0" smtClean="0">
                <a:sym typeface="+mn-ea"/>
              </a:rPr>
              <a:t>两个关系列相加</a:t>
            </a:r>
            <a:endParaRPr lang="zh-CN" altLang="en-US" sz="2800" dirty="0" smtClean="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800" dirty="0" smtClean="0"/>
              <a:t>3.</a:t>
            </a:r>
            <a:r>
              <a:rPr lang="zh-CN" altLang="en-US" sz="2800" dirty="0" smtClean="0"/>
              <a:t>行数</a:t>
            </a: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+mn-ea"/>
              </a:rPr>
              <a:t>   </a:t>
            </a:r>
            <a:r>
              <a:rPr lang="zh-CN" altLang="en-US" sz="2800" dirty="0" smtClean="0">
                <a:sym typeface="+mn-ea"/>
              </a:rPr>
              <a:t>两个关系行相乘</a:t>
            </a:r>
            <a:endParaRPr lang="zh-CN" altLang="en-US" sz="2800" dirty="0" smtClean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传统的集合运算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27" y="1412646"/>
            <a:ext cx="46955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关系代数：传统</a:t>
            </a:r>
            <a:r>
              <a:rPr lang="en-US" altLang="zh-CN" sz="2800" b="1" dirty="0" smtClean="0"/>
              <a:t>4</a:t>
            </a:r>
            <a:r>
              <a:rPr lang="zh-CN" altLang="en-US" sz="2800" b="1" dirty="0" smtClean="0"/>
              <a:t>种集合运算</a:t>
            </a:r>
            <a:endParaRPr lang="zh-CN" altLang="en-US" sz="2800" dirty="0"/>
          </a:p>
        </p:txBody>
      </p:sp>
      <p:sp>
        <p:nvSpPr>
          <p:cNvPr id="4" name="TextBox 5"/>
          <p:cNvSpPr txBox="1"/>
          <p:nvPr/>
        </p:nvSpPr>
        <p:spPr>
          <a:xfrm>
            <a:off x="2045335" y="2000250"/>
            <a:ext cx="694499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zh-CN" altLang="en-US" sz="2800" dirty="0" smtClean="0">
                <a:latin typeface="+mn-ea"/>
              </a:rPr>
              <a:t>并（</a:t>
            </a:r>
            <a:r>
              <a:rPr lang="en-US" altLang="zh-CN" sz="2800" dirty="0" smtClean="0">
                <a:latin typeface="+mn-ea"/>
              </a:rPr>
              <a:t>UNION</a:t>
            </a:r>
            <a:r>
              <a:rPr lang="zh-CN" altLang="en-US" sz="2800" dirty="0" smtClean="0">
                <a:latin typeface="+mn-ea"/>
              </a:rPr>
              <a:t>）</a:t>
            </a:r>
            <a:r>
              <a:rPr lang="en-US" altLang="zh-CN" sz="2800" dirty="0" smtClean="0">
                <a:latin typeface="+mn-ea"/>
              </a:rPr>
              <a:t>：T=R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∪</a:t>
            </a:r>
            <a:r>
              <a:rPr lang="en-US" altLang="zh-CN" sz="2800" dirty="0" smtClean="0">
                <a:latin typeface="+mn-ea"/>
              </a:rPr>
              <a:t>S </a:t>
            </a:r>
            <a:r>
              <a:rPr lang="en-US" altLang="zh-CN" sz="2800" dirty="0" smtClean="0">
                <a:latin typeface="+mn-ea"/>
                <a:sym typeface="+mn-ea"/>
              </a:rPr>
              <a:t>=｛t│t∈R∨t∈S｝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2045335" y="2637155"/>
            <a:ext cx="814832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zh-CN" altLang="en-US" sz="2800" dirty="0">
                <a:latin typeface="+mn-ea"/>
              </a:rPr>
              <a:t>交（</a:t>
            </a:r>
            <a:r>
              <a:rPr lang="en-US" altLang="zh-CN" sz="2800" dirty="0">
                <a:latin typeface="+mn-ea"/>
              </a:rPr>
              <a:t>INTERSECTION</a:t>
            </a:r>
            <a:r>
              <a:rPr lang="zh-CN" altLang="en-US" sz="2800" dirty="0">
                <a:latin typeface="+mn-ea"/>
              </a:rPr>
              <a:t>）</a:t>
            </a:r>
            <a:r>
              <a:rPr lang="en-US" altLang="zh-CN" sz="2800" dirty="0" smtClean="0">
                <a:latin typeface="+mn-ea"/>
              </a:rPr>
              <a:t>：</a:t>
            </a:r>
            <a:r>
              <a:rPr lang="en-US" altLang="zh-CN" sz="2800" dirty="0" smtClean="0">
                <a:latin typeface="+mn-ea"/>
                <a:sym typeface="+mn-ea"/>
              </a:rPr>
              <a:t>T=R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∩</a:t>
            </a:r>
            <a:r>
              <a:rPr lang="en-US" altLang="zh-CN" sz="2800" dirty="0" smtClean="0">
                <a:latin typeface="+mn-ea"/>
                <a:sym typeface="+mn-ea"/>
              </a:rPr>
              <a:t>S =｛t│t∈R∧t∈S｝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2045335" y="3284855"/>
            <a:ext cx="895477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zh-CN" altLang="en-US" sz="2800" dirty="0">
                <a:latin typeface="+mn-ea"/>
              </a:rPr>
              <a:t>差（</a:t>
            </a:r>
            <a:r>
              <a:rPr lang="en-US" altLang="zh-CN" sz="2800" dirty="0">
                <a:latin typeface="+mn-ea"/>
              </a:rPr>
              <a:t>DIFFERENCE</a:t>
            </a:r>
            <a:r>
              <a:rPr lang="zh-CN" altLang="en-US" sz="2800" dirty="0">
                <a:latin typeface="+mn-ea"/>
              </a:rPr>
              <a:t>）</a:t>
            </a:r>
            <a:r>
              <a:rPr lang="en-US" altLang="zh-CN" sz="2800" dirty="0" smtClean="0">
                <a:latin typeface="+mn-ea"/>
              </a:rPr>
              <a:t>：T=</a:t>
            </a:r>
            <a:r>
              <a:rPr lang="en-US" altLang="zh-CN" sz="2800" dirty="0" smtClean="0">
                <a:latin typeface="+mn-ea"/>
                <a:sym typeface="+mn-ea"/>
              </a:rPr>
              <a:t>R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-</a:t>
            </a:r>
            <a:r>
              <a:rPr lang="en-US" altLang="zh-CN" sz="2800" dirty="0" smtClean="0">
                <a:latin typeface="+mn-ea"/>
                <a:sym typeface="+mn-ea"/>
              </a:rPr>
              <a:t>S = {t│t∈R∧t ∉S}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2045417" y="4005227"/>
            <a:ext cx="811775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</a:rPr>
              <a:t>笛卡尔积（</a:t>
            </a:r>
            <a:r>
              <a:rPr lang="en-US" altLang="zh-CN" sz="2800" dirty="0">
                <a:latin typeface="+mn-ea"/>
              </a:rPr>
              <a:t>CARTESIAN PRODUCT</a:t>
            </a:r>
            <a:r>
              <a:rPr lang="zh-CN" altLang="en-US" sz="2800" dirty="0">
                <a:latin typeface="+mn-ea"/>
              </a:rPr>
              <a:t>）：</a:t>
            </a:r>
            <a:endParaRPr lang="en-US" altLang="zh-CN" sz="2800" dirty="0">
              <a:latin typeface="+mn-ea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2571115" y="4725035"/>
            <a:ext cx="680656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en-US" altLang="zh-CN" sz="2800" dirty="0">
                <a:latin typeface="+mn-ea"/>
                <a:sym typeface="+mn-ea"/>
              </a:rPr>
              <a:t> </a:t>
            </a:r>
            <a:r>
              <a:rPr lang="en-US" altLang="zh-CN" sz="2800" dirty="0">
                <a:latin typeface="+mn-ea"/>
              </a:rPr>
              <a:t>T = </a:t>
            </a:r>
            <a:r>
              <a:rPr lang="en-US" altLang="zh-CN" sz="2800" dirty="0">
                <a:latin typeface="+mn-ea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×</a:t>
            </a:r>
            <a:r>
              <a:rPr lang="en-US" altLang="zh-CN" sz="2800" dirty="0">
                <a:latin typeface="+mn-ea"/>
                <a:sym typeface="+mn-ea"/>
              </a:rPr>
              <a:t>S  =｛tr⌒ts│</a:t>
            </a:r>
            <a:r>
              <a:rPr lang="en-US" altLang="zh-CN" sz="2800" dirty="0">
                <a:latin typeface="+mn-ea"/>
                <a:sym typeface="+mn-ea"/>
              </a:rPr>
              <a:t>t</a:t>
            </a:r>
            <a:r>
              <a:rPr lang="en-US" altLang="zh-CN" sz="2800" dirty="0">
                <a:latin typeface="+mn-ea"/>
                <a:sym typeface="+mn-ea"/>
              </a:rPr>
              <a:t>r∈R∧</a:t>
            </a:r>
            <a:r>
              <a:rPr lang="en-US" altLang="zh-CN" sz="2800" dirty="0">
                <a:latin typeface="+mn-ea"/>
                <a:sym typeface="+mn-ea"/>
              </a:rPr>
              <a:t>t</a:t>
            </a:r>
            <a:r>
              <a:rPr lang="en-US" altLang="zh-CN" sz="2800" dirty="0">
                <a:latin typeface="+mn-ea"/>
                <a:sym typeface="+mn-ea"/>
              </a:rPr>
              <a:t>s∈S｝</a:t>
            </a:r>
            <a:endParaRPr lang="en-US" altLang="zh-CN" sz="2800" dirty="0">
              <a:latin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3" grpId="0"/>
      <p:bldP spid="4" grpId="1"/>
      <p:bldP spid="9" grpId="1"/>
      <p:bldP spid="10" grpId="1"/>
      <p:bldP spid="11" grpId="1"/>
      <p:bldP spid="13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传统的集合运算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2180" y="1485265"/>
            <a:ext cx="9257665" cy="421322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111078" tIns="55543" rIns="111078" bIns="55543" rtlCol="0" anchor="t">
            <a:noAutofit/>
          </a:bodyPr>
          <a:lstStyle>
            <a:lvl1pPr defTabSz="685800">
              <a:lnSpc>
                <a:spcPct val="90000"/>
              </a:lnSpc>
              <a:spcBef>
                <a:spcPct val="0"/>
              </a:spcBef>
              <a:buNone/>
              <a:defRPr sz="3200" b="1" i="0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关系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分别包含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个属性，分别含有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个元组，则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R×S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（    ）</a:t>
            </a:r>
            <a:endParaRPr lang="en-US" altLang="zh-CN" sz="2800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	A</a:t>
            </a: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包含</a:t>
            </a:r>
            <a:r>
              <a:rPr lang="en-US" altLang="zh-CN" sz="2800" b="0" dirty="0" err="1">
                <a:solidFill>
                  <a:schemeClr val="tx1"/>
                </a:solidFill>
                <a:latin typeface="+mn-ea"/>
                <a:ea typeface="+mn-ea"/>
              </a:rPr>
              <a:t>r+s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个属性和</a:t>
            </a:r>
            <a:r>
              <a:rPr lang="en-US" altLang="zh-CN" sz="2800" b="0" dirty="0" err="1">
                <a:solidFill>
                  <a:schemeClr val="tx1"/>
                </a:solidFill>
                <a:latin typeface="+mn-ea"/>
                <a:ea typeface="+mn-ea"/>
              </a:rPr>
              <a:t>m+n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个元组</a:t>
            </a:r>
            <a:endParaRPr lang="zh-CN" altLang="en-US" sz="28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	B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包含</a:t>
            </a:r>
            <a:r>
              <a:rPr lang="en-US" altLang="zh-CN" sz="2800" b="0" dirty="0" err="1">
                <a:solidFill>
                  <a:schemeClr val="tx1"/>
                </a:solidFill>
                <a:latin typeface="+mn-ea"/>
                <a:ea typeface="+mn-ea"/>
              </a:rPr>
              <a:t>r+s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个属性和</a:t>
            </a:r>
            <a:r>
              <a:rPr lang="en-US" altLang="zh-CN" sz="2800" b="0" dirty="0" err="1">
                <a:solidFill>
                  <a:schemeClr val="tx1"/>
                </a:solidFill>
                <a:latin typeface="+mn-ea"/>
                <a:ea typeface="+mn-ea"/>
              </a:rPr>
              <a:t>m×n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个元组</a:t>
            </a:r>
            <a:endParaRPr lang="zh-CN" altLang="en-US" sz="28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	C</a:t>
            </a: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包含</a:t>
            </a:r>
            <a:r>
              <a:rPr lang="en-US" altLang="zh-CN" sz="2800" b="0" dirty="0" err="1" smtClean="0">
                <a:solidFill>
                  <a:schemeClr val="tx1"/>
                </a:solidFill>
                <a:latin typeface="+mn-ea"/>
                <a:ea typeface="+mn-ea"/>
              </a:rPr>
              <a:t>r×s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个属性和</a:t>
            </a:r>
            <a:r>
              <a:rPr lang="en-US" altLang="zh-CN" sz="2800" b="0" dirty="0" err="1" smtClean="0">
                <a:solidFill>
                  <a:schemeClr val="tx1"/>
                </a:solidFill>
                <a:latin typeface="+mn-ea"/>
                <a:ea typeface="+mn-ea"/>
              </a:rPr>
              <a:t>m+n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个元组</a:t>
            </a:r>
            <a:endParaRPr lang="zh-CN" altLang="en-US" sz="28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	D</a:t>
            </a: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</a:rPr>
              <a:t>包含</a:t>
            </a:r>
            <a:r>
              <a:rPr lang="en-US" altLang="zh-CN" sz="2800" b="0" dirty="0" err="1">
                <a:solidFill>
                  <a:schemeClr val="tx1"/>
                </a:solidFill>
                <a:latin typeface="+mn-ea"/>
                <a:ea typeface="+mn-ea"/>
              </a:rPr>
              <a:t>r×s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个属性和</a:t>
            </a:r>
            <a:r>
              <a:rPr lang="en-US" altLang="zh-CN" sz="2800" b="0" dirty="0" err="1">
                <a:solidFill>
                  <a:schemeClr val="tx1"/>
                </a:solidFill>
                <a:latin typeface="+mn-ea"/>
                <a:ea typeface="+mn-ea"/>
              </a:rPr>
              <a:t>m×n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个元组</a:t>
            </a:r>
            <a:endParaRPr lang="en-US" altLang="zh-CN" sz="2800" b="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02734" y="2277229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传统的集合运算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2645" y="1485900"/>
            <a:ext cx="9265920" cy="214566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111078" tIns="55543" rIns="111078" bIns="55543" rtlCol="0" anchor="t">
            <a:noAutofit/>
          </a:bodyPr>
          <a:lstStyle>
            <a:lvl1pPr defTabSz="685800">
              <a:lnSpc>
                <a:spcPct val="90000"/>
              </a:lnSpc>
              <a:spcBef>
                <a:spcPct val="0"/>
              </a:spcBef>
              <a:buNone/>
              <a:defRPr sz="3200" b="1" i="0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2.</a:t>
            </a:r>
            <a:r>
              <a:rPr lang="zh-CN" altLang="en-US" sz="2800" b="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设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关系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和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S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具有相同的目，且它们相对应的属性的值取自同一个域，则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R-(R-S)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等于（　    ）</a:t>
            </a:r>
            <a:endParaRPr lang="zh-CN" altLang="en-US" sz="2800" b="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	A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．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R∪S	</a:t>
            </a: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B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．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R∩</a:t>
            </a:r>
            <a:r>
              <a:rPr lang="en-US" altLang="zh-CN" sz="2800" b="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S	 C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．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R×S	D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．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R÷S</a:t>
            </a:r>
            <a:endParaRPr lang="en-US" altLang="zh-CN" sz="2800" b="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62799" y="2361049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B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53845" y="1412875"/>
            <a:ext cx="7707630" cy="5219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l"/>
            <a:r>
              <a:rPr lang="zh-CN" altLang="en-US" sz="2800" dirty="0" smtClean="0">
                <a:solidFill>
                  <a:srgbClr val="0000CC"/>
                </a:solidFill>
              </a:rPr>
              <a:t>选择运算、投影运算、</a:t>
            </a: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zh-CN" altLang="en-US" sz="2800" dirty="0" smtClean="0">
                <a:solidFill>
                  <a:srgbClr val="0000CC"/>
                </a:solidFill>
              </a:rPr>
              <a:t>连接运算、除运算</a:t>
            </a:r>
            <a:endParaRPr lang="zh-CN" altLang="en-US" sz="2800" dirty="0" smtClean="0">
              <a:solidFill>
                <a:srgbClr val="0000CC"/>
              </a:solidFill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1684020" y="2978150"/>
          <a:ext cx="3630295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635"/>
                <a:gridCol w="1228725"/>
                <a:gridCol w="125793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教师号</a:t>
                      </a:r>
                      <a:endParaRPr lang="zh-CN" altLang="en-US" sz="28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>
                          <a:solidFill>
                            <a:srgbClr val="0000CC"/>
                          </a:solidFill>
                          <a:latin typeface="宋体" panose="02010600030101010101" pitchFamily="2" charset="-122"/>
                          <a:sym typeface="+mn-ea"/>
                        </a:rPr>
                        <a:t>j02</a:t>
                      </a:r>
                      <a:endParaRPr lang="en-US" altLang="zh-CN" sz="2800" b="0" dirty="0" smtClean="0">
                        <a:solidFill>
                          <a:srgbClr val="0000CC"/>
                        </a:solidFill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null</a:t>
                      </a:r>
                      <a:endParaRPr lang="en-US" altLang="zh-CN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s03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j01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577840" y="2978150"/>
          <a:ext cx="3630295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635"/>
                <a:gridCol w="1228725"/>
                <a:gridCol w="125793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教工号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职称</a:t>
                      </a:r>
                      <a:endParaRPr lang="zh-CN" altLang="en-US" sz="28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j01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老李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教授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j05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小王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讲师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CC"/>
                          </a:solidFill>
                          <a:latin typeface="宋体" panose="02010600030101010101" pitchFamily="2" charset="-122"/>
                        </a:rPr>
                        <a:t>j02</a:t>
                      </a:r>
                      <a:endParaRPr lang="en-US" altLang="en-US" sz="2800" b="0">
                        <a:solidFill>
                          <a:srgbClr val="0000CC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小陈</a:t>
                      </a:r>
                      <a:endParaRPr lang="zh-CN" sz="2800" dirty="0" smtClean="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助教</a:t>
                      </a: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</a:t>
                      </a:r>
                      <a:endParaRPr lang="en-US" altLang="zh-CN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53845" y="3545205"/>
            <a:ext cx="3870960" cy="584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1553845" y="5617210"/>
            <a:ext cx="1235710" cy="563245"/>
          </a:xfrm>
          <a:prstGeom prst="wedgeRoundRectCallout">
            <a:avLst>
              <a:gd name="adj1" fmla="val 74820"/>
              <a:gd name="adj2" fmla="val -302423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7818120" y="5617210"/>
            <a:ext cx="1218565" cy="591185"/>
          </a:xfrm>
          <a:prstGeom prst="wedgeRoundRectCallout">
            <a:avLst>
              <a:gd name="adj1" fmla="val -48487"/>
              <a:gd name="adj2" fmla="val -10177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ym typeface="+mn-ea"/>
              </a:rPr>
              <a:t>投影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06540" y="2872740"/>
            <a:ext cx="1419860" cy="242570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4963795" y="3874135"/>
            <a:ext cx="1009650" cy="1013460"/>
          </a:xfrm>
          <a:prstGeom prst="straightConnector1">
            <a:avLst/>
          </a:prstGeom>
          <a:ln w="28575">
            <a:solidFill>
              <a:srgbClr val="0000CC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标注 13"/>
          <p:cNvSpPr/>
          <p:nvPr/>
        </p:nvSpPr>
        <p:spPr>
          <a:xfrm>
            <a:off x="4252595" y="5617210"/>
            <a:ext cx="1235710" cy="563245"/>
          </a:xfrm>
          <a:prstGeom prst="wedgeRoundRectCallout">
            <a:avLst>
              <a:gd name="adj1" fmla="val 49023"/>
              <a:gd name="adj2" fmla="val -281003"/>
              <a:gd name="adj3" fmla="val 16667"/>
            </a:avLst>
          </a:prstGeom>
          <a:noFill/>
          <a:ln w="19050"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Box 6"/>
          <p:cNvSpPr txBox="1"/>
          <p:nvPr/>
        </p:nvSpPr>
        <p:spPr>
          <a:xfrm>
            <a:off x="1709420" y="2213610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学生导师选择表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5603875" y="2306955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导师信息表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8" grpId="0" bldLvl="0" animBg="1"/>
      <p:bldP spid="9" grpId="1" animBg="1"/>
      <p:bldP spid="8" grpId="1" animBg="1"/>
      <p:bldP spid="12" grpId="0" bldLvl="0" animBg="1"/>
      <p:bldP spid="11" grpId="0" bldLvl="0" animBg="1"/>
      <p:bldP spid="12" grpId="1" animBg="1"/>
      <p:bldP spid="11" grpId="1" animBg="1"/>
      <p:bldP spid="14" grpId="0" bldLvl="0" animBg="1"/>
      <p:bldP spid="1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8627" y="1316637"/>
            <a:ext cx="8136808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</a:rPr>
              <a:t>选择（</a:t>
            </a:r>
            <a:r>
              <a:rPr lang="en-US" altLang="zh-CN" sz="2800" dirty="0" smtClean="0">
                <a:latin typeface="+mn-ea"/>
              </a:rPr>
              <a:t>Select</a:t>
            </a:r>
            <a:r>
              <a:rPr lang="zh-CN" altLang="en-US" sz="2800" dirty="0" smtClean="0">
                <a:latin typeface="+mn-ea"/>
              </a:rPr>
              <a:t>）：选择</a:t>
            </a:r>
            <a:r>
              <a:rPr lang="zh-CN" altLang="en-US" sz="2800" dirty="0">
                <a:latin typeface="+mn-ea"/>
              </a:rPr>
              <a:t>满足给定条件</a:t>
            </a:r>
            <a:r>
              <a:rPr lang="zh-CN" altLang="en-US" sz="2800" dirty="0" smtClean="0">
                <a:latin typeface="+mn-ea"/>
              </a:rPr>
              <a:t>的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元组（行）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11175" y="3576749"/>
          <a:ext cx="4185080" cy="302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530"/>
                <a:gridCol w="1165010"/>
                <a:gridCol w="1046270"/>
                <a:gridCol w="1046270"/>
              </a:tblGrid>
              <a:tr h="56599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Sname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Ssex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Sage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6"/>
          <p:cNvSpPr txBox="1"/>
          <p:nvPr/>
        </p:nvSpPr>
        <p:spPr>
          <a:xfrm>
            <a:off x="1898098" y="2704259"/>
            <a:ext cx="2850432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Student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关系表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31050" y="2601737"/>
            <a:ext cx="300355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3670300" algn="l"/>
              </a:tabLst>
            </a:pPr>
            <a:r>
              <a:rPr lang="el-GR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σ</a:t>
            </a:r>
            <a:r>
              <a:rPr lang="en-US" altLang="zh-CN" sz="32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Ssex</a:t>
            </a:r>
            <a:r>
              <a:rPr lang="en-US" altLang="zh-CN" sz="32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=’</a:t>
            </a:r>
            <a:r>
              <a:rPr lang="zh-CN" altLang="en-US" sz="32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女</a:t>
            </a:r>
            <a:r>
              <a:rPr lang="en-US" altLang="zh-CN" sz="32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</a:t>
            </a:r>
            <a:r>
              <a:rPr lang="en-US" altLang="zh-CN" sz="32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(Student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2"/>
            </p:custDataLst>
          </p:nvPr>
        </p:nvGraphicFramePr>
        <p:xfrm>
          <a:off x="5840500" y="3299889"/>
          <a:ext cx="418508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530"/>
                <a:gridCol w="1165010"/>
                <a:gridCol w="1046270"/>
                <a:gridCol w="1046270"/>
              </a:tblGrid>
              <a:tr h="470240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Sname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Ssex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Sage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6357497" y="4923981"/>
            <a:ext cx="28905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3670300" algn="l"/>
              </a:tabLst>
            </a:pPr>
            <a:r>
              <a:rPr lang="el-GR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σ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Sage&lt;20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(Student)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5840500" y="5597954"/>
          <a:ext cx="418508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530"/>
                <a:gridCol w="1165010"/>
                <a:gridCol w="1046270"/>
                <a:gridCol w="1046270"/>
              </a:tblGrid>
              <a:tr h="518160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Sname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Ssex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Sage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TextBox 5"/>
          <p:cNvSpPr txBox="1"/>
          <p:nvPr/>
        </p:nvSpPr>
        <p:spPr>
          <a:xfrm>
            <a:off x="5840500" y="4357159"/>
            <a:ext cx="3916910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</a:rPr>
              <a:t>选择年龄小于</a:t>
            </a:r>
            <a:r>
              <a:rPr lang="en-US" altLang="zh-CN" sz="2800" dirty="0" smtClean="0">
                <a:latin typeface="+mn-ea"/>
              </a:rPr>
              <a:t>20</a:t>
            </a:r>
            <a:r>
              <a:rPr lang="zh-CN" altLang="en-US" sz="2800" dirty="0" smtClean="0">
                <a:latin typeface="+mn-ea"/>
              </a:rPr>
              <a:t>的元组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72920" y="1903095"/>
            <a:ext cx="788733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tabLst>
                <a:tab pos="3670300" algn="l"/>
              </a:tabLst>
            </a:pPr>
            <a:r>
              <a:rPr lang="en-US" altLang="el-GR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l-GR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 = </a:t>
            </a:r>
            <a:r>
              <a:rPr lang="el-GR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σ</a:t>
            </a:r>
            <a:r>
              <a:rPr lang="en-US" sz="320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32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(R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lang="en-US" altLang="el-GR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= 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{t│t∈R∧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F(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t)=True}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4" grpId="1"/>
      <p:bldP spid="7" grpId="1"/>
      <p:bldP spid="20" grpId="0"/>
      <p:bldP spid="20" grpId="1"/>
      <p:bldP spid="18" grpId="0"/>
      <p:bldP spid="18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1049020" y="1341120"/>
            <a:ext cx="940308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投影（</a:t>
            </a:r>
            <a:r>
              <a:rPr lang="en-US" altLang="zh-CN" sz="2800" dirty="0" smtClean="0">
                <a:latin typeface="+mn-ea"/>
                <a:sym typeface="+mn-ea"/>
              </a:rPr>
              <a:t>Projection</a:t>
            </a:r>
            <a:r>
              <a:rPr lang="zh-CN" altLang="en-US" sz="2800" dirty="0" smtClean="0">
                <a:latin typeface="+mn-ea"/>
                <a:sym typeface="+mn-ea"/>
              </a:rPr>
              <a:t>）：选择</a:t>
            </a:r>
            <a:r>
              <a:rPr lang="zh-CN" altLang="en-US" sz="2800" dirty="0">
                <a:latin typeface="+mn-ea"/>
                <a:sym typeface="+mn-ea"/>
              </a:rPr>
              <a:t>满足给定条件</a:t>
            </a:r>
            <a:r>
              <a:rPr lang="zh-CN" altLang="en-US" sz="2800" dirty="0" smtClean="0">
                <a:latin typeface="+mn-ea"/>
                <a:sym typeface="+mn-ea"/>
              </a:rPr>
              <a:t>的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sym typeface="+mn-ea"/>
              </a:rPr>
              <a:t>属性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(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sym typeface="+mn-ea"/>
              </a:rPr>
              <a:t>列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)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1401650" y="3601514"/>
          <a:ext cx="4185080" cy="302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530"/>
                <a:gridCol w="1165010"/>
                <a:gridCol w="1046270"/>
                <a:gridCol w="1046270"/>
              </a:tblGrid>
              <a:tr h="56599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Sname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Ssex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Sage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Box 6"/>
          <p:cNvSpPr txBox="1"/>
          <p:nvPr/>
        </p:nvSpPr>
        <p:spPr>
          <a:xfrm>
            <a:off x="1888573" y="2729024"/>
            <a:ext cx="2850432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Student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关系表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2945" y="1916430"/>
            <a:ext cx="811212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tabLst>
                <a:tab pos="3670300" algn="l"/>
              </a:tabLst>
            </a:pPr>
            <a:r>
              <a:rPr lang="en-US" altLang="el-GR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 = </a:t>
            </a:r>
            <a:r>
              <a:rPr lang="el-GR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π</a:t>
            </a:r>
            <a:r>
              <a:rPr lang="en-US" sz="3200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32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(R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lang="en-US" altLang="el-GR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{t│t[A]∧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t∈R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800" dirty="0" err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7515" y="6007442"/>
            <a:ext cx="24497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3670300" algn="l"/>
              </a:tabLst>
            </a:pPr>
            <a:r>
              <a:rPr lang="el-GR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lang="en-US" altLang="zh-CN" sz="32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Sage</a:t>
            </a:r>
            <a:r>
              <a:rPr lang="en-US" altLang="zh-CN" sz="32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(Student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8889607" y="5137785"/>
          <a:ext cx="1046480" cy="148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480"/>
              </a:tblGrid>
              <a:tr h="470240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Sage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5974485" y="2603056"/>
            <a:ext cx="329501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tabLst>
                <a:tab pos="3670300" algn="l"/>
              </a:tabLst>
            </a:pPr>
            <a:r>
              <a:rPr lang="el-GR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π</a:t>
            </a:r>
            <a:r>
              <a:rPr lang="en-US" altLang="zh-CN" sz="32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Sno</a:t>
            </a:r>
            <a:r>
              <a:rPr lang="zh-CN" altLang="en-US" sz="32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3200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Sname</a:t>
            </a:r>
            <a:r>
              <a:rPr lang="en-US" altLang="zh-CN" sz="32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(Student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3"/>
            </p:custDataLst>
          </p:nvPr>
        </p:nvGraphicFramePr>
        <p:xfrm>
          <a:off x="6486095" y="3295444"/>
          <a:ext cx="2092540" cy="245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530"/>
                <a:gridCol w="1165010"/>
              </a:tblGrid>
              <a:tr h="470240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b="1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Sname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TextBox 5"/>
          <p:cNvSpPr txBox="1"/>
          <p:nvPr/>
        </p:nvSpPr>
        <p:spPr>
          <a:xfrm>
            <a:off x="6059575" y="5416763"/>
            <a:ext cx="2681620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</a:rPr>
              <a:t>查询学生的年龄</a:t>
            </a:r>
            <a:endParaRPr lang="zh-CN" altLang="en-US" sz="2800" dirty="0">
              <a:latin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3" grpId="0"/>
      <p:bldP spid="13" grpId="1"/>
      <p:bldP spid="15" grpId="0"/>
      <p:bldP spid="15" grpId="1"/>
      <p:bldP spid="11" grpId="0"/>
      <p:bldP spid="11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8627" y="1309652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  <a:sym typeface="+mn-ea"/>
              </a:rPr>
              <a:t>等值连接（</a:t>
            </a:r>
            <a:r>
              <a:rPr lang="en-US" altLang="zh-CN" sz="2800" dirty="0" smtClean="0">
                <a:latin typeface="+mn-ea"/>
                <a:sym typeface="+mn-ea"/>
              </a:rPr>
              <a:t>Equijoin </a:t>
            </a:r>
            <a:r>
              <a:rPr lang="zh-CN" altLang="en-US" sz="2800" dirty="0" smtClean="0">
                <a:latin typeface="+mn-ea"/>
                <a:sym typeface="+mn-ea"/>
              </a:rPr>
              <a:t>）</a:t>
            </a:r>
            <a:r>
              <a:rPr lang="zh-CN" altLang="en-US" sz="2800" dirty="0">
                <a:latin typeface="+mn-ea"/>
                <a:sym typeface="+mn-ea"/>
              </a:rPr>
              <a:t>：</a:t>
            </a:r>
            <a:r>
              <a:rPr lang="en-US" altLang="zh-CN" sz="2800" dirty="0">
                <a:latin typeface="+mn-ea"/>
                <a:sym typeface="+mn-ea"/>
              </a:rPr>
              <a:t>T </a:t>
            </a:r>
            <a:r>
              <a:rPr lang="en-US" altLang="zh-CN" sz="2800" dirty="0" smtClean="0">
                <a:latin typeface="+mn-ea"/>
                <a:sym typeface="+mn-ea"/>
              </a:rPr>
              <a:t>=R1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    </a:t>
            </a:r>
            <a:r>
              <a:rPr lang="en-US" altLang="zh-CN" sz="2800" dirty="0" smtClean="0">
                <a:latin typeface="+mn-ea"/>
                <a:sym typeface="+mn-ea"/>
              </a:rPr>
              <a:t>R2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40755" y="1443990"/>
            <a:ext cx="745490" cy="334010"/>
            <a:chOff x="8967" y="1367"/>
            <a:chExt cx="1174" cy="526"/>
          </a:xfrm>
        </p:grpSpPr>
        <p:sp>
          <p:nvSpPr>
            <p:cNvPr id="4" name="AutoShape 6"/>
            <p:cNvSpPr>
              <a:spLocks noChangeArrowheads="1"/>
            </p:cNvSpPr>
            <p:nvPr/>
          </p:nvSpPr>
          <p:spPr bwMode="auto">
            <a:xfrm rot="5400000" flipV="1">
              <a:off x="9461" y="1259"/>
              <a:ext cx="294" cy="511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FF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8967" y="1505"/>
              <a:ext cx="1175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zh-CN" i="1" dirty="0">
                  <a:latin typeface="Times New Roman" panose="02020603050405020304" pitchFamily="18" charset="0"/>
                </a:rPr>
                <a:t> </a:t>
              </a:r>
              <a:r>
                <a:rPr lang="zh-CN" altLang="zh-CN" sz="1600" i="1" dirty="0" smtClean="0">
                  <a:latin typeface="Times New Roman" panose="02020603050405020304" pitchFamily="18" charset="0"/>
                </a:rPr>
                <a:t>A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=</a:t>
              </a:r>
              <a:r>
                <a:rPr lang="zh-CN" altLang="zh-CN" sz="1600" i="1" dirty="0" smtClean="0">
                  <a:latin typeface="Times New Roman" panose="02020603050405020304" pitchFamily="18" charset="0"/>
                </a:rPr>
                <a:t>B</a:t>
              </a:r>
              <a:endParaRPr lang="zh-CN" altLang="zh-CN" sz="16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TextBox 5"/>
          <p:cNvSpPr txBox="1"/>
          <p:nvPr/>
        </p:nvSpPr>
        <p:spPr>
          <a:xfrm>
            <a:off x="1899285" y="1833880"/>
            <a:ext cx="729615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700"/>
              </a:lnSpc>
              <a:buClrTx/>
              <a:buSzTx/>
              <a:buFontTx/>
            </a:pPr>
            <a:r>
              <a:rPr lang="en-US" altLang="zh-CN" sz="2800" dirty="0">
                <a:latin typeface="+mn-ea"/>
                <a:sym typeface="+mn-ea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=｛tr⌒ts│tr∈R∧ts∈S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∧tr[A]=ts[B]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｝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1"/>
            </p:custDataLst>
          </p:nvPr>
        </p:nvGraphicFramePr>
        <p:xfrm>
          <a:off x="1772286" y="2499360"/>
          <a:ext cx="3080385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05"/>
                <a:gridCol w="934085"/>
                <a:gridCol w="1179195"/>
              </a:tblGrid>
              <a:tr h="46064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教师号</a:t>
                      </a:r>
                      <a:endParaRPr lang="zh-CN" altLang="en-US" sz="2800" b="1" dirty="0" smtClean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3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3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3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t4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2"/>
            </p:custDataLst>
          </p:nvPr>
        </p:nvGraphicFramePr>
        <p:xfrm>
          <a:off x="7527925" y="2515235"/>
          <a:ext cx="2646680" cy="145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865"/>
                <a:gridCol w="1440815"/>
              </a:tblGrid>
              <a:tr h="35824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教工号</a:t>
                      </a:r>
                      <a:endParaRPr lang="zh-CN" altLang="en-US" sz="2800" b="1" dirty="0" smtClean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1F2DA8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小陈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1F2DA8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老王</a:t>
                      </a:r>
                      <a:endParaRPr lang="en-US" altLang="zh-CN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2109471" y="5178369"/>
          <a:ext cx="7648574" cy="203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899"/>
                <a:gridCol w="1200150"/>
                <a:gridCol w="1659892"/>
                <a:gridCol w="1883408"/>
                <a:gridCol w="1800225"/>
              </a:tblGrid>
              <a:tr h="5822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R1.</a:t>
                      </a:r>
                      <a:r>
                        <a:rPr lang="zh-CN" altLang="en-US" sz="28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教师号</a:t>
                      </a:r>
                      <a:endParaRPr lang="zh-CN" altLang="en-US" sz="2800" b="1" kern="1200" dirty="0" smtClean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kern="120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  <a:cs typeface="+mn-cs"/>
                        </a:rPr>
                        <a:t>R2.</a:t>
                      </a:r>
                      <a:r>
                        <a:rPr lang="zh-CN" altLang="en-US" sz="2800" b="1" kern="1200" dirty="0" smtClean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教工</a:t>
                      </a:r>
                      <a:r>
                        <a:rPr lang="zh-CN" altLang="en-US" sz="2800" b="1" kern="1200" dirty="0" smtClean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号</a:t>
                      </a:r>
                      <a:endParaRPr lang="zh-CN" altLang="en-US" sz="2800" b="1" kern="1200" dirty="0" smtClean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教师姓名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1F2DA8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小陈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1F2DA8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老</a:t>
                      </a:r>
                      <a:r>
                        <a:rPr lang="zh-CN" altLang="en-US" sz="28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王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AutoShape 6"/>
          <p:cNvSpPr>
            <a:spLocks noChangeArrowheads="1"/>
          </p:cNvSpPr>
          <p:nvPr/>
        </p:nvSpPr>
        <p:spPr bwMode="auto">
          <a:xfrm rot="5400000" flipV="1">
            <a:off x="6097811" y="2418547"/>
            <a:ext cx="186748" cy="1580564"/>
          </a:xfrm>
          <a:prstGeom prst="flowChartCollate">
            <a:avLst/>
          </a:prstGeom>
          <a:solidFill>
            <a:srgbClr val="FFFFFF"/>
          </a:solidFill>
          <a:ln w="6350">
            <a:solidFill>
              <a:srgbClr val="FF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5920105" y="3810635"/>
            <a:ext cx="245745" cy="12979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886896" y="3376771"/>
            <a:ext cx="26085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+mn-ea"/>
                <a:ea typeface="+mn-ea"/>
              </a:rPr>
              <a:t>R1.</a:t>
            </a:r>
            <a:r>
              <a:rPr lang="zh-CN" altLang="en-US" sz="2000" b="1" dirty="0">
                <a:latin typeface="+mn-ea"/>
                <a:ea typeface="+mn-ea"/>
              </a:rPr>
              <a:t>教师</a:t>
            </a:r>
            <a:r>
              <a:rPr lang="zh-CN" altLang="en-US" sz="2000" b="1" dirty="0" smtClean="0">
                <a:latin typeface="+mn-ea"/>
                <a:ea typeface="+mn-ea"/>
              </a:rPr>
              <a:t>号</a:t>
            </a:r>
            <a:r>
              <a:rPr lang="en-US" altLang="zh-CN" sz="2000" b="1" dirty="0" smtClean="0">
                <a:latin typeface="+mn-ea"/>
                <a:ea typeface="+mn-ea"/>
              </a:rPr>
              <a:t>=R2.</a:t>
            </a:r>
            <a:r>
              <a:rPr lang="zh-CN" altLang="en-US" sz="2000" b="1" dirty="0" smtClean="0">
                <a:latin typeface="+mn-ea"/>
                <a:ea typeface="+mn-ea"/>
              </a:rPr>
              <a:t>教工</a:t>
            </a:r>
            <a:r>
              <a:rPr lang="zh-CN" altLang="en-US" sz="2000" b="1" dirty="0" smtClean="0">
                <a:latin typeface="+mn-ea"/>
                <a:ea typeface="+mn-ea"/>
              </a:rPr>
              <a:t>号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667760" y="4549140"/>
            <a:ext cx="680466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1.</a:t>
            </a:r>
            <a:r>
              <a:rPr lang="zh-CN" altLang="en-US" sz="2800" dirty="0" smtClean="0"/>
              <a:t>做</a:t>
            </a:r>
            <a:r>
              <a:rPr lang="zh-CN" altLang="en-US" sz="2800" dirty="0" smtClean="0">
                <a:solidFill>
                  <a:srgbClr val="FF0000"/>
                </a:solidFill>
              </a:rPr>
              <a:t>笛卡儿积</a:t>
            </a:r>
            <a:r>
              <a:rPr lang="en-US" altLang="zh-CN" sz="2800" dirty="0" smtClean="0"/>
              <a:t>       2.</a:t>
            </a:r>
            <a:r>
              <a:rPr lang="zh-CN" altLang="en-US" sz="2800" dirty="0" smtClean="0"/>
              <a:t>取</a:t>
            </a:r>
            <a:r>
              <a:rPr lang="zh-CN" altLang="en-US" sz="2800" dirty="0" smtClean="0">
                <a:solidFill>
                  <a:srgbClr val="FF0000"/>
                </a:solidFill>
              </a:rPr>
              <a:t>列值相同</a:t>
            </a:r>
            <a:r>
              <a:rPr lang="zh-CN" altLang="en-US" sz="2800" dirty="0" smtClean="0"/>
              <a:t>的行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0" grpId="0" bldLvl="0" animBg="1"/>
      <p:bldP spid="21" grpId="0"/>
      <p:bldP spid="23" grpId="0"/>
      <p:bldP spid="22" grpId="1" animBg="1"/>
      <p:bldP spid="20" grpId="1" animBg="1"/>
      <p:bldP spid="21" grpId="1"/>
      <p:bldP spid="23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1058627" y="1275997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  <a:sym typeface="+mn-ea"/>
              </a:rPr>
              <a:t>自然连接（</a:t>
            </a:r>
            <a:r>
              <a:rPr lang="en-US" altLang="zh-CN" sz="2800" dirty="0" smtClean="0">
                <a:latin typeface="+mn-ea"/>
                <a:sym typeface="+mn-ea"/>
              </a:rPr>
              <a:t>Natural Join</a:t>
            </a:r>
            <a:r>
              <a:rPr lang="zh-CN" altLang="en-US" sz="2800" dirty="0" smtClean="0">
                <a:latin typeface="+mn-ea"/>
                <a:sym typeface="+mn-ea"/>
              </a:rPr>
              <a:t>）</a:t>
            </a:r>
            <a:r>
              <a:rPr lang="zh-CN" altLang="en-US" sz="2800" dirty="0">
                <a:latin typeface="+mn-ea"/>
                <a:sym typeface="+mn-ea"/>
              </a:rPr>
              <a:t>：</a:t>
            </a:r>
            <a:r>
              <a:rPr lang="en-US" altLang="zh-CN" sz="2800" dirty="0" smtClean="0">
                <a:latin typeface="+mn-ea"/>
                <a:sym typeface="+mn-ea"/>
              </a:rPr>
              <a:t>R3=R1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    </a:t>
            </a:r>
            <a:r>
              <a:rPr lang="en-US" altLang="zh-CN" sz="2800" dirty="0" smtClean="0">
                <a:latin typeface="+mn-ea"/>
                <a:sym typeface="+mn-ea"/>
              </a:rPr>
              <a:t>R2</a:t>
            </a:r>
            <a:endParaRPr lang="zh-CN" altLang="en-US" sz="2800" dirty="0">
              <a:latin typeface="+mn-ea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5400000" flipV="1">
            <a:off x="6897370" y="1379855"/>
            <a:ext cx="186690" cy="324485"/>
          </a:xfrm>
          <a:prstGeom prst="flowChartCollate">
            <a:avLst/>
          </a:prstGeom>
          <a:solidFill>
            <a:srgbClr val="FFFFFF"/>
          </a:solidFill>
          <a:ln w="6350">
            <a:solidFill>
              <a:srgbClr val="FF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772286" y="1951355"/>
          <a:ext cx="3080385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05"/>
                <a:gridCol w="934085"/>
                <a:gridCol w="1179195"/>
              </a:tblGrid>
              <a:tr h="46064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教师号</a:t>
                      </a:r>
                      <a:endParaRPr lang="zh-CN" altLang="en-US" sz="2800" b="1" dirty="0" smtClean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3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3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43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t4</a:t>
                      </a:r>
                      <a:endParaRPr lang="en-US" altLang="zh-CN" sz="2800" b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7527925" y="1967230"/>
          <a:ext cx="2646680" cy="145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865"/>
                <a:gridCol w="1440815"/>
              </a:tblGrid>
              <a:tr h="35824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教师号</a:t>
                      </a:r>
                      <a:endParaRPr lang="zh-CN" altLang="en-US" sz="2800" b="1" dirty="0" smtClean="0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1F2DA8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小辉辉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1F2DA8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1F2DA8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老王</a:t>
                      </a:r>
                      <a:endParaRPr lang="en-US" altLang="zh-CN" sz="2800" b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3196591" y="4965644"/>
          <a:ext cx="7648574" cy="203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899"/>
                <a:gridCol w="1200150"/>
                <a:gridCol w="1883408"/>
                <a:gridCol w="1800225"/>
              </a:tblGrid>
              <a:tr h="5822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姓名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kern="1200" dirty="0" smtClean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教师号</a:t>
                      </a:r>
                      <a:endParaRPr lang="zh-CN" altLang="en-US" sz="2800" b="1" kern="1200" dirty="0" smtClean="0">
                        <a:solidFill>
                          <a:srgbClr val="7030A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教师姓名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801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</a:rPr>
                        <a:t>t1</a:t>
                      </a:r>
                      <a:endParaRPr lang="en-US" altLang="zh-CN" sz="2800" b="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小辉辉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9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7030A0"/>
                          </a:solidFill>
                          <a:latin typeface="+mn-ea"/>
                          <a:ea typeface="+mn-ea"/>
                        </a:rPr>
                        <a:t>t2</a:t>
                      </a:r>
                      <a:endParaRPr lang="en-US" altLang="zh-CN" sz="2800" b="0" dirty="0" smtClean="0">
                        <a:solidFill>
                          <a:srgbClr val="7030A0"/>
                        </a:solidFill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老</a:t>
                      </a:r>
                      <a:r>
                        <a:rPr lang="zh-CN" altLang="en-US" sz="28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王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AutoShape 6"/>
          <p:cNvSpPr>
            <a:spLocks noChangeArrowheads="1"/>
          </p:cNvSpPr>
          <p:nvPr/>
        </p:nvSpPr>
        <p:spPr bwMode="auto">
          <a:xfrm rot="5400000" flipV="1">
            <a:off x="6097811" y="1870542"/>
            <a:ext cx="186748" cy="1580564"/>
          </a:xfrm>
          <a:prstGeom prst="flowChartCollate">
            <a:avLst/>
          </a:prstGeom>
          <a:solidFill>
            <a:srgbClr val="FFFFFF"/>
          </a:solidFill>
          <a:ln w="6350">
            <a:solidFill>
              <a:srgbClr val="FF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5920105" y="3262630"/>
            <a:ext cx="245745" cy="12979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1685" y="4101465"/>
            <a:ext cx="93002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1.</a:t>
            </a:r>
            <a:r>
              <a:rPr lang="zh-CN" altLang="en-US" sz="2800" dirty="0" smtClean="0"/>
              <a:t>做</a:t>
            </a:r>
            <a:r>
              <a:rPr lang="zh-CN" altLang="en-US" sz="2800" dirty="0" smtClean="0">
                <a:solidFill>
                  <a:srgbClr val="FF0000"/>
                </a:solidFill>
              </a:rPr>
              <a:t>笛卡儿积</a:t>
            </a:r>
            <a:r>
              <a:rPr lang="en-US" altLang="zh-CN" sz="2800" dirty="0" smtClean="0"/>
              <a:t>  2.</a:t>
            </a:r>
            <a:r>
              <a:rPr lang="zh-CN" altLang="en-US" sz="2800" dirty="0" smtClean="0"/>
              <a:t>取</a:t>
            </a:r>
            <a:r>
              <a:rPr lang="zh-CN" altLang="en-US" sz="2800" dirty="0" smtClean="0">
                <a:solidFill>
                  <a:srgbClr val="FF0000"/>
                </a:solidFill>
              </a:rPr>
              <a:t>列值相同</a:t>
            </a:r>
            <a:r>
              <a:rPr lang="zh-CN" altLang="en-US" sz="2800" dirty="0" smtClean="0"/>
              <a:t>的行</a:t>
            </a:r>
            <a:r>
              <a:rPr lang="en-US" altLang="zh-CN" sz="2800" dirty="0" smtClean="0"/>
              <a:t>      </a:t>
            </a:r>
            <a:r>
              <a:rPr lang="en-US" altLang="zh-CN" sz="2800" dirty="0" smtClean="0">
                <a:solidFill>
                  <a:srgbClr val="1F2DA8"/>
                </a:solidFill>
              </a:rPr>
              <a:t>3.</a:t>
            </a:r>
            <a:r>
              <a:rPr lang="zh-CN" altLang="en-US" sz="2800" dirty="0" smtClean="0">
                <a:solidFill>
                  <a:srgbClr val="1F2DA8"/>
                </a:solidFill>
              </a:rPr>
              <a:t>消除重复属性组</a:t>
            </a:r>
            <a:endParaRPr lang="zh-CN" altLang="en-US" sz="2800" dirty="0" smtClean="0">
              <a:solidFill>
                <a:srgbClr val="1F2DA8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10" grpId="0"/>
      <p:bldP spid="9" grpId="1" animBg="1"/>
      <p:bldP spid="13" grpId="1" animBg="1"/>
      <p:bldP spid="10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8627" y="1318542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  <a:sym typeface="+mn-ea"/>
              </a:rPr>
              <a:t>连接（</a:t>
            </a:r>
            <a:r>
              <a:rPr lang="en-US" altLang="zh-CN" sz="2800" dirty="0" smtClean="0">
                <a:latin typeface="+mn-ea"/>
                <a:sym typeface="+mn-ea"/>
              </a:rPr>
              <a:t> Join</a:t>
            </a:r>
            <a:r>
              <a:rPr lang="zh-CN" altLang="en-US" sz="2800" dirty="0" smtClean="0">
                <a:latin typeface="+mn-ea"/>
                <a:sym typeface="+mn-ea"/>
              </a:rPr>
              <a:t>）</a:t>
            </a:r>
            <a:r>
              <a:rPr lang="zh-CN" altLang="en-US" sz="2800" dirty="0">
                <a:latin typeface="+mn-ea"/>
                <a:sym typeface="+mn-ea"/>
              </a:rPr>
              <a:t>：</a:t>
            </a:r>
            <a:r>
              <a:rPr lang="en-US" altLang="zh-CN" sz="2800" dirty="0" smtClean="0">
                <a:latin typeface="+mn-ea"/>
                <a:sym typeface="+mn-ea"/>
              </a:rPr>
              <a:t>R3=R1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      </a:t>
            </a:r>
            <a:r>
              <a:rPr lang="en-US" altLang="zh-CN" sz="2800" dirty="0" smtClean="0">
                <a:latin typeface="+mn-ea"/>
                <a:sym typeface="+mn-ea"/>
              </a:rPr>
              <a:t>R2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17745" y="1395730"/>
            <a:ext cx="745490" cy="362585"/>
            <a:chOff x="7026" y="1205"/>
            <a:chExt cx="1174" cy="571"/>
          </a:xfrm>
        </p:grpSpPr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7026" y="1388"/>
              <a:ext cx="1175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zh-CN" i="1" dirty="0">
                  <a:latin typeface="Times New Roman" panose="02020603050405020304" pitchFamily="18" charset="0"/>
                </a:rPr>
                <a:t> </a:t>
              </a:r>
              <a:r>
                <a:rPr lang="zh-CN" altLang="zh-CN" sz="1600" i="1" dirty="0">
                  <a:latin typeface="Times New Roman" panose="02020603050405020304" pitchFamily="18" charset="0"/>
                </a:rPr>
                <a:t>A</a:t>
              </a:r>
              <a:r>
                <a:rPr lang="zh-CN" altLang="zh-CN" sz="1600" dirty="0">
                  <a:latin typeface="Times New Roman" panose="02020603050405020304" pitchFamily="18" charset="0"/>
                </a:rPr>
                <a:t>θ</a:t>
              </a:r>
              <a:r>
                <a:rPr lang="zh-CN" altLang="zh-CN" sz="1600" i="1" dirty="0">
                  <a:latin typeface="Times New Roman" panose="02020603050405020304" pitchFamily="18" charset="0"/>
                </a:rPr>
                <a:t>B</a:t>
              </a:r>
              <a:endParaRPr lang="zh-CN" altLang="zh-CN" sz="16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 rot="5400000" flipV="1">
              <a:off x="7551" y="1097"/>
              <a:ext cx="294" cy="511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FF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63315" y="1362569"/>
            <a:ext cx="2529860" cy="52322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sz="2800" dirty="0"/>
              <a:t>θ</a:t>
            </a:r>
            <a:r>
              <a:rPr lang="zh-CN" altLang="en-US" sz="2800" dirty="0"/>
              <a:t>：比较运算符</a:t>
            </a:r>
            <a:endParaRPr lang="zh-CN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1010920" y="1866900"/>
            <a:ext cx="9448165" cy="1383665"/>
          </a:xfrm>
          <a:prstGeom prst="rect">
            <a:avLst/>
          </a:prstGeom>
        </p:spPr>
        <p:txBody>
          <a:bodyPr wrap="square">
            <a:spAutoFit/>
          </a:bodyPr>
          <a:p>
            <a:pPr lvl="1"/>
            <a:r>
              <a:rPr lang="zh-CN" altLang="en-US" sz="2800" dirty="0">
                <a:latin typeface="+mn-ea"/>
                <a:ea typeface="+mn-ea"/>
              </a:rPr>
              <a:t>连接也</a:t>
            </a:r>
            <a:r>
              <a:rPr lang="zh-CN" altLang="en-US" sz="2800" dirty="0" smtClean="0">
                <a:latin typeface="+mn-ea"/>
                <a:ea typeface="+mn-ea"/>
              </a:rPr>
              <a:t>称为</a:t>
            </a:r>
            <a:r>
              <a:rPr lang="zh-CN" altLang="zh-CN" sz="2800" dirty="0"/>
              <a:t>θ</a:t>
            </a:r>
            <a:r>
              <a:rPr lang="zh-CN" altLang="en-US" sz="2800" dirty="0" smtClean="0">
                <a:latin typeface="+mn-ea"/>
                <a:ea typeface="+mn-ea"/>
              </a:rPr>
              <a:t>连接，</a:t>
            </a:r>
            <a:r>
              <a:rPr lang="zh-CN" altLang="en-US" sz="2800" dirty="0">
                <a:latin typeface="+mn-ea"/>
                <a:ea typeface="+mn-ea"/>
              </a:rPr>
              <a:t>指</a:t>
            </a:r>
            <a:r>
              <a:rPr lang="zh-CN" altLang="en-US" sz="2800" dirty="0" smtClean="0">
                <a:latin typeface="+mn-ea"/>
                <a:ea typeface="+mn-ea"/>
              </a:rPr>
              <a:t>从 </a:t>
            </a:r>
            <a:r>
              <a:rPr lang="en-US" altLang="zh-CN" sz="2800" dirty="0">
                <a:latin typeface="+mn-ea"/>
                <a:ea typeface="+mn-ea"/>
              </a:rPr>
              <a:t>R </a:t>
            </a:r>
            <a:r>
              <a:rPr lang="zh-CN" altLang="en-US" sz="2800" dirty="0">
                <a:latin typeface="+mn-ea"/>
                <a:ea typeface="+mn-ea"/>
              </a:rPr>
              <a:t>和 </a:t>
            </a:r>
            <a:r>
              <a:rPr lang="en-US" altLang="zh-CN" sz="2800" dirty="0">
                <a:latin typeface="+mn-ea"/>
                <a:ea typeface="+mn-ea"/>
              </a:rPr>
              <a:t>S </a:t>
            </a:r>
            <a:r>
              <a:rPr lang="zh-CN" altLang="en-US" sz="2800" dirty="0">
                <a:latin typeface="+mn-ea"/>
                <a:ea typeface="+mn-ea"/>
              </a:rPr>
              <a:t>的广义笛卡尔积 </a:t>
            </a:r>
            <a:r>
              <a:rPr lang="en-US" altLang="zh-CN" sz="2800" dirty="0">
                <a:latin typeface="+mn-ea"/>
                <a:ea typeface="+mn-ea"/>
              </a:rPr>
              <a:t>R×S </a:t>
            </a:r>
            <a:r>
              <a:rPr lang="zh-CN" altLang="en-US" sz="2800" dirty="0">
                <a:latin typeface="+mn-ea"/>
                <a:ea typeface="+mn-ea"/>
              </a:rPr>
              <a:t>中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选取</a:t>
            </a:r>
            <a:r>
              <a:rPr lang="zh-CN" altLang="en-US" sz="2800" dirty="0" smtClean="0">
                <a:latin typeface="+mn-ea"/>
                <a:ea typeface="+mn-ea"/>
              </a:rPr>
              <a:t>（</a:t>
            </a:r>
            <a:r>
              <a:rPr lang="en-US" altLang="zh-CN" sz="2800" dirty="0" smtClean="0">
                <a:latin typeface="+mn-ea"/>
                <a:ea typeface="+mn-ea"/>
              </a:rPr>
              <a:t>R </a:t>
            </a:r>
            <a:r>
              <a:rPr lang="zh-CN" altLang="en-US" sz="2800" dirty="0" smtClean="0">
                <a:latin typeface="+mn-ea"/>
                <a:ea typeface="+mn-ea"/>
              </a:rPr>
              <a:t>关系）在 </a:t>
            </a:r>
            <a:r>
              <a:rPr lang="en-US" altLang="zh-CN" sz="2800" dirty="0">
                <a:latin typeface="+mn-ea"/>
                <a:ea typeface="+mn-ea"/>
              </a:rPr>
              <a:t>A </a:t>
            </a:r>
            <a:r>
              <a:rPr lang="zh-CN" altLang="en-US" sz="2800" dirty="0">
                <a:latin typeface="+mn-ea"/>
                <a:ea typeface="+mn-ea"/>
              </a:rPr>
              <a:t>属性组上的值</a:t>
            </a:r>
            <a:r>
              <a:rPr lang="zh-CN" altLang="en-US" sz="2800" dirty="0" smtClean="0">
                <a:latin typeface="+mn-ea"/>
                <a:ea typeface="+mn-ea"/>
              </a:rPr>
              <a:t>与（</a:t>
            </a:r>
            <a:r>
              <a:rPr lang="en-US" altLang="zh-CN" sz="2800" dirty="0" smtClean="0">
                <a:latin typeface="+mn-ea"/>
                <a:ea typeface="+mn-ea"/>
              </a:rPr>
              <a:t>S </a:t>
            </a:r>
            <a:r>
              <a:rPr lang="zh-CN" altLang="en-US" sz="2800" dirty="0" smtClean="0">
                <a:latin typeface="+mn-ea"/>
                <a:ea typeface="+mn-ea"/>
              </a:rPr>
              <a:t>关系）在 </a:t>
            </a:r>
            <a:r>
              <a:rPr lang="en-US" altLang="zh-CN" sz="2800" dirty="0">
                <a:latin typeface="+mn-ea"/>
                <a:ea typeface="+mn-ea"/>
              </a:rPr>
              <a:t>B </a:t>
            </a:r>
            <a:r>
              <a:rPr lang="zh-CN" altLang="en-US" sz="2800" dirty="0">
                <a:latin typeface="+mn-ea"/>
                <a:ea typeface="+mn-ea"/>
              </a:rPr>
              <a:t>属性组上值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满足比较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关系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ea typeface="+mn-ea"/>
              </a:rPr>
              <a:t>θ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元组。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1"/>
            </p:custDataLst>
          </p:nvPr>
        </p:nvGraphicFramePr>
        <p:xfrm>
          <a:off x="1378472" y="3518314"/>
          <a:ext cx="2800350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59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表格 26"/>
          <p:cNvGraphicFramePr/>
          <p:nvPr>
            <p:custDataLst>
              <p:tags r:id="rId2"/>
            </p:custDataLst>
          </p:nvPr>
        </p:nvGraphicFramePr>
        <p:xfrm>
          <a:off x="6362587" y="3515995"/>
          <a:ext cx="280035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分数线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等级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优秀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及格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右箭头 27"/>
          <p:cNvSpPr/>
          <p:nvPr/>
        </p:nvSpPr>
        <p:spPr>
          <a:xfrm rot="5400000">
            <a:off x="4908962" y="5230495"/>
            <a:ext cx="723900" cy="866141"/>
          </a:xfrm>
          <a:prstGeom prst="rightArrow">
            <a:avLst>
              <a:gd name="adj1" fmla="val 50000"/>
              <a:gd name="adj2" fmla="val 539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 rot="5400000" flipV="1">
            <a:off x="5006340" y="3771265"/>
            <a:ext cx="528955" cy="1176655"/>
          </a:xfrm>
          <a:prstGeom prst="flowChartCollate">
            <a:avLst/>
          </a:prstGeom>
          <a:solidFill>
            <a:srgbClr val="FFFFFF"/>
          </a:solidFill>
          <a:ln w="6350">
            <a:solidFill>
              <a:srgbClr val="FF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4381737" y="4470733"/>
            <a:ext cx="2140342" cy="75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1" dirty="0" smtClean="0">
                <a:latin typeface="Times New Roman" panose="02020603050405020304" pitchFamily="18" charset="0"/>
              </a:rPr>
              <a:t>分数  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&gt;</a:t>
            </a:r>
            <a:r>
              <a:rPr lang="zh-CN" altLang="en-US" sz="2000" i="1" dirty="0" smtClean="0">
                <a:latin typeface="Times New Roman" panose="02020603050405020304" pitchFamily="18" charset="0"/>
              </a:rPr>
              <a:t>分数线</a:t>
            </a:r>
            <a:endParaRPr lang="zh-CN" altLang="en-US" sz="2000" i="1" dirty="0" smtClean="0">
              <a:latin typeface="Times New Roman" panose="02020603050405020304" pitchFamily="18" charset="0"/>
            </a:endParaRPr>
          </a:p>
        </p:txBody>
      </p:sp>
      <p:sp>
        <p:nvSpPr>
          <p:cNvPr id="20" name="TextBox 5"/>
          <p:cNvSpPr txBox="1"/>
          <p:nvPr/>
        </p:nvSpPr>
        <p:spPr>
          <a:xfrm>
            <a:off x="1088390" y="6104255"/>
            <a:ext cx="929322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en-US" sz="2800" dirty="0" smtClean="0">
                <a:latin typeface="+mn-ea"/>
              </a:rPr>
              <a:t>75&gt;80?   75&gt;60</a:t>
            </a:r>
            <a:r>
              <a:rPr lang="en-US" sz="2800" dirty="0" smtClean="0">
                <a:latin typeface="+mn-ea"/>
                <a:sym typeface="+mn-ea"/>
              </a:rPr>
              <a:t>?</a:t>
            </a:r>
            <a:r>
              <a:rPr lang="en-US" sz="2800" dirty="0" smtClean="0">
                <a:latin typeface="+mn-ea"/>
              </a:rPr>
              <a:t>   90&gt;80</a:t>
            </a:r>
            <a:r>
              <a:rPr lang="en-US" sz="2800" dirty="0" smtClean="0">
                <a:latin typeface="+mn-ea"/>
                <a:sym typeface="+mn-ea"/>
              </a:rPr>
              <a:t>?</a:t>
            </a:r>
            <a:r>
              <a:rPr lang="en-US" sz="2800" dirty="0" smtClean="0">
                <a:latin typeface="+mn-ea"/>
                <a:sym typeface="+mn-ea"/>
              </a:rPr>
              <a:t>   90&gt;60</a:t>
            </a:r>
            <a:r>
              <a:rPr lang="en-US" sz="2800" dirty="0" smtClean="0">
                <a:latin typeface="+mn-ea"/>
                <a:sym typeface="+mn-ea"/>
              </a:rPr>
              <a:t>?</a:t>
            </a:r>
            <a:r>
              <a:rPr lang="en-US" sz="2800" dirty="0" smtClean="0">
                <a:latin typeface="+mn-ea"/>
                <a:sym typeface="+mn-ea"/>
              </a:rPr>
              <a:t>    59&gt;80</a:t>
            </a:r>
            <a:r>
              <a:rPr lang="en-US" sz="2800" dirty="0" smtClean="0">
                <a:latin typeface="+mn-ea"/>
                <a:sym typeface="+mn-ea"/>
              </a:rPr>
              <a:t>?   59&gt;60?</a:t>
            </a:r>
            <a:r>
              <a:rPr lang="en-US" altLang="zh-CN" sz="2800" dirty="0" smtClean="0">
                <a:latin typeface="+mn-ea"/>
                <a:sym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en-US" sz="2800" dirty="0" smtClean="0">
                <a:latin typeface="+mn-ea"/>
              </a:rPr>
              <a:t> 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17" name="KSO_Shape"/>
          <p:cNvSpPr/>
          <p:nvPr/>
        </p:nvSpPr>
        <p:spPr bwMode="auto">
          <a:xfrm>
            <a:off x="2968382" y="5789372"/>
            <a:ext cx="502419" cy="435429"/>
          </a:xfrm>
          <a:custGeom>
            <a:avLst/>
            <a:gdLst>
              <a:gd name="T0" fmla="*/ 1905000 w 1360"/>
              <a:gd name="T1" fmla="*/ 65651 h 1358"/>
              <a:gd name="T2" fmla="*/ 1703294 w 1360"/>
              <a:gd name="T3" fmla="*/ 205463 h 1358"/>
              <a:gd name="T4" fmla="*/ 1507191 w 1360"/>
              <a:gd name="T5" fmla="*/ 363512 h 1358"/>
              <a:gd name="T6" fmla="*/ 1318092 w 1360"/>
              <a:gd name="T7" fmla="*/ 538581 h 1358"/>
              <a:gd name="T8" fmla="*/ 1138798 w 1360"/>
              <a:gd name="T9" fmla="*/ 731887 h 1358"/>
              <a:gd name="T10" fmla="*/ 970710 w 1360"/>
              <a:gd name="T11" fmla="*/ 930055 h 1358"/>
              <a:gd name="T12" fmla="*/ 832037 w 1360"/>
              <a:gd name="T13" fmla="*/ 1130655 h 1358"/>
              <a:gd name="T14" fmla="*/ 715776 w 1360"/>
              <a:gd name="T15" fmla="*/ 1326392 h 1358"/>
              <a:gd name="T16" fmla="*/ 624728 w 1360"/>
              <a:gd name="T17" fmla="*/ 1520914 h 1358"/>
              <a:gd name="T18" fmla="*/ 525276 w 1360"/>
              <a:gd name="T19" fmla="*/ 1580486 h 1358"/>
              <a:gd name="T20" fmla="*/ 455239 w 1360"/>
              <a:gd name="T21" fmla="*/ 1627901 h 1358"/>
              <a:gd name="T22" fmla="*/ 417419 w 1360"/>
              <a:gd name="T23" fmla="*/ 1625469 h 1358"/>
              <a:gd name="T24" fmla="*/ 390805 w 1360"/>
              <a:gd name="T25" fmla="*/ 1551308 h 1358"/>
              <a:gd name="T26" fmla="*/ 336176 w 1360"/>
              <a:gd name="T27" fmla="*/ 1432163 h 1358"/>
              <a:gd name="T28" fmla="*/ 285750 w 1360"/>
              <a:gd name="T29" fmla="*/ 1322745 h 1358"/>
              <a:gd name="T30" fmla="*/ 239526 w 1360"/>
              <a:gd name="T31" fmla="*/ 1231563 h 1358"/>
              <a:gd name="T32" fmla="*/ 196103 w 1360"/>
              <a:gd name="T33" fmla="*/ 1158618 h 1358"/>
              <a:gd name="T34" fmla="*/ 155482 w 1360"/>
              <a:gd name="T35" fmla="*/ 1102693 h 1358"/>
              <a:gd name="T36" fmla="*/ 120463 w 1360"/>
              <a:gd name="T37" fmla="*/ 1061357 h 1358"/>
              <a:gd name="T38" fmla="*/ 81243 w 1360"/>
              <a:gd name="T39" fmla="*/ 1030963 h 1358"/>
              <a:gd name="T40" fmla="*/ 40621 w 1360"/>
              <a:gd name="T41" fmla="*/ 1011511 h 1358"/>
              <a:gd name="T42" fmla="*/ 0 w 1360"/>
              <a:gd name="T43" fmla="*/ 1003001 h 1358"/>
              <a:gd name="T44" fmla="*/ 53228 w 1360"/>
              <a:gd name="T45" fmla="*/ 960449 h 1358"/>
              <a:gd name="T46" fmla="*/ 107857 w 1360"/>
              <a:gd name="T47" fmla="*/ 930055 h 1358"/>
              <a:gd name="T48" fmla="*/ 152680 w 1360"/>
              <a:gd name="T49" fmla="*/ 914250 h 1358"/>
              <a:gd name="T50" fmla="*/ 198904 w 1360"/>
              <a:gd name="T51" fmla="*/ 906956 h 1358"/>
              <a:gd name="T52" fmla="*/ 257735 w 1360"/>
              <a:gd name="T53" fmla="*/ 925192 h 1358"/>
              <a:gd name="T54" fmla="*/ 323570 w 1360"/>
              <a:gd name="T55" fmla="*/ 979901 h 1358"/>
              <a:gd name="T56" fmla="*/ 388004 w 1360"/>
              <a:gd name="T57" fmla="*/ 1067436 h 1358"/>
              <a:gd name="T58" fmla="*/ 458040 w 1360"/>
              <a:gd name="T59" fmla="*/ 1191443 h 1358"/>
              <a:gd name="T60" fmla="*/ 572901 w 1360"/>
              <a:gd name="T61" fmla="*/ 1193875 h 1358"/>
              <a:gd name="T62" fmla="*/ 710173 w 1360"/>
              <a:gd name="T63" fmla="*/ 1000569 h 1358"/>
              <a:gd name="T64" fmla="*/ 861452 w 1360"/>
              <a:gd name="T65" fmla="*/ 813342 h 1358"/>
              <a:gd name="T66" fmla="*/ 1025338 w 1360"/>
              <a:gd name="T67" fmla="*/ 637057 h 1358"/>
              <a:gd name="T68" fmla="*/ 1203232 w 1360"/>
              <a:gd name="T69" fmla="*/ 468067 h 1358"/>
              <a:gd name="T70" fmla="*/ 1385327 w 1360"/>
              <a:gd name="T71" fmla="*/ 314881 h 1358"/>
              <a:gd name="T72" fmla="*/ 1574426 w 1360"/>
              <a:gd name="T73" fmla="*/ 175069 h 1358"/>
              <a:gd name="T74" fmla="*/ 1764926 w 1360"/>
              <a:gd name="T75" fmla="*/ 53493 h 135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360" h="1358">
                <a:moveTo>
                  <a:pt x="1331" y="0"/>
                </a:moveTo>
                <a:lnTo>
                  <a:pt x="1360" y="54"/>
                </a:lnTo>
                <a:lnTo>
                  <a:pt x="1287" y="109"/>
                </a:lnTo>
                <a:lnTo>
                  <a:pt x="1216" y="169"/>
                </a:lnTo>
                <a:lnTo>
                  <a:pt x="1145" y="232"/>
                </a:lnTo>
                <a:lnTo>
                  <a:pt x="1076" y="299"/>
                </a:lnTo>
                <a:lnTo>
                  <a:pt x="1007" y="368"/>
                </a:lnTo>
                <a:lnTo>
                  <a:pt x="941" y="443"/>
                </a:lnTo>
                <a:lnTo>
                  <a:pt x="876" y="520"/>
                </a:lnTo>
                <a:lnTo>
                  <a:pt x="813" y="602"/>
                </a:lnTo>
                <a:lnTo>
                  <a:pt x="751" y="685"/>
                </a:lnTo>
                <a:lnTo>
                  <a:pt x="693" y="765"/>
                </a:lnTo>
                <a:lnTo>
                  <a:pt x="642" y="848"/>
                </a:lnTo>
                <a:lnTo>
                  <a:pt x="594" y="930"/>
                </a:lnTo>
                <a:lnTo>
                  <a:pt x="551" y="1011"/>
                </a:lnTo>
                <a:lnTo>
                  <a:pt x="511" y="1091"/>
                </a:lnTo>
                <a:lnTo>
                  <a:pt x="476" y="1172"/>
                </a:lnTo>
                <a:lnTo>
                  <a:pt x="446" y="1251"/>
                </a:lnTo>
                <a:lnTo>
                  <a:pt x="401" y="1281"/>
                </a:lnTo>
                <a:lnTo>
                  <a:pt x="375" y="1300"/>
                </a:lnTo>
                <a:lnTo>
                  <a:pt x="348" y="1320"/>
                </a:lnTo>
                <a:lnTo>
                  <a:pt x="325" y="1339"/>
                </a:lnTo>
                <a:lnTo>
                  <a:pt x="304" y="1358"/>
                </a:lnTo>
                <a:lnTo>
                  <a:pt x="298" y="1337"/>
                </a:lnTo>
                <a:lnTo>
                  <a:pt x="290" y="1310"/>
                </a:lnTo>
                <a:lnTo>
                  <a:pt x="279" y="1276"/>
                </a:lnTo>
                <a:lnTo>
                  <a:pt x="263" y="1237"/>
                </a:lnTo>
                <a:lnTo>
                  <a:pt x="240" y="1178"/>
                </a:lnTo>
                <a:lnTo>
                  <a:pt x="221" y="1132"/>
                </a:lnTo>
                <a:lnTo>
                  <a:pt x="204" y="1088"/>
                </a:lnTo>
                <a:lnTo>
                  <a:pt x="186" y="1049"/>
                </a:lnTo>
                <a:lnTo>
                  <a:pt x="171" y="1013"/>
                </a:lnTo>
                <a:lnTo>
                  <a:pt x="156" y="982"/>
                </a:lnTo>
                <a:lnTo>
                  <a:pt x="140" y="953"/>
                </a:lnTo>
                <a:lnTo>
                  <a:pt x="125" y="928"/>
                </a:lnTo>
                <a:lnTo>
                  <a:pt x="111" y="907"/>
                </a:lnTo>
                <a:lnTo>
                  <a:pt x="100" y="890"/>
                </a:lnTo>
                <a:lnTo>
                  <a:pt x="86" y="873"/>
                </a:lnTo>
                <a:lnTo>
                  <a:pt x="71" y="859"/>
                </a:lnTo>
                <a:lnTo>
                  <a:pt x="58" y="848"/>
                </a:lnTo>
                <a:lnTo>
                  <a:pt x="44" y="838"/>
                </a:lnTo>
                <a:lnTo>
                  <a:pt x="29" y="832"/>
                </a:lnTo>
                <a:lnTo>
                  <a:pt x="15" y="827"/>
                </a:lnTo>
                <a:lnTo>
                  <a:pt x="0" y="825"/>
                </a:lnTo>
                <a:lnTo>
                  <a:pt x="19" y="806"/>
                </a:lnTo>
                <a:lnTo>
                  <a:pt x="38" y="790"/>
                </a:lnTo>
                <a:lnTo>
                  <a:pt x="58" y="777"/>
                </a:lnTo>
                <a:lnTo>
                  <a:pt x="77" y="765"/>
                </a:lnTo>
                <a:lnTo>
                  <a:pt x="94" y="758"/>
                </a:lnTo>
                <a:lnTo>
                  <a:pt x="109" y="752"/>
                </a:lnTo>
                <a:lnTo>
                  <a:pt x="127" y="748"/>
                </a:lnTo>
                <a:lnTo>
                  <a:pt x="142" y="746"/>
                </a:lnTo>
                <a:lnTo>
                  <a:pt x="163" y="750"/>
                </a:lnTo>
                <a:lnTo>
                  <a:pt x="184" y="761"/>
                </a:lnTo>
                <a:lnTo>
                  <a:pt x="207" y="779"/>
                </a:lnTo>
                <a:lnTo>
                  <a:pt x="231" y="806"/>
                </a:lnTo>
                <a:lnTo>
                  <a:pt x="254" y="838"/>
                </a:lnTo>
                <a:lnTo>
                  <a:pt x="277" y="878"/>
                </a:lnTo>
                <a:lnTo>
                  <a:pt x="302" y="924"/>
                </a:lnTo>
                <a:lnTo>
                  <a:pt x="327" y="980"/>
                </a:lnTo>
                <a:lnTo>
                  <a:pt x="363" y="1063"/>
                </a:lnTo>
                <a:lnTo>
                  <a:pt x="409" y="982"/>
                </a:lnTo>
                <a:lnTo>
                  <a:pt x="457" y="901"/>
                </a:lnTo>
                <a:lnTo>
                  <a:pt x="507" y="823"/>
                </a:lnTo>
                <a:lnTo>
                  <a:pt x="561" y="744"/>
                </a:lnTo>
                <a:lnTo>
                  <a:pt x="615" y="669"/>
                </a:lnTo>
                <a:lnTo>
                  <a:pt x="672" y="596"/>
                </a:lnTo>
                <a:lnTo>
                  <a:pt x="732" y="524"/>
                </a:lnTo>
                <a:lnTo>
                  <a:pt x="795" y="453"/>
                </a:lnTo>
                <a:lnTo>
                  <a:pt x="859" y="385"/>
                </a:lnTo>
                <a:lnTo>
                  <a:pt x="924" y="320"/>
                </a:lnTo>
                <a:lnTo>
                  <a:pt x="989" y="259"/>
                </a:lnTo>
                <a:lnTo>
                  <a:pt x="1055" y="199"/>
                </a:lnTo>
                <a:lnTo>
                  <a:pt x="1124" y="144"/>
                </a:lnTo>
                <a:lnTo>
                  <a:pt x="1191" y="92"/>
                </a:lnTo>
                <a:lnTo>
                  <a:pt x="1260" y="44"/>
                </a:lnTo>
                <a:lnTo>
                  <a:pt x="133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40" tIns="45720" rIns="91440" bIns="45720" anchor="ctr"/>
          <a:p>
            <a:endParaRPr lang="zh-CN" altLang="en-US" sz="3200">
              <a:solidFill>
                <a:srgbClr val="1D6295"/>
              </a:solidFill>
            </a:endParaRPr>
          </a:p>
        </p:txBody>
      </p:sp>
      <p:sp>
        <p:nvSpPr>
          <p:cNvPr id="18" name="KSO_Shape"/>
          <p:cNvSpPr/>
          <p:nvPr/>
        </p:nvSpPr>
        <p:spPr bwMode="auto">
          <a:xfrm>
            <a:off x="4580012" y="5789372"/>
            <a:ext cx="502419" cy="435429"/>
          </a:xfrm>
          <a:custGeom>
            <a:avLst/>
            <a:gdLst>
              <a:gd name="T0" fmla="*/ 1905000 w 1360"/>
              <a:gd name="T1" fmla="*/ 65651 h 1358"/>
              <a:gd name="T2" fmla="*/ 1703294 w 1360"/>
              <a:gd name="T3" fmla="*/ 205463 h 1358"/>
              <a:gd name="T4" fmla="*/ 1507191 w 1360"/>
              <a:gd name="T5" fmla="*/ 363512 h 1358"/>
              <a:gd name="T6" fmla="*/ 1318092 w 1360"/>
              <a:gd name="T7" fmla="*/ 538581 h 1358"/>
              <a:gd name="T8" fmla="*/ 1138798 w 1360"/>
              <a:gd name="T9" fmla="*/ 731887 h 1358"/>
              <a:gd name="T10" fmla="*/ 970710 w 1360"/>
              <a:gd name="T11" fmla="*/ 930055 h 1358"/>
              <a:gd name="T12" fmla="*/ 832037 w 1360"/>
              <a:gd name="T13" fmla="*/ 1130655 h 1358"/>
              <a:gd name="T14" fmla="*/ 715776 w 1360"/>
              <a:gd name="T15" fmla="*/ 1326392 h 1358"/>
              <a:gd name="T16" fmla="*/ 624728 w 1360"/>
              <a:gd name="T17" fmla="*/ 1520914 h 1358"/>
              <a:gd name="T18" fmla="*/ 525276 w 1360"/>
              <a:gd name="T19" fmla="*/ 1580486 h 1358"/>
              <a:gd name="T20" fmla="*/ 455239 w 1360"/>
              <a:gd name="T21" fmla="*/ 1627901 h 1358"/>
              <a:gd name="T22" fmla="*/ 417419 w 1360"/>
              <a:gd name="T23" fmla="*/ 1625469 h 1358"/>
              <a:gd name="T24" fmla="*/ 390805 w 1360"/>
              <a:gd name="T25" fmla="*/ 1551308 h 1358"/>
              <a:gd name="T26" fmla="*/ 336176 w 1360"/>
              <a:gd name="T27" fmla="*/ 1432163 h 1358"/>
              <a:gd name="T28" fmla="*/ 285750 w 1360"/>
              <a:gd name="T29" fmla="*/ 1322745 h 1358"/>
              <a:gd name="T30" fmla="*/ 239526 w 1360"/>
              <a:gd name="T31" fmla="*/ 1231563 h 1358"/>
              <a:gd name="T32" fmla="*/ 196103 w 1360"/>
              <a:gd name="T33" fmla="*/ 1158618 h 1358"/>
              <a:gd name="T34" fmla="*/ 155482 w 1360"/>
              <a:gd name="T35" fmla="*/ 1102693 h 1358"/>
              <a:gd name="T36" fmla="*/ 120463 w 1360"/>
              <a:gd name="T37" fmla="*/ 1061357 h 1358"/>
              <a:gd name="T38" fmla="*/ 81243 w 1360"/>
              <a:gd name="T39" fmla="*/ 1030963 h 1358"/>
              <a:gd name="T40" fmla="*/ 40621 w 1360"/>
              <a:gd name="T41" fmla="*/ 1011511 h 1358"/>
              <a:gd name="T42" fmla="*/ 0 w 1360"/>
              <a:gd name="T43" fmla="*/ 1003001 h 1358"/>
              <a:gd name="T44" fmla="*/ 53228 w 1360"/>
              <a:gd name="T45" fmla="*/ 960449 h 1358"/>
              <a:gd name="T46" fmla="*/ 107857 w 1360"/>
              <a:gd name="T47" fmla="*/ 930055 h 1358"/>
              <a:gd name="T48" fmla="*/ 152680 w 1360"/>
              <a:gd name="T49" fmla="*/ 914250 h 1358"/>
              <a:gd name="T50" fmla="*/ 198904 w 1360"/>
              <a:gd name="T51" fmla="*/ 906956 h 1358"/>
              <a:gd name="T52" fmla="*/ 257735 w 1360"/>
              <a:gd name="T53" fmla="*/ 925192 h 1358"/>
              <a:gd name="T54" fmla="*/ 323570 w 1360"/>
              <a:gd name="T55" fmla="*/ 979901 h 1358"/>
              <a:gd name="T56" fmla="*/ 388004 w 1360"/>
              <a:gd name="T57" fmla="*/ 1067436 h 1358"/>
              <a:gd name="T58" fmla="*/ 458040 w 1360"/>
              <a:gd name="T59" fmla="*/ 1191443 h 1358"/>
              <a:gd name="T60" fmla="*/ 572901 w 1360"/>
              <a:gd name="T61" fmla="*/ 1193875 h 1358"/>
              <a:gd name="T62" fmla="*/ 710173 w 1360"/>
              <a:gd name="T63" fmla="*/ 1000569 h 1358"/>
              <a:gd name="T64" fmla="*/ 861452 w 1360"/>
              <a:gd name="T65" fmla="*/ 813342 h 1358"/>
              <a:gd name="T66" fmla="*/ 1025338 w 1360"/>
              <a:gd name="T67" fmla="*/ 637057 h 1358"/>
              <a:gd name="T68" fmla="*/ 1203232 w 1360"/>
              <a:gd name="T69" fmla="*/ 468067 h 1358"/>
              <a:gd name="T70" fmla="*/ 1385327 w 1360"/>
              <a:gd name="T71" fmla="*/ 314881 h 1358"/>
              <a:gd name="T72" fmla="*/ 1574426 w 1360"/>
              <a:gd name="T73" fmla="*/ 175069 h 1358"/>
              <a:gd name="T74" fmla="*/ 1764926 w 1360"/>
              <a:gd name="T75" fmla="*/ 53493 h 135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360" h="1358">
                <a:moveTo>
                  <a:pt x="1331" y="0"/>
                </a:moveTo>
                <a:lnTo>
                  <a:pt x="1360" y="54"/>
                </a:lnTo>
                <a:lnTo>
                  <a:pt x="1287" y="109"/>
                </a:lnTo>
                <a:lnTo>
                  <a:pt x="1216" y="169"/>
                </a:lnTo>
                <a:lnTo>
                  <a:pt x="1145" y="232"/>
                </a:lnTo>
                <a:lnTo>
                  <a:pt x="1076" y="299"/>
                </a:lnTo>
                <a:lnTo>
                  <a:pt x="1007" y="368"/>
                </a:lnTo>
                <a:lnTo>
                  <a:pt x="941" y="443"/>
                </a:lnTo>
                <a:lnTo>
                  <a:pt x="876" y="520"/>
                </a:lnTo>
                <a:lnTo>
                  <a:pt x="813" y="602"/>
                </a:lnTo>
                <a:lnTo>
                  <a:pt x="751" y="685"/>
                </a:lnTo>
                <a:lnTo>
                  <a:pt x="693" y="765"/>
                </a:lnTo>
                <a:lnTo>
                  <a:pt x="642" y="848"/>
                </a:lnTo>
                <a:lnTo>
                  <a:pt x="594" y="930"/>
                </a:lnTo>
                <a:lnTo>
                  <a:pt x="551" y="1011"/>
                </a:lnTo>
                <a:lnTo>
                  <a:pt x="511" y="1091"/>
                </a:lnTo>
                <a:lnTo>
                  <a:pt x="476" y="1172"/>
                </a:lnTo>
                <a:lnTo>
                  <a:pt x="446" y="1251"/>
                </a:lnTo>
                <a:lnTo>
                  <a:pt x="401" y="1281"/>
                </a:lnTo>
                <a:lnTo>
                  <a:pt x="375" y="1300"/>
                </a:lnTo>
                <a:lnTo>
                  <a:pt x="348" y="1320"/>
                </a:lnTo>
                <a:lnTo>
                  <a:pt x="325" y="1339"/>
                </a:lnTo>
                <a:lnTo>
                  <a:pt x="304" y="1358"/>
                </a:lnTo>
                <a:lnTo>
                  <a:pt x="298" y="1337"/>
                </a:lnTo>
                <a:lnTo>
                  <a:pt x="290" y="1310"/>
                </a:lnTo>
                <a:lnTo>
                  <a:pt x="279" y="1276"/>
                </a:lnTo>
                <a:lnTo>
                  <a:pt x="263" y="1237"/>
                </a:lnTo>
                <a:lnTo>
                  <a:pt x="240" y="1178"/>
                </a:lnTo>
                <a:lnTo>
                  <a:pt x="221" y="1132"/>
                </a:lnTo>
                <a:lnTo>
                  <a:pt x="204" y="1088"/>
                </a:lnTo>
                <a:lnTo>
                  <a:pt x="186" y="1049"/>
                </a:lnTo>
                <a:lnTo>
                  <a:pt x="171" y="1013"/>
                </a:lnTo>
                <a:lnTo>
                  <a:pt x="156" y="982"/>
                </a:lnTo>
                <a:lnTo>
                  <a:pt x="140" y="953"/>
                </a:lnTo>
                <a:lnTo>
                  <a:pt x="125" y="928"/>
                </a:lnTo>
                <a:lnTo>
                  <a:pt x="111" y="907"/>
                </a:lnTo>
                <a:lnTo>
                  <a:pt x="100" y="890"/>
                </a:lnTo>
                <a:lnTo>
                  <a:pt x="86" y="873"/>
                </a:lnTo>
                <a:lnTo>
                  <a:pt x="71" y="859"/>
                </a:lnTo>
                <a:lnTo>
                  <a:pt x="58" y="848"/>
                </a:lnTo>
                <a:lnTo>
                  <a:pt x="44" y="838"/>
                </a:lnTo>
                <a:lnTo>
                  <a:pt x="29" y="832"/>
                </a:lnTo>
                <a:lnTo>
                  <a:pt x="15" y="827"/>
                </a:lnTo>
                <a:lnTo>
                  <a:pt x="0" y="825"/>
                </a:lnTo>
                <a:lnTo>
                  <a:pt x="19" y="806"/>
                </a:lnTo>
                <a:lnTo>
                  <a:pt x="38" y="790"/>
                </a:lnTo>
                <a:lnTo>
                  <a:pt x="58" y="777"/>
                </a:lnTo>
                <a:lnTo>
                  <a:pt x="77" y="765"/>
                </a:lnTo>
                <a:lnTo>
                  <a:pt x="94" y="758"/>
                </a:lnTo>
                <a:lnTo>
                  <a:pt x="109" y="752"/>
                </a:lnTo>
                <a:lnTo>
                  <a:pt x="127" y="748"/>
                </a:lnTo>
                <a:lnTo>
                  <a:pt x="142" y="746"/>
                </a:lnTo>
                <a:lnTo>
                  <a:pt x="163" y="750"/>
                </a:lnTo>
                <a:lnTo>
                  <a:pt x="184" y="761"/>
                </a:lnTo>
                <a:lnTo>
                  <a:pt x="207" y="779"/>
                </a:lnTo>
                <a:lnTo>
                  <a:pt x="231" y="806"/>
                </a:lnTo>
                <a:lnTo>
                  <a:pt x="254" y="838"/>
                </a:lnTo>
                <a:lnTo>
                  <a:pt x="277" y="878"/>
                </a:lnTo>
                <a:lnTo>
                  <a:pt x="302" y="924"/>
                </a:lnTo>
                <a:lnTo>
                  <a:pt x="327" y="980"/>
                </a:lnTo>
                <a:lnTo>
                  <a:pt x="363" y="1063"/>
                </a:lnTo>
                <a:lnTo>
                  <a:pt x="409" y="982"/>
                </a:lnTo>
                <a:lnTo>
                  <a:pt x="457" y="901"/>
                </a:lnTo>
                <a:lnTo>
                  <a:pt x="507" y="823"/>
                </a:lnTo>
                <a:lnTo>
                  <a:pt x="561" y="744"/>
                </a:lnTo>
                <a:lnTo>
                  <a:pt x="615" y="669"/>
                </a:lnTo>
                <a:lnTo>
                  <a:pt x="672" y="596"/>
                </a:lnTo>
                <a:lnTo>
                  <a:pt x="732" y="524"/>
                </a:lnTo>
                <a:lnTo>
                  <a:pt x="795" y="453"/>
                </a:lnTo>
                <a:lnTo>
                  <a:pt x="859" y="385"/>
                </a:lnTo>
                <a:lnTo>
                  <a:pt x="924" y="320"/>
                </a:lnTo>
                <a:lnTo>
                  <a:pt x="989" y="259"/>
                </a:lnTo>
                <a:lnTo>
                  <a:pt x="1055" y="199"/>
                </a:lnTo>
                <a:lnTo>
                  <a:pt x="1124" y="144"/>
                </a:lnTo>
                <a:lnTo>
                  <a:pt x="1191" y="92"/>
                </a:lnTo>
                <a:lnTo>
                  <a:pt x="1260" y="44"/>
                </a:lnTo>
                <a:lnTo>
                  <a:pt x="133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40" tIns="45720" rIns="91440" bIns="45720" anchor="ctr"/>
          <a:p>
            <a:endParaRPr lang="zh-CN" altLang="en-US" sz="3200">
              <a:solidFill>
                <a:srgbClr val="1D6295"/>
              </a:solidFill>
            </a:endParaRPr>
          </a:p>
        </p:txBody>
      </p:sp>
      <p:sp>
        <p:nvSpPr>
          <p:cNvPr id="19" name="KSO_Shape"/>
          <p:cNvSpPr/>
          <p:nvPr/>
        </p:nvSpPr>
        <p:spPr bwMode="auto">
          <a:xfrm>
            <a:off x="5949707" y="5789372"/>
            <a:ext cx="502419" cy="435429"/>
          </a:xfrm>
          <a:custGeom>
            <a:avLst/>
            <a:gdLst>
              <a:gd name="T0" fmla="*/ 1905000 w 1360"/>
              <a:gd name="T1" fmla="*/ 65651 h 1358"/>
              <a:gd name="T2" fmla="*/ 1703294 w 1360"/>
              <a:gd name="T3" fmla="*/ 205463 h 1358"/>
              <a:gd name="T4" fmla="*/ 1507191 w 1360"/>
              <a:gd name="T5" fmla="*/ 363512 h 1358"/>
              <a:gd name="T6" fmla="*/ 1318092 w 1360"/>
              <a:gd name="T7" fmla="*/ 538581 h 1358"/>
              <a:gd name="T8" fmla="*/ 1138798 w 1360"/>
              <a:gd name="T9" fmla="*/ 731887 h 1358"/>
              <a:gd name="T10" fmla="*/ 970710 w 1360"/>
              <a:gd name="T11" fmla="*/ 930055 h 1358"/>
              <a:gd name="T12" fmla="*/ 832037 w 1360"/>
              <a:gd name="T13" fmla="*/ 1130655 h 1358"/>
              <a:gd name="T14" fmla="*/ 715776 w 1360"/>
              <a:gd name="T15" fmla="*/ 1326392 h 1358"/>
              <a:gd name="T16" fmla="*/ 624728 w 1360"/>
              <a:gd name="T17" fmla="*/ 1520914 h 1358"/>
              <a:gd name="T18" fmla="*/ 525276 w 1360"/>
              <a:gd name="T19" fmla="*/ 1580486 h 1358"/>
              <a:gd name="T20" fmla="*/ 455239 w 1360"/>
              <a:gd name="T21" fmla="*/ 1627901 h 1358"/>
              <a:gd name="T22" fmla="*/ 417419 w 1360"/>
              <a:gd name="T23" fmla="*/ 1625469 h 1358"/>
              <a:gd name="T24" fmla="*/ 390805 w 1360"/>
              <a:gd name="T25" fmla="*/ 1551308 h 1358"/>
              <a:gd name="T26" fmla="*/ 336176 w 1360"/>
              <a:gd name="T27" fmla="*/ 1432163 h 1358"/>
              <a:gd name="T28" fmla="*/ 285750 w 1360"/>
              <a:gd name="T29" fmla="*/ 1322745 h 1358"/>
              <a:gd name="T30" fmla="*/ 239526 w 1360"/>
              <a:gd name="T31" fmla="*/ 1231563 h 1358"/>
              <a:gd name="T32" fmla="*/ 196103 w 1360"/>
              <a:gd name="T33" fmla="*/ 1158618 h 1358"/>
              <a:gd name="T34" fmla="*/ 155482 w 1360"/>
              <a:gd name="T35" fmla="*/ 1102693 h 1358"/>
              <a:gd name="T36" fmla="*/ 120463 w 1360"/>
              <a:gd name="T37" fmla="*/ 1061357 h 1358"/>
              <a:gd name="T38" fmla="*/ 81243 w 1360"/>
              <a:gd name="T39" fmla="*/ 1030963 h 1358"/>
              <a:gd name="T40" fmla="*/ 40621 w 1360"/>
              <a:gd name="T41" fmla="*/ 1011511 h 1358"/>
              <a:gd name="T42" fmla="*/ 0 w 1360"/>
              <a:gd name="T43" fmla="*/ 1003001 h 1358"/>
              <a:gd name="T44" fmla="*/ 53228 w 1360"/>
              <a:gd name="T45" fmla="*/ 960449 h 1358"/>
              <a:gd name="T46" fmla="*/ 107857 w 1360"/>
              <a:gd name="T47" fmla="*/ 930055 h 1358"/>
              <a:gd name="T48" fmla="*/ 152680 w 1360"/>
              <a:gd name="T49" fmla="*/ 914250 h 1358"/>
              <a:gd name="T50" fmla="*/ 198904 w 1360"/>
              <a:gd name="T51" fmla="*/ 906956 h 1358"/>
              <a:gd name="T52" fmla="*/ 257735 w 1360"/>
              <a:gd name="T53" fmla="*/ 925192 h 1358"/>
              <a:gd name="T54" fmla="*/ 323570 w 1360"/>
              <a:gd name="T55" fmla="*/ 979901 h 1358"/>
              <a:gd name="T56" fmla="*/ 388004 w 1360"/>
              <a:gd name="T57" fmla="*/ 1067436 h 1358"/>
              <a:gd name="T58" fmla="*/ 458040 w 1360"/>
              <a:gd name="T59" fmla="*/ 1191443 h 1358"/>
              <a:gd name="T60" fmla="*/ 572901 w 1360"/>
              <a:gd name="T61" fmla="*/ 1193875 h 1358"/>
              <a:gd name="T62" fmla="*/ 710173 w 1360"/>
              <a:gd name="T63" fmla="*/ 1000569 h 1358"/>
              <a:gd name="T64" fmla="*/ 861452 w 1360"/>
              <a:gd name="T65" fmla="*/ 813342 h 1358"/>
              <a:gd name="T66" fmla="*/ 1025338 w 1360"/>
              <a:gd name="T67" fmla="*/ 637057 h 1358"/>
              <a:gd name="T68" fmla="*/ 1203232 w 1360"/>
              <a:gd name="T69" fmla="*/ 468067 h 1358"/>
              <a:gd name="T70" fmla="*/ 1385327 w 1360"/>
              <a:gd name="T71" fmla="*/ 314881 h 1358"/>
              <a:gd name="T72" fmla="*/ 1574426 w 1360"/>
              <a:gd name="T73" fmla="*/ 175069 h 1358"/>
              <a:gd name="T74" fmla="*/ 1764926 w 1360"/>
              <a:gd name="T75" fmla="*/ 53493 h 135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360" h="1358">
                <a:moveTo>
                  <a:pt x="1331" y="0"/>
                </a:moveTo>
                <a:lnTo>
                  <a:pt x="1360" y="54"/>
                </a:lnTo>
                <a:lnTo>
                  <a:pt x="1287" y="109"/>
                </a:lnTo>
                <a:lnTo>
                  <a:pt x="1216" y="169"/>
                </a:lnTo>
                <a:lnTo>
                  <a:pt x="1145" y="232"/>
                </a:lnTo>
                <a:lnTo>
                  <a:pt x="1076" y="299"/>
                </a:lnTo>
                <a:lnTo>
                  <a:pt x="1007" y="368"/>
                </a:lnTo>
                <a:lnTo>
                  <a:pt x="941" y="443"/>
                </a:lnTo>
                <a:lnTo>
                  <a:pt x="876" y="520"/>
                </a:lnTo>
                <a:lnTo>
                  <a:pt x="813" y="602"/>
                </a:lnTo>
                <a:lnTo>
                  <a:pt x="751" y="685"/>
                </a:lnTo>
                <a:lnTo>
                  <a:pt x="693" y="765"/>
                </a:lnTo>
                <a:lnTo>
                  <a:pt x="642" y="848"/>
                </a:lnTo>
                <a:lnTo>
                  <a:pt x="594" y="930"/>
                </a:lnTo>
                <a:lnTo>
                  <a:pt x="551" y="1011"/>
                </a:lnTo>
                <a:lnTo>
                  <a:pt x="511" y="1091"/>
                </a:lnTo>
                <a:lnTo>
                  <a:pt x="476" y="1172"/>
                </a:lnTo>
                <a:lnTo>
                  <a:pt x="446" y="1251"/>
                </a:lnTo>
                <a:lnTo>
                  <a:pt x="401" y="1281"/>
                </a:lnTo>
                <a:lnTo>
                  <a:pt x="375" y="1300"/>
                </a:lnTo>
                <a:lnTo>
                  <a:pt x="348" y="1320"/>
                </a:lnTo>
                <a:lnTo>
                  <a:pt x="325" y="1339"/>
                </a:lnTo>
                <a:lnTo>
                  <a:pt x="304" y="1358"/>
                </a:lnTo>
                <a:lnTo>
                  <a:pt x="298" y="1337"/>
                </a:lnTo>
                <a:lnTo>
                  <a:pt x="290" y="1310"/>
                </a:lnTo>
                <a:lnTo>
                  <a:pt x="279" y="1276"/>
                </a:lnTo>
                <a:lnTo>
                  <a:pt x="263" y="1237"/>
                </a:lnTo>
                <a:lnTo>
                  <a:pt x="240" y="1178"/>
                </a:lnTo>
                <a:lnTo>
                  <a:pt x="221" y="1132"/>
                </a:lnTo>
                <a:lnTo>
                  <a:pt x="204" y="1088"/>
                </a:lnTo>
                <a:lnTo>
                  <a:pt x="186" y="1049"/>
                </a:lnTo>
                <a:lnTo>
                  <a:pt x="171" y="1013"/>
                </a:lnTo>
                <a:lnTo>
                  <a:pt x="156" y="982"/>
                </a:lnTo>
                <a:lnTo>
                  <a:pt x="140" y="953"/>
                </a:lnTo>
                <a:lnTo>
                  <a:pt x="125" y="928"/>
                </a:lnTo>
                <a:lnTo>
                  <a:pt x="111" y="907"/>
                </a:lnTo>
                <a:lnTo>
                  <a:pt x="100" y="890"/>
                </a:lnTo>
                <a:lnTo>
                  <a:pt x="86" y="873"/>
                </a:lnTo>
                <a:lnTo>
                  <a:pt x="71" y="859"/>
                </a:lnTo>
                <a:lnTo>
                  <a:pt x="58" y="848"/>
                </a:lnTo>
                <a:lnTo>
                  <a:pt x="44" y="838"/>
                </a:lnTo>
                <a:lnTo>
                  <a:pt x="29" y="832"/>
                </a:lnTo>
                <a:lnTo>
                  <a:pt x="15" y="827"/>
                </a:lnTo>
                <a:lnTo>
                  <a:pt x="0" y="825"/>
                </a:lnTo>
                <a:lnTo>
                  <a:pt x="19" y="806"/>
                </a:lnTo>
                <a:lnTo>
                  <a:pt x="38" y="790"/>
                </a:lnTo>
                <a:lnTo>
                  <a:pt x="58" y="777"/>
                </a:lnTo>
                <a:lnTo>
                  <a:pt x="77" y="765"/>
                </a:lnTo>
                <a:lnTo>
                  <a:pt x="94" y="758"/>
                </a:lnTo>
                <a:lnTo>
                  <a:pt x="109" y="752"/>
                </a:lnTo>
                <a:lnTo>
                  <a:pt x="127" y="748"/>
                </a:lnTo>
                <a:lnTo>
                  <a:pt x="142" y="746"/>
                </a:lnTo>
                <a:lnTo>
                  <a:pt x="163" y="750"/>
                </a:lnTo>
                <a:lnTo>
                  <a:pt x="184" y="761"/>
                </a:lnTo>
                <a:lnTo>
                  <a:pt x="207" y="779"/>
                </a:lnTo>
                <a:lnTo>
                  <a:pt x="231" y="806"/>
                </a:lnTo>
                <a:lnTo>
                  <a:pt x="254" y="838"/>
                </a:lnTo>
                <a:lnTo>
                  <a:pt x="277" y="878"/>
                </a:lnTo>
                <a:lnTo>
                  <a:pt x="302" y="924"/>
                </a:lnTo>
                <a:lnTo>
                  <a:pt x="327" y="980"/>
                </a:lnTo>
                <a:lnTo>
                  <a:pt x="363" y="1063"/>
                </a:lnTo>
                <a:lnTo>
                  <a:pt x="409" y="982"/>
                </a:lnTo>
                <a:lnTo>
                  <a:pt x="457" y="901"/>
                </a:lnTo>
                <a:lnTo>
                  <a:pt x="507" y="823"/>
                </a:lnTo>
                <a:lnTo>
                  <a:pt x="561" y="744"/>
                </a:lnTo>
                <a:lnTo>
                  <a:pt x="615" y="669"/>
                </a:lnTo>
                <a:lnTo>
                  <a:pt x="672" y="596"/>
                </a:lnTo>
                <a:lnTo>
                  <a:pt x="732" y="524"/>
                </a:lnTo>
                <a:lnTo>
                  <a:pt x="795" y="453"/>
                </a:lnTo>
                <a:lnTo>
                  <a:pt x="859" y="385"/>
                </a:lnTo>
                <a:lnTo>
                  <a:pt x="924" y="320"/>
                </a:lnTo>
                <a:lnTo>
                  <a:pt x="989" y="259"/>
                </a:lnTo>
                <a:lnTo>
                  <a:pt x="1055" y="199"/>
                </a:lnTo>
                <a:lnTo>
                  <a:pt x="1124" y="144"/>
                </a:lnTo>
                <a:lnTo>
                  <a:pt x="1191" y="92"/>
                </a:lnTo>
                <a:lnTo>
                  <a:pt x="1260" y="44"/>
                </a:lnTo>
                <a:lnTo>
                  <a:pt x="133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40" tIns="45720" rIns="91440" bIns="45720" anchor="ctr"/>
          <a:p>
            <a:endParaRPr lang="zh-CN" altLang="en-US" sz="3200">
              <a:solidFill>
                <a:srgbClr val="1D6295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28" grpId="0" bldLvl="0" animBg="1"/>
      <p:bldP spid="29" grpId="0" bldLvl="0" animBg="1"/>
      <p:bldP spid="28" grpId="1" animBg="1"/>
      <p:bldP spid="29" grpId="1" animBg="1"/>
      <p:bldP spid="31" grpId="0"/>
      <p:bldP spid="31" grpId="1"/>
      <p:bldP spid="20" grpId="0"/>
      <p:bldP spid="20" grpId="1"/>
      <p:bldP spid="17" grpId="0" bldLvl="0" animBg="1"/>
      <p:bldP spid="17" grpId="1" animBg="1"/>
      <p:bldP spid="18" grpId="0" bldLvl="0" animBg="1"/>
      <p:bldP spid="18" grpId="1" animBg="1"/>
      <p:bldP spid="19" grpId="0" bldLvl="0" animBg="1"/>
      <p:bldP spid="19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1058627" y="1341402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  <a:sym typeface="+mn-ea"/>
              </a:rPr>
              <a:t>连接（</a:t>
            </a:r>
            <a:r>
              <a:rPr lang="en-US" altLang="zh-CN" sz="2800" dirty="0" smtClean="0">
                <a:latin typeface="+mn-ea"/>
                <a:sym typeface="+mn-ea"/>
              </a:rPr>
              <a:t> Join</a:t>
            </a:r>
            <a:r>
              <a:rPr lang="zh-CN" altLang="en-US" sz="2800" dirty="0" smtClean="0">
                <a:latin typeface="+mn-ea"/>
                <a:sym typeface="+mn-ea"/>
              </a:rPr>
              <a:t>）</a:t>
            </a:r>
            <a:r>
              <a:rPr lang="zh-CN" altLang="en-US" sz="2800" dirty="0">
                <a:latin typeface="+mn-ea"/>
                <a:sym typeface="+mn-ea"/>
              </a:rPr>
              <a:t>：</a:t>
            </a:r>
            <a:r>
              <a:rPr lang="en-US" altLang="zh-CN" sz="2800" dirty="0" smtClean="0">
                <a:latin typeface="+mn-ea"/>
                <a:sym typeface="+mn-ea"/>
              </a:rPr>
              <a:t>R3=R1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      </a:t>
            </a:r>
            <a:r>
              <a:rPr lang="en-US" altLang="zh-CN" sz="2800" dirty="0" smtClean="0">
                <a:latin typeface="+mn-ea"/>
                <a:sym typeface="+mn-ea"/>
              </a:rPr>
              <a:t>R2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817745" y="1418590"/>
            <a:ext cx="745490" cy="362585"/>
            <a:chOff x="7026" y="1205"/>
            <a:chExt cx="1174" cy="571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7026" y="1388"/>
              <a:ext cx="1175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zh-CN" i="1" dirty="0">
                  <a:latin typeface="Times New Roman" panose="02020603050405020304" pitchFamily="18" charset="0"/>
                </a:rPr>
                <a:t> </a:t>
              </a:r>
              <a:r>
                <a:rPr lang="zh-CN" altLang="zh-CN" sz="1600" i="1" dirty="0">
                  <a:latin typeface="Times New Roman" panose="02020603050405020304" pitchFamily="18" charset="0"/>
                </a:rPr>
                <a:t>A</a:t>
              </a:r>
              <a:r>
                <a:rPr lang="zh-CN" altLang="zh-CN" sz="1600" dirty="0">
                  <a:latin typeface="Times New Roman" panose="02020603050405020304" pitchFamily="18" charset="0"/>
                </a:rPr>
                <a:t>θ</a:t>
              </a:r>
              <a:r>
                <a:rPr lang="zh-CN" altLang="zh-CN" sz="1600" i="1" dirty="0">
                  <a:latin typeface="Times New Roman" panose="02020603050405020304" pitchFamily="18" charset="0"/>
                </a:rPr>
                <a:t>B</a:t>
              </a:r>
              <a:endParaRPr lang="zh-CN" altLang="zh-CN" sz="16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 rot="5400000" flipV="1">
              <a:off x="7551" y="1097"/>
              <a:ext cx="294" cy="511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FF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6363315" y="1385429"/>
            <a:ext cx="2529860" cy="52322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sz="2800" dirty="0"/>
              <a:t>θ</a:t>
            </a:r>
            <a:r>
              <a:rPr lang="zh-CN" altLang="en-US" sz="2800" dirty="0"/>
              <a:t>：比较运算符</a:t>
            </a:r>
            <a:endParaRPr lang="zh-CN" altLang="en-US" sz="2800" dirty="0"/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1330847" y="2274349"/>
          <a:ext cx="2800350" cy="207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 dirty="0" smtClean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59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>
            <p:custDataLst>
              <p:tags r:id="rId2"/>
            </p:custDataLst>
          </p:nvPr>
        </p:nvGraphicFramePr>
        <p:xfrm>
          <a:off x="6314962" y="2272030"/>
          <a:ext cx="2800350" cy="15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</a:tblGrid>
              <a:tr h="622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分数线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等级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优秀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60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及格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右箭头 13"/>
          <p:cNvSpPr/>
          <p:nvPr/>
        </p:nvSpPr>
        <p:spPr>
          <a:xfrm rot="5400000">
            <a:off x="4880387" y="3793490"/>
            <a:ext cx="723900" cy="866141"/>
          </a:xfrm>
          <a:prstGeom prst="rightArrow">
            <a:avLst>
              <a:gd name="adj1" fmla="val 50000"/>
              <a:gd name="adj2" fmla="val 5394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 rot="5400000" flipV="1">
            <a:off x="4958715" y="2527300"/>
            <a:ext cx="528955" cy="1176655"/>
          </a:xfrm>
          <a:prstGeom prst="flowChartCollate">
            <a:avLst/>
          </a:prstGeom>
          <a:solidFill>
            <a:srgbClr val="FFFFFF"/>
          </a:solidFill>
          <a:ln w="6350">
            <a:solidFill>
              <a:srgbClr val="FF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4334112" y="3226768"/>
            <a:ext cx="2140342" cy="75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1" dirty="0" smtClean="0">
                <a:latin typeface="Times New Roman" panose="02020603050405020304" pitchFamily="18" charset="0"/>
              </a:rPr>
              <a:t>分数  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&gt;</a:t>
            </a:r>
            <a:r>
              <a:rPr lang="zh-CN" altLang="en-US" sz="2000" i="1" dirty="0" smtClean="0">
                <a:latin typeface="Times New Roman" panose="02020603050405020304" pitchFamily="18" charset="0"/>
              </a:rPr>
              <a:t>分数线</a:t>
            </a:r>
            <a:endParaRPr lang="zh-CN" altLang="en-US" sz="2000" i="1" dirty="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3"/>
            </p:custDataLst>
          </p:nvPr>
        </p:nvGraphicFramePr>
        <p:xfrm>
          <a:off x="3509010" y="4710430"/>
          <a:ext cx="3790950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69"/>
                <a:gridCol w="932707"/>
                <a:gridCol w="1107349"/>
                <a:gridCol w="923925"/>
              </a:tblGrid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分数线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等级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629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60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及格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629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800" b="0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优秀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800" b="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lang="zh-CN" altLang="en-US" sz="28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60</a:t>
                      </a:r>
                      <a:endParaRPr lang="en-US" altLang="en-US" sz="2800" b="0" dirty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0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及格</a:t>
                      </a:r>
                      <a:endParaRPr lang="zh-CN" altLang="en-US" sz="2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矩形 29"/>
          <p:cNvSpPr/>
          <p:nvPr/>
        </p:nvSpPr>
        <p:spPr>
          <a:xfrm>
            <a:off x="7712710" y="4989195"/>
            <a:ext cx="1772920" cy="138366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b="1" dirty="0" smtClean="0">
                <a:solidFill>
                  <a:srgbClr val="0000CC"/>
                </a:solidFill>
              </a:rPr>
              <a:t>注意：</a:t>
            </a:r>
            <a:endParaRPr lang="zh-CN" altLang="en-US" sz="2800" b="1" dirty="0" smtClean="0">
              <a:solidFill>
                <a:srgbClr val="0000CC"/>
              </a:solidFill>
            </a:endParaRPr>
          </a:p>
          <a:p>
            <a:pPr algn="l"/>
            <a:r>
              <a:rPr lang="zh-CN" altLang="en-US" sz="2800" b="1" dirty="0" smtClean="0">
                <a:solidFill>
                  <a:schemeClr val="tx1"/>
                </a:solidFill>
              </a:rPr>
              <a:t>无意义，</a:t>
            </a:r>
            <a:endParaRPr lang="zh-CN" altLang="en-US" sz="2800" b="1" dirty="0" smtClean="0">
              <a:solidFill>
                <a:schemeClr val="tx1"/>
              </a:solidFill>
            </a:endParaRPr>
          </a:p>
          <a:p>
            <a:pPr algn="l"/>
            <a:r>
              <a:rPr lang="zh-CN" altLang="en-US" sz="2800" b="1" dirty="0" smtClean="0">
                <a:solidFill>
                  <a:schemeClr val="tx1"/>
                </a:solidFill>
              </a:rPr>
              <a:t>很少用。</a:t>
            </a:r>
            <a:endParaRPr lang="zh-CN" altLang="en-US" sz="2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  <p:bldP spid="21" grpId="1" animBg="1"/>
      <p:bldP spid="22" grpId="1"/>
      <p:bldP spid="30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8627" y="1316637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除（</a:t>
            </a:r>
            <a:r>
              <a:rPr lang="en-US" altLang="zh-CN" sz="2800" dirty="0">
                <a:latin typeface="+mn-ea"/>
                <a:sym typeface="+mn-ea"/>
              </a:rPr>
              <a:t>DIVISION</a:t>
            </a:r>
            <a:r>
              <a:rPr lang="zh-CN" altLang="en-US" sz="2800" dirty="0">
                <a:latin typeface="+mn-ea"/>
                <a:sym typeface="+mn-ea"/>
              </a:rPr>
              <a:t>）：</a:t>
            </a:r>
            <a:r>
              <a:rPr lang="en-US" altLang="zh-CN" sz="2800" dirty="0">
                <a:latin typeface="+mn-ea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÷</a:t>
            </a:r>
            <a:r>
              <a:rPr lang="en-US" altLang="zh-CN" sz="2800" dirty="0">
                <a:latin typeface="+mn-ea"/>
                <a:sym typeface="+mn-ea"/>
              </a:rPr>
              <a:t>S</a:t>
            </a:r>
            <a:endParaRPr lang="zh-CN" altLang="en-US" sz="2800" dirty="0">
              <a:latin typeface="+mn-ea"/>
            </a:endParaRPr>
          </a:p>
        </p:txBody>
      </p:sp>
      <p:pic>
        <p:nvPicPr>
          <p:cNvPr id="2" name="Picture 4" descr="2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9" t="8057" r="-3255" b="25821"/>
          <a:stretch>
            <a:fillRect/>
          </a:stretch>
        </p:blipFill>
        <p:spPr bwMode="auto">
          <a:xfrm>
            <a:off x="1898015" y="3618865"/>
            <a:ext cx="295402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146810" y="1882140"/>
            <a:ext cx="9575800" cy="1576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algn="just">
              <a:spcBef>
                <a:spcPts val="75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象集</a:t>
            </a:r>
            <a:r>
              <a:rPr lang="zh-CN" altLang="zh-CN" sz="2800" dirty="0" smtClean="0">
                <a:solidFill>
                  <a:srgbClr val="FF0000"/>
                </a:solidFill>
              </a:rPr>
              <a:t>Z</a:t>
            </a:r>
            <a:r>
              <a:rPr lang="zh-CN" altLang="zh-CN" sz="2800" baseline="-25000" dirty="0" smtClean="0">
                <a:solidFill>
                  <a:srgbClr val="FF0000"/>
                </a:solidFill>
              </a:rPr>
              <a:t>x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342900" lvl="1" algn="just">
              <a:spcBef>
                <a:spcPts val="750"/>
              </a:spcBef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给定一个关系</a:t>
            </a:r>
            <a:r>
              <a:rPr lang="zh-CN" altLang="zh-CN" sz="2800" dirty="0" smtClean="0"/>
              <a:t>R</a:t>
            </a:r>
            <a:r>
              <a:rPr lang="zh-CN" altLang="en-US" sz="2800" dirty="0" smtClean="0"/>
              <a:t>（</a:t>
            </a:r>
            <a:r>
              <a:rPr lang="zh-CN" altLang="zh-CN" sz="2800" dirty="0" smtClean="0"/>
              <a:t>X</a:t>
            </a:r>
            <a:r>
              <a:rPr lang="zh-CN" altLang="en-US" sz="2800" dirty="0" smtClean="0"/>
              <a:t>，</a:t>
            </a:r>
            <a:r>
              <a:rPr lang="zh-CN" altLang="zh-CN" sz="2800" dirty="0" smtClean="0"/>
              <a:t>Z</a:t>
            </a:r>
            <a:r>
              <a:rPr lang="zh-CN" altLang="en-US" sz="2800" dirty="0" smtClean="0"/>
              <a:t>），</a:t>
            </a:r>
            <a:r>
              <a:rPr lang="zh-CN" altLang="zh-CN" sz="2800" dirty="0" smtClean="0"/>
              <a:t>X</a:t>
            </a:r>
            <a:r>
              <a:rPr lang="zh-CN" altLang="en-US" sz="2800" dirty="0" smtClean="0"/>
              <a:t>和</a:t>
            </a:r>
            <a:r>
              <a:rPr lang="zh-CN" altLang="zh-CN" sz="2800" dirty="0" smtClean="0"/>
              <a:t>Z</a:t>
            </a:r>
            <a:r>
              <a:rPr lang="zh-CN" altLang="en-US" sz="2800" dirty="0" smtClean="0"/>
              <a:t>为属性组。</a:t>
            </a:r>
            <a:r>
              <a:rPr lang="zh-CN" altLang="zh-CN" sz="2800" dirty="0" smtClean="0"/>
              <a:t>  </a:t>
            </a:r>
            <a:endParaRPr lang="en-US" altLang="zh-CN" sz="2800" dirty="0" smtClean="0"/>
          </a:p>
          <a:p>
            <a:pPr marL="342900" lvl="1" algn="just">
              <a:spcBef>
                <a:spcPts val="750"/>
              </a:spcBef>
            </a:pPr>
            <a:r>
              <a:rPr lang="zh-CN" altLang="en-US" sz="2800" dirty="0" smtClean="0"/>
              <a:t>当</a:t>
            </a:r>
            <a:r>
              <a:rPr lang="zh-CN" altLang="zh-CN" sz="2800" dirty="0"/>
              <a:t>t[X]=</a:t>
            </a:r>
            <a:r>
              <a:rPr lang="zh-CN" altLang="zh-CN" sz="2800" dirty="0" smtClean="0"/>
              <a:t>x</a:t>
            </a:r>
            <a:r>
              <a:rPr lang="zh-CN" altLang="en-US" sz="2800" dirty="0" smtClean="0"/>
              <a:t>时</a:t>
            </a:r>
            <a:r>
              <a:rPr lang="zh-CN" altLang="en-US" sz="2800" dirty="0"/>
              <a:t>，</a:t>
            </a:r>
            <a:r>
              <a:rPr lang="zh-CN" altLang="zh-CN" sz="2800" dirty="0" smtClean="0"/>
              <a:t>x</a:t>
            </a:r>
            <a:r>
              <a:rPr lang="zh-CN" altLang="en-US" sz="2800" dirty="0" smtClean="0"/>
              <a:t>在</a:t>
            </a:r>
            <a:r>
              <a:rPr lang="zh-CN" altLang="zh-CN" sz="2800" dirty="0"/>
              <a:t>R</a:t>
            </a:r>
            <a:r>
              <a:rPr lang="zh-CN" altLang="en-US" sz="2800" dirty="0"/>
              <a:t>中的象集为</a:t>
            </a:r>
            <a:r>
              <a:rPr lang="zh-CN" altLang="en-US" sz="2800" dirty="0" smtClean="0"/>
              <a:t>：</a:t>
            </a:r>
            <a:r>
              <a:rPr lang="zh-CN" altLang="zh-CN" sz="2800" dirty="0" smtClean="0"/>
              <a:t>Z</a:t>
            </a:r>
            <a:r>
              <a:rPr lang="zh-CN" altLang="zh-CN" sz="2800" baseline="-25000" dirty="0" smtClean="0"/>
              <a:t>x</a:t>
            </a:r>
            <a:r>
              <a:rPr lang="zh-CN" altLang="zh-CN" sz="2800" dirty="0" smtClean="0"/>
              <a:t>={</a:t>
            </a:r>
            <a:r>
              <a:rPr lang="zh-CN" altLang="zh-CN" sz="2800" dirty="0"/>
              <a:t>t[Z]|t </a:t>
            </a:r>
            <a:r>
              <a:rPr lang="zh-CN" altLang="zh-CN" sz="2800" dirty="0">
                <a:sym typeface="Symbol" panose="05050102010706020507" pitchFamily="18" charset="2"/>
              </a:rPr>
              <a:t></a:t>
            </a:r>
            <a:r>
              <a:rPr lang="zh-CN" altLang="zh-CN" sz="2800" dirty="0"/>
              <a:t>R</a:t>
            </a:r>
            <a:r>
              <a:rPr lang="zh-CN" altLang="en-US" sz="2800" dirty="0"/>
              <a:t>，</a:t>
            </a:r>
            <a:r>
              <a:rPr lang="zh-CN" altLang="zh-CN" sz="2800" dirty="0"/>
              <a:t>t[X]=x</a:t>
            </a:r>
            <a:r>
              <a:rPr lang="zh-CN" altLang="zh-CN" sz="2800" dirty="0" smtClean="0"/>
              <a:t>}</a:t>
            </a:r>
            <a:r>
              <a:rPr lang="zh-CN" altLang="en-US" sz="2800" dirty="0" smtClean="0"/>
              <a:t>     </a:t>
            </a:r>
            <a:endParaRPr lang="zh-CN" altLang="zh-CN" sz="2800" dirty="0"/>
          </a:p>
        </p:txBody>
      </p:sp>
      <p:sp>
        <p:nvSpPr>
          <p:cNvPr id="7" name="矩形 6"/>
          <p:cNvSpPr/>
          <p:nvPr/>
        </p:nvSpPr>
        <p:spPr>
          <a:xfrm>
            <a:off x="2782651" y="1855936"/>
            <a:ext cx="7098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algn="just">
              <a:spcBef>
                <a:spcPts val="75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实质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r>
              <a:rPr lang="zh-CN" altLang="en-US" sz="2800" dirty="0">
                <a:solidFill>
                  <a:srgbClr val="FF0000"/>
                </a:solidFill>
              </a:rPr>
              <a:t>选择值为</a:t>
            </a:r>
            <a:r>
              <a:rPr lang="en-US" altLang="zh-CN" sz="2800" dirty="0">
                <a:solidFill>
                  <a:srgbClr val="FF0000"/>
                </a:solidFill>
              </a:rPr>
              <a:t>x</a:t>
            </a:r>
            <a:r>
              <a:rPr lang="zh-CN" altLang="en-US" sz="2800" dirty="0">
                <a:solidFill>
                  <a:srgbClr val="FF0000"/>
                </a:solidFill>
              </a:rPr>
              <a:t>的元组，然后在</a:t>
            </a:r>
            <a:r>
              <a:rPr lang="en-US" altLang="zh-CN" sz="2800" dirty="0">
                <a:solidFill>
                  <a:srgbClr val="FF0000"/>
                </a:solidFill>
              </a:rPr>
              <a:t>Z</a:t>
            </a:r>
            <a:r>
              <a:rPr lang="zh-CN" altLang="en-US" sz="2800" dirty="0">
                <a:solidFill>
                  <a:srgbClr val="FF0000"/>
                </a:solidFill>
              </a:rPr>
              <a:t>上投影。</a:t>
            </a:r>
            <a:endParaRPr lang="zh-CN" altLang="zh-CN" sz="2800" dirty="0">
              <a:solidFill>
                <a:srgbClr val="FF000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5357495" y="3632200"/>
            <a:ext cx="3599815" cy="3052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2800" i="1" dirty="0" smtClean="0">
                <a:ea typeface="宋体" panose="02010600030101010101" pitchFamily="2" charset="-122"/>
              </a:rPr>
              <a:t>x</a:t>
            </a:r>
            <a:r>
              <a:rPr lang="zh-CN" altLang="zh-CN" sz="2800" b="1" baseline="-30000" dirty="0" smtClean="0">
                <a:ea typeface="宋体" panose="02010600030101010101" pitchFamily="2" charset="-122"/>
              </a:rPr>
              <a:t>1</a:t>
            </a:r>
            <a:r>
              <a:rPr lang="zh-CN" altLang="en-US" sz="2800" dirty="0" smtClean="0">
                <a:ea typeface="宋体" panose="02010600030101010101" pitchFamily="2" charset="-122"/>
              </a:rPr>
              <a:t>在</a:t>
            </a:r>
            <a:r>
              <a:rPr lang="zh-CN" altLang="zh-CN" sz="2800" i="1" dirty="0" smtClean="0">
                <a:ea typeface="宋体" panose="02010600030101010101" pitchFamily="2" charset="-122"/>
              </a:rPr>
              <a:t>R</a:t>
            </a:r>
            <a:r>
              <a:rPr lang="zh-CN" altLang="en-US" sz="2800" dirty="0" smtClean="0">
                <a:ea typeface="宋体" panose="02010600030101010101" pitchFamily="2" charset="-122"/>
              </a:rPr>
              <a:t>中的象集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800" i="1" dirty="0" smtClean="0">
                <a:ea typeface="宋体" panose="02010600030101010101" pitchFamily="2" charset="-122"/>
              </a:rPr>
              <a:t>    </a:t>
            </a:r>
            <a:r>
              <a:rPr lang="zh-CN" altLang="zh-CN" sz="2800" b="1" i="1" dirty="0" smtClean="0">
                <a:solidFill>
                  <a:srgbClr val="E02920"/>
                </a:solidFill>
                <a:ea typeface="宋体" panose="02010600030101010101" pitchFamily="2" charset="-122"/>
              </a:rPr>
              <a:t>Z</a:t>
            </a:r>
            <a:r>
              <a:rPr lang="zh-CN" altLang="zh-CN" sz="2800" b="1" baseline="-30000" dirty="0" smtClean="0">
                <a:solidFill>
                  <a:srgbClr val="E02920"/>
                </a:solidFill>
                <a:ea typeface="宋体" panose="02010600030101010101" pitchFamily="2" charset="-122"/>
              </a:rPr>
              <a:t>x1</a:t>
            </a:r>
            <a:r>
              <a:rPr lang="zh-CN" altLang="zh-CN" sz="2800" i="1" dirty="0" smtClean="0">
                <a:ea typeface="宋体" panose="02010600030101010101" pitchFamily="2" charset="-122"/>
              </a:rPr>
              <a:t> </a:t>
            </a:r>
            <a:r>
              <a:rPr lang="zh-CN" altLang="zh-CN" sz="2800" dirty="0" smtClean="0">
                <a:ea typeface="宋体" panose="02010600030101010101" pitchFamily="2" charset="-122"/>
              </a:rPr>
              <a:t>={</a:t>
            </a:r>
            <a:r>
              <a:rPr lang="zh-CN" altLang="zh-CN" sz="2800" i="1" dirty="0" smtClean="0">
                <a:ea typeface="宋体" panose="02010600030101010101" pitchFamily="2" charset="-122"/>
              </a:rPr>
              <a:t>Z</a:t>
            </a:r>
            <a:r>
              <a:rPr lang="zh-CN" altLang="zh-CN" sz="2800" dirty="0" smtClean="0">
                <a:ea typeface="宋体" panose="02010600030101010101" pitchFamily="2" charset="-122"/>
              </a:rPr>
              <a:t>1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zh-CN" altLang="zh-CN" sz="2800" i="1" dirty="0" smtClean="0">
                <a:ea typeface="宋体" panose="02010600030101010101" pitchFamily="2" charset="-122"/>
              </a:rPr>
              <a:t>Z</a:t>
            </a:r>
            <a:r>
              <a:rPr lang="zh-CN" altLang="zh-CN" sz="2800" dirty="0" smtClean="0"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zh-CN" altLang="zh-CN" sz="2800" i="1" dirty="0" smtClean="0">
                <a:ea typeface="宋体" panose="02010600030101010101" pitchFamily="2" charset="-122"/>
              </a:rPr>
              <a:t>Z</a:t>
            </a:r>
            <a:r>
              <a:rPr lang="zh-CN" altLang="zh-CN" sz="2800" dirty="0" smtClean="0">
                <a:ea typeface="宋体" panose="02010600030101010101" pitchFamily="2" charset="-122"/>
              </a:rPr>
              <a:t>3}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endParaRPr lang="zh-CN" altLang="en-US" sz="2800" i="1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800" i="1" dirty="0" smtClean="0">
                <a:ea typeface="宋体" panose="02010600030101010101" pitchFamily="2" charset="-122"/>
              </a:rPr>
              <a:t>x</a:t>
            </a:r>
            <a:r>
              <a:rPr lang="zh-CN" altLang="zh-CN" sz="2800" b="1" baseline="-30000" dirty="0" smtClean="0"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ea typeface="宋体" panose="02010600030101010101" pitchFamily="2" charset="-122"/>
              </a:rPr>
              <a:t>在</a:t>
            </a:r>
            <a:r>
              <a:rPr lang="zh-CN" altLang="zh-CN" sz="2800" i="1" dirty="0" smtClean="0">
                <a:ea typeface="宋体" panose="02010600030101010101" pitchFamily="2" charset="-122"/>
              </a:rPr>
              <a:t>R</a:t>
            </a:r>
            <a:r>
              <a:rPr lang="zh-CN" altLang="en-US" sz="2800" dirty="0" smtClean="0">
                <a:ea typeface="宋体" panose="02010600030101010101" pitchFamily="2" charset="-122"/>
              </a:rPr>
              <a:t>中的象集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sz="2800" i="1" dirty="0" smtClean="0">
                <a:ea typeface="宋体" panose="02010600030101010101" pitchFamily="2" charset="-122"/>
              </a:rPr>
              <a:t>    </a:t>
            </a:r>
            <a:r>
              <a:rPr lang="zh-CN" altLang="zh-CN" sz="2800" b="1" i="1" dirty="0" smtClean="0">
                <a:solidFill>
                  <a:srgbClr val="E02920"/>
                </a:solidFill>
                <a:ea typeface="宋体" panose="02010600030101010101" pitchFamily="2" charset="-122"/>
              </a:rPr>
              <a:t>Z</a:t>
            </a:r>
            <a:r>
              <a:rPr lang="zh-CN" altLang="zh-CN" sz="2800" b="1" baseline="-30000" dirty="0" smtClean="0">
                <a:solidFill>
                  <a:srgbClr val="E02920"/>
                </a:solidFill>
                <a:ea typeface="宋体" panose="02010600030101010101" pitchFamily="2" charset="-122"/>
              </a:rPr>
              <a:t>x2</a:t>
            </a:r>
            <a:r>
              <a:rPr lang="zh-CN" altLang="zh-CN" sz="2800" i="1" dirty="0" smtClean="0">
                <a:ea typeface="宋体" panose="02010600030101010101" pitchFamily="2" charset="-122"/>
              </a:rPr>
              <a:t> </a:t>
            </a:r>
            <a:r>
              <a:rPr lang="zh-CN" altLang="zh-CN" sz="2800" dirty="0" smtClean="0">
                <a:ea typeface="宋体" panose="02010600030101010101" pitchFamily="2" charset="-122"/>
              </a:rPr>
              <a:t>={</a:t>
            </a:r>
            <a:r>
              <a:rPr lang="zh-CN" altLang="zh-CN" sz="2800" i="1" dirty="0" smtClean="0">
                <a:ea typeface="宋体" panose="02010600030101010101" pitchFamily="2" charset="-122"/>
              </a:rPr>
              <a:t>Z</a:t>
            </a:r>
            <a:r>
              <a:rPr lang="zh-CN" altLang="zh-CN" sz="2800" dirty="0" smtClean="0"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zh-CN" altLang="zh-CN" sz="2800" i="1" dirty="0" smtClean="0">
                <a:ea typeface="宋体" panose="02010600030101010101" pitchFamily="2" charset="-122"/>
              </a:rPr>
              <a:t>Z</a:t>
            </a:r>
            <a:r>
              <a:rPr lang="zh-CN" altLang="zh-CN" sz="2800" dirty="0" smtClean="0">
                <a:ea typeface="宋体" panose="02010600030101010101" pitchFamily="2" charset="-122"/>
              </a:rPr>
              <a:t>3}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endParaRPr lang="zh-CN" altLang="en-US" sz="2800" i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1058627" y="1339497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除（</a:t>
            </a:r>
            <a:r>
              <a:rPr lang="en-US" altLang="zh-CN" sz="2800" dirty="0">
                <a:latin typeface="+mn-ea"/>
                <a:sym typeface="+mn-ea"/>
              </a:rPr>
              <a:t>DIVISION</a:t>
            </a:r>
            <a:r>
              <a:rPr lang="zh-CN" altLang="en-US" sz="2800" dirty="0">
                <a:latin typeface="+mn-ea"/>
                <a:sym typeface="+mn-ea"/>
              </a:rPr>
              <a:t>）：</a:t>
            </a:r>
            <a:r>
              <a:rPr lang="en-US" altLang="zh-CN" sz="2800" dirty="0">
                <a:latin typeface="+mn-ea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÷</a:t>
            </a:r>
            <a:r>
              <a:rPr lang="en-US" altLang="zh-CN" sz="2800" dirty="0">
                <a:latin typeface="+mn-ea"/>
                <a:sym typeface="+mn-ea"/>
              </a:rPr>
              <a:t>S</a:t>
            </a:r>
            <a:endParaRPr lang="zh-CN" altLang="en-US" sz="280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75385" y="1894205"/>
            <a:ext cx="1007110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问题：</a:t>
            </a:r>
            <a:r>
              <a:rPr lang="zh-CN" altLang="en-US" sz="2800" dirty="0" smtClean="0"/>
              <a:t>那种方法能够实现：</a:t>
            </a:r>
            <a:endParaRPr lang="zh-CN" altLang="en-US" sz="2800" dirty="0" smtClean="0"/>
          </a:p>
          <a:p>
            <a:pPr lvl="1"/>
            <a:r>
              <a:rPr lang="zh-CN" altLang="en-US" sz="2800" dirty="0" smtClean="0"/>
              <a:t>查询</a:t>
            </a:r>
            <a:r>
              <a:rPr lang="zh-CN" altLang="en-US" sz="2800" dirty="0">
                <a:solidFill>
                  <a:srgbClr val="FF0000"/>
                </a:solidFill>
              </a:rPr>
              <a:t>至少</a:t>
            </a:r>
            <a:r>
              <a:rPr lang="zh-CN" altLang="en-US" sz="2800" dirty="0"/>
              <a:t>选修了“</a:t>
            </a:r>
            <a:r>
              <a:rPr lang="en-US" altLang="zh-CN" sz="2800" dirty="0"/>
              <a:t>1</a:t>
            </a:r>
            <a:r>
              <a:rPr lang="zh-CN" altLang="en-US" sz="2800" dirty="0"/>
              <a:t>”号课程和“</a:t>
            </a:r>
            <a:r>
              <a:rPr lang="en-US" altLang="zh-CN" sz="2800" dirty="0"/>
              <a:t>3</a:t>
            </a:r>
            <a:r>
              <a:rPr lang="zh-CN" altLang="en-US" sz="2800" dirty="0"/>
              <a:t>”</a:t>
            </a:r>
            <a:r>
              <a:rPr lang="zh-CN" altLang="en-US" sz="2800" dirty="0" smtClean="0"/>
              <a:t>号课程</a:t>
            </a:r>
            <a:r>
              <a:rPr lang="zh-CN" altLang="en-US" sz="2800" dirty="0"/>
              <a:t>的学生学</a:t>
            </a:r>
            <a:r>
              <a:rPr lang="zh-CN" altLang="en-US" sz="2800" dirty="0" smtClean="0"/>
              <a:t>号？</a:t>
            </a:r>
            <a:endParaRPr lang="en-US" altLang="zh-CN" sz="28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419430" y="2940685"/>
          <a:ext cx="2379233" cy="371157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293079"/>
                <a:gridCol w="1086154"/>
              </a:tblGrid>
              <a:tr h="463550">
                <a:tc gridSpan="2"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SC</a:t>
                      </a:r>
                      <a:endParaRPr lang="zh-CN" altLang="en-US" sz="28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noFill/>
                  </a:tcPr>
                </a:tc>
              </a:tr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139565" y="3748405"/>
            <a:ext cx="4524375" cy="7404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>
            <a:lvl1pPr marL="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3670300" algn="l"/>
              </a:tabLst>
            </a:pPr>
            <a:r>
              <a:rPr lang="en-US" altLang="zh-CN" sz="3600" dirty="0" err="1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σ</a:t>
            </a:r>
            <a:r>
              <a:rPr lang="en-US" altLang="zh-CN" sz="3600" baseline="-25000" dirty="0" err="1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Cno</a:t>
            </a:r>
            <a:r>
              <a:rPr lang="en-US" altLang="zh-CN" sz="3600" baseline="-25000" dirty="0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=‘1'∧Cno=‘3’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(SC)</a:t>
            </a:r>
            <a:endParaRPr lang="en-US" altLang="zh-CN" sz="3600" dirty="0">
              <a:solidFill>
                <a:schemeClr val="tx1"/>
              </a:solidFill>
              <a:latin typeface="+mn-ea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49090" y="5384800"/>
            <a:ext cx="4546600" cy="6546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>
            <a:lvl1pPr marL="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3670300" algn="l"/>
              </a:tabLst>
            </a:pPr>
            <a:r>
              <a:rPr lang="en-US" altLang="zh-CN" sz="3600" dirty="0" err="1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σ</a:t>
            </a:r>
            <a:r>
              <a:rPr lang="en-US" altLang="zh-CN" sz="3600" baseline="-25000" dirty="0" err="1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Cno</a:t>
            </a:r>
            <a:r>
              <a:rPr lang="en-US" altLang="zh-CN" sz="3600" baseline="-25000" dirty="0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=‘1</a:t>
            </a:r>
            <a:r>
              <a:rPr lang="en-US" altLang="zh-CN" sz="3600" baseline="-25000" dirty="0">
                <a:solidFill>
                  <a:schemeClr val="tx1"/>
                </a:solidFill>
                <a:latin typeface="+mn-ea"/>
                <a:cs typeface="Courier New" panose="02070309020205020404" pitchFamily="49" charset="0"/>
                <a:sym typeface="+mn-ea"/>
              </a:rPr>
              <a:t>'</a:t>
            </a:r>
            <a:r>
              <a:rPr lang="en-US" altLang="zh-CN" sz="3600" baseline="-25000" dirty="0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∨Cno=‘3’</a:t>
            </a:r>
            <a:r>
              <a:rPr lang="en-US" altLang="zh-CN" sz="3600" dirty="0">
                <a:solidFill>
                  <a:schemeClr val="tx1"/>
                </a:solidFill>
                <a:latin typeface="+mn-ea"/>
                <a:cs typeface="Courier New" panose="02070309020205020404" pitchFamily="49" charset="0"/>
              </a:rPr>
              <a:t>(SC)</a:t>
            </a:r>
            <a:endParaRPr lang="en-US" altLang="zh-CN" sz="3600" dirty="0">
              <a:solidFill>
                <a:schemeClr val="tx1"/>
              </a:solidFill>
              <a:latin typeface="+mn-ea"/>
              <a:cs typeface="Courier New" panose="02070309020205020404" pitchFamily="49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335" y="3748405"/>
            <a:ext cx="717550" cy="7353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335" y="5384800"/>
            <a:ext cx="717550" cy="7353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139565" y="3040380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解：</a:t>
            </a:r>
            <a:endParaRPr lang="zh-CN" altLang="en-US" sz="2800" dirty="0" smtClean="0">
              <a:solidFill>
                <a:srgbClr val="0000CC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45610" y="4674870"/>
            <a:ext cx="4450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条件为假，取不到任何元组</a:t>
            </a:r>
            <a:endParaRPr lang="zh-CN" altLang="en-US" sz="2800" dirty="0" smtClean="0">
              <a:solidFill>
                <a:srgbClr val="0000CC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39565" y="6227445"/>
            <a:ext cx="51765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多选元组，</a:t>
            </a:r>
            <a:r>
              <a:rPr lang="en-US" altLang="zh-CN" sz="2800" dirty="0" smtClean="0">
                <a:solidFill>
                  <a:srgbClr val="0000CC"/>
                </a:solidFill>
                <a:sym typeface="+mn-ea"/>
              </a:rPr>
              <a:t>95002</a:t>
            </a:r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学生没选</a:t>
            </a:r>
            <a:r>
              <a:rPr lang="en-US" altLang="zh-CN" sz="2800" dirty="0" smtClean="0">
                <a:solidFill>
                  <a:srgbClr val="0000CC"/>
                </a:solidFill>
                <a:sym typeface="+mn-ea"/>
              </a:rPr>
              <a:t>1</a:t>
            </a:r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号课</a:t>
            </a:r>
            <a:endParaRPr lang="zh-CN" altLang="en-US" sz="2800" dirty="0" smtClean="0">
              <a:solidFill>
                <a:srgbClr val="0000CC"/>
              </a:solidFill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1" grpId="0" bldLvl="0" animBg="1"/>
      <p:bldP spid="11" grpId="1" animBg="1"/>
      <p:bldP spid="16" grpId="0"/>
      <p:bldP spid="16" grpId="1"/>
      <p:bldP spid="17" grpId="0"/>
      <p:bldP spid="17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942715" y="3874135"/>
            <a:ext cx="2914650" cy="28581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058627" y="1316637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除（</a:t>
            </a:r>
            <a:r>
              <a:rPr lang="en-US" altLang="zh-CN" sz="2800" dirty="0">
                <a:latin typeface="+mn-ea"/>
                <a:sym typeface="+mn-ea"/>
              </a:rPr>
              <a:t>DIVISION</a:t>
            </a:r>
            <a:r>
              <a:rPr lang="zh-CN" altLang="en-US" sz="2800" dirty="0">
                <a:latin typeface="+mn-ea"/>
                <a:sym typeface="+mn-ea"/>
              </a:rPr>
              <a:t>）：</a:t>
            </a:r>
            <a:r>
              <a:rPr lang="en-US" altLang="zh-CN" sz="2800" dirty="0">
                <a:latin typeface="+mn-ea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÷</a:t>
            </a:r>
            <a:r>
              <a:rPr lang="en-US" altLang="zh-CN" sz="2800" dirty="0">
                <a:latin typeface="+mn-ea"/>
                <a:sym typeface="+mn-ea"/>
              </a:rPr>
              <a:t>S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75385" y="1871345"/>
            <a:ext cx="973137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问题：</a:t>
            </a:r>
            <a:r>
              <a:rPr lang="zh-CN" altLang="en-US" sz="2800" dirty="0" smtClean="0"/>
              <a:t>那种方法能够实现：</a:t>
            </a:r>
            <a:endParaRPr lang="zh-CN" altLang="en-US" sz="2800" dirty="0" smtClean="0"/>
          </a:p>
          <a:p>
            <a:pPr lvl="1"/>
            <a:r>
              <a:rPr lang="zh-CN" altLang="en-US" sz="2800" dirty="0" smtClean="0"/>
              <a:t>查询</a:t>
            </a:r>
            <a:r>
              <a:rPr lang="zh-CN" altLang="en-US" sz="2800" dirty="0">
                <a:solidFill>
                  <a:srgbClr val="FF0000"/>
                </a:solidFill>
              </a:rPr>
              <a:t>至少</a:t>
            </a:r>
            <a:r>
              <a:rPr lang="zh-CN" altLang="en-US" sz="2800" dirty="0"/>
              <a:t>选修了“</a:t>
            </a:r>
            <a:r>
              <a:rPr lang="en-US" altLang="zh-CN" sz="2800" dirty="0"/>
              <a:t>1</a:t>
            </a:r>
            <a:r>
              <a:rPr lang="zh-CN" altLang="en-US" sz="2800" dirty="0"/>
              <a:t>”号课程和“</a:t>
            </a:r>
            <a:r>
              <a:rPr lang="en-US" altLang="zh-CN" sz="2800" dirty="0"/>
              <a:t>3</a:t>
            </a:r>
            <a:r>
              <a:rPr lang="zh-CN" altLang="en-US" sz="2800" dirty="0"/>
              <a:t>”</a:t>
            </a:r>
            <a:r>
              <a:rPr lang="zh-CN" altLang="en-US" sz="2800" dirty="0" smtClean="0"/>
              <a:t>号课程</a:t>
            </a:r>
            <a:r>
              <a:rPr lang="zh-CN" altLang="en-US" sz="2800" dirty="0"/>
              <a:t>的学生学</a:t>
            </a:r>
            <a:r>
              <a:rPr lang="zh-CN" altLang="en-US" sz="2800" dirty="0" smtClean="0"/>
              <a:t>号？</a:t>
            </a:r>
            <a:endParaRPr lang="en-US" altLang="zh-CN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19430" y="2917825"/>
          <a:ext cx="2379233" cy="371157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293079"/>
                <a:gridCol w="1086154"/>
              </a:tblGrid>
              <a:tr h="463550">
                <a:tc gridSpan="2"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SC</a:t>
                      </a:r>
                      <a:endParaRPr lang="zh-CN" altLang="en-US" sz="28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noFill/>
                  </a:tcPr>
                </a:tc>
              </a:tr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7232056" y="4357926"/>
          <a:ext cx="982980" cy="215709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982980"/>
              </a:tblGrid>
              <a:tr h="60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K</a:t>
                      </a:r>
                      <a:endParaRPr lang="en-US" altLang="zh-CN" sz="2800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1816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4317408" y="4504720"/>
          <a:ext cx="782277" cy="215709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782277"/>
              </a:tblGrid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5594833" y="4537424"/>
          <a:ext cx="790727" cy="163893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790727"/>
              </a:tblGrid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4209415" y="2917825"/>
            <a:ext cx="612267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800" dirty="0" smtClean="0"/>
              <a:t>1.</a:t>
            </a:r>
            <a:r>
              <a:rPr lang="zh-CN" altLang="en-US" sz="2800" dirty="0" smtClean="0"/>
              <a:t>求出</a:t>
            </a:r>
            <a:r>
              <a:rPr lang="zh-CN" altLang="en-US" sz="2800" dirty="0" smtClean="0">
                <a:solidFill>
                  <a:srgbClr val="FF0000"/>
                </a:solidFill>
              </a:rPr>
              <a:t>每个</a:t>
            </a:r>
            <a:r>
              <a:rPr lang="zh-CN" altLang="en-US" sz="2800" dirty="0" smtClean="0"/>
              <a:t>学生</a:t>
            </a:r>
            <a:r>
              <a:rPr lang="zh-CN" altLang="en-US" sz="2800" dirty="0" smtClean="0">
                <a:solidFill>
                  <a:srgbClr val="FF0000"/>
                </a:solidFill>
              </a:rPr>
              <a:t>所有课号</a:t>
            </a:r>
            <a:r>
              <a:rPr lang="en-US" altLang="zh-CN" sz="2800" dirty="0" smtClean="0">
                <a:solidFill>
                  <a:sysClr val="windowText" lastClr="000000"/>
                </a:solidFill>
              </a:rPr>
              <a:t>,</a:t>
            </a:r>
            <a:r>
              <a:rPr lang="zh-CN" altLang="en-US" sz="2800" dirty="0" smtClean="0">
                <a:solidFill>
                  <a:sysClr val="windowText" lastClr="000000"/>
                </a:solidFill>
              </a:rPr>
              <a:t>即</a:t>
            </a:r>
            <a:r>
              <a:rPr lang="zh-CN" altLang="en-US" sz="2800" dirty="0" smtClean="0">
                <a:solidFill>
                  <a:srgbClr val="FF0000"/>
                </a:solidFill>
              </a:rPr>
              <a:t>象集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lvl="1"/>
            <a:r>
              <a:rPr lang="en-US" altLang="zh-CN" sz="2800" dirty="0" smtClean="0"/>
              <a:t>2.</a:t>
            </a:r>
            <a:r>
              <a:rPr lang="zh-CN" altLang="en-US" sz="2800" dirty="0" smtClean="0"/>
              <a:t>查看是否同时</a:t>
            </a:r>
            <a:r>
              <a:rPr lang="zh-CN" altLang="en-US" sz="2800" dirty="0" smtClean="0">
                <a:solidFill>
                  <a:srgbClr val="FF0000"/>
                </a:solidFill>
              </a:rPr>
              <a:t>包含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号课</a:t>
            </a:r>
            <a:endParaRPr lang="en-US" altLang="zh-CN" sz="2800" dirty="0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8834120" y="4212970"/>
          <a:ext cx="1293079" cy="112077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1293079"/>
              </a:tblGrid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en-US" altLang="zh-CN" sz="2800" b="1" dirty="0" err="1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95001</a:t>
                      </a:r>
                      <a:endParaRPr lang="en-US" altLang="zh-CN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" name="右箭头 28"/>
          <p:cNvSpPr/>
          <p:nvPr/>
        </p:nvSpPr>
        <p:spPr>
          <a:xfrm>
            <a:off x="7029123" y="4212526"/>
            <a:ext cx="1563062" cy="239522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980259" y="3914299"/>
            <a:ext cx="13877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CNO</a:t>
            </a:r>
            <a:r>
              <a:rPr lang="en-US" altLang="zh-CN" sz="2800" baseline="-30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95001</a:t>
            </a:r>
            <a:endParaRPr lang="en-US" altLang="zh-CN" sz="2800" baseline="-3000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367984" y="3937794"/>
            <a:ext cx="13877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CNO</a:t>
            </a:r>
            <a:r>
              <a:rPr lang="en-US" altLang="zh-CN" sz="2800" baseline="-30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95002</a:t>
            </a:r>
            <a:endParaRPr lang="en-US" altLang="zh-CN" sz="2800" baseline="-3000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06545" y="2875915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解：</a:t>
            </a:r>
            <a:endParaRPr lang="zh-CN" altLang="en-US" sz="2800" dirty="0" smtClean="0">
              <a:solidFill>
                <a:srgbClr val="0000CC"/>
              </a:solidFill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29" grpId="1" animBg="1"/>
      <p:bldP spid="34" grpId="0" bldLvl="0" animBg="1"/>
      <p:bldP spid="30" grpId="0"/>
      <p:bldP spid="31" grpId="0"/>
      <p:bldP spid="34" grpId="1" animBg="1"/>
      <p:bldP spid="30" grpId="1"/>
      <p:bldP spid="31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746490" y="3455035"/>
            <a:ext cx="1884045" cy="33242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09105" y="3441700"/>
            <a:ext cx="1884045" cy="3337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980815" y="3441700"/>
            <a:ext cx="2750185" cy="333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Box 5"/>
          <p:cNvSpPr txBox="1"/>
          <p:nvPr/>
        </p:nvSpPr>
        <p:spPr>
          <a:xfrm>
            <a:off x="1058627" y="1316637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除（</a:t>
            </a:r>
            <a:r>
              <a:rPr lang="en-US" altLang="zh-CN" sz="2800" dirty="0">
                <a:latin typeface="+mn-ea"/>
                <a:sym typeface="+mn-ea"/>
              </a:rPr>
              <a:t>DIVISION</a:t>
            </a:r>
            <a:r>
              <a:rPr lang="zh-CN" altLang="en-US" sz="2800" dirty="0">
                <a:latin typeface="+mn-ea"/>
                <a:sym typeface="+mn-ea"/>
              </a:rPr>
              <a:t>）：</a:t>
            </a:r>
            <a:r>
              <a:rPr lang="en-US" altLang="zh-CN" sz="2800" dirty="0">
                <a:latin typeface="+mn-ea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÷</a:t>
            </a:r>
            <a:r>
              <a:rPr lang="en-US" altLang="zh-CN" sz="2800" dirty="0">
                <a:latin typeface="+mn-ea"/>
                <a:sym typeface="+mn-ea"/>
              </a:rPr>
              <a:t>S</a:t>
            </a:r>
            <a:endParaRPr lang="zh-CN" altLang="en-US" sz="2800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75385" y="1871345"/>
            <a:ext cx="977582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问题：</a:t>
            </a:r>
            <a:r>
              <a:rPr lang="zh-CN" altLang="en-US" sz="2800" dirty="0" smtClean="0"/>
              <a:t>那种方法能够实现：</a:t>
            </a:r>
            <a:endParaRPr lang="zh-CN" altLang="en-US" sz="2800" dirty="0" smtClean="0"/>
          </a:p>
          <a:p>
            <a:pPr lvl="1"/>
            <a:r>
              <a:rPr lang="zh-CN" altLang="en-US" sz="2800" dirty="0" smtClean="0"/>
              <a:t>查询</a:t>
            </a:r>
            <a:r>
              <a:rPr lang="zh-CN" altLang="en-US" sz="2800" dirty="0">
                <a:solidFill>
                  <a:srgbClr val="FF0000"/>
                </a:solidFill>
              </a:rPr>
              <a:t>至少</a:t>
            </a:r>
            <a:r>
              <a:rPr lang="zh-CN" altLang="en-US" sz="2800" dirty="0"/>
              <a:t>选修了“</a:t>
            </a:r>
            <a:r>
              <a:rPr lang="en-US" altLang="zh-CN" sz="2800" dirty="0"/>
              <a:t>1</a:t>
            </a:r>
            <a:r>
              <a:rPr lang="zh-CN" altLang="en-US" sz="2800" dirty="0"/>
              <a:t>”号课程和“</a:t>
            </a:r>
            <a:r>
              <a:rPr lang="en-US" altLang="zh-CN" sz="2800" dirty="0"/>
              <a:t>3</a:t>
            </a:r>
            <a:r>
              <a:rPr lang="zh-CN" altLang="en-US" sz="2800" dirty="0"/>
              <a:t>”</a:t>
            </a:r>
            <a:r>
              <a:rPr lang="zh-CN" altLang="en-US" sz="2800" dirty="0" smtClean="0"/>
              <a:t>号课程</a:t>
            </a:r>
            <a:r>
              <a:rPr lang="zh-CN" altLang="en-US" sz="2800" dirty="0"/>
              <a:t>的学生学</a:t>
            </a:r>
            <a:r>
              <a:rPr lang="zh-CN" altLang="en-US" sz="2800" dirty="0" smtClean="0"/>
              <a:t>号？</a:t>
            </a:r>
            <a:endParaRPr lang="en-US" altLang="zh-CN" sz="28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419430" y="2917825"/>
          <a:ext cx="2379233" cy="371157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293079"/>
                <a:gridCol w="1086154"/>
              </a:tblGrid>
              <a:tr h="463550">
                <a:tc gridSpan="2"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SC</a:t>
                      </a:r>
                      <a:endParaRPr lang="zh-CN" altLang="en-US" sz="28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noFill/>
                  </a:tcPr>
                </a:tc>
              </a:tr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latin typeface="+mn-ea"/>
                          <a:ea typeface="+mn-ea"/>
                        </a:rPr>
                        <a:t>Sno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95002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272061" y="4076621"/>
          <a:ext cx="982980" cy="215709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982980"/>
              </a:tblGrid>
              <a:tr h="60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K</a:t>
                      </a:r>
                      <a:endParaRPr lang="en-US" altLang="zh-CN" sz="2800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51816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317408" y="4561870"/>
          <a:ext cx="782277" cy="215709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782277"/>
              </a:tblGrid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594833" y="4594574"/>
          <a:ext cx="790727" cy="163893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790727"/>
              </a:tblGrid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Cno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9024620" y="4270120"/>
          <a:ext cx="1293079" cy="1120775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1293079"/>
              </a:tblGrid>
              <a:tr h="602615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Sno</a:t>
                      </a:r>
                      <a:endParaRPr lang="en-US" altLang="zh-CN" sz="2800" b="1" dirty="0" err="1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95001</a:t>
                      </a:r>
                      <a:endParaRPr lang="en-US" altLang="zh-CN" sz="28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3980259" y="3971449"/>
            <a:ext cx="13877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CNO</a:t>
            </a:r>
            <a:r>
              <a:rPr lang="en-US" altLang="zh-CN" sz="2800" baseline="-30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95001</a:t>
            </a:r>
            <a:endParaRPr lang="en-US" altLang="zh-CN" sz="2800" baseline="-3000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67984" y="3994944"/>
            <a:ext cx="13877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CNO</a:t>
            </a:r>
            <a:r>
              <a:rPr lang="en-US" altLang="zh-CN" sz="2800" baseline="-30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95002</a:t>
            </a:r>
            <a:endParaRPr lang="en-US" altLang="zh-CN" sz="2800" baseline="-3000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06545" y="2875915"/>
            <a:ext cx="1249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sym typeface="+mn-ea"/>
              </a:rPr>
              <a:t>总结：</a:t>
            </a:r>
            <a:endParaRPr lang="zh-CN" altLang="en-US" sz="2800" dirty="0" smtClean="0">
              <a:solidFill>
                <a:srgbClr val="0000CC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40580" y="3441700"/>
            <a:ext cx="15195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800" dirty="0" smtClean="0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求象集</a:t>
            </a:r>
            <a:endParaRPr lang="zh-CN" altLang="en-US" sz="2800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002145" y="3428365"/>
            <a:ext cx="163004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lvl="1" fontAlgn="auto"/>
            <a:r>
              <a:rPr lang="en-US" altLang="zh-CN" sz="2800" dirty="0" smtClean="0">
                <a:solidFill>
                  <a:srgbClr val="FF0000"/>
                </a:solidFill>
              </a:rPr>
              <a:t>2.</a:t>
            </a:r>
            <a:r>
              <a:rPr lang="zh-CN" altLang="en-US" sz="2800" dirty="0">
                <a:solidFill>
                  <a:srgbClr val="FF0000"/>
                </a:solidFill>
              </a:rPr>
              <a:t>求投影</a:t>
            </a:r>
            <a:endParaRPr lang="en-US" altLang="zh-CN" sz="2800" dirty="0" smtClean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337967" y="2881862"/>
            <a:ext cx="1934323" cy="521970"/>
          </a:xfrm>
          <a:prstGeom prst="rect">
            <a:avLst/>
          </a:prstGeom>
        </p:spPr>
        <p:txBody>
          <a:bodyPr wrap="square">
            <a:spAutoFit/>
          </a:bodyPr>
          <a:p>
            <a:pPr lvl="1"/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÷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56980" y="3449320"/>
            <a:ext cx="163004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lvl="1" fontAlgn="auto"/>
            <a:r>
              <a:rPr lang="en-US" altLang="zh-CN" sz="2800" dirty="0" smtClean="0">
                <a:solidFill>
                  <a:srgbClr val="FF0000"/>
                </a:solidFill>
              </a:rPr>
              <a:t>3.</a:t>
            </a:r>
            <a:r>
              <a:rPr lang="zh-CN" altLang="en-US" sz="2800" dirty="0">
                <a:solidFill>
                  <a:srgbClr val="FF0000"/>
                </a:solidFill>
              </a:rPr>
              <a:t>求</a:t>
            </a:r>
            <a:r>
              <a:rPr lang="zh-CN" altLang="en-US" sz="2800" dirty="0" smtClean="0">
                <a:solidFill>
                  <a:srgbClr val="FF0000"/>
                </a:solidFill>
              </a:rPr>
              <a:t>包含</a:t>
            </a:r>
            <a:endParaRPr lang="en-US" altLang="zh-CN" sz="2800" dirty="0" smtClean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6" grpId="0"/>
      <p:bldP spid="17" grpId="0"/>
      <p:bldP spid="19" grpId="0"/>
      <p:bldP spid="3" grpId="1" animBg="1"/>
      <p:bldP spid="16" grpId="1"/>
      <p:bldP spid="17" grpId="1"/>
      <p:bldP spid="19" grpId="1"/>
      <p:bldP spid="8" grpId="0" bldLvl="0" animBg="1"/>
      <p:bldP spid="20" grpId="0"/>
      <p:bldP spid="8" grpId="1" animBg="1"/>
      <p:bldP spid="20" grpId="1"/>
      <p:bldP spid="11" grpId="0" bldLvl="0" animBg="1"/>
      <p:bldP spid="22" grpId="0"/>
      <p:bldP spid="11" grpId="1" animBg="1"/>
      <p:bldP spid="22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8627" y="1316637"/>
            <a:ext cx="8136808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>
                <a:latin typeface="+mn-ea"/>
                <a:sym typeface="+mn-ea"/>
              </a:rPr>
              <a:t>除（</a:t>
            </a:r>
            <a:r>
              <a:rPr lang="en-US" altLang="zh-CN" sz="2800" dirty="0">
                <a:latin typeface="+mn-ea"/>
                <a:sym typeface="+mn-ea"/>
              </a:rPr>
              <a:t>DIVISION</a:t>
            </a:r>
            <a:r>
              <a:rPr lang="zh-CN" altLang="en-US" sz="2800" dirty="0">
                <a:latin typeface="+mn-ea"/>
                <a:sym typeface="+mn-ea"/>
              </a:rPr>
              <a:t>）：</a:t>
            </a:r>
            <a:r>
              <a:rPr lang="en-US" altLang="zh-CN" sz="2800" dirty="0">
                <a:latin typeface="+mn-ea"/>
                <a:sym typeface="+mn-ea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÷</a:t>
            </a:r>
            <a:r>
              <a:rPr lang="en-US" altLang="zh-CN" sz="2800" dirty="0">
                <a:latin typeface="+mn-ea"/>
                <a:sym typeface="+mn-ea"/>
              </a:rPr>
              <a:t>S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" name="内容占位符 1"/>
          <p:cNvSpPr>
            <a:spLocks noGrp="1"/>
          </p:cNvSpPr>
          <p:nvPr/>
        </p:nvSpPr>
        <p:spPr>
          <a:xfrm>
            <a:off x="756920" y="1882140"/>
            <a:ext cx="10607675" cy="365887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5905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anose="05040102010807070707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665" indent="-228600" algn="l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79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065" lvl="1" indent="0" fontAlgn="auto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给定</a:t>
            </a:r>
            <a:r>
              <a:rPr lang="zh-CN" altLang="en-US" sz="2800" dirty="0"/>
              <a:t>关系 </a:t>
            </a:r>
            <a:r>
              <a:rPr lang="en-US" altLang="zh-CN" sz="2800" dirty="0"/>
              <a:t>R(X, Y) </a:t>
            </a:r>
            <a:r>
              <a:rPr lang="zh-CN" altLang="en-US" sz="2800" dirty="0"/>
              <a:t>和 </a:t>
            </a:r>
            <a:r>
              <a:rPr lang="en-US" altLang="zh-CN" sz="2800" dirty="0"/>
              <a:t>S(Y, Z)</a:t>
            </a:r>
            <a:r>
              <a:rPr lang="zh-CN" altLang="en-US" sz="2800" dirty="0"/>
              <a:t>，其中 </a:t>
            </a:r>
            <a:r>
              <a:rPr lang="en-US" altLang="zh-CN" sz="2800" dirty="0"/>
              <a:t>X</a:t>
            </a:r>
            <a:r>
              <a:rPr lang="zh-CN" altLang="en-US" sz="2800" dirty="0"/>
              <a:t>、</a:t>
            </a:r>
            <a:r>
              <a:rPr lang="en-US" altLang="zh-CN" sz="2800" dirty="0"/>
              <a:t>Y</a:t>
            </a:r>
            <a:r>
              <a:rPr lang="zh-CN" altLang="en-US" sz="2800" dirty="0"/>
              <a:t>、</a:t>
            </a:r>
            <a:r>
              <a:rPr lang="en-US" altLang="zh-CN" sz="2800" dirty="0"/>
              <a:t>Z </a:t>
            </a:r>
            <a:r>
              <a:rPr lang="zh-CN" altLang="en-US" sz="2800" dirty="0"/>
              <a:t>为属性组。（</a:t>
            </a:r>
            <a:r>
              <a:rPr lang="en-US" altLang="zh-CN" sz="2800" dirty="0"/>
              <a:t>R </a:t>
            </a:r>
            <a:r>
              <a:rPr lang="zh-CN" altLang="en-US" sz="2800" dirty="0"/>
              <a:t>中的 </a:t>
            </a:r>
            <a:r>
              <a:rPr lang="en-US" altLang="zh-CN" sz="2800" dirty="0"/>
              <a:t>Y </a:t>
            </a:r>
            <a:r>
              <a:rPr lang="zh-CN" altLang="en-US" sz="2800" dirty="0"/>
              <a:t>与 </a:t>
            </a:r>
            <a:r>
              <a:rPr lang="en-US" altLang="zh-CN" sz="2800" dirty="0"/>
              <a:t>S </a:t>
            </a:r>
            <a:r>
              <a:rPr lang="zh-CN" altLang="en-US" sz="2800" dirty="0"/>
              <a:t>中的 </a:t>
            </a:r>
            <a:r>
              <a:rPr lang="en-US" altLang="zh-CN" sz="2800" dirty="0"/>
              <a:t>Y </a:t>
            </a:r>
            <a:r>
              <a:rPr lang="zh-CN" altLang="en-US" sz="2800" dirty="0"/>
              <a:t>可以有不同的属性名，但必须出自相同的域集。）</a:t>
            </a:r>
            <a:endParaRPr lang="zh-CN" altLang="en-US" sz="2800" dirty="0"/>
          </a:p>
          <a:p>
            <a:pPr marL="393065" lvl="1" indent="0" fontAlgn="auto">
              <a:buNone/>
            </a:pPr>
            <a:r>
              <a:rPr lang="en-US" altLang="zh-CN" sz="2800" dirty="0" smtClean="0"/>
              <a:t>	R </a:t>
            </a:r>
            <a:r>
              <a:rPr lang="zh-CN" altLang="en-US" sz="2800" dirty="0"/>
              <a:t>与 </a:t>
            </a:r>
            <a:r>
              <a:rPr lang="en-US" altLang="zh-CN" sz="2800" dirty="0"/>
              <a:t>S </a:t>
            </a:r>
            <a:r>
              <a:rPr lang="zh-CN" altLang="en-US" sz="2800" dirty="0"/>
              <a:t>的除运算得到一个新的关系 </a:t>
            </a:r>
            <a:r>
              <a:rPr lang="en-US" altLang="zh-CN" sz="2800" dirty="0"/>
              <a:t>T(X)</a:t>
            </a:r>
            <a:r>
              <a:rPr lang="zh-CN" altLang="en-US" sz="2800" dirty="0"/>
              <a:t>，</a:t>
            </a:r>
            <a:r>
              <a:rPr lang="en-US" altLang="zh-CN" sz="2800" dirty="0"/>
              <a:t>T </a:t>
            </a:r>
            <a:r>
              <a:rPr lang="zh-CN" altLang="en-US" sz="2800" dirty="0"/>
              <a:t>是 </a:t>
            </a:r>
            <a:r>
              <a:rPr lang="en-US" altLang="zh-CN" sz="2800" dirty="0"/>
              <a:t>R </a:t>
            </a:r>
            <a:r>
              <a:rPr lang="zh-CN" altLang="en-US" sz="2800" dirty="0"/>
              <a:t>中满足下列条件的元组在 </a:t>
            </a:r>
            <a:r>
              <a:rPr lang="en-US" altLang="zh-CN" sz="2800" dirty="0"/>
              <a:t>X </a:t>
            </a:r>
            <a:r>
              <a:rPr lang="zh-CN" altLang="en-US" sz="2800" dirty="0"/>
              <a:t>属性列上的投影：</a:t>
            </a:r>
            <a:endParaRPr lang="zh-CN" altLang="en-US" sz="2800" dirty="0"/>
          </a:p>
          <a:p>
            <a:pPr marL="393065" lvl="1" indent="0" fontAlgn="auto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元组在 </a:t>
            </a:r>
            <a:r>
              <a:rPr lang="en-US" altLang="zh-CN" sz="2800" dirty="0">
                <a:solidFill>
                  <a:srgbClr val="FF0000"/>
                </a:solidFill>
              </a:rPr>
              <a:t>X </a:t>
            </a:r>
            <a:r>
              <a:rPr lang="zh-CN" altLang="en-US" sz="2800" dirty="0">
                <a:solidFill>
                  <a:srgbClr val="FF0000"/>
                </a:solidFill>
              </a:rPr>
              <a:t>上分量值 </a:t>
            </a:r>
            <a:r>
              <a:rPr lang="en-US" altLang="zh-CN" sz="2800" dirty="0">
                <a:solidFill>
                  <a:srgbClr val="FF0000"/>
                </a:solidFill>
              </a:rPr>
              <a:t>x </a:t>
            </a:r>
            <a:r>
              <a:rPr lang="zh-CN" altLang="en-US" sz="2800" dirty="0">
                <a:solidFill>
                  <a:srgbClr val="FF0000"/>
                </a:solidFill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</a:rPr>
              <a:t>象集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</a:rPr>
              <a:t>Y</a:t>
            </a:r>
            <a:r>
              <a:rPr lang="en-US" altLang="zh-CN" sz="2800" baseline="-25000" dirty="0" err="1">
                <a:solidFill>
                  <a:srgbClr val="FF0000"/>
                </a:solidFill>
              </a:rPr>
              <a:t>x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0000CC"/>
                </a:solidFill>
              </a:rPr>
              <a:t>包含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S </a:t>
            </a:r>
            <a:r>
              <a:rPr lang="zh-CN" altLang="en-US" sz="2800" dirty="0">
                <a:solidFill>
                  <a:srgbClr val="FF0000"/>
                </a:solidFill>
              </a:rPr>
              <a:t>在 </a:t>
            </a:r>
            <a:r>
              <a:rPr lang="en-US" altLang="zh-CN" sz="2800" dirty="0">
                <a:solidFill>
                  <a:srgbClr val="FF0000"/>
                </a:solidFill>
              </a:rPr>
              <a:t>Y </a:t>
            </a:r>
            <a:r>
              <a:rPr lang="zh-CN" altLang="en-US" sz="2800" dirty="0">
                <a:solidFill>
                  <a:srgbClr val="FF0000"/>
                </a:solidFill>
              </a:rPr>
              <a:t>上</a:t>
            </a:r>
            <a:r>
              <a:rPr lang="zh-CN" altLang="en-US" sz="2800" dirty="0">
                <a:solidFill>
                  <a:srgbClr val="1F2DA8"/>
                </a:solidFill>
              </a:rPr>
              <a:t>投影</a:t>
            </a:r>
            <a:r>
              <a:rPr lang="zh-CN" altLang="en-US" sz="2800" dirty="0">
                <a:solidFill>
                  <a:srgbClr val="FF0000"/>
                </a:solidFill>
              </a:rPr>
              <a:t>的集合</a:t>
            </a:r>
            <a:r>
              <a:rPr lang="zh-CN" altLang="en-US" sz="2800" dirty="0"/>
              <a:t>，记作：</a:t>
            </a:r>
            <a:endParaRPr lang="en-US" altLang="zh-CN" sz="28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69060" y="4221480"/>
            <a:ext cx="8676640" cy="57594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>
            <a:lvl1pPr marL="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3670300" algn="l"/>
              </a:tabLst>
            </a:pPr>
            <a:r>
              <a:rPr lang="pt-BR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R÷S={t</a:t>
            </a:r>
            <a:r>
              <a:rPr lang="pt-BR" altLang="zh-CN" sz="28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pt-BR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[X]|</a:t>
            </a:r>
            <a:r>
              <a:rPr lang="en-US" altLang="zh-CN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CN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∈R</a:t>
            </a:r>
            <a:r>
              <a:rPr lang="pt-BR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∧π</a:t>
            </a:r>
            <a:r>
              <a:rPr lang="pt-BR" altLang="zh-CN" sz="28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pt-BR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(S)⊆Y</a:t>
            </a:r>
            <a:r>
              <a:rPr lang="pt-BR" altLang="zh-CN" sz="28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altLang="zh-CN" sz="2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02690" y="5019040"/>
            <a:ext cx="86220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631190" lvl="2" indent="0" fontAlgn="auto">
              <a:buNone/>
            </a:pPr>
            <a:r>
              <a:rPr lang="zh-CN" altLang="en-US" sz="2800" dirty="0" err="1">
                <a:sym typeface="+mn-ea"/>
              </a:rPr>
              <a:t>说明</a:t>
            </a:r>
            <a:r>
              <a:rPr lang="en-US" altLang="zh-CN" sz="2800" dirty="0" err="1">
                <a:sym typeface="+mn-ea"/>
              </a:rPr>
              <a:t>Y</a:t>
            </a:r>
            <a:r>
              <a:rPr lang="en-US" altLang="zh-CN" sz="2800" baseline="-25000" dirty="0" err="1">
                <a:sym typeface="+mn-ea"/>
              </a:rPr>
              <a:t>x</a:t>
            </a:r>
            <a:r>
              <a:rPr lang="zh-CN" altLang="en-US" sz="2800" dirty="0">
                <a:sym typeface="+mn-ea"/>
              </a:rPr>
              <a:t>：</a:t>
            </a:r>
            <a:r>
              <a:rPr lang="en-US" altLang="zh-CN" sz="2800" dirty="0">
                <a:sym typeface="+mn-ea"/>
              </a:rPr>
              <a:t>x </a:t>
            </a:r>
            <a:r>
              <a:rPr lang="zh-CN" altLang="en-US" sz="2800" dirty="0">
                <a:sym typeface="+mn-ea"/>
              </a:rPr>
              <a:t>在 </a:t>
            </a:r>
            <a:r>
              <a:rPr lang="en-US" altLang="zh-CN" sz="2800" dirty="0">
                <a:sym typeface="+mn-ea"/>
              </a:rPr>
              <a:t>R </a:t>
            </a:r>
            <a:r>
              <a:rPr lang="zh-CN" altLang="en-US" sz="2800" dirty="0">
                <a:sym typeface="+mn-ea"/>
              </a:rPr>
              <a:t>中的象集，</a:t>
            </a:r>
            <a:r>
              <a:rPr lang="en-US" altLang="zh-CN" sz="2800" dirty="0">
                <a:sym typeface="+mn-ea"/>
              </a:rPr>
              <a:t>x=</a:t>
            </a:r>
            <a:r>
              <a:rPr lang="en-US" altLang="zh-CN" sz="2800" dirty="0" err="1">
                <a:sym typeface="+mn-ea"/>
              </a:rPr>
              <a:t>t</a:t>
            </a:r>
            <a:r>
              <a:rPr lang="en-US" altLang="zh-CN" sz="2800" baseline="-25000" dirty="0" err="1">
                <a:sym typeface="+mn-ea"/>
              </a:rPr>
              <a:t>r</a:t>
            </a:r>
            <a:r>
              <a:rPr lang="en-US" altLang="zh-CN" sz="2800" dirty="0">
                <a:sym typeface="+mn-ea"/>
              </a:rPr>
              <a:t>[X]  (</a:t>
            </a:r>
            <a:r>
              <a:rPr lang="en-US" altLang="zh-CN" sz="2800" dirty="0">
                <a:sym typeface="+mn-ea"/>
              </a:rPr>
              <a:t>[ ]</a:t>
            </a:r>
            <a:r>
              <a:rPr lang="zh-CN" altLang="en-US" sz="2800" dirty="0">
                <a:sym typeface="+mn-ea"/>
              </a:rPr>
              <a:t>为元组取分量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990" y="635"/>
            <a:ext cx="10394950" cy="6857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Box 5"/>
          <p:cNvSpPr txBox="1"/>
          <p:nvPr/>
        </p:nvSpPr>
        <p:spPr>
          <a:xfrm>
            <a:off x="5008245" y="165735"/>
            <a:ext cx="213423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+mn-ea"/>
              </a:rPr>
              <a:t>例：</a:t>
            </a:r>
            <a:r>
              <a:rPr lang="en-US" altLang="zh-CN" sz="2800" dirty="0" smtClean="0">
                <a:latin typeface="+mn-ea"/>
              </a:rPr>
              <a:t>R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÷</a:t>
            </a:r>
            <a:r>
              <a:rPr lang="en-US" altLang="zh-CN" sz="2800" dirty="0" smtClean="0">
                <a:latin typeface="+mn-ea"/>
              </a:rPr>
              <a:t>S=</a:t>
            </a:r>
            <a:r>
              <a:rPr lang="zh-CN" altLang="en-US" sz="2800" dirty="0" smtClean="0">
                <a:latin typeface="+mn-ea"/>
              </a:rPr>
              <a:t>？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7762" y="201027"/>
          <a:ext cx="1664352" cy="3535680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554784"/>
                <a:gridCol w="554784"/>
                <a:gridCol w="554784"/>
              </a:tblGrid>
              <a:tr h="3962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28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noFill/>
                  </a:tcPr>
                </a:tc>
                <a:tc hMerge="1">
                  <a:tcP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400" b="1" baseline="-250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400" b="1" baseline="-2500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baseline="-250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957287" y="4402880"/>
          <a:ext cx="1664352" cy="1950720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554990"/>
                <a:gridCol w="554578"/>
                <a:gridCol w="554784"/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28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noFill/>
                  </a:tcPr>
                </a:tc>
                <a:tc hMerge="1">
                  <a:tcPr>
                    <a:noFill/>
                  </a:tcPr>
                </a:tc>
                <a:tc hMerge="1"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2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400" b="1" baseline="-2500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baseline="-250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altLang="zh-CN" sz="24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kumimoji="0" lang="en-US" altLang="zh-CN" sz="2400" b="1" kern="1200" baseline="-250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zh-CN" sz="2400" b="1" kern="1200" baseline="-250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229610" y="838200"/>
          <a:ext cx="7355205" cy="144780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7355205"/>
              </a:tblGrid>
              <a:tr h="1447800">
                <a:tc>
                  <a:txBody>
                    <a:bodyPr/>
                    <a:lstStyle/>
                    <a:p>
                      <a:pPr lvl="0"/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分析：在关系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 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 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中，共有的属性是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 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endParaRPr lang="zh-CN" altLang="en-US" sz="2800" b="1" baseline="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/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所以考虑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 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中除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 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C </a:t>
                      </a:r>
                      <a:r>
                        <a:rPr lang="zh-CN" altLang="en-US" sz="2800" b="1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以外的属性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，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/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可以取四个值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{a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lang="en-US" altLang="zh-CN" sz="28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3377565" y="4456430"/>
          <a:ext cx="4314825" cy="104013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4314825"/>
              </a:tblGrid>
              <a:tr h="1040130">
                <a:tc>
                  <a:txBody>
                    <a:bodyPr/>
                    <a:lstStyle/>
                    <a:p>
                      <a:pPr lvl="0"/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S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在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(B, C)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上的投影为</a:t>
                      </a:r>
                      <a:r>
                        <a:rPr lang="zh-CN" altLang="en-US" sz="2800" b="1" dirty="0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：</a:t>
                      </a:r>
                      <a:endParaRPr lang="en-US" altLang="zh-CN" sz="2800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vl="0"/>
                      <a:r>
                        <a:rPr lang="en-US" altLang="zh-CN" sz="2800" b="1" dirty="0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{(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)}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283585" y="2392680"/>
          <a:ext cx="7301230" cy="1862455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7301230"/>
              </a:tblGrid>
              <a:tr h="1862455">
                <a:tc>
                  <a:txBody>
                    <a:bodyPr/>
                    <a:lstStyle/>
                    <a:p>
                      <a:pPr lvl="0"/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的象集为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{(b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), 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), 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)}</a:t>
                      </a:r>
                      <a:endParaRPr lang="en-US" altLang="zh-CN" sz="2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vl="0"/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的象集为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{(b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), 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)}</a:t>
                      </a:r>
                      <a:endParaRPr lang="en-US" altLang="zh-CN" sz="2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vl="0"/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的象集为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{(b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)}</a:t>
                      </a:r>
                      <a:endParaRPr lang="en-US" altLang="zh-CN" sz="2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vl="0"/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的象集为 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{(b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, c</a:t>
                      </a:r>
                      <a:r>
                        <a:rPr lang="en-US" altLang="zh-CN" sz="2800" b="1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en-US" altLang="zh-CN" sz="28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)}</a:t>
                      </a:r>
                      <a:endParaRPr lang="zh-CN" altLang="en-US" sz="28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8485925" y="4861383"/>
          <a:ext cx="1152128" cy="1198220"/>
        </p:xfrm>
        <a:graphic>
          <a:graphicData uri="http://schemas.openxmlformats.org/drawingml/2006/table">
            <a:tbl>
              <a:tblPr bandRow="1">
                <a:effectLst/>
                <a:tableStyleId>{5940675A-B579-460E-94D1-54222C63F5DA}</a:tableStyleId>
              </a:tblPr>
              <a:tblGrid>
                <a:gridCol w="1152128"/>
              </a:tblGrid>
              <a:tr h="405765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R÷S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aseline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altLang="zh-CN" sz="2000" baseline="-25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000" baseline="-25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3425192" y="5692829"/>
            <a:ext cx="4333874" cy="954107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只有 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的象集完全包含了 </a:t>
            </a:r>
            <a:endParaRPr lang="en-US" altLang="zh-CN" sz="2800" b="1" dirty="0"/>
          </a:p>
          <a:p>
            <a:r>
              <a:rPr lang="en-US" altLang="zh-CN" sz="2800" b="1" dirty="0"/>
              <a:t>S </a:t>
            </a:r>
            <a:r>
              <a:rPr lang="zh-CN" altLang="en-US" sz="2800" b="1" dirty="0"/>
              <a:t>在 </a:t>
            </a:r>
            <a:r>
              <a:rPr lang="en-US" altLang="zh-CN" sz="2800" b="1" dirty="0"/>
              <a:t>(B, C) </a:t>
            </a:r>
            <a:r>
              <a:rPr lang="zh-CN" altLang="en-US" sz="2800" b="1" dirty="0"/>
              <a:t>属性组上的</a:t>
            </a:r>
            <a:r>
              <a:rPr lang="zh-CN" altLang="en-US" sz="2800" b="1" dirty="0" smtClean="0"/>
              <a:t>投影</a:t>
            </a:r>
            <a:endParaRPr lang="en-US" altLang="zh-CN" sz="2800" b="1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"/>
          <p:cNvGraphicFramePr>
            <a:graphicFrameLocks noGrp="1"/>
          </p:cNvGraphicFramePr>
          <p:nvPr/>
        </p:nvGraphicFramePr>
        <p:xfrm>
          <a:off x="1075689" y="2018685"/>
          <a:ext cx="7766250" cy="2681064"/>
        </p:xfrm>
        <a:graphic>
          <a:graphicData uri="http://schemas.openxmlformats.org/drawingml/2006/table">
            <a:tbl>
              <a:tblPr/>
              <a:tblGrid>
                <a:gridCol w="1800202"/>
                <a:gridCol w="720080"/>
                <a:gridCol w="1224136"/>
                <a:gridCol w="1728192"/>
                <a:gridCol w="792088"/>
                <a:gridCol w="1501552"/>
              </a:tblGrid>
              <a:tr h="2681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集合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∪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∩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×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并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差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交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笛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卡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尔积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比较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＞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≥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＜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≤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＝     </a:t>
                      </a: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&lt;&gt;  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不等于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Group 18"/>
          <p:cNvGraphicFramePr>
            <a:graphicFrameLocks noGrp="1"/>
          </p:cNvGraphicFramePr>
          <p:nvPr/>
        </p:nvGraphicFramePr>
        <p:xfrm>
          <a:off x="1058600" y="1315373"/>
          <a:ext cx="7766249" cy="609600"/>
        </p:xfrm>
        <a:graphic>
          <a:graphicData uri="http://schemas.openxmlformats.org/drawingml/2006/table">
            <a:tbl>
              <a:tblPr/>
              <a:tblGrid>
                <a:gridCol w="2520281"/>
                <a:gridCol w="1224136"/>
                <a:gridCol w="2520280"/>
                <a:gridCol w="1501552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Group 2"/>
          <p:cNvGraphicFramePr>
            <a:graphicFrameLocks noGrp="1"/>
          </p:cNvGraphicFramePr>
          <p:nvPr/>
        </p:nvGraphicFramePr>
        <p:xfrm>
          <a:off x="1058600" y="4843765"/>
          <a:ext cx="7776864" cy="1773936"/>
        </p:xfrm>
        <a:graphic>
          <a:graphicData uri="http://schemas.openxmlformats.org/drawingml/2006/table">
            <a:tbl>
              <a:tblPr/>
              <a:tblGrid>
                <a:gridCol w="1589028"/>
                <a:gridCol w="914955"/>
                <a:gridCol w="1259505"/>
                <a:gridCol w="1781128"/>
                <a:gridCol w="792088"/>
                <a:gridCol w="1440160"/>
              </a:tblGrid>
              <a:tr h="1677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专门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的关系运算符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σ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π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÷ 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选择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投影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连接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除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∧</a:t>
                      </a: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∨  </a:t>
                      </a: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与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或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AutoShape 32"/>
          <p:cNvSpPr>
            <a:spLocks noChangeAspect="1" noChangeArrowheads="1"/>
          </p:cNvSpPr>
          <p:nvPr/>
        </p:nvSpPr>
        <p:spPr bwMode="auto">
          <a:xfrm rot="5400000" flipV="1">
            <a:off x="3071409" y="5843589"/>
            <a:ext cx="179682" cy="337089"/>
          </a:xfrm>
          <a:prstGeom prst="flowChartCollate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专门的关系运算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--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1778737" y="1382998"/>
            <a:ext cx="8816135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</a:pP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关系、关系模式、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</a:rPr>
              <a:t>属性、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元、域、基数、元组、</a:t>
            </a:r>
            <a:r>
              <a:rPr sz="28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分量</a:t>
            </a:r>
            <a:endParaRPr lang="zh-CN" altLang="en-US"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3470" y="2111470"/>
            <a:ext cx="7650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</a:rPr>
              <a:t>码    超码   候选码   主码    全码    外码</a:t>
            </a:r>
            <a:endParaRPr lang="zh-CN" altLang="en-US"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3829273" y="2968740"/>
            <a:ext cx="3205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主属性 </a:t>
            </a:r>
            <a:r>
              <a:rPr lang="en-US" altLang="zh-CN" sz="2800" dirty="0">
                <a:latin typeface="宋体" panose="02010600030101010101" pitchFamily="2" charset="-122"/>
              </a:rPr>
              <a:t>| </a:t>
            </a:r>
            <a:r>
              <a:rPr lang="zh-CN" altLang="en-US" sz="2800" dirty="0">
                <a:latin typeface="宋体" panose="02010600030101010101" pitchFamily="2" charset="-122"/>
              </a:rPr>
              <a:t>非主属性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5269439" y="2633459"/>
            <a:ext cx="7620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501453" y="3735050"/>
            <a:ext cx="696347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实体完整性</a:t>
            </a:r>
            <a:r>
              <a:rPr lang="en-US" altLang="zh-CN" sz="2800" dirty="0">
                <a:solidFill>
                  <a:srgbClr val="FF0000"/>
                </a:solidFill>
              </a:rPr>
              <a:t>|</a:t>
            </a:r>
            <a:r>
              <a:rPr lang="zh-CN" altLang="en-US" sz="2800" dirty="0">
                <a:solidFill>
                  <a:srgbClr val="FF0000"/>
                </a:solidFill>
              </a:rPr>
              <a:t>参照完整性</a:t>
            </a:r>
            <a:r>
              <a:rPr lang="en-US" altLang="zh-CN" sz="2800" dirty="0">
                <a:solidFill>
                  <a:srgbClr val="FF0000"/>
                </a:solidFill>
              </a:rPr>
              <a:t>|</a:t>
            </a:r>
            <a:r>
              <a:rPr lang="zh-CN" altLang="en-US" sz="2800" dirty="0">
                <a:solidFill>
                  <a:srgbClr val="FF0000"/>
                </a:solidFill>
              </a:rPr>
              <a:t>用户定义的完整性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65597" y="4435406"/>
            <a:ext cx="3960440" cy="22453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zh-CN" altLang="en-US" sz="2800" dirty="0"/>
              <a:t>传统的</a:t>
            </a:r>
            <a:r>
              <a:rPr lang="zh-CN" altLang="en-US" sz="2800" dirty="0">
                <a:solidFill>
                  <a:srgbClr val="FF0000"/>
                </a:solidFill>
              </a:rPr>
              <a:t>集合</a:t>
            </a:r>
            <a:r>
              <a:rPr lang="zh-CN" altLang="en-US" sz="2800" dirty="0"/>
              <a:t>运算</a:t>
            </a:r>
            <a:endParaRPr lang="en-US" altLang="zh-CN" sz="2800" dirty="0"/>
          </a:p>
          <a:p>
            <a:pPr lvl="3" algn="l"/>
            <a:r>
              <a:rPr lang="zh-CN" altLang="en-US" sz="2800" dirty="0"/>
              <a:t>并运算</a:t>
            </a:r>
            <a:endParaRPr lang="en-US" altLang="zh-CN" sz="2800" dirty="0"/>
          </a:p>
          <a:p>
            <a:pPr lvl="3" algn="l"/>
            <a:r>
              <a:rPr lang="zh-CN" altLang="en-US" sz="2800" dirty="0"/>
              <a:t>差运算</a:t>
            </a:r>
            <a:endParaRPr lang="en-US" altLang="zh-CN" sz="2800" dirty="0"/>
          </a:p>
          <a:p>
            <a:pPr lvl="3" algn="l"/>
            <a:r>
              <a:rPr lang="zh-CN" altLang="en-US" sz="2800" dirty="0"/>
              <a:t>交运算</a:t>
            </a:r>
            <a:endParaRPr lang="en-US" altLang="zh-CN" sz="2800" dirty="0"/>
          </a:p>
          <a:p>
            <a:pPr lvl="3" algn="l"/>
            <a:r>
              <a:rPr lang="zh-CN" altLang="en-US" sz="2800" dirty="0"/>
              <a:t>笛卡尔积运算</a:t>
            </a:r>
            <a:endParaRPr lang="zh-CN" altLang="en-US" sz="2800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1801039" y="3558866"/>
            <a:ext cx="85080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789888" y="4360695"/>
            <a:ext cx="85080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952723" y="2795222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数据结构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6"/>
          <p:cNvSpPr txBox="1"/>
          <p:nvPr/>
        </p:nvSpPr>
        <p:spPr>
          <a:xfrm>
            <a:off x="950683" y="3703747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数据约束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Box 6"/>
          <p:cNvSpPr txBox="1"/>
          <p:nvPr/>
        </p:nvSpPr>
        <p:spPr>
          <a:xfrm>
            <a:off x="948546" y="449442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数据操作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1" grpId="0"/>
      <p:bldP spid="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395345" y="2856230"/>
          <a:ext cx="56007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175"/>
                <a:gridCol w="1400175"/>
                <a:gridCol w="1400175"/>
                <a:gridCol w="1400175"/>
              </a:tblGrid>
              <a:tr h="622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学号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姓名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性别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年龄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字符型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字符型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布尔型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800" b="1" dirty="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短整型</a:t>
                      </a:r>
                      <a:endParaRPr lang="zh-CN" altLang="en-US" sz="2800" b="1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802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李四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王五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804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赵六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805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钱七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2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TextBox 6"/>
          <p:cNvSpPr txBox="1"/>
          <p:nvPr/>
        </p:nvSpPr>
        <p:spPr>
          <a:xfrm>
            <a:off x="4406265" y="1781810"/>
            <a:ext cx="3578860" cy="565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ts val="3700"/>
              </a:lnSpc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学生基本信息登记表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1922780" y="1268730"/>
            <a:ext cx="1472565" cy="658495"/>
          </a:xfrm>
          <a:prstGeom prst="wedgeRoundRectCallout">
            <a:avLst>
              <a:gd name="adj1" fmla="val 122229"/>
              <a:gd name="adj2" fmla="val 70057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关系名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29915" y="2931160"/>
            <a:ext cx="6132195" cy="95123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1878965" y="2062480"/>
            <a:ext cx="1849755" cy="658495"/>
          </a:xfrm>
          <a:prstGeom prst="wedgeRoundRectCallout">
            <a:avLst>
              <a:gd name="adj1" fmla="val 101868"/>
              <a:gd name="adj2" fmla="val 76808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关系模式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1904365" y="3183255"/>
            <a:ext cx="976630" cy="658495"/>
          </a:xfrm>
          <a:prstGeom prst="wedgeRoundRectCallout">
            <a:avLst>
              <a:gd name="adj1" fmla="val 94083"/>
              <a:gd name="adj2" fmla="val 106798"/>
              <a:gd name="adj3" fmla="val 16667"/>
            </a:avLst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8075295" y="1859915"/>
            <a:ext cx="1105535" cy="563245"/>
          </a:xfrm>
          <a:prstGeom prst="wedgeRoundRectCallout">
            <a:avLst>
              <a:gd name="adj1" fmla="val -21165"/>
              <a:gd name="adj2" fmla="val 116854"/>
              <a:gd name="adj3" fmla="val 16667"/>
            </a:avLst>
          </a:prstGeom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8075295" y="530225"/>
            <a:ext cx="2220595" cy="566420"/>
          </a:xfrm>
          <a:prstGeom prst="wedgeRoundRectCallout">
            <a:avLst>
              <a:gd name="adj1" fmla="val -21946"/>
              <a:gd name="adj2" fmla="val 47951"/>
              <a:gd name="adj3" fmla="val 16667"/>
            </a:avLst>
          </a:prstGeom>
          <a:ln w="1905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列个数为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元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圆角矩形标注 24"/>
          <p:cNvSpPr/>
          <p:nvPr/>
        </p:nvSpPr>
        <p:spPr>
          <a:xfrm>
            <a:off x="8075295" y="1177925"/>
            <a:ext cx="2220595" cy="577850"/>
          </a:xfrm>
          <a:prstGeom prst="wedgeRoundRectCallout">
            <a:avLst>
              <a:gd name="adj1" fmla="val -12982"/>
              <a:gd name="adj2" fmla="val 42857"/>
              <a:gd name="adj3" fmla="val 16667"/>
            </a:avLst>
          </a:prstGeom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列取值为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70250" y="4415790"/>
            <a:ext cx="5910580" cy="584835"/>
          </a:xfrm>
          <a:prstGeom prst="rect">
            <a:avLst/>
          </a:prstGeom>
          <a:noFill/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标注 28"/>
          <p:cNvSpPr/>
          <p:nvPr/>
        </p:nvSpPr>
        <p:spPr>
          <a:xfrm>
            <a:off x="1904365" y="4352290"/>
            <a:ext cx="1062990" cy="563245"/>
          </a:xfrm>
          <a:prstGeom prst="wedgeRoundRectCallout">
            <a:avLst>
              <a:gd name="adj1" fmla="val 75301"/>
              <a:gd name="adj2" fmla="val -1168"/>
              <a:gd name="adj3" fmla="val 16667"/>
            </a:avLst>
          </a:prstGeom>
          <a:noFill/>
          <a:ln w="19050"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元组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圆角矩形标注 29"/>
          <p:cNvSpPr/>
          <p:nvPr/>
        </p:nvSpPr>
        <p:spPr>
          <a:xfrm>
            <a:off x="4704080" y="6087745"/>
            <a:ext cx="1720850" cy="577850"/>
          </a:xfrm>
          <a:prstGeom prst="wedgeRoundRectCallout">
            <a:avLst>
              <a:gd name="adj1" fmla="val -12435"/>
              <a:gd name="adj2" fmla="val -261758"/>
              <a:gd name="adj3" fmla="val 16667"/>
            </a:avLst>
          </a:prstGeom>
          <a:noFill/>
          <a:ln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一个分量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704080" y="4349750"/>
            <a:ext cx="1572260" cy="737235"/>
          </a:xfrm>
          <a:prstGeom prst="rect">
            <a:avLst/>
          </a:prstGeom>
          <a:noFill/>
          <a:ln w="19050"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圆角矩形标注 31"/>
          <p:cNvSpPr/>
          <p:nvPr/>
        </p:nvSpPr>
        <p:spPr>
          <a:xfrm>
            <a:off x="1878965" y="6087745"/>
            <a:ext cx="2039620" cy="577850"/>
          </a:xfrm>
          <a:prstGeom prst="wedgeRoundRectCallout">
            <a:avLst>
              <a:gd name="adj1" fmla="val 13659"/>
              <a:gd name="adj2" fmla="val -43296"/>
              <a:gd name="adj3" fmla="val 16667"/>
            </a:avLst>
          </a:prstGeom>
          <a:ln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p>
            <a:pPr algn="ctr"/>
            <a:r>
              <a:rPr 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行数为基数</a:t>
            </a: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47610" y="2809240"/>
            <a:ext cx="1501140" cy="3300730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5" grpId="0" bldLvl="0" animBg="1"/>
      <p:bldP spid="4" grpId="0" bldLvl="0" animBg="1"/>
      <p:bldP spid="5" grpId="1" animBg="1"/>
      <p:bldP spid="4" grpId="1" animBg="1"/>
      <p:bldP spid="12" grpId="0" bldLvl="0" animBg="1"/>
      <p:bldP spid="12" grpId="1" animBg="1"/>
      <p:bldP spid="29" grpId="0" bldLvl="0" animBg="1"/>
      <p:bldP spid="18" grpId="0" bldLvl="0" animBg="1"/>
      <p:bldP spid="29" grpId="1" animBg="1"/>
      <p:bldP spid="18" grpId="1" animBg="1"/>
      <p:bldP spid="32" grpId="0" bldLvl="0" animBg="1"/>
      <p:bldP spid="32" grpId="1" animBg="1"/>
      <p:bldP spid="31" grpId="0" bldLvl="0" animBg="1"/>
      <p:bldP spid="30" grpId="0" bldLvl="0" animBg="1"/>
      <p:bldP spid="31" grpId="1" animBg="1"/>
      <p:bldP spid="30" grpId="1" animBg="1"/>
      <p:bldP spid="8" grpId="0" bldLvl="0" animBg="1"/>
      <p:bldP spid="33" grpId="0" bldLvl="0" animBg="1"/>
      <p:bldP spid="8" grpId="1" animBg="1"/>
      <p:bldP spid="33" grpId="1" animBg="1"/>
      <p:bldP spid="25" grpId="0" bldLvl="0" animBg="1"/>
      <p:bldP spid="25" grpId="1" animBg="1"/>
      <p:bldP spid="17" grpId="0" bldLvl="0" animBg="1"/>
      <p:bldP spid="17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8946515" y="2940071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外码</a:t>
            </a:r>
            <a:endParaRPr lang="zh-CN" altLang="en-US" sz="28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8946738" y="3696376"/>
            <a:ext cx="1427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主属性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zh-CN" altLang="en-US" sz="2800" dirty="0" smtClean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129020" y="3952240"/>
            <a:ext cx="2651125" cy="0"/>
          </a:xfrm>
          <a:prstGeom prst="straightConnector1">
            <a:avLst/>
          </a:prstGeom>
          <a:ln w="1905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4730115" y="2201545"/>
            <a:ext cx="1494790" cy="738505"/>
          </a:xfrm>
          <a:prstGeom prst="ellipse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 anchorCtr="1"/>
          <a:p>
            <a:pPr algn="ctr"/>
            <a:r>
              <a:rPr lang="zh-CN" altLang="en-US" sz="280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全码</a:t>
            </a:r>
            <a:endParaRPr lang="zh-CN" altLang="en-US" sz="280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196080" y="2137410"/>
            <a:ext cx="2562860" cy="155892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b" anchorCtr="1"/>
          <a:p>
            <a:pPr algn="ctr"/>
            <a:r>
              <a:rPr lang="en-US" altLang="zh-CN" sz="2800"/>
              <a:t> 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主码</a:t>
            </a:r>
            <a:endParaRPr lang="zh-CN" altLang="en-US" sz="28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796030" y="2005330"/>
            <a:ext cx="3362960" cy="2604135"/>
          </a:xfrm>
          <a:prstGeom prst="ellipse">
            <a:avLst/>
          </a:prstGeom>
          <a:noFill/>
          <a:ln>
            <a:solidFill>
              <a:srgbClr val="0000C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b" anchorCtr="1"/>
          <a:p>
            <a:pPr algn="ctr"/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候选码</a:t>
            </a:r>
            <a:endParaRPr lang="zh-CN" altLang="en-US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86785" y="1902460"/>
            <a:ext cx="3981450" cy="3698875"/>
          </a:xfrm>
          <a:prstGeom prst="ellipse">
            <a:avLst/>
          </a:prstGeom>
          <a:noFill/>
          <a:ln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6990" tIns="46990" rIns="46990" bIns="0" rtlCol="0" anchor="b" anchorCtr="1"/>
          <a:p>
            <a:pPr algn="ctr"/>
            <a:r>
              <a:rPr lang="zh-CN" altLang="en-US" sz="280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超码</a:t>
            </a:r>
            <a:endParaRPr lang="zh-CN" altLang="en-US" sz="280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808605" y="1831340"/>
            <a:ext cx="5230495" cy="50228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6990" tIns="46990" rIns="46990" bIns="0" rtlCol="0" anchor="b" anchorCtr="1"/>
          <a:p>
            <a:pPr algn="ctr"/>
            <a:r>
              <a:rPr lang="zh-CN" altLang="en-US" sz="28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</a:t>
            </a:r>
            <a:endParaRPr lang="zh-CN" altLang="en-US" sz="280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129020" y="3201035"/>
            <a:ext cx="265112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标注 18"/>
          <p:cNvSpPr/>
          <p:nvPr/>
        </p:nvSpPr>
        <p:spPr>
          <a:xfrm>
            <a:off x="2571115" y="1074420"/>
            <a:ext cx="7639685" cy="658495"/>
          </a:xfrm>
          <a:prstGeom prst="wedgeRoundRectCallout">
            <a:avLst>
              <a:gd name="adj1" fmla="val -24735"/>
              <a:gd name="adj2" fmla="val 44985"/>
              <a:gd name="adj3" fmla="val 16667"/>
            </a:avLst>
          </a:prstGeom>
          <a:noFill/>
          <a:ln w="19050">
            <a:solidFill>
              <a:srgbClr val="4E67C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那些属性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组能确定一行内容？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4" grpId="1" animBg="1"/>
      <p:bldP spid="13" grpId="1" animBg="1"/>
      <p:bldP spid="11" grpId="0" bldLvl="0" animBg="1"/>
      <p:bldP spid="11" grpId="1" animBg="1"/>
      <p:bldP spid="10" grpId="0" bldLvl="0" animBg="1"/>
      <p:bldP spid="10" grpId="1" animBg="1"/>
      <p:bldP spid="6" grpId="0"/>
      <p:bldP spid="6" grpId="1"/>
      <p:bldP spid="3" grpId="0"/>
      <p:bldP spid="3" grpId="1"/>
      <p:bldP spid="15" grpId="0" bldLvl="0" animBg="1"/>
      <p:bldP spid="15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66925" y="1341120"/>
            <a:ext cx="1022985" cy="962660"/>
            <a:chOff x="4186" y="2841"/>
            <a:chExt cx="1611" cy="1516"/>
          </a:xfrm>
        </p:grpSpPr>
        <p:sp>
          <p:nvSpPr>
            <p:cNvPr id="2" name="椭圆 1"/>
            <p:cNvSpPr/>
            <p:nvPr/>
          </p:nvSpPr>
          <p:spPr>
            <a:xfrm>
              <a:off x="4186" y="2841"/>
              <a:ext cx="1611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67" y="3188"/>
              <a:ext cx="928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3200">
                  <a:solidFill>
                    <a:srgbClr val="1F2DA8"/>
                  </a:solidFill>
                </a:rPr>
                <a:t>域</a:t>
              </a:r>
              <a:endParaRPr lang="zh-CN" altLang="en-US" sz="3200">
                <a:solidFill>
                  <a:srgbClr val="1F2DA8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164715" y="3459480"/>
            <a:ext cx="2027555" cy="962660"/>
            <a:chOff x="4186" y="2841"/>
            <a:chExt cx="3193" cy="1516"/>
          </a:xfrm>
        </p:grpSpPr>
        <p:sp>
          <p:nvSpPr>
            <p:cNvPr id="12" name="椭圆 11"/>
            <p:cNvSpPr/>
            <p:nvPr/>
          </p:nvSpPr>
          <p:spPr>
            <a:xfrm>
              <a:off x="4186" y="2841"/>
              <a:ext cx="3193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567" y="3188"/>
              <a:ext cx="2528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2800">
                  <a:solidFill>
                    <a:srgbClr val="1F2DA8"/>
                  </a:solidFill>
                </a:rPr>
                <a:t>笛卡尔积</a:t>
              </a:r>
              <a:endParaRPr lang="zh-CN" altLang="en-US" sz="2800">
                <a:solidFill>
                  <a:srgbClr val="1F2DA8"/>
                </a:solidFill>
              </a:endParaRPr>
            </a:p>
          </p:txBody>
        </p:sp>
      </p:grpSp>
      <p:sp>
        <p:nvSpPr>
          <p:cNvPr id="18" name="右箭头 17"/>
          <p:cNvSpPr/>
          <p:nvPr/>
        </p:nvSpPr>
        <p:spPr>
          <a:xfrm rot="5400000">
            <a:off x="2565400" y="2228215"/>
            <a:ext cx="1228090" cy="122682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乘</a:t>
            </a:r>
            <a:endParaRPr lang="zh-CN" altLang="en-US" sz="2800" dirty="0" smtClean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284855" y="1341120"/>
            <a:ext cx="1022985" cy="962660"/>
            <a:chOff x="4186" y="2841"/>
            <a:chExt cx="1611" cy="1516"/>
          </a:xfrm>
        </p:grpSpPr>
        <p:sp>
          <p:nvSpPr>
            <p:cNvPr id="21" name="椭圆 20"/>
            <p:cNvSpPr/>
            <p:nvPr/>
          </p:nvSpPr>
          <p:spPr>
            <a:xfrm>
              <a:off x="4186" y="2841"/>
              <a:ext cx="1611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527" y="3143"/>
              <a:ext cx="928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3200">
                  <a:solidFill>
                    <a:srgbClr val="1F2DA8"/>
                  </a:solidFill>
                </a:rPr>
                <a:t>域</a:t>
              </a:r>
              <a:endParaRPr lang="zh-CN" altLang="en-US" sz="3200">
                <a:solidFill>
                  <a:srgbClr val="1F2DA8"/>
                </a:solidFill>
              </a:endParaRPr>
            </a:p>
          </p:txBody>
        </p:sp>
      </p:grpSp>
      <p:sp>
        <p:nvSpPr>
          <p:cNvPr id="23" name="右箭头 22"/>
          <p:cNvSpPr/>
          <p:nvPr/>
        </p:nvSpPr>
        <p:spPr>
          <a:xfrm rot="5400000">
            <a:off x="2564765" y="4502150"/>
            <a:ext cx="1228090" cy="122682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子集</a:t>
            </a:r>
            <a:endParaRPr lang="zh-CN" altLang="en-US" sz="2800" dirty="0" smtClean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164715" y="5736590"/>
            <a:ext cx="2027555" cy="962660"/>
            <a:chOff x="4186" y="2841"/>
            <a:chExt cx="3193" cy="1516"/>
          </a:xfrm>
        </p:grpSpPr>
        <p:sp>
          <p:nvSpPr>
            <p:cNvPr id="25" name="椭圆 24"/>
            <p:cNvSpPr/>
            <p:nvPr/>
          </p:nvSpPr>
          <p:spPr>
            <a:xfrm>
              <a:off x="4186" y="2841"/>
              <a:ext cx="3193" cy="15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047" y="3140"/>
              <a:ext cx="1568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p>
              <a:r>
                <a:rPr lang="zh-CN" altLang="en-US" sz="3200">
                  <a:solidFill>
                    <a:srgbClr val="1F2DA8"/>
                  </a:solidFill>
                </a:rPr>
                <a:t>关系</a:t>
              </a:r>
              <a:endParaRPr lang="zh-CN" altLang="en-US" sz="3200">
                <a:solidFill>
                  <a:srgbClr val="1F2DA8"/>
                </a:solidFill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502150" y="1561465"/>
            <a:ext cx="6583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域是一组具有相同数据类型的值的集合。</a:t>
            </a:r>
            <a:endParaRPr lang="zh-CN" altLang="en-US" sz="28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02150" y="5449570"/>
            <a:ext cx="6096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algn="l"/>
            <a:r>
              <a:rPr lang="zh-CN" altLang="en-US" sz="2800" dirty="0" smtClean="0">
                <a:solidFill>
                  <a:schemeClr val="tx1"/>
                </a:solidFill>
                <a:latin typeface="+mn-ea"/>
                <a:sym typeface="+mn-ea"/>
              </a:rPr>
              <a:t>记做：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R(U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, D, DOM, F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+mn-ea"/>
              </a:rPr>
              <a:t>) </a:t>
            </a:r>
            <a:endParaRPr lang="zh-CN" altLang="en-US" sz="2800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0" lvl="1" algn="l"/>
            <a:r>
              <a:rPr lang="zh-CN" altLang="en-US" sz="2800" dirty="0" smtClean="0">
                <a:latin typeface="+mn-ea"/>
                <a:sym typeface="+mn-ea"/>
              </a:rPr>
              <a:t>简记：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R(U) </a:t>
            </a:r>
            <a:r>
              <a:rPr lang="zh-CN" altLang="en-US" sz="2800" dirty="0">
                <a:latin typeface="+mn-ea"/>
                <a:sym typeface="+mn-ea"/>
              </a:rPr>
              <a:t>或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R(A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sym typeface="+mn-ea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, 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sym typeface="+mn-ea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, …, A</a:t>
            </a:r>
            <a:r>
              <a:rPr lang="en-US" altLang="zh-CN" sz="2800" baseline="-25000" dirty="0">
                <a:solidFill>
                  <a:srgbClr val="FF0000"/>
                </a:solidFill>
                <a:latin typeface="+mn-ea"/>
                <a:sym typeface="+mn-ea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+mn-ea"/>
              </a:rPr>
              <a:t>)</a:t>
            </a:r>
            <a:endParaRPr lang="en-US" altLang="zh-CN" sz="2800" dirty="0">
              <a:solidFill>
                <a:srgbClr val="FF0000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18" grpId="0" bldLvl="0" animBg="1"/>
      <p:bldP spid="18" grpId="1" animBg="1"/>
      <p:bldP spid="23" grpId="0" bldLvl="0" animBg="1"/>
      <p:bldP spid="28" grpId="0"/>
      <p:bldP spid="23" grpId="1" animBg="1"/>
      <p:bldP spid="28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13" name="任意多边形: 形状 43"/>
          <p:cNvSpPr/>
          <p:nvPr>
            <p:custDataLst>
              <p:tags r:id="rId1"/>
            </p:custDataLst>
          </p:nvPr>
        </p:nvSpPr>
        <p:spPr>
          <a:xfrm>
            <a:off x="6255097" y="2520516"/>
            <a:ext cx="1231466" cy="3065396"/>
          </a:xfrm>
          <a:custGeom>
            <a:avLst/>
            <a:gdLst>
              <a:gd name="connsiteX0" fmla="*/ 469597 w 1441073"/>
              <a:gd name="connsiteY0" fmla="*/ 0 h 3587156"/>
              <a:gd name="connsiteX1" fmla="*/ 509370 w 1441073"/>
              <a:gd name="connsiteY1" fmla="*/ 24364 h 3587156"/>
              <a:gd name="connsiteX2" fmla="*/ 1441073 w 1441073"/>
              <a:gd name="connsiteY2" fmla="*/ 1791265 h 3587156"/>
              <a:gd name="connsiteX3" fmla="*/ 839942 w 1441073"/>
              <a:gd name="connsiteY3" fmla="*/ 3279793 h 3587156"/>
              <a:gd name="connsiteX4" fmla="*/ 675483 w 1441073"/>
              <a:gd name="connsiteY4" fmla="*/ 3432322 h 3587156"/>
              <a:gd name="connsiteX5" fmla="*/ 763959 w 1441073"/>
              <a:gd name="connsiteY5" fmla="*/ 3587156 h 3587156"/>
              <a:gd name="connsiteX6" fmla="*/ 57881 w 1441073"/>
              <a:gd name="connsiteY6" fmla="*/ 3145131 h 3587156"/>
              <a:gd name="connsiteX7" fmla="*/ 49471 w 1441073"/>
              <a:gd name="connsiteY7" fmla="*/ 2336796 h 3587156"/>
              <a:gd name="connsiteX8" fmla="*/ 137601 w 1441073"/>
              <a:gd name="connsiteY8" fmla="*/ 2491025 h 3587156"/>
              <a:gd name="connsiteX9" fmla="*/ 162659 w 1441073"/>
              <a:gd name="connsiteY9" fmla="*/ 2462778 h 3587156"/>
              <a:gd name="connsiteX10" fmla="*/ 405457 w 1441073"/>
              <a:gd name="connsiteY10" fmla="*/ 1769866 h 3587156"/>
              <a:gd name="connsiteX11" fmla="*/ 18528 w 1441073"/>
              <a:gd name="connsiteY11" fmla="*/ 929290 h 3587156"/>
              <a:gd name="connsiteX12" fmla="*/ 0 w 1441073"/>
              <a:gd name="connsiteY12" fmla="*/ 915096 h 3587156"/>
              <a:gd name="connsiteX13" fmla="*/ 470549 w 1441073"/>
              <a:gd name="connsiteY13" fmla="*/ 602917 h 3587156"/>
              <a:gd name="connsiteX14" fmla="*/ 479363 w 1441073"/>
              <a:gd name="connsiteY14" fmla="*/ 602774 h 35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41073" h="3587156">
                <a:moveTo>
                  <a:pt x="469597" y="0"/>
                </a:moveTo>
                <a:lnTo>
                  <a:pt x="509370" y="24364"/>
                </a:lnTo>
                <a:cubicBezTo>
                  <a:pt x="1071493" y="407286"/>
                  <a:pt x="1441073" y="1055757"/>
                  <a:pt x="1441073" y="1791265"/>
                </a:cubicBezTo>
                <a:cubicBezTo>
                  <a:pt x="1441073" y="2370479"/>
                  <a:pt x="1211876" y="2895714"/>
                  <a:pt x="839942" y="3279793"/>
                </a:cubicBezTo>
                <a:lnTo>
                  <a:pt x="675483" y="3432322"/>
                </a:lnTo>
                <a:lnTo>
                  <a:pt x="763959" y="3587156"/>
                </a:lnTo>
                <a:lnTo>
                  <a:pt x="57881" y="3145131"/>
                </a:lnTo>
                <a:lnTo>
                  <a:pt x="49471" y="2336796"/>
                </a:lnTo>
                <a:lnTo>
                  <a:pt x="137601" y="2491025"/>
                </a:lnTo>
                <a:lnTo>
                  <a:pt x="162659" y="2462778"/>
                </a:lnTo>
                <a:cubicBezTo>
                  <a:pt x="314340" y="2274478"/>
                  <a:pt x="405457" y="2033074"/>
                  <a:pt x="405457" y="1769866"/>
                </a:cubicBezTo>
                <a:cubicBezTo>
                  <a:pt x="405457" y="1431456"/>
                  <a:pt x="254835" y="1129088"/>
                  <a:pt x="18528" y="929290"/>
                </a:cubicBezTo>
                <a:lnTo>
                  <a:pt x="0" y="915096"/>
                </a:lnTo>
                <a:lnTo>
                  <a:pt x="470549" y="602917"/>
                </a:lnTo>
                <a:lnTo>
                  <a:pt x="479363" y="602774"/>
                </a:lnTo>
                <a:close/>
              </a:path>
            </a:pathLst>
          </a:custGeom>
          <a:solidFill>
            <a:srgbClr val="70AD47">
              <a:lumMod val="60000"/>
              <a:lumOff val="4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: 形状 37"/>
          <p:cNvSpPr/>
          <p:nvPr>
            <p:custDataLst>
              <p:tags r:id="rId2"/>
            </p:custDataLst>
          </p:nvPr>
        </p:nvSpPr>
        <p:spPr>
          <a:xfrm rot="7086092">
            <a:off x="3829500" y="2197613"/>
            <a:ext cx="2881186" cy="2112199"/>
          </a:xfrm>
          <a:custGeom>
            <a:avLst/>
            <a:gdLst>
              <a:gd name="connsiteX0" fmla="*/ 408525 w 3371593"/>
              <a:gd name="connsiteY0" fmla="*/ 1357849 h 2471715"/>
              <a:gd name="connsiteX1" fmla="*/ 173911 w 3371593"/>
              <a:gd name="connsiteY1" fmla="*/ 604707 h 2471715"/>
              <a:gd name="connsiteX2" fmla="*/ 164013 w 3371593"/>
              <a:gd name="connsiteY2" fmla="*/ 409318 h 2471715"/>
              <a:gd name="connsiteX3" fmla="*/ 0 w 3371593"/>
              <a:gd name="connsiteY3" fmla="*/ 409963 h 2471715"/>
              <a:gd name="connsiteX4" fmla="*/ 687323 w 3371593"/>
              <a:gd name="connsiteY4" fmla="*/ 0 h 2471715"/>
              <a:gd name="connsiteX5" fmla="*/ 1142445 w 3371593"/>
              <a:gd name="connsiteY5" fmla="*/ 263142 h 2471715"/>
              <a:gd name="connsiteX6" fmla="*/ 1183519 w 3371593"/>
              <a:gd name="connsiteY6" fmla="*/ 285292 h 2471715"/>
              <a:gd name="connsiteX7" fmla="*/ 1183417 w 3371593"/>
              <a:gd name="connsiteY7" fmla="*/ 286831 h 2471715"/>
              <a:gd name="connsiteX8" fmla="*/ 1386941 w 3371593"/>
              <a:gd name="connsiteY8" fmla="*/ 404505 h 2471715"/>
              <a:gd name="connsiteX9" fmla="*/ 1181054 w 3371593"/>
              <a:gd name="connsiteY9" fmla="*/ 405315 h 2471715"/>
              <a:gd name="connsiteX10" fmla="*/ 1184606 w 3371593"/>
              <a:gd name="connsiteY10" fmla="*/ 485191 h 2471715"/>
              <a:gd name="connsiteX11" fmla="*/ 1301598 w 3371593"/>
              <a:gd name="connsiteY11" fmla="*/ 864693 h 2471715"/>
              <a:gd name="connsiteX12" fmla="*/ 2662508 w 3371593"/>
              <a:gd name="connsiteY12" fmla="*/ 1337122 h 2471715"/>
              <a:gd name="connsiteX13" fmla="*/ 2745586 w 3371593"/>
              <a:gd name="connsiteY13" fmla="*/ 1297887 h 2471715"/>
              <a:gd name="connsiteX14" fmla="*/ 2799626 w 3371593"/>
              <a:gd name="connsiteY14" fmla="*/ 1862057 h 2471715"/>
              <a:gd name="connsiteX15" fmla="*/ 2795602 w 3371593"/>
              <a:gd name="connsiteY15" fmla="*/ 1869898 h 2471715"/>
              <a:gd name="connsiteX16" fmla="*/ 3371593 w 3371593"/>
              <a:gd name="connsiteY16" fmla="*/ 2165436 h 2471715"/>
              <a:gd name="connsiteX17" fmla="*/ 3283549 w 3371593"/>
              <a:gd name="connsiteY17" fmla="*/ 2218272 h 2471715"/>
              <a:gd name="connsiteX18" fmla="*/ 408525 w 3371593"/>
              <a:gd name="connsiteY18" fmla="*/ 1357849 h 247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71593" h="2471715">
                <a:moveTo>
                  <a:pt x="408525" y="1357849"/>
                </a:moveTo>
                <a:cubicBezTo>
                  <a:pt x="279678" y="1116556"/>
                  <a:pt x="202775" y="861285"/>
                  <a:pt x="173911" y="604707"/>
                </a:cubicBezTo>
                <a:lnTo>
                  <a:pt x="164013" y="409318"/>
                </a:lnTo>
                <a:lnTo>
                  <a:pt x="0" y="409963"/>
                </a:lnTo>
                <a:lnTo>
                  <a:pt x="687323" y="0"/>
                </a:lnTo>
                <a:lnTo>
                  <a:pt x="1142445" y="263142"/>
                </a:lnTo>
                <a:lnTo>
                  <a:pt x="1183519" y="285292"/>
                </a:lnTo>
                <a:lnTo>
                  <a:pt x="1183417" y="286831"/>
                </a:lnTo>
                <a:lnTo>
                  <a:pt x="1386941" y="404505"/>
                </a:lnTo>
                <a:lnTo>
                  <a:pt x="1181054" y="405315"/>
                </a:lnTo>
                <a:lnTo>
                  <a:pt x="1184606" y="485191"/>
                </a:lnTo>
                <a:cubicBezTo>
                  <a:pt x="1198449" y="614649"/>
                  <a:pt x="1236769" y="743287"/>
                  <a:pt x="1301598" y="864693"/>
                </a:cubicBezTo>
                <a:cubicBezTo>
                  <a:pt x="1560913" y="1350316"/>
                  <a:pt x="2152316" y="1547831"/>
                  <a:pt x="2662508" y="1337122"/>
                </a:cubicBezTo>
                <a:lnTo>
                  <a:pt x="2745586" y="1297887"/>
                </a:lnTo>
                <a:lnTo>
                  <a:pt x="2799626" y="1862057"/>
                </a:lnTo>
                <a:lnTo>
                  <a:pt x="2795602" y="1869898"/>
                </a:lnTo>
                <a:lnTo>
                  <a:pt x="3371593" y="2165436"/>
                </a:lnTo>
                <a:lnTo>
                  <a:pt x="3283549" y="2218272"/>
                </a:lnTo>
                <a:cubicBezTo>
                  <a:pt x="2245464" y="2772594"/>
                  <a:pt x="958272" y="2387369"/>
                  <a:pt x="408525" y="1357849"/>
                </a:cubicBezTo>
                <a:close/>
              </a:path>
            </a:pathLst>
          </a:custGeom>
          <a:solidFill>
            <a:srgbClr val="70AD47">
              <a:lumMod val="40000"/>
              <a:lumOff val="6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41"/>
          <p:cNvSpPr/>
          <p:nvPr>
            <p:custDataLst>
              <p:tags r:id="rId3"/>
            </p:custDataLst>
          </p:nvPr>
        </p:nvSpPr>
        <p:spPr>
          <a:xfrm rot="21129011">
            <a:off x="3862401" y="3794718"/>
            <a:ext cx="2744568" cy="2136095"/>
          </a:xfrm>
          <a:custGeom>
            <a:avLst/>
            <a:gdLst>
              <a:gd name="connsiteX0" fmla="*/ 737885 w 3211721"/>
              <a:gd name="connsiteY0" fmla="*/ 0 h 2499680"/>
              <a:gd name="connsiteX1" fmla="*/ 1440034 w 3211721"/>
              <a:gd name="connsiteY1" fmla="*/ 400579 h 2499680"/>
              <a:gd name="connsiteX2" fmla="*/ 1226190 w 3211721"/>
              <a:gd name="connsiteY2" fmla="*/ 398503 h 2499680"/>
              <a:gd name="connsiteX3" fmla="*/ 1232619 w 3211721"/>
              <a:gd name="connsiteY3" fmla="*/ 518686 h 2499680"/>
              <a:gd name="connsiteX4" fmla="*/ 2136050 w 3211721"/>
              <a:gd name="connsiteY4" fmla="*/ 1428820 h 2499680"/>
              <a:gd name="connsiteX5" fmla="*/ 2750368 w 3211721"/>
              <a:gd name="connsiteY5" fmla="*/ 1325717 h 2499680"/>
              <a:gd name="connsiteX6" fmla="*/ 2786722 w 3211721"/>
              <a:gd name="connsiteY6" fmla="*/ 1305060 h 2499680"/>
              <a:gd name="connsiteX7" fmla="*/ 2713583 w 3211721"/>
              <a:gd name="connsiteY7" fmla="*/ 1835554 h 2499680"/>
              <a:gd name="connsiteX8" fmla="*/ 2707861 w 3211721"/>
              <a:gd name="connsiteY8" fmla="*/ 1842259 h 2499680"/>
              <a:gd name="connsiteX9" fmla="*/ 3211721 w 3211721"/>
              <a:gd name="connsiteY9" fmla="*/ 2272342 h 2499680"/>
              <a:gd name="connsiteX10" fmla="*/ 3196825 w 3211721"/>
              <a:gd name="connsiteY10" fmla="*/ 2280655 h 2499680"/>
              <a:gd name="connsiteX11" fmla="*/ 1976668 w 3211721"/>
              <a:gd name="connsiteY11" fmla="*/ 2479785 h 2499680"/>
              <a:gd name="connsiteX12" fmla="*/ 158141 w 3211721"/>
              <a:gd name="connsiteY12" fmla="*/ 511596 h 2499680"/>
              <a:gd name="connsiteX13" fmla="*/ 156509 w 3211721"/>
              <a:gd name="connsiteY13" fmla="*/ 388118 h 2499680"/>
              <a:gd name="connsiteX14" fmla="*/ 0 w 3211721"/>
              <a:gd name="connsiteY14" fmla="*/ 386598 h 24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11721" h="2499680">
                <a:moveTo>
                  <a:pt x="737885" y="0"/>
                </a:moveTo>
                <a:lnTo>
                  <a:pt x="1440034" y="400579"/>
                </a:lnTo>
                <a:lnTo>
                  <a:pt x="1226190" y="398503"/>
                </a:lnTo>
                <a:lnTo>
                  <a:pt x="1232619" y="518686"/>
                </a:lnTo>
                <a:cubicBezTo>
                  <a:pt x="1300603" y="982349"/>
                  <a:pt x="1658857" y="1363030"/>
                  <a:pt x="2136050" y="1428820"/>
                </a:cubicBezTo>
                <a:cubicBezTo>
                  <a:pt x="2354196" y="1458896"/>
                  <a:pt x="2566220" y="1418895"/>
                  <a:pt x="2750368" y="1325717"/>
                </a:cubicBezTo>
                <a:lnTo>
                  <a:pt x="2786722" y="1305060"/>
                </a:lnTo>
                <a:lnTo>
                  <a:pt x="2713583" y="1835554"/>
                </a:lnTo>
                <a:lnTo>
                  <a:pt x="2707861" y="1842259"/>
                </a:lnTo>
                <a:lnTo>
                  <a:pt x="3211721" y="2272342"/>
                </a:lnTo>
                <a:lnTo>
                  <a:pt x="3196825" y="2280655"/>
                </a:lnTo>
                <a:cubicBezTo>
                  <a:pt x="2831332" y="2462192"/>
                  <a:pt x="2410231" y="2539559"/>
                  <a:pt x="1976668" y="2479785"/>
                </a:cubicBezTo>
                <a:cubicBezTo>
                  <a:pt x="965020" y="2340310"/>
                  <a:pt x="220732" y="1500384"/>
                  <a:pt x="158141" y="511596"/>
                </a:cubicBezTo>
                <a:lnTo>
                  <a:pt x="156509" y="388118"/>
                </a:lnTo>
                <a:lnTo>
                  <a:pt x="0" y="386598"/>
                </a:lnTo>
                <a:close/>
              </a:path>
            </a:pathLst>
          </a:custGeom>
          <a:solidFill>
            <a:srgbClr val="70AD47">
              <a:lumMod val="7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线条"/>
          <p:cNvSpPr/>
          <p:nvPr>
            <p:custDataLst>
              <p:tags r:id="rId4"/>
            </p:custDataLst>
          </p:nvPr>
        </p:nvSpPr>
        <p:spPr>
          <a:xfrm flipV="1">
            <a:off x="2038350" y="3555041"/>
            <a:ext cx="2128512" cy="27968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34289" rIns="342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线条"/>
          <p:cNvSpPr/>
          <p:nvPr>
            <p:custDataLst>
              <p:tags r:id="rId5"/>
            </p:custDataLst>
          </p:nvPr>
        </p:nvSpPr>
        <p:spPr>
          <a:xfrm flipV="1">
            <a:off x="2659128" y="5708449"/>
            <a:ext cx="2109396" cy="29288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34289" rIns="342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857622" y="2559941"/>
            <a:ext cx="122857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what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4768524" y="4910660"/>
            <a:ext cx="9544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why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579307" y="3825718"/>
            <a:ext cx="97924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how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615440" y="5228590"/>
            <a:ext cx="3050540" cy="476885"/>
          </a:xfrm>
          <a:prstGeom prst="rect">
            <a:avLst/>
          </a:prstGeom>
          <a:noFill/>
        </p:spPr>
        <p:txBody>
          <a:bodyPr wrap="square" lIns="67500" tIns="35100" rIns="67500" bIns="0" anchor="b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2800" b="1" spc="3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现实世界的要求</a:t>
            </a:r>
            <a:endParaRPr lang="zh-CN" altLang="en-US" sz="2800" b="1" spc="300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7486650" y="1475105"/>
            <a:ext cx="3025775" cy="2078355"/>
          </a:xfrm>
          <a:prstGeom prst="rect">
            <a:avLst/>
          </a:prstGeom>
          <a:noFill/>
        </p:spPr>
        <p:txBody>
          <a:bodyPr wrap="square" lIns="67500" tIns="35100" rIns="67500" bIns="0" anchor="b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完整性约束条件：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实体完整性、</a:t>
            </a:r>
            <a:endParaRPr lang="en-US" altLang="zh-CN" sz="28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参照完整性、</a:t>
            </a:r>
            <a:endParaRPr lang="en-US" altLang="zh-CN" sz="28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用户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定义的</a:t>
            </a:r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完整性</a:t>
            </a:r>
            <a:endParaRPr lang="zh-CN" altLang="en-US" sz="2800" b="1" spc="300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1736090" y="1485265"/>
            <a:ext cx="2931160" cy="1915795"/>
          </a:xfrm>
          <a:prstGeom prst="rect">
            <a:avLst/>
          </a:prstGeom>
          <a:noFill/>
        </p:spPr>
        <p:txBody>
          <a:bodyPr wrap="square" lIns="67500" tIns="35100" rIns="67500" bIns="0" anchor="b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sz="2800" b="1" spc="3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数据库中数据的</a:t>
            </a:r>
            <a:endParaRPr lang="zh-CN" sz="2800" b="1" spc="3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正确性</a:t>
            </a:r>
            <a:endParaRPr lang="zh-CN" sz="2800" b="1" spc="3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合理</a:t>
            </a:r>
            <a:r>
              <a:rPr lang="en-US" alt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有效)性</a:t>
            </a:r>
            <a:endParaRPr lang="zh-CN" sz="2800" b="1" spc="3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相容(一致)</a:t>
            </a:r>
            <a:r>
              <a:rPr lang="zh-CN" sz="2800" b="1" spc="3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性</a:t>
            </a:r>
            <a:endParaRPr lang="zh-CN" sz="2800" b="1" spc="300" dirty="0"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30" name="线条"/>
          <p:cNvSpPr/>
          <p:nvPr>
            <p:custDataLst>
              <p:tags r:id="rId12"/>
            </p:custDataLst>
          </p:nvPr>
        </p:nvSpPr>
        <p:spPr>
          <a:xfrm flipV="1">
            <a:off x="7655396" y="3598856"/>
            <a:ext cx="1905015" cy="19101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34289" rIns="342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33340" y="3609975"/>
            <a:ext cx="1255395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2800" b="1" dirty="0" smtClean="0">
                <a:solidFill>
                  <a:srgbClr val="0000CC"/>
                </a:solidFill>
                <a:latin typeface="+mn-ea"/>
                <a:sym typeface="+mn-ea"/>
              </a:rPr>
              <a:t>数据</a:t>
            </a:r>
            <a:endParaRPr lang="zh-CN" altLang="en-US" sz="2800" b="1" dirty="0" smtClean="0">
              <a:solidFill>
                <a:srgbClr val="0000CC"/>
              </a:solidFill>
              <a:latin typeface="+mn-ea"/>
              <a:sym typeface="+mn-ea"/>
            </a:endParaRPr>
          </a:p>
          <a:p>
            <a:pPr algn="ctr"/>
            <a:r>
              <a:rPr lang="zh-CN" altLang="en-US" sz="2800" b="1" dirty="0" smtClean="0">
                <a:solidFill>
                  <a:srgbClr val="0000CC"/>
                </a:solidFill>
                <a:latin typeface="+mn-ea"/>
                <a:sym typeface="+mn-ea"/>
              </a:rPr>
              <a:t>完整性</a:t>
            </a:r>
            <a:endParaRPr lang="zh-CN" altLang="en-US" sz="2800" b="1" dirty="0" smtClean="0">
              <a:solidFill>
                <a:srgbClr val="0000CC"/>
              </a:solidFill>
              <a:latin typeface="+mn-ea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17740" y="4205605"/>
            <a:ext cx="308419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37160"/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说明</a:t>
            </a:r>
            <a:r>
              <a:rPr lang="zh-CN" altLang="en-US" sz="2400" dirty="0">
                <a:sym typeface="+mn-ea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实体完整性和参照完整性</a:t>
            </a:r>
            <a:r>
              <a:rPr lang="zh-CN" altLang="en-US" sz="2400" dirty="0">
                <a:sym typeface="+mn-ea"/>
              </a:rPr>
              <a:t>是关系模型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必须</a:t>
            </a:r>
            <a:r>
              <a:rPr lang="zh-CN" altLang="en-US" sz="2400" dirty="0">
                <a:sym typeface="+mn-ea"/>
              </a:rPr>
              <a:t>满足的完整性约束条件，称为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关系的两个不变性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。</a:t>
            </a:r>
            <a:endParaRPr lang="zh-CN" altLang="en-US" sz="2400" b="1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29" grpId="0"/>
      <p:bldP spid="29" grpId="1"/>
      <p:bldP spid="16" grpId="0"/>
      <p:bldP spid="16" grpId="1"/>
      <p:bldP spid="32" grpId="0"/>
      <p:bldP spid="32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graphicFrame>
        <p:nvGraphicFramePr>
          <p:cNvPr id="4" name="Group 2"/>
          <p:cNvGraphicFramePr>
            <a:graphicFrameLocks noGrp="1"/>
          </p:cNvGraphicFramePr>
          <p:nvPr/>
        </p:nvGraphicFramePr>
        <p:xfrm>
          <a:off x="1868169" y="1972330"/>
          <a:ext cx="7766250" cy="2681064"/>
        </p:xfrm>
        <a:graphic>
          <a:graphicData uri="http://schemas.openxmlformats.org/drawingml/2006/table">
            <a:tbl>
              <a:tblPr/>
              <a:tblGrid>
                <a:gridCol w="1800202"/>
                <a:gridCol w="720080"/>
                <a:gridCol w="1224136"/>
                <a:gridCol w="1728192"/>
                <a:gridCol w="792088"/>
                <a:gridCol w="1501552"/>
              </a:tblGrid>
              <a:tr h="2681064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集合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∪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∩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×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并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差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交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笛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卡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尔积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比较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＞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≥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＜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≤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＝     </a:t>
                      </a: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&lt;&gt;  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不等于</a:t>
                      </a:r>
                      <a:endParaRPr kumimoji="0" lang="zh-CN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Group 18"/>
          <p:cNvGraphicFramePr>
            <a:graphicFrameLocks noGrp="1"/>
          </p:cNvGraphicFramePr>
          <p:nvPr/>
        </p:nvGraphicFramePr>
        <p:xfrm>
          <a:off x="1851080" y="1269018"/>
          <a:ext cx="7766249" cy="609600"/>
        </p:xfrm>
        <a:graphic>
          <a:graphicData uri="http://schemas.openxmlformats.org/drawingml/2006/table">
            <a:tbl>
              <a:tblPr/>
              <a:tblGrid>
                <a:gridCol w="2520281"/>
                <a:gridCol w="1224136"/>
                <a:gridCol w="2520280"/>
                <a:gridCol w="1501552"/>
              </a:tblGrid>
              <a:tr h="60960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Group 2"/>
          <p:cNvGraphicFramePr>
            <a:graphicFrameLocks noGrp="1"/>
          </p:cNvGraphicFramePr>
          <p:nvPr/>
        </p:nvGraphicFramePr>
        <p:xfrm>
          <a:off x="1851080" y="4797410"/>
          <a:ext cx="7776864" cy="1773936"/>
        </p:xfrm>
        <a:graphic>
          <a:graphicData uri="http://schemas.openxmlformats.org/drawingml/2006/table">
            <a:tbl>
              <a:tblPr/>
              <a:tblGrid>
                <a:gridCol w="1589028"/>
                <a:gridCol w="914955"/>
                <a:gridCol w="1259505"/>
                <a:gridCol w="1781128"/>
                <a:gridCol w="792088"/>
                <a:gridCol w="1440160"/>
              </a:tblGrid>
              <a:tr h="1677144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专门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的关系运算符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σ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π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÷ </a:t>
                      </a:r>
                      <a:endParaRPr kumimoji="0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选择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投影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连接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除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</a:t>
                      </a: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∧</a:t>
                      </a: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∨  </a:t>
                      </a: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与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或</a:t>
                      </a:r>
                      <a:endParaRPr kumimoji="0" 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AutoShape 32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 rot="5400000" flipV="1">
            <a:off x="3809914" y="5777549"/>
            <a:ext cx="179682" cy="337089"/>
          </a:xfrm>
          <a:prstGeom prst="flowChartCollate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/>
        </p:nvSpPr>
        <p:spPr>
          <a:xfrm>
            <a:off x="1058545" y="1341120"/>
            <a:ext cx="9999345" cy="5257800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latin typeface="仿宋" panose="02010609060101010101" charset="-122"/>
                <a:ea typeface="仿宋" panose="02010609060101010101" charset="-122"/>
              </a:rPr>
              <a:t>现有如下关系： </a:t>
            </a:r>
            <a:endParaRPr lang="zh-CN" altLang="en-US" sz="2800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0" indent="0" algn="ctr" eaLnBrk="1" hangingPunct="1">
              <a:buNone/>
              <a:defRPr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学生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学号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，姓名，性别，专业）</a:t>
            </a:r>
            <a:r>
              <a:rPr lang="zh-CN" altLang="en-US">
                <a:sym typeface="+mn-ea"/>
              </a:rPr>
              <a:t></a:t>
            </a:r>
            <a:endParaRPr lang="en-US" altLang="zh-CN" sz="2800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buNone/>
              <a:defRPr/>
            </a:pPr>
            <a:r>
              <a:rPr lang="en-US" altLang="zh-CN" sz="2800" b="1" dirty="0" smtClean="0"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2800" b="1" dirty="0" smtClean="0">
                <a:latin typeface="仿宋" panose="02010609060101010101" charset="-122"/>
                <a:ea typeface="仿宋" panose="02010609060101010101" charset="-122"/>
              </a:rPr>
              <a:t>查找男同学的信息；</a:t>
            </a:r>
            <a:endParaRPr lang="zh-CN" altLang="en-US" sz="2800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σ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性别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男’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2.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查找所有学生的姓名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和性别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性别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学生）</a:t>
            </a:r>
            <a:endParaRPr lang="zh-CN" altLang="en-US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3.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查找所有男学生的姓名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和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性别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σ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性别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男’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姓名，性别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学生）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 </a:t>
            </a:r>
            <a:r>
              <a:rPr lang="zh-CN" altLang="en-US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姓名，性别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性别</a:t>
            </a:r>
            <a:r>
              <a:rPr lang="en-US" altLang="zh-CN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</a:t>
            </a:r>
            <a:r>
              <a:rPr lang="zh-CN" altLang="en-US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男’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）</a:t>
            </a:r>
            <a:endParaRPr lang="zh-CN" altLang="en-US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4.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查找所有男学生的姓名和学号；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945A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姓名，学号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性别=‘男’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(学生)）</a:t>
            </a:r>
            <a:endParaRPr lang="zh-CN" altLang="en-US" sz="2800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1" name="AutoShape 9"/>
          <p:cNvSpPr>
            <a:spLocks noChangeArrowheads="1"/>
          </p:cNvSpPr>
          <p:nvPr/>
        </p:nvSpPr>
        <p:spPr bwMode="auto">
          <a:xfrm flipH="1">
            <a:off x="8211185" y="2665730"/>
            <a:ext cx="1879600" cy="1202690"/>
          </a:xfrm>
          <a:prstGeom prst="wedgeEllipseCallout">
            <a:avLst>
              <a:gd name="adj1" fmla="val 125168"/>
              <a:gd name="adj2" fmla="val 110770"/>
            </a:avLst>
          </a:prstGeom>
          <a:noFill/>
          <a:ln w="25400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marL="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lnSpc>
                <a:spcPts val="3000"/>
              </a:lnSpc>
            </a:pPr>
            <a:r>
              <a:rPr lang="zh-CN" altLang="en-US" sz="2800" dirty="0">
                <a:latin typeface="+mn-ea"/>
              </a:rPr>
              <a:t>先选择</a:t>
            </a:r>
            <a:endParaRPr lang="zh-CN" altLang="en-US" sz="2800" dirty="0">
              <a:latin typeface="+mn-ea"/>
            </a:endParaRPr>
          </a:p>
          <a:p>
            <a:pPr marL="342900" indent="-342900" algn="ctr">
              <a:lnSpc>
                <a:spcPts val="3000"/>
              </a:lnSpc>
            </a:pPr>
            <a:r>
              <a:rPr lang="zh-CN" altLang="en-US" sz="2800" dirty="0">
                <a:latin typeface="+mn-ea"/>
              </a:rPr>
              <a:t>后投影</a:t>
            </a:r>
            <a:endParaRPr lang="zh-CN" altLang="en-US" sz="2800" dirty="0">
              <a:latin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1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1058545" y="1341120"/>
            <a:ext cx="9968230" cy="53187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eaLnBrk="1" hangingPunct="1">
              <a:buClrTx/>
              <a:buSzTx/>
              <a:buNone/>
              <a:defRPr/>
            </a:pP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现有如下关系： 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学生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，姓名，性别，专业）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，课程名，学分）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学习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学号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，分数）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</a:t>
            </a:r>
            <a:endParaRPr lang="zh-CN" altLang="en-US" sz="233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5.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查找选修</a:t>
            </a:r>
            <a:r>
              <a:rPr lang="en-US" altLang="zh-CN" dirty="0" err="1"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C1</a:t>
            </a:r>
            <a:r>
              <a:rPr lang="en-US" altLang="zh-CN" dirty="0" err="1"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课号的学生的姓名、课程名和分数；</a:t>
            </a:r>
            <a:endParaRPr lang="en-US" altLang="zh-CN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姓名，课程名，分数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(学生)∞(学习)∞(课程)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）</a:t>
            </a:r>
            <a:endParaRPr lang="zh-CN" altLang="en-US" sz="2400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6.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</a:t>
            </a:r>
            <a:r>
              <a:rPr lang="en-US" altLang="zh-CN" dirty="0" err="1"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C1</a:t>
            </a:r>
            <a:r>
              <a:rPr lang="en-US" altLang="zh-CN" dirty="0" err="1"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课</a:t>
            </a: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90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分以上男学生的姓名、课程名和分数；</a:t>
            </a:r>
            <a:endParaRPr lang="en-US" altLang="zh-CN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姓名，课程名，分数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’∧分数</a:t>
            </a:r>
            <a:r>
              <a:rPr lang="en-US" altLang="zh-CN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&gt;90</a:t>
            </a:r>
            <a:r>
              <a:rPr lang="zh-CN" altLang="en-US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∧性别</a:t>
            </a:r>
            <a:r>
              <a:rPr lang="en-US" altLang="zh-CN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</a:t>
            </a:r>
            <a:r>
              <a:rPr lang="zh-CN" altLang="en-US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男</a:t>
            </a:r>
            <a:r>
              <a:rPr lang="en-US" altLang="zh-CN" sz="20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(学生)∞(学习)∞(课程)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）</a:t>
            </a:r>
            <a:endParaRPr lang="zh-CN" altLang="en-US" sz="2000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R1 = 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学号，姓名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性别</a:t>
            </a:r>
            <a:r>
              <a:rPr lang="en-US" altLang="zh-CN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男’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	R2 = 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课程号，课程名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(课程))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	R3 = σ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分数</a:t>
            </a:r>
            <a:r>
              <a:rPr lang="en-US" altLang="zh-CN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&gt;90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(学习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endParaRPr lang="en-US" altLang="zh-CN" sz="20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	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000" b="1" baseline="-250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姓名，课程名，分数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(R1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∞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R2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∞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R3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39355" y="5085080"/>
            <a:ext cx="3152775" cy="1640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pPr marL="109855" indent="0">
              <a:lnSpc>
                <a:spcPct val="900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建议：</a:t>
            </a:r>
            <a:endParaRPr lang="zh-CN" altLang="en-US" sz="28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先选择减少行，</a:t>
            </a:r>
            <a:endParaRPr lang="zh-CN" altLang="en-US" sz="28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后投影最少的列，</a:t>
            </a:r>
            <a:endParaRPr lang="zh-CN" altLang="en-US" sz="28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然后再连接。</a:t>
            </a:r>
            <a:endParaRPr lang="zh-CN" altLang="en-US" sz="28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/>
        </p:nvSpPr>
        <p:spPr>
          <a:xfrm>
            <a:off x="1115060" y="1341120"/>
            <a:ext cx="9968230" cy="53187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eaLnBrk="1" hangingPunct="1">
              <a:buClrTx/>
              <a:buSzTx/>
              <a:buNone/>
              <a:defRPr/>
            </a:pP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现有如下关系： 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学生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，姓名，性别，专业）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，课程名，学分）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学习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学号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，分数）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</a:t>
            </a:r>
            <a:endParaRPr lang="zh-CN" altLang="en-US" sz="233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7.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</a:t>
            </a:r>
            <a:r>
              <a:rPr 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所有学生的学号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 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(学生)</a:t>
            </a:r>
            <a:endParaRPr lang="zh-CN" altLang="en-US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8.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查找选修“C</a:t>
            </a: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1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”课号的学生的学号；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(学习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))</a:t>
            </a:r>
            <a:endParaRPr lang="zh-CN" altLang="en-US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9.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查找没学课程号为“C</a:t>
            </a: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1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”课程的学生学号；</a:t>
            </a:r>
            <a:endParaRPr lang="en-US" altLang="zh-CN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(学生)</a:t>
            </a:r>
            <a:r>
              <a:rPr lang="en-US" altLang="zh-CN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-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(学习))</a:t>
            </a:r>
            <a:endParaRPr lang="zh-CN" altLang="en-US" sz="20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1490663" y="78106"/>
            <a:ext cx="604837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总结和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anose="020B0806030902050204" pitchFamily="34" charset="0"/>
              </a:rPr>
              <a:t>习题</a:t>
            </a:r>
            <a:endParaRPr lang="zh-CN" altLang="en-US" sz="4000" b="1" dirty="0">
              <a:solidFill>
                <a:schemeClr val="bg1"/>
              </a:solidFill>
              <a:latin typeface="+mn-ea"/>
              <a:sym typeface="Impact" panose="020B0806030902050204" pitchFamily="34" charset="0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1058545" y="1386205"/>
            <a:ext cx="9968230" cy="53187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eaLnBrk="1" hangingPunct="1">
              <a:buClrTx/>
              <a:buSzTx/>
              <a:buNone/>
              <a:defRPr/>
            </a:pP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现有如下关系： 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学生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学号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，姓名，性别，专业）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，课程名，学分）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14400" lvl="2" indent="0" algn="l" eaLnBrk="1" hangingPunct="1">
              <a:buClrTx/>
              <a:buSzTx/>
              <a:buNone/>
              <a:defRPr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学习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学号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课程号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，分数）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</a:t>
            </a:r>
            <a:endParaRPr lang="zh-CN" altLang="en-US" sz="233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10.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检索没学课程号为“C</a:t>
            </a: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1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”课程的学生学号和姓名；</a:t>
            </a:r>
            <a:endParaRPr lang="en-US" altLang="zh-CN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(∏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(学生)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(学习)))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∞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学号，姓名</a:t>
            </a:r>
            <a:r>
              <a:rPr lang="en-US" altLang="zh-CN" sz="2400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学生))</a:t>
            </a:r>
            <a:endParaRPr lang="zh-CN" altLang="en-US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11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.检索至少学过“C1”和“C2”课程的学生的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学号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>
              <a:lnSpc>
                <a:spcPct val="90000"/>
              </a:lnSpc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学号，课程号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学习)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÷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ⅴ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=‘C2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(课程))</a:t>
            </a:r>
            <a:endParaRPr lang="zh-CN" altLang="en-US" b="1" dirty="0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 algn="l">
              <a:lnSpc>
                <a:spcPct val="90000"/>
              </a:lnSpc>
              <a:buNone/>
              <a:defRPr/>
            </a:pPr>
            <a:r>
              <a:rPr lang="en-US" altLang="zh-CN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12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.检索至少学过“C1”和“C2”课程的学生的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姓名</a:t>
            </a:r>
            <a:r>
              <a:rPr lang="zh-CN" altLang="en-US" b="1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；</a:t>
            </a:r>
            <a:endParaRPr lang="zh-CN" altLang="en-US" b="1" dirty="0" smtClean="0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109855" indent="0" algn="l">
              <a:lnSpc>
                <a:spcPct val="90000"/>
              </a:lnSpc>
              <a:buNone/>
              <a:defRPr/>
            </a:pP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b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姓名</a:t>
            </a:r>
            <a:r>
              <a:rPr lang="en-US" altLang="zh-CN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学生</a:t>
            </a:r>
            <a:r>
              <a:rPr lang="zh-CN" altLang="en-US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∞（</a:t>
            </a:r>
            <a:r>
              <a:rPr lang="zh-CN" altLang="en-US" sz="2000" b="1" i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学号，课程号</a:t>
            </a:r>
            <a:r>
              <a:rPr lang="en-US" altLang="zh-CN" sz="2000" b="1" i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</a:t>
            </a:r>
            <a:r>
              <a:rPr lang="zh-CN" altLang="en-US" sz="2000" b="1" i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学习)</a:t>
            </a:r>
            <a:r>
              <a:rPr lang="zh-CN" altLang="en-US" sz="2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÷</a:t>
            </a:r>
            <a:r>
              <a:rPr lang="en-US" altLang="zh-CN" sz="2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i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∏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000" b="1" i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(σ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=‘C1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ⅴ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课程号</a:t>
            </a:r>
            <a:r>
              <a:rPr lang="en-US" altLang="zh-CN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=‘C2</a:t>
            </a:r>
            <a:r>
              <a:rPr lang="zh-CN" altLang="en-US" sz="2000" b="1" i="1" baseline="-25000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’</a:t>
            </a:r>
            <a:r>
              <a:rPr lang="zh-CN" altLang="en-US" sz="2000" b="1" i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(课程))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）</a:t>
            </a:r>
            <a:endParaRPr lang="zh-CN" altLang="en-US" sz="2000" b="1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TABLE_BEAUTIFY" val="smartTable{6e8dcc3f-1546-4da7-b065-b4f4dcc09a34}"/>
</p:tagLst>
</file>

<file path=ppt/tags/tag2.xml><?xml version="1.0" encoding="utf-8"?>
<p:tagLst xmlns:p="http://schemas.openxmlformats.org/presentationml/2006/main">
  <p:tag name="KSO_WM_UNIT_TABLE_BEAUTIFY" val="smartTable{21c9a488-6cc3-4553-9eb2-5d4971f19e77}"/>
</p:tagLst>
</file>

<file path=ppt/tags/tag3.xml><?xml version="1.0" encoding="utf-8"?>
<p:tagLst xmlns:p="http://schemas.openxmlformats.org/presentationml/2006/main">
  <p:tag name="KSO_WM_UNIT_TABLE_BEAUTIFY" val="smartTable{6e8dcc3f-1546-4da7-b065-b4f4dcc09a34}"/>
</p:tagLst>
</file>

<file path=ppt/tags/tag4.xml><?xml version="1.0" encoding="utf-8"?>
<p:tagLst xmlns:p="http://schemas.openxmlformats.org/presentationml/2006/main">
  <p:tag name="KSO_WM_UNIT_TABLE_BEAUTIFY" val="smartTable{6e8dcc3f-1546-4da7-b065-b4f4dcc09a34}"/>
</p:tagLst>
</file>

<file path=ppt/tags/tag5.xml><?xml version="1.0" encoding="utf-8"?>
<p:tagLst xmlns:p="http://schemas.openxmlformats.org/presentationml/2006/main">
  <p:tag name="KSO_WM_UNIT_TABLE_BEAUTIFY" val="smartTable{57afc4ff-2cc0-489d-9c88-3bcb2654d1dd}"/>
</p:tagLst>
</file>

<file path=ppt/tags/tag6.xml><?xml version="1.0" encoding="utf-8"?>
<p:tagLst xmlns:p="http://schemas.openxmlformats.org/presentationml/2006/main">
  <p:tag name="KSO_WM_UNIT_TABLE_BEAUTIFY" val="smartTable{6e8dcc3f-1546-4da7-b065-b4f4dcc09a34}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160144"/>
  <p:tag name="KSO_WM_UNIT_ID" val="custom160144_15*a*1"/>
  <p:tag name="KSO_WM_UNIT_CLEAR" val="1"/>
  <p:tag name="KSO_WM_UNIT_LAYERLEVEL" val="1"/>
  <p:tag name="KSO_WM_UNIT_VALUE" val="29"/>
  <p:tag name="KSO_WM_UNIT_ISCONTENTSTITLE" val="0"/>
  <p:tag name="KSO_WM_UNIT_HIGHLIGHT" val="0"/>
  <p:tag name="KSO_WM_UNIT_COMPATIBLE" val="0"/>
  <p:tag name="KSO_WM_UNIT_PRESET_TEXT_INDEX" val="3"/>
  <p:tag name="KSO_WM_UNIT_PRESET_TEXT_LEN" val="24"/>
</p:tagLst>
</file>

<file path=ppt/tags/tag8.xml><?xml version="1.0" encoding="utf-8"?>
<p:tagLst xmlns:p="http://schemas.openxmlformats.org/presentationml/2006/main">
  <p:tag name="KSO_WM_UNIT_TABLE_BEAUTIFY" val="smartTable{6e8dcc3f-1546-4da7-b065-b4f4dcc09a34}"/>
</p:tagLst>
</file>

<file path=ppt/tags/tag9.xml><?xml version="1.0" encoding="utf-8"?>
<p:tagLst xmlns:p="http://schemas.openxmlformats.org/presentationml/2006/main">
  <p:tag name="KSO_WM_UNIT_TABLE_BEAUTIFY" val="smartTable{6e8dcc3f-1546-4da7-b065-b4f4dcc09a34}"/>
</p:tagLst>
</file>

<file path=ppt/tags/tag10.xml><?xml version="1.0" encoding="utf-8"?>
<p:tagLst xmlns:p="http://schemas.openxmlformats.org/presentationml/2006/main">
  <p:tag name="KSO_WM_UNIT_TABLE_BEAUTIFY" val="smartTable{6e8dcc3f-1546-4da7-b065-b4f4dcc09a34}"/>
</p:tagLst>
</file>

<file path=ppt/tags/tag11.xml><?xml version="1.0" encoding="utf-8"?>
<p:tagLst xmlns:p="http://schemas.openxmlformats.org/presentationml/2006/main">
  <p:tag name="KSO_WM_UNIT_TABLE_BEAUTIFY" val="smartTable{29725aef-5864-4514-9f19-0cf82440cc3d}"/>
</p:tagLst>
</file>

<file path=ppt/tags/tag12.xml><?xml version="1.0" encoding="utf-8"?>
<p:tagLst xmlns:p="http://schemas.openxmlformats.org/presentationml/2006/main">
  <p:tag name="KSO_WM_UNIT_TABLE_BEAUTIFY" val="smartTable{f9b8306a-a954-49f7-968a-6fe224ed15ba}"/>
</p:tagLst>
</file>

<file path=ppt/tags/tag13.xml><?xml version="1.0" encoding="utf-8"?>
<p:tagLst xmlns:p="http://schemas.openxmlformats.org/presentationml/2006/main">
  <p:tag name="KSO_WM_UNIT_TABLE_BEAUTIFY" val="smartTable{6e8dcc3f-1546-4da7-b065-b4f4dcc09a34}"/>
</p:tagLst>
</file>

<file path=ppt/tags/tag14.xml><?xml version="1.0" encoding="utf-8"?>
<p:tagLst xmlns:p="http://schemas.openxmlformats.org/presentationml/2006/main">
  <p:tag name="KSO_WM_UNIT_TABLE_BEAUTIFY" val="smartTable{6e8dcc3f-1546-4da7-b065-b4f4dcc09a34}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DIAGRAM_GROUP_CODE" val="q1-1"/>
  <p:tag name="KSO_WM_UNIT_TYPE" val="q_h_i"/>
  <p:tag name="KSO_WM_UNIT_INDEX" val="1_2_1"/>
  <p:tag name="KSO_WM_UNIT_ID" val="diagram20200112_2*q_h_i*1_2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4"/>
  <p:tag name="KSO_WM_UNIT_ID" val="diagram20200112_2*q_h_i*1_1_4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3"/>
  <p:tag name="KSO_WM_UNIT_ID" val="diagram20200112_2*q_h_i*1_3_3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00112_2*q_h_i*1_1_2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00112_2*q_h_i*1_3_2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00112_2*q_h_i*1_1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00112_2*q_h_i*1_3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00112_2*q_h_i*1_2_2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37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00112_2*q_h_a*1_1_1"/>
  <p:tag name="KSO_WM_TEMPLATE_CATEGORY" val="diagram"/>
  <p:tag name="KSO_WM_TEMPLATE_INDEX" val="20200112"/>
  <p:tag name="KSO_WM_UNIT_LAYERLEVEL" val="1_1_1"/>
  <p:tag name="KSO_WM_TAG_VERSION" val="1.0"/>
  <p:tag name="KSO_WM_UNIT_PRESET_TEXT" val="添加标题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00112_2*q_h_a*1_3_1"/>
  <p:tag name="KSO_WM_TEMPLATE_CATEGORY" val="diagram"/>
  <p:tag name="KSO_WM_TEMPLATE_INDEX" val="20200112"/>
  <p:tag name="KSO_WM_UNIT_LAYERLEVEL" val="1_1_1"/>
  <p:tag name="KSO_WM_TAG_VERSION" val="1.0"/>
  <p:tag name="KSO_WM_UNIT_PRESET_TEXT" val="添加标题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00112_2*q_h_a*1_2_1"/>
  <p:tag name="KSO_WM_TEMPLATE_CATEGORY" val="diagram"/>
  <p:tag name="KSO_WM_TEMPLATE_INDEX" val="20200112"/>
  <p:tag name="KSO_WM_UNIT_LAYERLEVEL" val="1_1_1"/>
  <p:tag name="KSO_WM_TAG_VERSION" val="1.0"/>
  <p:tag name="KSO_WM_UNIT_PRESET_TEXT" val="添加标题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6"/>
  <p:tag name="KSO_WM_UNIT_ID" val="diagram20200112_2*q_h_i*1_2_6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DIAGRAM_VIRTUALLY_FRAME" val="{&quot;height&quot;:316.10622047244095,&quot;left&quot;:389.56047244094486,&quot;top&quot;:128.31259842519685,&quot;width&quot;:458.78653543307075}"/>
</p:tagLst>
</file>

<file path=ppt/tags/tag42.xml><?xml version="1.0" encoding="utf-8"?>
<p:tagLst xmlns:p="http://schemas.openxmlformats.org/presentationml/2006/main">
  <p:tag name="KSO_WM_DIAGRAM_VIRTUALLY_FRAME" val="{&quot;height&quot;:316.10622047244095,&quot;left&quot;:389.56047244094486,&quot;top&quot;:128.31259842519685,&quot;width&quot;:458.78653543307075}"/>
</p:tagLst>
</file>

<file path=ppt/tags/tag43.xml><?xml version="1.0" encoding="utf-8"?>
<p:tagLst xmlns:p="http://schemas.openxmlformats.org/presentationml/2006/main">
  <p:tag name="KSO_WM_DIAGRAM_VIRTUALLY_FRAME" val="{&quot;height&quot;:316.10622047244095,&quot;left&quot;:389.56047244094486,&quot;top&quot;:128.31259842519685,&quot;width&quot;:458.78653543307075}"/>
</p:tagLst>
</file>

<file path=ppt/tags/tag44.xml><?xml version="1.0" encoding="utf-8"?>
<p:tagLst xmlns:p="http://schemas.openxmlformats.org/presentationml/2006/main">
  <p:tag name="KSO_WM_DIAGRAM_VIRTUALLY_FRAME" val="{&quot;height&quot;:316.10622047244095,&quot;left&quot;:389.56047244094486,&quot;top&quot;:128.31259842519685,&quot;width&quot;:458.78653543307075}"/>
</p:tagLst>
</file>

<file path=ppt/tags/tag45.xml><?xml version="1.0" encoding="utf-8"?>
<p:tagLst xmlns:p="http://schemas.openxmlformats.org/presentationml/2006/main">
  <p:tag name="KSO_WM_UNIT_TABLE_BEAUTIFY" val="smartTable{6e8dcc3f-1546-4da7-b065-b4f4dcc09a34}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UNIT_TABLE_BEAUTIFY" val="smartTable{6e8dcc3f-1546-4da7-b065-b4f4dcc09a34}"/>
</p:tagLst>
</file>

<file path=ppt/tags/tag55.xml><?xml version="1.0" encoding="utf-8"?>
<p:tagLst xmlns:p="http://schemas.openxmlformats.org/presentationml/2006/main">
  <p:tag name="KSO_WM_UNIT_TABLE_BEAUTIFY" val="smartTable{4c638be8-f716-44a0-8bd5-b0221d566ddf}"/>
</p:tagLst>
</file>

<file path=ppt/tags/tag56.xml><?xml version="1.0" encoding="utf-8"?>
<p:tagLst xmlns:p="http://schemas.openxmlformats.org/presentationml/2006/main">
  <p:tag name="KSO_WM_UNIT_TABLE_BEAUTIFY" val="smartTable{6e8dcc3f-1546-4da7-b065-b4f4dcc09a34}"/>
</p:tagLst>
</file>

<file path=ppt/tags/tag57.xml><?xml version="1.0" encoding="utf-8"?>
<p:tagLst xmlns:p="http://schemas.openxmlformats.org/presentationml/2006/main">
  <p:tag name="KSO_WM_UNIT_TABLE_BEAUTIFY" val="smartTable{6e8dcc3f-1546-4da7-b065-b4f4dcc09a34}"/>
</p:tagLst>
</file>

<file path=ppt/tags/tag58.xml><?xml version="1.0" encoding="utf-8"?>
<p:tagLst xmlns:p="http://schemas.openxmlformats.org/presentationml/2006/main">
  <p:tag name="KSO_WM_UNIT_TABLE_BEAUTIFY" val="smartTable{4c638be8-f716-44a0-8bd5-b0221d566ddf}"/>
</p:tagLst>
</file>

<file path=ppt/tags/tag59.xml><?xml version="1.0" encoding="utf-8"?>
<p:tagLst xmlns:p="http://schemas.openxmlformats.org/presentationml/2006/main">
  <p:tag name="KSO_WM_UNIT_TABLE_BEAUTIFY" val="smartTable{9ab07af3-8f41-4841-87a9-cac13f424e08}"/>
</p:tagLst>
</file>

<file path=ppt/tags/tag60.xml><?xml version="1.0" encoding="utf-8"?>
<p:tagLst xmlns:p="http://schemas.openxmlformats.org/presentationml/2006/main">
  <p:tag name="KSO_WM_UNIT_TABLE_BEAUTIFY" val="smartTable{6e8dcc3f-1546-4da7-b065-b4f4dcc09a34}"/>
</p:tagLst>
</file>

<file path=ppt/tags/tag61.xml><?xml version="1.0" encoding="utf-8"?>
<p:tagLst xmlns:p="http://schemas.openxmlformats.org/presentationml/2006/main">
  <p:tag name="KSO_WM_UNIT_TABLE_BEAUTIFY" val="smartTable{4c638be8-f716-44a0-8bd5-b0221d566ddf}"/>
</p:tagLst>
</file>

<file path=ppt/tags/tag62.xml><?xml version="1.0" encoding="utf-8"?>
<p:tagLst xmlns:p="http://schemas.openxmlformats.org/presentationml/2006/main">
  <p:tag name="KSO_WM_UNIT_TABLE_BEAUTIFY" val="smartTable{0f650b2e-479d-497e-b7f6-4825bb4f20eb}"/>
</p:tagLst>
</file>

<file path=ppt/tags/tag63.xml><?xml version="1.0" encoding="utf-8"?>
<p:tagLst xmlns:p="http://schemas.openxmlformats.org/presentationml/2006/main">
  <p:tag name="KSO_WM_UNIT_TABLE_BEAUTIFY" val="smartTable{6e8dcc3f-1546-4da7-b065-b4f4dcc09a34}"/>
</p:tagLst>
</file>

<file path=ppt/tags/tag64.xml><?xml version="1.0" encoding="utf-8"?>
<p:tagLst xmlns:p="http://schemas.openxmlformats.org/presentationml/2006/main">
  <p:tag name="KSO_WM_UNIT_TABLE_BEAUTIFY" val="smartTable{4c638be8-f716-44a0-8bd5-b0221d566ddf}"/>
</p:tagLst>
</file>

<file path=ppt/tags/tag65.xml><?xml version="1.0" encoding="utf-8"?>
<p:tagLst xmlns:p="http://schemas.openxmlformats.org/presentationml/2006/main">
  <p:tag name="KSO_WM_UNIT_TABLE_BEAUTIFY" val="smartTable{46b5cb97-d56c-4a1b-a438-388ae7a722f7}"/>
</p:tagLst>
</file>

<file path=ppt/tags/tag66.xml><?xml version="1.0" encoding="utf-8"?>
<p:tagLst xmlns:p="http://schemas.openxmlformats.org/presentationml/2006/main">
  <p:tag name="KSO_WM_UNIT_TABLE_BEAUTIFY" val="smartTable{6e8dcc3f-1546-4da7-b065-b4f4dcc09a34}"/>
</p:tagLst>
</file>

<file path=ppt/tags/tag67.xml><?xml version="1.0" encoding="utf-8"?>
<p:tagLst xmlns:p="http://schemas.openxmlformats.org/presentationml/2006/main">
  <p:tag name="KSO_WM_UNIT_TABLE_BEAUTIFY" val="smartTable{e30966c2-56b6-48a7-979c-db3d945bea2f}"/>
</p:tagLst>
</file>

<file path=ppt/tags/tag68.xml><?xml version="1.0" encoding="utf-8"?>
<p:tagLst xmlns:p="http://schemas.openxmlformats.org/presentationml/2006/main">
  <p:tag name="KSO_WM_UNIT_TABLE_BEAUTIFY" val="smartTable{6e8dcc3f-1546-4da7-b065-b4f4dcc09a34}"/>
</p:tagLst>
</file>

<file path=ppt/tags/tag69.xml><?xml version="1.0" encoding="utf-8"?>
<p:tagLst xmlns:p="http://schemas.openxmlformats.org/presentationml/2006/main">
  <p:tag name="KSO_WM_UNIT_TABLE_BEAUTIFY" val="smartTable{6e8dcc3f-1546-4da7-b065-b4f4dcc09a34}"/>
</p:tagLst>
</file>

<file path=ppt/tags/tag70.xml><?xml version="1.0" encoding="utf-8"?>
<p:tagLst xmlns:p="http://schemas.openxmlformats.org/presentationml/2006/main">
  <p:tag name="KSO_WM_UNIT_TABLE_BEAUTIFY" val="smartTable{b6725ecd-942f-4480-9bc4-443f7bd6ecc0}"/>
</p:tagLst>
</file>

<file path=ppt/tags/tag71.xml><?xml version="1.0" encoding="utf-8"?>
<p:tagLst xmlns:p="http://schemas.openxmlformats.org/presentationml/2006/main">
  <p:tag name="KSO_WM_UNIT_TABLE_BEAUTIFY" val="smartTable{6e8dcc3f-1546-4da7-b065-b4f4dcc09a34}"/>
</p:tagLst>
</file>

<file path=ppt/tags/tag72.xml><?xml version="1.0" encoding="utf-8"?>
<p:tagLst xmlns:p="http://schemas.openxmlformats.org/presentationml/2006/main">
  <p:tag name="KSO_WM_UNIT_TABLE_BEAUTIFY" val="smartTable{6e8dcc3f-1546-4da7-b065-b4f4dcc09a34}"/>
</p:tagLst>
</file>

<file path=ppt/tags/tag73.xml><?xml version="1.0" encoding="utf-8"?>
<p:tagLst xmlns:p="http://schemas.openxmlformats.org/presentationml/2006/main">
  <p:tag name="KSO_WM_UNIT_TABLE_BEAUTIFY" val="smartTable{bec7bbcd-f310-4e6d-9b3e-5907bc85f3a9}"/>
</p:tagLst>
</file>

<file path=ppt/tags/tag74.xml><?xml version="1.0" encoding="utf-8"?>
<p:tagLst xmlns:p="http://schemas.openxmlformats.org/presentationml/2006/main">
  <p:tag name="KSO_WM_UNIT_TABLE_BEAUTIFY" val="smartTable{6e8dcc3f-1546-4da7-b065-b4f4dcc09a34}"/>
</p:tagLst>
</file>

<file path=ppt/tags/tag75.xml><?xml version="1.0" encoding="utf-8"?>
<p:tagLst xmlns:p="http://schemas.openxmlformats.org/presentationml/2006/main">
  <p:tag name="KSO_WM_UNIT_TABLE_BEAUTIFY" val="smartTable{4b10aa34-351f-47a6-8921-2b47a7a85033}"/>
  <p:tag name="TABLE_ENDDRAG_ORIGIN_RECT" val="208*114"/>
  <p:tag name="TABLE_ENDDRAG_RECT" val="482*161*208*114"/>
</p:tagLst>
</file>

<file path=ppt/tags/tag76.xml><?xml version="1.0" encoding="utf-8"?>
<p:tagLst xmlns:p="http://schemas.openxmlformats.org/presentationml/2006/main">
  <p:tag name="KSO_WM_UNIT_TABLE_BEAUTIFY" val="smartTable{33d8d0ac-f253-42a1-b551-2e4082cecb8e}"/>
</p:tagLst>
</file>

<file path=ppt/tags/tag77.xml><?xml version="1.0" encoding="utf-8"?>
<p:tagLst xmlns:p="http://schemas.openxmlformats.org/presentationml/2006/main">
  <p:tag name="KSO_WM_UNIT_TABLE_BEAUTIFY" val="smartTable{6e8dcc3f-1546-4da7-b065-b4f4dcc09a34}"/>
</p:tagLst>
</file>

<file path=ppt/tags/tag78.xml><?xml version="1.0" encoding="utf-8"?>
<p:tagLst xmlns:p="http://schemas.openxmlformats.org/presentationml/2006/main">
  <p:tag name="KSO_WM_UNIT_TABLE_BEAUTIFY" val="smartTable{06f4bd73-92ae-4c38-a497-7300a39333bd}"/>
  <p:tag name="TABLE_ENDDRAG_ORIGIN_RECT" val="208*114"/>
  <p:tag name="TABLE_ENDDRAG_RECT" val="482*161*208*114"/>
</p:tagLst>
</file>

<file path=ppt/tags/tag79.xml><?xml version="1.0" encoding="utf-8"?>
<p:tagLst xmlns:p="http://schemas.openxmlformats.org/presentationml/2006/main">
  <p:tag name="KSO_WM_UNIT_TABLE_BEAUTIFY" val="smartTable{9929e2af-ec05-401e-8633-4bb624182a15}"/>
</p:tagLst>
</file>

<file path=ppt/tags/tag80.xml><?xml version="1.0" encoding="utf-8"?>
<p:tagLst xmlns:p="http://schemas.openxmlformats.org/presentationml/2006/main">
  <p:tag name="KSO_WM_UNIT_TABLE_BEAUTIFY" val="smartTable{6e8dcc3f-1546-4da7-b065-b4f4dcc09a34}"/>
</p:tagLst>
</file>

<file path=ppt/tags/tag81.xml><?xml version="1.0" encoding="utf-8"?>
<p:tagLst xmlns:p="http://schemas.openxmlformats.org/presentationml/2006/main">
  <p:tag name="KSO_WM_UNIT_TABLE_BEAUTIFY" val="smartTable{d156935d-4a65-4a04-bce0-0b869434e4f5}"/>
</p:tagLst>
</file>

<file path=ppt/tags/tag82.xml><?xml version="1.0" encoding="utf-8"?>
<p:tagLst xmlns:p="http://schemas.openxmlformats.org/presentationml/2006/main">
  <p:tag name="KSO_WM_UNIT_TABLE_BEAUTIFY" val="smartTable{6e8dcc3f-1546-4da7-b065-b4f4dcc09a34}"/>
</p:tagLst>
</file>

<file path=ppt/tags/tag83.xml><?xml version="1.0" encoding="utf-8"?>
<p:tagLst xmlns:p="http://schemas.openxmlformats.org/presentationml/2006/main">
  <p:tag name="KSO_WM_UNIT_TABLE_BEAUTIFY" val="smartTable{d156935d-4a65-4a04-bce0-0b869434e4f5}"/>
</p:tagLst>
</file>

<file path=ppt/tags/tag84.xml><?xml version="1.0" encoding="utf-8"?>
<p:tagLst xmlns:p="http://schemas.openxmlformats.org/presentationml/2006/main">
  <p:tag name="KSO_WM_UNIT_TABLE_BEAUTIFY" val="smartTable{80d2d243-e467-43db-b6b3-0d78e68f643e}"/>
</p:tagLst>
</file>

<file path=ppt/tags/tag85.xml><?xml version="1.0" encoding="utf-8"?>
<p:tagLst xmlns:p="http://schemas.openxmlformats.org/presentationml/2006/main">
  <p:tag name="KSO_WM_UNIT_TABLE_BEAUTIFY" val="smartTable{4eb5ac7c-3734-4aa9-96d5-6db056f195c2}"/>
  <p:tag name="TABLE_ENDDRAG_ORIGIN_RECT" val="574*146"/>
  <p:tag name="TABLE_ENDDRAG_RECT" val="356*188*574*146"/>
</p:tagLst>
</file>

<file path=ppt/tags/tag86.xml><?xml version="1.0" encoding="utf-8"?>
<p:tagLst xmlns:p="http://schemas.openxmlformats.org/presentationml/2006/main">
  <p:tag name="KSO_WM_UNIT_TABLE_BEAUTIFY" val="smartTable{17064796-55ae-42c9-93b1-d1426636e160}"/>
</p:tagLst>
</file>

<file path=ppt/tags/tag87.xml><?xml version="1.0" encoding="utf-8"?>
<p:tagLst xmlns:p="http://schemas.openxmlformats.org/presentationml/2006/main">
  <p:tag name="KSO_WM_UNIT_TABLE_BEAUTIFY" val="smartTable{6e8dcc3f-1546-4da7-b065-b4f4dcc09a34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DIAGRAM_GROUP_CODE" val="q1-1"/>
  <p:tag name="KSO_WM_UNIT_TYPE" val="q_h_i"/>
  <p:tag name="KSO_WM_UNIT_INDEX" val="1_2_1"/>
  <p:tag name="KSO_WM_UNIT_ID" val="diagram20200112_2*q_h_i*1_2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4"/>
  <p:tag name="KSO_WM_UNIT_ID" val="diagram20200112_2*q_h_i*1_1_4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3"/>
  <p:tag name="KSO_WM_UNIT_ID" val="diagram20200112_2*q_h_i*1_3_3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00112_2*q_h_i*1_1_2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00112_2*q_h_i*1_3_2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00112_2*q_h_i*1_1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00112_2*q_h_i*1_3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00112_2*q_h_i*1_2_2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96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00112_2*q_h_a*1_1_1"/>
  <p:tag name="KSO_WM_TEMPLATE_CATEGORY" val="diagram"/>
  <p:tag name="KSO_WM_TEMPLATE_INDEX" val="20200112"/>
  <p:tag name="KSO_WM_UNIT_LAYERLEVEL" val="1_1_1"/>
  <p:tag name="KSO_WM_TAG_VERSION" val="1.0"/>
  <p:tag name="KSO_WM_UNIT_PRESET_TEXT" val="添加标题"/>
  <p:tag name="KSO_WM_UNIT_TEXT_FILL_FORE_SCHEMECOLOR_INDEX" val="13"/>
  <p:tag name="KSO_WM_UNIT_TEXT_FILL_TYPE" val="1"/>
</p:tagLst>
</file>

<file path=ppt/tags/tag97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00112_2*q_h_a*1_3_1"/>
  <p:tag name="KSO_WM_TEMPLATE_CATEGORY" val="diagram"/>
  <p:tag name="KSO_WM_TEMPLATE_INDEX" val="20200112"/>
  <p:tag name="KSO_WM_UNIT_LAYERLEVEL" val="1_1_1"/>
  <p:tag name="KSO_WM_TAG_VERSION" val="1.0"/>
  <p:tag name="KSO_WM_UNIT_PRESET_TEXT" val="添加标题"/>
  <p:tag name="KSO_WM_UNIT_TEXT_FILL_FORE_SCHEMECOLOR_INDEX" val="13"/>
  <p:tag name="KSO_WM_UNIT_TEXT_FILL_TYPE" val="1"/>
</p:tagLst>
</file>

<file path=ppt/tags/tag98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ID" val="diagram20200112_2*q_h_a*1_2_1"/>
  <p:tag name="KSO_WM_TEMPLATE_CATEGORY" val="diagram"/>
  <p:tag name="KSO_WM_TEMPLATE_INDEX" val="20200112"/>
  <p:tag name="KSO_WM_UNIT_LAYERLEVEL" val="1_1_1"/>
  <p:tag name="KSO_WM_TAG_VERSION" val="1.0"/>
  <p:tag name="KSO_WM_UNIT_PRESET_TEXT" val="添加标题"/>
  <p:tag name="KSO_WM_UNIT_TEXT_FILL_FORE_SCHEMECOLOR_INDEX" val="13"/>
  <p:tag name="KSO_WM_UNIT_TEXT_FILL_TYPE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6"/>
  <p:tag name="KSO_WM_UNIT_ID" val="diagram20200112_2*q_h_i*1_2_6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10056</Words>
  <Application>WPS 演示</Application>
  <PresentationFormat>自定义</PresentationFormat>
  <Paragraphs>2406</Paragraphs>
  <Slides>69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103" baseType="lpstr">
      <vt:lpstr>Arial</vt:lpstr>
      <vt:lpstr>宋体</vt:lpstr>
      <vt:lpstr>Wingdings</vt:lpstr>
      <vt:lpstr>微软雅黑</vt:lpstr>
      <vt:lpstr>Calibri</vt:lpstr>
      <vt:lpstr>Franklin Gothic Medium</vt:lpstr>
      <vt:lpstr>隶书</vt:lpstr>
      <vt:lpstr>Aharoni</vt:lpstr>
      <vt:lpstr>Yu Gothic UI Semibold</vt:lpstr>
      <vt:lpstr>华文行楷</vt:lpstr>
      <vt:lpstr>Impact</vt:lpstr>
      <vt:lpstr>Franklin Gothic Book</vt:lpstr>
      <vt:lpstr>黑体</vt:lpstr>
      <vt:lpstr>Wingdings</vt:lpstr>
      <vt:lpstr>Wingdings 3</vt:lpstr>
      <vt:lpstr>Verdana</vt:lpstr>
      <vt:lpstr>Wingdings 2</vt:lpstr>
      <vt:lpstr>手札体-简粗体</vt:lpstr>
      <vt:lpstr>Arial Unicode MS</vt:lpstr>
      <vt:lpstr>Courier New</vt:lpstr>
      <vt:lpstr>Times New Roman</vt:lpstr>
      <vt:lpstr>楷体_GB2312</vt:lpstr>
      <vt:lpstr>新宋体</vt:lpstr>
      <vt:lpstr>仿宋_GB2312</vt:lpstr>
      <vt:lpstr>仿宋</vt:lpstr>
      <vt:lpstr>Times New Roman</vt:lpstr>
      <vt:lpstr>Wingdings 2</vt:lpstr>
      <vt:lpstr>Tahoma</vt:lpstr>
      <vt:lpstr>Garamond</vt:lpstr>
      <vt:lpstr>汉仪雅酷黑简</vt:lpstr>
      <vt:lpstr>方正仿宋_GB2312</vt:lpstr>
      <vt:lpstr>Symbol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Summer Viber</cp:lastModifiedBy>
  <cp:revision>476</cp:revision>
  <dcterms:created xsi:type="dcterms:W3CDTF">2014-10-24T14:22:00Z</dcterms:created>
  <dcterms:modified xsi:type="dcterms:W3CDTF">2025-09-18T09:27:52Z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2AC44B47D3E24E7C96E000BFA96C7032_12</vt:lpwstr>
  </property>
</Properties>
</file>