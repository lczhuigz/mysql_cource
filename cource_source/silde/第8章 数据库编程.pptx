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584" r:id="rId4"/>
    <p:sldId id="687" r:id="rId5"/>
    <p:sldId id="688" r:id="rId6"/>
    <p:sldId id="689" r:id="rId7"/>
    <p:sldId id="806" r:id="rId8"/>
    <p:sldId id="700" r:id="rId9"/>
    <p:sldId id="821" r:id="rId10"/>
    <p:sldId id="735" r:id="rId11"/>
    <p:sldId id="824" r:id="rId12"/>
    <p:sldId id="818" r:id="rId13"/>
    <p:sldId id="819" r:id="rId14"/>
    <p:sldId id="740" r:id="rId15"/>
    <p:sldId id="827" r:id="rId16"/>
    <p:sldId id="828" r:id="rId17"/>
    <p:sldId id="829" r:id="rId18"/>
    <p:sldId id="830" r:id="rId19"/>
    <p:sldId id="831" r:id="rId20"/>
    <p:sldId id="752" r:id="rId21"/>
    <p:sldId id="753" r:id="rId22"/>
    <p:sldId id="825" r:id="rId23"/>
    <p:sldId id="826" r:id="rId24"/>
    <p:sldId id="755" r:id="rId25"/>
    <p:sldId id="758" r:id="rId26"/>
    <p:sldId id="759" r:id="rId27"/>
    <p:sldId id="810" r:id="rId28"/>
    <p:sldId id="832" r:id="rId29"/>
    <p:sldId id="766" r:id="rId30"/>
    <p:sldId id="768" r:id="rId31"/>
    <p:sldId id="769" r:id="rId32"/>
    <p:sldId id="833" r:id="rId33"/>
    <p:sldId id="771" r:id="rId34"/>
    <p:sldId id="776" r:id="rId35"/>
    <p:sldId id="789" r:id="rId36"/>
    <p:sldId id="608" r:id="rId37"/>
  </p:sldIdLst>
  <p:sldSz cx="1219835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FF"/>
    <a:srgbClr val="009E47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818" autoAdjust="0"/>
  </p:normalViewPr>
  <p:slideViewPr>
    <p:cSldViewPr>
      <p:cViewPr varScale="1">
        <p:scale>
          <a:sx n="72" d="100"/>
          <a:sy n="72" d="100"/>
        </p:scale>
        <p:origin x="666" y="54"/>
      </p:cViewPr>
      <p:guideLst>
        <p:guide orient="horz" pos="2102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880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C04A1EB-DA9A-C3BA-7AE0-75AAB5447B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charset="0"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1735D2-484E-7DDA-56D3-0DF055CA8F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charset="0"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  <a:pPr>
                <a:defRPr/>
              </a:pPr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EA73AB-B784-A379-2F85-C662EA11DB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charset="0"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5F401E-BE42-A862-75C4-E0F68B249E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F0B54C01-5BAB-435B-883F-894BE34F88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66D8D66D-B10C-51C6-C609-F841DCA2A67B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A1775CAC-9943-D8E5-B66A-7F2DCFBC95D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8C874C8F-A996-4D7B-94BA-5215575F1A03}" type="datetime1">
              <a:rPr lang="zh-CN" altLang="en-US"/>
              <a:pPr>
                <a:defRPr/>
              </a:pPr>
              <a:t>2026/9/22</a:t>
            </a:fld>
            <a:endParaRPr lang="en-US" altLang="zh-CN" sz="1200"/>
          </a:p>
        </p:txBody>
      </p:sp>
      <p:sp>
        <p:nvSpPr>
          <p:cNvPr id="3076" name="幻灯片图像占位符 3">
            <a:extLst>
              <a:ext uri="{FF2B5EF4-FFF2-40B4-BE49-F238E27FC236}">
                <a16:creationId xmlns:a16="http://schemas.microsoft.com/office/drawing/2014/main" id="{C884E116-EA1E-FE50-7ABA-60CB3B2C6823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6869" name="备注占位符 4">
            <a:extLst>
              <a:ext uri="{FF2B5EF4-FFF2-40B4-BE49-F238E27FC236}">
                <a16:creationId xmlns:a16="http://schemas.microsoft.com/office/drawing/2014/main" id="{5AE90B8E-4F53-7906-12A2-EA6D4E36B0EA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8FD600D5-ED0D-BA37-2E7C-78A61FAE8F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39A37882-2D76-1FE3-1ADA-1CCE87033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12DAF85-96F3-421C-A4C1-2AA514E4B3FB}" type="slidenum">
              <a:rPr lang="zh-CN" altLang="en-US"/>
              <a:pPr>
                <a:defRPr/>
              </a:pPr>
              <a:t>‹#›</a:t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1188426E-CB2A-70F4-8E2F-8A6CF5859A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B5D22661-7062-44B5-0BF9-202C48245D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日期占位符 3">
            <a:extLst>
              <a:ext uri="{FF2B5EF4-FFF2-40B4-BE49-F238E27FC236}">
                <a16:creationId xmlns:a16="http://schemas.microsoft.com/office/drawing/2014/main" id="{A650148C-823D-20DD-034C-8E75ED321D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CD0612-C267-4852-B58E-4178E2E557C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149" name="灯片编号占位符 4">
            <a:extLst>
              <a:ext uri="{FF2B5EF4-FFF2-40B4-BE49-F238E27FC236}">
                <a16:creationId xmlns:a16="http://schemas.microsoft.com/office/drawing/2014/main" id="{6A783114-57D3-B20D-3143-F6658D94B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9930BF-671C-4187-8E28-7FBF5A9E6267}" type="slidenum">
              <a:rPr lang="zh-CN" altLang="en-US" smtClean="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AA554229-CC9B-2351-A444-F1CB9AFF11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5CB7BC8D-3832-1562-E21E-083256A62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日期占位符 3">
            <a:extLst>
              <a:ext uri="{FF2B5EF4-FFF2-40B4-BE49-F238E27FC236}">
                <a16:creationId xmlns:a16="http://schemas.microsoft.com/office/drawing/2014/main" id="{2B216213-B5AC-A805-4B03-596DDB8C97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8F5E2D-CD7A-4441-9C44-BF93231A312B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14341" name="灯片编号占位符 4">
            <a:extLst>
              <a:ext uri="{FF2B5EF4-FFF2-40B4-BE49-F238E27FC236}">
                <a16:creationId xmlns:a16="http://schemas.microsoft.com/office/drawing/2014/main" id="{95FBEB89-B226-D0BE-8DC3-93583E4FD3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6AA5F2-2AA6-439F-BF8E-24479F30B9B5}" type="slidenum">
              <a:rPr lang="zh-CN" altLang="en-US" smtClean="0"/>
              <a:pPr/>
              <a:t>8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5278230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8181721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6142686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0558194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14328055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268770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70526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95460491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0266854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622183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46735699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81AD7F5F-AE1A-3A32-4F8F-0210AEE8EB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464159-CE92-BE0E-C554-54B190B4423F}"/>
              </a:ext>
            </a:extLst>
          </p:cNvPr>
          <p:cNvSpPr/>
          <p:nvPr userDrawn="1"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35085484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08255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1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>
            <a:extLst>
              <a:ext uri="{FF2B5EF4-FFF2-40B4-BE49-F238E27FC236}">
                <a16:creationId xmlns:a16="http://schemas.microsoft.com/office/drawing/2014/main" id="{C1FA227D-C66F-EC54-6971-0FE35103D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7" name="椭圆 14">
            <a:extLst>
              <a:ext uri="{FF2B5EF4-FFF2-40B4-BE49-F238E27FC236}">
                <a16:creationId xmlns:a16="http://schemas.microsoft.com/office/drawing/2014/main" id="{CFA2BDE7-6B29-8FA9-A76B-44C2F0612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8" name="椭圆 14">
            <a:extLst>
              <a:ext uri="{FF2B5EF4-FFF2-40B4-BE49-F238E27FC236}">
                <a16:creationId xmlns:a16="http://schemas.microsoft.com/office/drawing/2014/main" id="{278DF23E-19EB-FB4B-64E7-142DC88B307F}"/>
              </a:ext>
            </a:extLst>
          </p:cNvPr>
          <p:cNvSpPr>
            <a:spLocks noChangeAspect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2 w 683568"/>
              <a:gd name="T1" fmla="*/ 0 h 864094"/>
              <a:gd name="T2" fmla="*/ 2 w 683568"/>
              <a:gd name="T3" fmla="*/ 2 h 864094"/>
              <a:gd name="T4" fmla="*/ 2 w 683568"/>
              <a:gd name="T5" fmla="*/ 2 h 864094"/>
              <a:gd name="T6" fmla="*/ 2 w 683568"/>
              <a:gd name="T7" fmla="*/ 2 h 864094"/>
              <a:gd name="T8" fmla="*/ 2 w 683568"/>
              <a:gd name="T9" fmla="*/ 2 h 864094"/>
              <a:gd name="T10" fmla="*/ 2 w 683568"/>
              <a:gd name="T11" fmla="*/ 2 h 864094"/>
              <a:gd name="T12" fmla="*/ 2 w 683568"/>
              <a:gd name="T13" fmla="*/ 2 h 864094"/>
              <a:gd name="T14" fmla="*/ 2 w 683568"/>
              <a:gd name="T15" fmla="*/ 2 h 864094"/>
              <a:gd name="T16" fmla="*/ 0 w 683568"/>
              <a:gd name="T17" fmla="*/ 2 h 864094"/>
              <a:gd name="T18" fmla="*/ 2 w 683568"/>
              <a:gd name="T19" fmla="*/ 0 h 8640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83568"/>
              <a:gd name="T31" fmla="*/ 0 h 864094"/>
              <a:gd name="T32" fmla="*/ 683568 w 683568"/>
              <a:gd name="T33" fmla="*/ 864094 h 86409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928C9D8C-9334-DEDD-A2FF-52EEA81AE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76BD3FFC-E2E1-4102-B69C-FCBB45CA0D90}" type="slidenum">
              <a:rPr lang="zh-CN" altLang="en-US" smtClean="0">
                <a:solidFill>
                  <a:schemeClr val="bg1"/>
                </a:solidFill>
                <a:sym typeface="Calibri" panose="020F0502020204030204" pitchFamily="34" charset="0"/>
              </a:rPr>
              <a:pPr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>
            <a:extLst>
              <a:ext uri="{FF2B5EF4-FFF2-40B4-BE49-F238E27FC236}">
                <a16:creationId xmlns:a16="http://schemas.microsoft.com/office/drawing/2014/main" id="{DCCAE610-1A7B-6F01-7856-6B89EB61B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31" name="燕尾形 9">
            <a:extLst>
              <a:ext uri="{FF2B5EF4-FFF2-40B4-BE49-F238E27FC236}">
                <a16:creationId xmlns:a16="http://schemas.microsoft.com/office/drawing/2014/main" id="{BF450DCF-D988-F68D-BF66-157156060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41" r:id="rId1"/>
    <p:sldLayoutId id="2147484742" r:id="rId2"/>
    <p:sldLayoutId id="2147484743" r:id="rId3"/>
    <p:sldLayoutId id="2147484744" r:id="rId4"/>
    <p:sldLayoutId id="2147484745" r:id="rId5"/>
    <p:sldLayoutId id="2147484746" r:id="rId6"/>
    <p:sldLayoutId id="2147484747" r:id="rId7"/>
    <p:sldLayoutId id="2147484748" r:id="rId8"/>
    <p:sldLayoutId id="2147484749" r:id="rId9"/>
    <p:sldLayoutId id="2147484750" r:id="rId10"/>
    <p:sldLayoutId id="2147484751" r:id="rId11"/>
    <p:sldLayoutId id="2147484753" r:id="rId12"/>
    <p:sldLayoutId id="2147484752" r:id="rId13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engmian">
            <a:extLst>
              <a:ext uri="{FF2B5EF4-FFF2-40B4-BE49-F238E27FC236}">
                <a16:creationId xmlns:a16="http://schemas.microsoft.com/office/drawing/2014/main" id="{3408B784-B3C6-C3A4-8AB0-5D2517880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5">
            <a:extLst>
              <a:ext uri="{FF2B5EF4-FFF2-40B4-BE49-F238E27FC236}">
                <a16:creationId xmlns:a16="http://schemas.microsoft.com/office/drawing/2014/main" id="{78ED2EF6-B269-6FE5-98AD-B2E691F6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haroni" panose="02010803020104030203" pitchFamily="2" charset="-79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69EAD731-B76D-2CC2-194B-AF10586B3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4076700"/>
            <a:ext cx="7920037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</a:rPr>
              <a:t>数据库虚拟教研室 制作</a:t>
            </a:r>
            <a:endParaRPr lang="zh-CN" altLang="zh-CN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07031F-118D-09F4-4DF6-9915D6DEB852}"/>
              </a:ext>
            </a:extLst>
          </p:cNvPr>
          <p:cNvSpPr/>
          <p:nvPr/>
        </p:nvSpPr>
        <p:spPr>
          <a:xfrm>
            <a:off x="1130830" y="46256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6A3438B3-2D40-2024-BBDE-43F3177A2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1588"/>
            <a:ext cx="3003551" cy="6862762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文本框 52">
            <a:extLst>
              <a:ext uri="{FF2B5EF4-FFF2-40B4-BE49-F238E27FC236}">
                <a16:creationId xmlns:a16="http://schemas.microsoft.com/office/drawing/2014/main" id="{93D662A3-7338-3423-EB67-FCED986DD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</a:p>
        </p:txBody>
      </p:sp>
      <p:sp>
        <p:nvSpPr>
          <p:cNvPr id="7172" name="TextBox 10">
            <a:extLst>
              <a:ext uri="{FF2B5EF4-FFF2-40B4-BE49-F238E27FC236}">
                <a16:creationId xmlns:a16="http://schemas.microsoft.com/office/drawing/2014/main" id="{F1D407DD-5F73-F373-5478-5A2BA57D0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1573213"/>
            <a:ext cx="8245475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C0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C0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1</a:t>
            </a:r>
            <a:r>
              <a:rPr lang="zh-CN" altLang="en-US" sz="3200" b="1">
                <a:solidFill>
                  <a:srgbClr val="C0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数据库编程概述</a:t>
            </a:r>
            <a:endParaRPr lang="en-US" altLang="zh-CN" sz="3200" b="1">
              <a:solidFill>
                <a:srgbClr val="002060"/>
              </a:solidFill>
              <a:latin typeface="宋体" panose="02010600030101010101" pitchFamily="2" charset="-122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C0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C0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2 </a:t>
            </a:r>
            <a:r>
              <a:rPr lang="en-US" altLang="zh-CN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MySQL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编程基本要素</a:t>
            </a:r>
            <a:endParaRPr lang="en-US" altLang="zh-CN" sz="3200" b="1">
              <a:solidFill>
                <a:srgbClr val="002060"/>
              </a:solidFill>
              <a:latin typeface="宋体" panose="02010600030101010101" pitchFamily="2" charset="-122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3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存储过程</a:t>
            </a:r>
            <a:endParaRPr lang="en-US" altLang="zh-CN" sz="3200" b="1">
              <a:solidFill>
                <a:srgbClr val="002060"/>
              </a:solidFill>
              <a:latin typeface="宋体" panose="02010600030101010101" pitchFamily="2" charset="-122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4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存储函数</a:t>
            </a:r>
            <a:endParaRPr lang="en-US" altLang="zh-CN" sz="3200" b="1">
              <a:solidFill>
                <a:srgbClr val="002060"/>
              </a:solidFill>
              <a:latin typeface="宋体" panose="02010600030101010101" pitchFamily="2" charset="-122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5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触发器</a:t>
            </a:r>
            <a:endParaRPr lang="en-US" altLang="zh-CN" sz="3200" b="1">
              <a:solidFill>
                <a:srgbClr val="002060"/>
              </a:solidFill>
              <a:latin typeface="宋体" panose="02010600030101010101" pitchFamily="2" charset="-122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FF000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6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事件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2393BC6-9233-F46C-9E53-B32367D86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122238"/>
            <a:ext cx="62642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8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讲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MySQL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编程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282D831-FD98-C76B-C9F1-B12274784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数据库编程概述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0247BC19-8D9E-A31D-9900-218C200A7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1773238"/>
            <a:ext cx="10512425" cy="2195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ts val="41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</a:t>
            </a:r>
            <a:r>
              <a:rPr kumimoji="1" lang="zh-CN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语句提供了数据操作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（增、删、改、查）</a:t>
            </a:r>
            <a:r>
              <a:rPr kumimoji="1" lang="zh-CN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的能力，但不支持结构化编程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，不能完成复杂的应用需求。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1828800" lvl="3" indent="-457200" eaLnBrk="1" hangingPunct="1">
              <a:lnSpc>
                <a:spcPts val="41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如输入某学生姓名查询该学生的信息；</a:t>
            </a:r>
            <a:endParaRPr kumimoji="1"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1828800" lvl="3" indent="-457200" eaLnBrk="1" hangingPunct="1">
              <a:lnSpc>
                <a:spcPts val="41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根据学生的学号，统计学生的学分。</a:t>
            </a:r>
            <a:endParaRPr kumimoji="1"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9C6DCA12-2301-C877-4744-A7E1EEEE0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1028700"/>
            <a:ext cx="10512425" cy="6334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32C6CA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为什么需要学习数据库</a:t>
            </a: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Impact" pitchFamily="34" charset="0"/>
              </a:rPr>
              <a:t>编程？</a:t>
            </a:r>
            <a:r>
              <a:rPr kumimoji="1"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endParaRPr kumimoji="1"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D906A2D8-4904-EE24-6D29-04BD1679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4192588"/>
            <a:ext cx="10512425" cy="5254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面对复杂的应用需求，需要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DBMS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提供一种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过程化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的编程方式。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EC63439-0578-74E4-B025-F7E351657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MySQL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编程基本要素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0014559C-B2DD-A200-46CC-DBA30CB89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1844675"/>
            <a:ext cx="7993062" cy="31702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457200" indent="-457200" eaLnBrk="1" hangingPunct="1">
              <a:lnSpc>
                <a:spcPct val="1100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defRPr>
            </a:lvl1pPr>
          </a:lstStyle>
          <a:p>
            <a:pPr>
              <a:lnSpc>
                <a:spcPts val="4000"/>
              </a:lnSpc>
              <a:defRPr/>
            </a:pPr>
            <a:r>
              <a:rPr lang="zh-CN" altLang="en-US" dirty="0"/>
              <a:t>常量</a:t>
            </a:r>
            <a:endParaRPr lang="en-US" altLang="zh-CN" dirty="0"/>
          </a:p>
          <a:p>
            <a:pPr>
              <a:lnSpc>
                <a:spcPts val="4000"/>
              </a:lnSpc>
              <a:defRPr/>
            </a:pPr>
            <a:r>
              <a:rPr lang="zh-CN" altLang="en-US" dirty="0"/>
              <a:t>变量</a:t>
            </a:r>
            <a:endParaRPr lang="en-US" altLang="zh-CN" dirty="0"/>
          </a:p>
          <a:p>
            <a:pPr>
              <a:lnSpc>
                <a:spcPts val="4000"/>
              </a:lnSpc>
              <a:defRPr/>
            </a:pPr>
            <a:r>
              <a:rPr lang="zh-CN" altLang="en-US" dirty="0"/>
              <a:t>分隔符</a:t>
            </a:r>
            <a:endParaRPr lang="en-US" altLang="zh-CN" dirty="0"/>
          </a:p>
          <a:p>
            <a:pPr>
              <a:lnSpc>
                <a:spcPts val="4000"/>
              </a:lnSpc>
              <a:defRPr/>
            </a:pPr>
            <a:r>
              <a:rPr lang="zh-CN" altLang="en-US" dirty="0">
                <a:effectLst/>
              </a:rPr>
              <a:t>流程控制</a:t>
            </a:r>
            <a:endParaRPr lang="en-US" altLang="zh-CN" dirty="0">
              <a:effectLst/>
            </a:endParaRPr>
          </a:p>
          <a:p>
            <a:pPr>
              <a:lnSpc>
                <a:spcPts val="4000"/>
              </a:lnSpc>
              <a:defRPr/>
            </a:pPr>
            <a:r>
              <a:rPr lang="zh-CN" altLang="en-US" dirty="0">
                <a:effectLst/>
              </a:rPr>
              <a:t>存储过程</a:t>
            </a:r>
            <a:endParaRPr lang="en-US" altLang="zh-CN" dirty="0">
              <a:effectLst/>
            </a:endParaRPr>
          </a:p>
          <a:p>
            <a:pPr>
              <a:lnSpc>
                <a:spcPts val="4000"/>
              </a:lnSpc>
              <a:defRPr/>
            </a:pPr>
            <a:r>
              <a:rPr lang="zh-CN" altLang="en-US" dirty="0"/>
              <a:t>游标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A902829-0D3F-D8D2-95AC-643B4C524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MySQL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编程基本要素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767E5A79-C089-0976-EB06-670A4E2CA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2060575"/>
            <a:ext cx="11015663" cy="3324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457200" indent="-457200" eaLnBrk="1" hangingPunct="1">
              <a:lnSpc>
                <a:spcPct val="1100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rgbClr val="C00000"/>
                </a:solidFill>
              </a:rPr>
              <a:t>字符串常量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zh-CN" dirty="0"/>
              <a:t>是指用单引号或双引号括起来的字符序列。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C00000"/>
                </a:solidFill>
              </a:rPr>
              <a:t>数值常量：</a:t>
            </a:r>
            <a:r>
              <a:rPr lang="zh-CN" altLang="en-US" dirty="0"/>
              <a:t>分为整型常量和浮点常量。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rgbClr val="C00000"/>
                </a:solidFill>
                <a:effectLst/>
              </a:rPr>
              <a:t>日期时间型常量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：</a:t>
            </a:r>
            <a:r>
              <a:rPr lang="zh-CN" altLang="zh-CN" dirty="0">
                <a:effectLst/>
              </a:rPr>
              <a:t>按特定格式表示时间或日期信息的一种字符串</a:t>
            </a:r>
            <a:r>
              <a:rPr lang="zh-CN" altLang="en-US" dirty="0">
                <a:effectLst/>
              </a:rPr>
              <a:t>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rgbClr val="C00000"/>
                </a:solidFill>
                <a:effectLst/>
              </a:rPr>
              <a:t>布尔型常量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：</a:t>
            </a:r>
            <a:r>
              <a:rPr lang="zh-CN" altLang="zh-CN" dirty="0">
                <a:latin typeface="Arial" charset="0"/>
              </a:rPr>
              <a:t>只包含两个可能的值：</a:t>
            </a:r>
            <a:r>
              <a:rPr lang="en-US" altLang="zh-CN" dirty="0">
                <a:latin typeface="Arial" charset="0"/>
              </a:rPr>
              <a:t>TRUE</a:t>
            </a:r>
            <a:r>
              <a:rPr lang="zh-CN" altLang="zh-CN" dirty="0">
                <a:latin typeface="Arial" charset="0"/>
              </a:rPr>
              <a:t>和</a:t>
            </a:r>
            <a:r>
              <a:rPr lang="en-US" altLang="zh-CN" dirty="0">
                <a:latin typeface="Arial" charset="0"/>
              </a:rPr>
              <a:t>FALSE</a:t>
            </a:r>
            <a:r>
              <a:rPr lang="zh-CN" altLang="en-US" dirty="0">
                <a:latin typeface="Arial" charset="0"/>
              </a:rPr>
              <a:t>或</a:t>
            </a:r>
            <a:r>
              <a:rPr lang="en-US" altLang="zh-CN" dirty="0">
                <a:latin typeface="Arial" charset="0"/>
              </a:rPr>
              <a:t>0</a:t>
            </a:r>
            <a:r>
              <a:rPr lang="zh-CN" altLang="en-US" dirty="0">
                <a:latin typeface="Arial" charset="0"/>
              </a:rPr>
              <a:t>和</a:t>
            </a:r>
            <a:r>
              <a:rPr lang="en-US" altLang="zh-CN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。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NULL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：</a:t>
            </a:r>
            <a:r>
              <a:rPr lang="zh-CN" altLang="zh-CN" dirty="0">
                <a:latin typeface="Arial" charset="0"/>
              </a:rPr>
              <a:t>是无类型的常量</a:t>
            </a:r>
            <a:r>
              <a:rPr lang="zh-CN" altLang="en-US" dirty="0">
                <a:latin typeface="Arial" charset="0"/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425B57-07DF-0592-E732-9B13D75F01DF}"/>
              </a:ext>
            </a:extLst>
          </p:cNvPr>
          <p:cNvSpPr txBox="1"/>
          <p:nvPr/>
        </p:nvSpPr>
        <p:spPr>
          <a:xfrm>
            <a:off x="771525" y="1181100"/>
            <a:ext cx="972026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常量：</a:t>
            </a:r>
            <a:r>
              <a:rPr lang="zh-CN" altLang="zh-CN" sz="3200" b="1" dirty="0">
                <a:solidFill>
                  <a:srgbClr val="002060"/>
                </a:solidFill>
                <a:latin typeface="+mn-ea"/>
                <a:ea typeface="+mn-ea"/>
              </a:rPr>
              <a:t>指程序运行过程中值保持不变的量。</a:t>
            </a:r>
            <a:endParaRPr lang="zh-CN" altLang="en-US" sz="3200" b="1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DA372BB0-5B78-28AC-FCC2-1FF9E51E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MySQL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编程基本要素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6576AD58-52C2-918D-2D9D-FCA07B9DF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2420938"/>
            <a:ext cx="11015662" cy="30464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marL="457200" indent="-457200" eaLnBrk="1" hangingPunct="1">
              <a:lnSpc>
                <a:spcPct val="1100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dirty="0"/>
              <a:t>系统变量：</a:t>
            </a:r>
            <a:r>
              <a:rPr lang="en-US" altLang="zh-CN" sz="3200" dirty="0"/>
              <a:t>@@</a:t>
            </a:r>
            <a:r>
              <a:rPr lang="zh-CN" altLang="en-US" sz="3200" dirty="0"/>
              <a:t>开头</a:t>
            </a:r>
            <a:endParaRPr lang="en-US" altLang="zh-CN" sz="320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/>
              <a:t>用户变量：</a:t>
            </a:r>
            <a:r>
              <a:rPr lang="en-US" altLang="zh-CN" sz="3200" dirty="0"/>
              <a:t>@</a:t>
            </a:r>
            <a:r>
              <a:rPr lang="zh-CN" altLang="en-US" sz="3200" dirty="0"/>
              <a:t>开头</a:t>
            </a:r>
            <a:endParaRPr lang="en-US" altLang="zh-CN" sz="320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/>
              <a:t>局部变量</a:t>
            </a:r>
            <a:endParaRPr lang="en-US" altLang="zh-CN" sz="3200" dirty="0"/>
          </a:p>
          <a:p>
            <a:pPr>
              <a:lnSpc>
                <a:spcPct val="150000"/>
              </a:lnSpc>
              <a:defRPr/>
            </a:pPr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46596A-726B-BF95-FD81-49E621736E6C}"/>
              </a:ext>
            </a:extLst>
          </p:cNvPr>
          <p:cNvSpPr txBox="1"/>
          <p:nvPr/>
        </p:nvSpPr>
        <p:spPr>
          <a:xfrm>
            <a:off x="842963" y="1193800"/>
            <a:ext cx="102965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变 量：</a:t>
            </a:r>
            <a:r>
              <a:rPr kumimoji="1" lang="zh-CN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程序运行过程中可以变化的量，用于暂存数据。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6">
            <a:extLst>
              <a:ext uri="{FF2B5EF4-FFF2-40B4-BE49-F238E27FC236}">
                <a16:creationId xmlns:a16="http://schemas.microsoft.com/office/drawing/2014/main" id="{BADA99F9-EF8E-D96E-3813-61B79813E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编程基本要素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06CCC9-CEB3-68F4-03A8-E5FF029D1847}"/>
              </a:ext>
            </a:extLst>
          </p:cNvPr>
          <p:cNvSpPr txBox="1"/>
          <p:nvPr/>
        </p:nvSpPr>
        <p:spPr>
          <a:xfrm>
            <a:off x="698500" y="1125538"/>
            <a:ext cx="10945813" cy="3151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局部变量</a:t>
            </a:r>
            <a:endParaRPr kumimoji="1" lang="en-US" altLang="zh-CN" sz="36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局部变量是在语句块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 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BEGIN…END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内部定义的变量，其作用范围仅限于定义该变量的语句块。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使用前需用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DECLARE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语句声明，并指明数据类型。</a:t>
            </a: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使用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SELECT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或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SET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语句赋値，变量不以“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@”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开头。</a:t>
            </a:r>
          </a:p>
        </p:txBody>
      </p: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6">
            <a:extLst>
              <a:ext uri="{FF2B5EF4-FFF2-40B4-BE49-F238E27FC236}">
                <a16:creationId xmlns:a16="http://schemas.microsoft.com/office/drawing/2014/main" id="{F5573D68-187E-3A88-EB7F-7004C496E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编程基本要素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6C23F4-18B7-72F7-1365-F0747182C771}"/>
              </a:ext>
            </a:extLst>
          </p:cNvPr>
          <p:cNvSpPr txBox="1"/>
          <p:nvPr/>
        </p:nvSpPr>
        <p:spPr>
          <a:xfrm>
            <a:off x="625475" y="849313"/>
            <a:ext cx="109458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</a:t>
            </a: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分隔符</a:t>
            </a:r>
            <a:endParaRPr kumimoji="1"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64E69B-5C25-0296-4E22-328970D95FA2}"/>
              </a:ext>
            </a:extLst>
          </p:cNvPr>
          <p:cNvSpPr txBox="1"/>
          <p:nvPr/>
        </p:nvSpPr>
        <p:spPr>
          <a:xfrm>
            <a:off x="771525" y="1749425"/>
            <a:ext cx="10945813" cy="11795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ts val="45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在命令行客户端中，如果有一行命令以分号结束，那么回车后，</a:t>
            </a:r>
            <a:r>
              <a:rPr kumimoji="1" lang="en-US" altLang="zh-CN" sz="28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将会执行该命令。</a:t>
            </a: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5055F03F-C36F-3763-D9B6-D3C09A4546C6}"/>
              </a:ext>
            </a:extLst>
          </p:cNvPr>
          <p:cNvSpPr txBox="1"/>
          <p:nvPr/>
        </p:nvSpPr>
        <p:spPr>
          <a:xfrm>
            <a:off x="617538" y="3213100"/>
            <a:ext cx="10945812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ts val="45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但有时候，一次执行多条</a:t>
            </a:r>
            <a:r>
              <a:rPr kumimoji="1" lang="en-US" altLang="zh-CN" sz="28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命令，此时必需改变结束符。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3E2317D3-BED3-7FA7-4747-D5F0FC94B1EF}"/>
              </a:ext>
            </a:extLst>
          </p:cNvPr>
          <p:cNvSpPr txBox="1"/>
          <p:nvPr/>
        </p:nvSpPr>
        <p:spPr>
          <a:xfrm>
            <a:off x="625475" y="4221163"/>
            <a:ext cx="10945813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ts val="45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命令可以重新定义代码执行的结束符。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6">
            <a:extLst>
              <a:ext uri="{FF2B5EF4-FFF2-40B4-BE49-F238E27FC236}">
                <a16:creationId xmlns:a16="http://schemas.microsoft.com/office/drawing/2014/main" id="{F1EF2855-0AF4-5DF8-3358-CCD195020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编程基本要素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6B7B5A-B04E-E493-6307-A7D333CBA6CE}"/>
              </a:ext>
            </a:extLst>
          </p:cNvPr>
          <p:cNvSpPr txBox="1"/>
          <p:nvPr/>
        </p:nvSpPr>
        <p:spPr>
          <a:xfrm>
            <a:off x="625475" y="836613"/>
            <a:ext cx="10945813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循环控制结构</a:t>
            </a: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—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LOOP</a:t>
            </a:r>
            <a:r>
              <a:rPr kumimoji="1"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</a:t>
            </a: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endParaRPr kumimoji="1" lang="en-US" altLang="zh-CN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AA0C6D-6589-B9AC-763E-2B1472493E55}"/>
              </a:ext>
            </a:extLst>
          </p:cNvPr>
          <p:cNvSpPr txBox="1"/>
          <p:nvPr/>
        </p:nvSpPr>
        <p:spPr>
          <a:xfrm>
            <a:off x="595313" y="1700213"/>
            <a:ext cx="10945812" cy="3970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[label:]  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LOOP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循环语句序列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 LOOP 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[label] ;</a:t>
            </a: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9921B0CE-342F-D293-ACA3-A00897B6BFB2}"/>
              </a:ext>
            </a:extLst>
          </p:cNvPr>
          <p:cNvSpPr txBox="1"/>
          <p:nvPr/>
        </p:nvSpPr>
        <p:spPr>
          <a:xfrm>
            <a:off x="1922463" y="3068638"/>
            <a:ext cx="9504362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IF &lt;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条件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 THEN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     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LEAVE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label / 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ITERATE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label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	      END IF </a:t>
            </a:r>
            <a:endParaRPr kumimoji="1"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6">
            <a:extLst>
              <a:ext uri="{FF2B5EF4-FFF2-40B4-BE49-F238E27FC236}">
                <a16:creationId xmlns:a16="http://schemas.microsoft.com/office/drawing/2014/main" id="{AE26E42B-2DD0-D58F-F34D-1E686B969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存储过程概述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BE4F8D-3027-AD5E-916A-4F948B7F6B52}"/>
              </a:ext>
            </a:extLst>
          </p:cNvPr>
          <p:cNvSpPr txBox="1"/>
          <p:nvPr/>
        </p:nvSpPr>
        <p:spPr>
          <a:xfrm>
            <a:off x="554038" y="1268413"/>
            <a:ext cx="11161712" cy="1301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存储过程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 Stored Procedure ) 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是由一些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语句和流程控制语句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构成的集合，它可以调用，执行后能完成预先设定的功能。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1245F0-0928-A3E9-74F3-7C42FABC9FB2}"/>
              </a:ext>
            </a:extLst>
          </p:cNvPr>
          <p:cNvSpPr txBox="1"/>
          <p:nvPr/>
        </p:nvSpPr>
        <p:spPr>
          <a:xfrm>
            <a:off x="482600" y="2708275"/>
            <a:ext cx="11160125" cy="259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存储过程具有以下优点： </a:t>
            </a:r>
          </a:p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存储过程可以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重复执行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，从而减少重复工作。</a:t>
            </a:r>
          </a:p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存储过程在创建时即在服务器上进行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编译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，所以执行起来比单个 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 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语句快。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6">
            <a:extLst>
              <a:ext uri="{FF2B5EF4-FFF2-40B4-BE49-F238E27FC236}">
                <a16:creationId xmlns:a16="http://schemas.microsoft.com/office/drawing/2014/main" id="{53F0884E-0D6F-73DA-96E7-BAE7F5394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创建存储过程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C6834D-A69D-2A41-3B40-FA39CE1ADD43}"/>
              </a:ext>
            </a:extLst>
          </p:cNvPr>
          <p:cNvSpPr txBox="1"/>
          <p:nvPr/>
        </p:nvSpPr>
        <p:spPr>
          <a:xfrm>
            <a:off x="698500" y="1268413"/>
            <a:ext cx="10945813" cy="1644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PROCEDURE 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procedure_ name </a:t>
            </a:r>
          </a:p>
          <a:p>
            <a:pPr>
              <a:lnSpc>
                <a:spcPct val="12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( [[IN|OUT|INOUT] parameter_ name  type[,...]] ) </a:t>
            </a:r>
          </a:p>
          <a:p>
            <a:pPr>
              <a:lnSpc>
                <a:spcPct val="12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routine_ body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</a:t>
            </a:r>
            <a:endParaRPr kumimoji="1"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4DDC7FC2-8593-6A89-5E0C-10B749E878E2}"/>
              </a:ext>
            </a:extLst>
          </p:cNvPr>
          <p:cNvSpPr txBox="1"/>
          <p:nvPr/>
        </p:nvSpPr>
        <p:spPr>
          <a:xfrm>
            <a:off x="482600" y="3425825"/>
            <a:ext cx="10945813" cy="11287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存储过程的参数有三种类型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、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OUT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NOUT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输入参数，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OUT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输出参数，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INOUT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输入输出参数，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默认是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9DD813EE-8EE1-8670-E244-4FE30DCDBAA1}"/>
              </a:ext>
            </a:extLst>
          </p:cNvPr>
          <p:cNvSpPr txBox="1"/>
          <p:nvPr/>
        </p:nvSpPr>
        <p:spPr>
          <a:xfrm>
            <a:off x="482600" y="4795838"/>
            <a:ext cx="10945813" cy="541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routine_ body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；为过程体，一般为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BENG …… END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格式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6">
            <a:extLst>
              <a:ext uri="{FF2B5EF4-FFF2-40B4-BE49-F238E27FC236}">
                <a16:creationId xmlns:a16="http://schemas.microsoft.com/office/drawing/2014/main" id="{9F5E6961-813C-1F2B-0054-C6C5D06B8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创建存储过程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59657B-007C-BF10-2701-D1E2E249C89B}"/>
              </a:ext>
            </a:extLst>
          </p:cNvPr>
          <p:cNvSpPr txBox="1"/>
          <p:nvPr/>
        </p:nvSpPr>
        <p:spPr>
          <a:xfrm>
            <a:off x="698500" y="1268413"/>
            <a:ext cx="10945813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8.10】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创建存储过程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pro_del_sc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，根据学号和课程号删除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表中的数据，学号和课程号由存储过程的参数传入。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033E1C25-F4B2-2C66-58CB-87A3E5C8920F}"/>
              </a:ext>
            </a:extLst>
          </p:cNvPr>
          <p:cNvSpPr txBox="1"/>
          <p:nvPr/>
        </p:nvSpPr>
        <p:spPr>
          <a:xfrm>
            <a:off x="698500" y="2492375"/>
            <a:ext cx="11377613" cy="2743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PROCEDURE  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pro_del_sc2 (</a:t>
            </a:r>
            <a:r>
              <a:rPr kumimoji="1" lang="en-US" altLang="zh-CN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CHAR(6),</a:t>
            </a:r>
            <a:r>
              <a:rPr kumimoji="1" lang="en-US" altLang="zh-CN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v_cno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CHAR(3)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BEGIN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DELETE FROM score WHERE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AND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CALL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pro_del_sc2 ('001106','102');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6">
            <a:extLst>
              <a:ext uri="{FF2B5EF4-FFF2-40B4-BE49-F238E27FC236}">
                <a16:creationId xmlns:a16="http://schemas.microsoft.com/office/drawing/2014/main" id="{8459F97B-EE5A-3A92-1F42-B613D1FAB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创建存储过程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7CFF35-BB91-80A5-9E22-EC896068179B}"/>
              </a:ext>
            </a:extLst>
          </p:cNvPr>
          <p:cNvSpPr txBox="1"/>
          <p:nvPr/>
        </p:nvSpPr>
        <p:spPr>
          <a:xfrm>
            <a:off x="698500" y="1268413"/>
            <a:ext cx="10945813" cy="1644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8.11】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创建存储过程</a:t>
            </a:r>
            <a:r>
              <a:rPr kumimoji="1"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pro_inquire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，该存储过程通过学生姓或名实现模糊查询，查询出符合条件的学号和姓名，存储过程的参数为学生的姓或名。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C9D33FC4-2E8B-C131-C29D-87D88A53C3BE}"/>
              </a:ext>
            </a:extLst>
          </p:cNvPr>
          <p:cNvSpPr txBox="1"/>
          <p:nvPr/>
        </p:nvSpPr>
        <p:spPr>
          <a:xfrm>
            <a:off x="688975" y="2913063"/>
            <a:ext cx="11377613" cy="3636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//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PROCEDURE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pro_inquire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v_name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VARCHAR(20))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BEGIN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SELECT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sname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FROM student WHERE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sname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LIKE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CONCAT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('%',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v_name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,'%');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//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CALL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pro_inquire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('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林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6">
            <a:extLst>
              <a:ext uri="{FF2B5EF4-FFF2-40B4-BE49-F238E27FC236}">
                <a16:creationId xmlns:a16="http://schemas.microsoft.com/office/drawing/2014/main" id="{F222C658-4DD3-F26B-9353-D0CD05FEB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调用存储过程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FCDEE1-4910-A7E2-C6DE-4B4D903026D6}"/>
              </a:ext>
            </a:extLst>
          </p:cNvPr>
          <p:cNvSpPr txBox="1"/>
          <p:nvPr/>
        </p:nvSpPr>
        <p:spPr>
          <a:xfrm>
            <a:off x="581025" y="1125538"/>
            <a:ext cx="11088688" cy="27908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调用存储过程的语法格式如下。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CALL procedure_ name [ (procedure_ parameter)];</a:t>
            </a:r>
          </a:p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procedure_ parameter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表示实际参数。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如果不需要参数，则语法格式可简化为“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CALL procedure_ name;"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或“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CALL procedure_ name( );"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92FE01C4-EB84-D4C7-C958-3CBD956FEB07}"/>
              </a:ext>
            </a:extLst>
          </p:cNvPr>
          <p:cNvSpPr txBox="1"/>
          <p:nvPr/>
        </p:nvSpPr>
        <p:spPr>
          <a:xfrm>
            <a:off x="482600" y="4508500"/>
            <a:ext cx="11088688" cy="495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8.11】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CALL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pro_inquire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('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林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');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6">
            <a:extLst>
              <a:ext uri="{FF2B5EF4-FFF2-40B4-BE49-F238E27FC236}">
                <a16:creationId xmlns:a16="http://schemas.microsoft.com/office/drawing/2014/main" id="{1E2E287A-A5B9-4D56-748C-AC780271A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游 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8915A-12FA-3153-B9A6-463C0BE87AA8}"/>
              </a:ext>
            </a:extLst>
          </p:cNvPr>
          <p:cNvSpPr txBox="1"/>
          <p:nvPr/>
        </p:nvSpPr>
        <p:spPr>
          <a:xfrm>
            <a:off x="617538" y="1196975"/>
            <a:ext cx="10944225" cy="3940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ts val="35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游标（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Cursor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是处理数据的一种方法，为了查看或者处理结果集中的数据，游标提供了在结果集中一次一行遍历数据的能力。游标使用的流程为：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1371600" lvl="2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定义游标，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1371600" lvl="2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打开游标，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1371600" lvl="2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使用游标，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1371600" lvl="2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关闭游标。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D983F4-60E0-B815-99BA-2A8FD528E689}"/>
              </a:ext>
            </a:extLst>
          </p:cNvPr>
          <p:cNvSpPr txBox="1"/>
          <p:nvPr/>
        </p:nvSpPr>
        <p:spPr>
          <a:xfrm>
            <a:off x="688975" y="1084263"/>
            <a:ext cx="10945813" cy="515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1.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定义游标       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FE8620-6FF9-3489-EA83-DCE6D72C2CC9}"/>
              </a:ext>
            </a:extLst>
          </p:cNvPr>
          <p:cNvSpPr txBox="1"/>
          <p:nvPr/>
        </p:nvSpPr>
        <p:spPr>
          <a:xfrm>
            <a:off x="688975" y="1436688"/>
            <a:ext cx="10945813" cy="574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DCELARE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&lt;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游标名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CURSOR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FOR &lt;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查询语句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</a:t>
            </a:r>
            <a:endParaRPr kumimoji="1"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22532" name="TextBox 6">
            <a:extLst>
              <a:ext uri="{FF2B5EF4-FFF2-40B4-BE49-F238E27FC236}">
                <a16:creationId xmlns:a16="http://schemas.microsoft.com/office/drawing/2014/main" id="{7CD3009A-D822-76B6-461A-C205101BC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游 标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F26A7D1E-4ECF-C351-65B3-1E0C287B90B7}"/>
              </a:ext>
            </a:extLst>
          </p:cNvPr>
          <p:cNvSpPr txBox="1"/>
          <p:nvPr/>
        </p:nvSpPr>
        <p:spPr>
          <a:xfrm>
            <a:off x="669925" y="2349500"/>
            <a:ext cx="10945813" cy="989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2.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打开游标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OPEN 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&lt;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游标名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；</a:t>
            </a:r>
            <a:endParaRPr kumimoji="1"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FE885A3A-A55E-67F8-CBED-3D48B3EB6992}"/>
              </a:ext>
            </a:extLst>
          </p:cNvPr>
          <p:cNvSpPr txBox="1"/>
          <p:nvPr/>
        </p:nvSpPr>
        <p:spPr>
          <a:xfrm>
            <a:off x="669925" y="3575050"/>
            <a:ext cx="10945813" cy="955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3.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使用游标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FETCH 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&lt;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游标名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INTO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变量名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 [,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变量名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2]……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804CFFFA-0038-120D-6E3C-7E9B8F0E9271}"/>
              </a:ext>
            </a:extLst>
          </p:cNvPr>
          <p:cNvSpPr txBox="1"/>
          <p:nvPr/>
        </p:nvSpPr>
        <p:spPr>
          <a:xfrm>
            <a:off x="688975" y="4897438"/>
            <a:ext cx="10945813" cy="9890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4.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关闭游标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CLOSE 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&lt;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游标名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;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0B1E9ED-50E6-4D6D-C2B4-F9704783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950" y="3305175"/>
            <a:ext cx="2663825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右箭头 1">
            <a:extLst>
              <a:ext uri="{FF2B5EF4-FFF2-40B4-BE49-F238E27FC236}">
                <a16:creationId xmlns:a16="http://schemas.microsoft.com/office/drawing/2014/main" id="{FB5681DE-599D-B6F1-B633-1DEA9490B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3716338"/>
            <a:ext cx="935037" cy="290512"/>
          </a:xfrm>
          <a:prstGeom prst="rightArrow">
            <a:avLst>
              <a:gd name="adj1" fmla="val 50000"/>
              <a:gd name="adj2" fmla="val 49799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8CD325A7-F9F3-E8D0-0ABB-AA2C146B1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052888"/>
            <a:ext cx="935037" cy="290512"/>
          </a:xfrm>
          <a:prstGeom prst="rightArrow">
            <a:avLst>
              <a:gd name="adj1" fmla="val 50000"/>
              <a:gd name="adj2" fmla="val 49799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08083B60-ACE5-EA14-4292-CC7E70994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354513"/>
            <a:ext cx="935037" cy="288925"/>
          </a:xfrm>
          <a:prstGeom prst="rightArrow">
            <a:avLst>
              <a:gd name="adj1" fmla="val 50000"/>
              <a:gd name="adj2" fmla="val 50072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49B5C87E-0DC7-AE5E-3B34-2A56CE907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4708525"/>
            <a:ext cx="935037" cy="288925"/>
          </a:xfrm>
          <a:prstGeom prst="rightArrow">
            <a:avLst>
              <a:gd name="adj1" fmla="val 50000"/>
              <a:gd name="adj2" fmla="val 50072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F814A-D0FD-EA0A-BD14-54CC0D3A0752}"/>
              </a:ext>
            </a:extLst>
          </p:cNvPr>
          <p:cNvSpPr txBox="1"/>
          <p:nvPr/>
        </p:nvSpPr>
        <p:spPr>
          <a:xfrm>
            <a:off x="9124950" y="4668838"/>
            <a:ext cx="3073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发生</a:t>
            </a:r>
            <a:r>
              <a:rPr kumimoji="1"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NOT FOUND</a:t>
            </a:r>
            <a:r>
              <a:rPr kumimoji="1"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异常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  <p:bldP spid="2" grpId="0" animBg="1"/>
      <p:bldP spid="2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5312EE-C7D1-C465-A36A-4DDBAF7542E4}"/>
              </a:ext>
            </a:extLst>
          </p:cNvPr>
          <p:cNvSpPr txBox="1"/>
          <p:nvPr/>
        </p:nvSpPr>
        <p:spPr>
          <a:xfrm>
            <a:off x="688975" y="1084263"/>
            <a:ext cx="10945813" cy="554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1.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定义处理程序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3497CA-FE32-37A5-7C38-045873A5D453}"/>
              </a:ext>
            </a:extLst>
          </p:cNvPr>
          <p:cNvSpPr txBox="1"/>
          <p:nvPr/>
        </p:nvSpPr>
        <p:spPr>
          <a:xfrm>
            <a:off x="715963" y="1630363"/>
            <a:ext cx="1094581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DECLARE 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处理方式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HANDLER FOR 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错误类型 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处理语句</a:t>
            </a:r>
            <a:endParaRPr kumimoji="1"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23556" name="TextBox 6">
            <a:extLst>
              <a:ext uri="{FF2B5EF4-FFF2-40B4-BE49-F238E27FC236}">
                <a16:creationId xmlns:a16="http://schemas.microsoft.com/office/drawing/2014/main" id="{C22F7B65-E56D-E9E0-9586-D9CEFAFA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异常处理</a:t>
            </a: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9D2F080D-C209-2F76-0371-61BDF88BFD32}"/>
              </a:ext>
            </a:extLst>
          </p:cNvPr>
          <p:cNvSpPr txBox="1"/>
          <p:nvPr/>
        </p:nvSpPr>
        <p:spPr>
          <a:xfrm>
            <a:off x="623888" y="2386013"/>
            <a:ext cx="10945812" cy="18875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2.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处理方式 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CONTINUE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：表示遇到错误不处理，继续执行。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EXIT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：表示遇到错误马上退出。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UNDO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：表示遇到错误后撤回之前的操作。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不支持</a:t>
            </a:r>
            <a:endParaRPr kumimoji="1"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7F7CC1C1-1962-F877-64A3-78A769C14EAE}"/>
              </a:ext>
            </a:extLst>
          </p:cNvPr>
          <p:cNvSpPr txBox="1"/>
          <p:nvPr/>
        </p:nvSpPr>
        <p:spPr>
          <a:xfrm>
            <a:off x="628650" y="4273550"/>
            <a:ext cx="10945813" cy="2336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3.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错误类型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SQLWARNING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：匹配所有以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01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开头的错误代码；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NOT FOUND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：匹配所有以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02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开头的错误代码；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SQLEXCEPTION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：匹配所有没有被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SQLWARNING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或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NOT FOUND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捕获的错误代码；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6">
            <a:extLst>
              <a:ext uri="{FF2B5EF4-FFF2-40B4-BE49-F238E27FC236}">
                <a16:creationId xmlns:a16="http://schemas.microsoft.com/office/drawing/2014/main" id="{C05ACCC5-E49B-0FB3-0BEE-3E33E45F5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存储过程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B0150B-A60E-08E9-CE3A-51236A757E4A}"/>
              </a:ext>
            </a:extLst>
          </p:cNvPr>
          <p:cNvSpPr txBox="1"/>
          <p:nvPr/>
        </p:nvSpPr>
        <p:spPr>
          <a:xfrm>
            <a:off x="411163" y="1016000"/>
            <a:ext cx="11377612" cy="990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8.9】 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根据学号统计某同学所获得的总学分，如果课程成绩达不到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70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分，该门课程的学分不能计入。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18B9DEBB-CD54-35AF-FFDC-D1289B5689C0}"/>
              </a:ext>
            </a:extLst>
          </p:cNvPr>
          <p:cNvSpPr txBox="1"/>
          <p:nvPr/>
        </p:nvSpPr>
        <p:spPr>
          <a:xfrm>
            <a:off x="627063" y="2006600"/>
            <a:ext cx="11377612" cy="5029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$$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PROCEDURE IF EXISTS `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cursor1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`$$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PROCEDURE `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cursor1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`(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CHAR(6))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DECLARE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v_grade,v_credit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INT;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DECLARE 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v_done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INT DEFAULT FALSE;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DECLARE 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CURSOR FOR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SELECT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credit,grade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FROM course JOIN score ON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course.cno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score.cno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WHERE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DECLARE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CONTINUE HANDLER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FOR NOT FOUND SET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v_done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=TRUE;                  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SET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=0;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OPEN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;</a:t>
            </a:r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A931930B-BE36-0CFE-E149-4D6C684B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233613"/>
            <a:ext cx="2465388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6">
            <a:extLst>
              <a:ext uri="{FF2B5EF4-FFF2-40B4-BE49-F238E27FC236}">
                <a16:creationId xmlns:a16="http://schemas.microsoft.com/office/drawing/2014/main" id="{791CE6DB-8929-031A-90F7-E0EC86267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存储过程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5F95FA-FC9D-0FFA-3FB1-307B90405E67}"/>
              </a:ext>
            </a:extLst>
          </p:cNvPr>
          <p:cNvSpPr txBox="1"/>
          <p:nvPr/>
        </p:nvSpPr>
        <p:spPr>
          <a:xfrm>
            <a:off x="554038" y="981075"/>
            <a:ext cx="11377612" cy="5927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label: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LOOP</a:t>
            </a:r>
            <a:endParaRPr kumimoji="1"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FETCH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INTO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v_credit,v_grade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IF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v_done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     THEN LEAVE label;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END IF;  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IF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&gt;=70 THEN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   SET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sum_credit+v_credit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END IF;           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 LOOP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label;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CLOSE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SELECT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v_sno,sum_credit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END$$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DELIMITER;</a:t>
            </a:r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8310C35E-17C5-1FF7-FE58-090382F49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825" y="2228850"/>
            <a:ext cx="230981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6">
            <a:extLst>
              <a:ext uri="{FF2B5EF4-FFF2-40B4-BE49-F238E27FC236}">
                <a16:creationId xmlns:a16="http://schemas.microsoft.com/office/drawing/2014/main" id="{17BB553B-267C-FEEA-315A-2B0BAD0B8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查看和删除存储过程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B81CFE-BAEE-7CE9-98C8-67577A993658}"/>
              </a:ext>
            </a:extLst>
          </p:cNvPr>
          <p:cNvSpPr txBox="1"/>
          <p:nvPr/>
        </p:nvSpPr>
        <p:spPr>
          <a:xfrm>
            <a:off x="625475" y="836613"/>
            <a:ext cx="4394200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查看存储过程</a:t>
            </a:r>
            <a:endParaRPr kumimoji="1" lang="en-US" altLang="zh-CN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581F9B-4DD0-E303-11CC-CD060FF03D1E}"/>
              </a:ext>
            </a:extLst>
          </p:cNvPr>
          <p:cNvSpPr txBox="1"/>
          <p:nvPr/>
        </p:nvSpPr>
        <p:spPr>
          <a:xfrm>
            <a:off x="1058863" y="1844675"/>
            <a:ext cx="7993062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SHOW CREATE PROCEDURE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procedure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_ name;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34055F-5E76-64D4-2308-FBE77670D5DC}"/>
              </a:ext>
            </a:extLst>
          </p:cNvPr>
          <p:cNvSpPr txBox="1"/>
          <p:nvPr/>
        </p:nvSpPr>
        <p:spPr>
          <a:xfrm>
            <a:off x="625475" y="2997200"/>
            <a:ext cx="4394200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删除存储过程</a:t>
            </a:r>
            <a:endParaRPr kumimoji="1" lang="en-US" altLang="zh-CN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23EAF8-AB54-2358-9CF6-86D1BD3E50F3}"/>
              </a:ext>
            </a:extLst>
          </p:cNvPr>
          <p:cNvSpPr txBox="1"/>
          <p:nvPr/>
        </p:nvSpPr>
        <p:spPr>
          <a:xfrm>
            <a:off x="1058863" y="4005263"/>
            <a:ext cx="7993062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PROCEDURE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procedure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_ name;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6">
            <a:extLst>
              <a:ext uri="{FF2B5EF4-FFF2-40B4-BE49-F238E27FC236}">
                <a16:creationId xmlns:a16="http://schemas.microsoft.com/office/drawing/2014/main" id="{FEB2680E-39F5-57C4-1F43-19F1E2312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C5FB3A-8DE2-E26C-98DD-ACB1EBB6845B}"/>
              </a:ext>
            </a:extLst>
          </p:cNvPr>
          <p:cNvSpPr txBox="1"/>
          <p:nvPr/>
        </p:nvSpPr>
        <p:spPr>
          <a:xfrm>
            <a:off x="482600" y="1125538"/>
            <a:ext cx="11428413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存储函数可以由用户自定义创建，能通过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RETURN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语句返回一个函数值。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创建用户自定义函数语句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: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FUNCTION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_ name ( [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_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param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[...]])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RETURNS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type 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[characteristic]   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func_body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B3A6397C-349D-9CFA-CD1D-708413E49CBC}"/>
              </a:ext>
            </a:extLst>
          </p:cNvPr>
          <p:cNvSpPr txBox="1"/>
          <p:nvPr/>
        </p:nvSpPr>
        <p:spPr>
          <a:xfrm>
            <a:off x="471488" y="3646488"/>
            <a:ext cx="10945812" cy="18875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[characteristic...]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特征参数是可选的，通常取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:</a:t>
            </a:r>
          </a:p>
          <a:p>
            <a:pPr marL="342900" indent="-342900">
              <a:lnSpc>
                <a:spcPts val="35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DETERMINISTIC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dɪˌtɜːmɪˈnɪstɪk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]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：确定的输入得到确定的输出</a:t>
            </a:r>
            <a:endParaRPr kumimoji="1"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NO SQL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子程序不包含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</a:p>
          <a:p>
            <a:pPr marL="342900" indent="-342900">
              <a:lnSpc>
                <a:spcPts val="35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READS SQL DATA 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子程序包含读数据的语句，但是不包含写数据的语句。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8" name="文本框 3">
            <a:extLst>
              <a:ext uri="{FF2B5EF4-FFF2-40B4-BE49-F238E27FC236}">
                <a16:creationId xmlns:a16="http://schemas.microsoft.com/office/drawing/2014/main" id="{1EF49CEF-E297-8363-CE4C-B9F4966B873A}"/>
              </a:ext>
            </a:extLst>
          </p:cNvPr>
          <p:cNvSpPr txBox="1"/>
          <p:nvPr/>
        </p:nvSpPr>
        <p:spPr>
          <a:xfrm>
            <a:off x="520700" y="5540375"/>
            <a:ext cx="10945813" cy="944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注意：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这些特征值目前提供给服务器，并没有根据这些特征值来约束过程实际使用数据的情况，因此选择这三者中的任何一项都可以。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3DA9873-0467-8A9D-24EF-ACFFFF5BA68F}"/>
              </a:ext>
            </a:extLst>
          </p:cNvPr>
          <p:cNvSpPr txBox="1"/>
          <p:nvPr/>
        </p:nvSpPr>
        <p:spPr>
          <a:xfrm>
            <a:off x="411163" y="1016000"/>
            <a:ext cx="11377612" cy="990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8.9】 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根据学号统计某同学所获得的总学分，如果课程成绩达不到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70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分，该门课程的学分不能计入。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F977BB7D-B8FA-2B25-2ED0-B9F7967076E8}"/>
              </a:ext>
            </a:extLst>
          </p:cNvPr>
          <p:cNvSpPr txBox="1"/>
          <p:nvPr/>
        </p:nvSpPr>
        <p:spPr>
          <a:xfrm>
            <a:off x="619125" y="1916113"/>
            <a:ext cx="11377613" cy="5068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$$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FUNCTION IF EXISTS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$$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FUNCTION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CHAR(6))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RETURNS INT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DETERMINISTIC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BEGIN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DECLARE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v_grade,v_credit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INT;    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DECLARE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v_done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INT DEFAULT FALSE; 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DECLARE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CURSOR FOR    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SELECT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credit,grade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FROM course JOIN score ON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course.cno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score.cno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WHERE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DECLARE CONTINUE HANDLER FOR NOT FOUND SET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v_done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=TRUE;          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SET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=0;</a:t>
            </a:r>
          </a:p>
          <a:p>
            <a:pPr>
              <a:lnSpc>
                <a:spcPts val="3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OPEN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;</a:t>
            </a:r>
          </a:p>
        </p:txBody>
      </p:sp>
      <p:pic>
        <p:nvPicPr>
          <p:cNvPr id="28676" name="Picture 5">
            <a:extLst>
              <a:ext uri="{FF2B5EF4-FFF2-40B4-BE49-F238E27FC236}">
                <a16:creationId xmlns:a16="http://schemas.microsoft.com/office/drawing/2014/main" id="{45CB698C-768A-4742-CEA1-4B767419E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388" y="2206625"/>
            <a:ext cx="2465387" cy="120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Box 6">
            <a:extLst>
              <a:ext uri="{FF2B5EF4-FFF2-40B4-BE49-F238E27FC236}">
                <a16:creationId xmlns:a16="http://schemas.microsoft.com/office/drawing/2014/main" id="{D30116AA-D0D0-E0B7-B8CC-D7CAA436A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存储函数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D01F90-965C-2BF7-3D92-D6597B503BD9}"/>
              </a:ext>
            </a:extLst>
          </p:cNvPr>
          <p:cNvSpPr txBox="1"/>
          <p:nvPr/>
        </p:nvSpPr>
        <p:spPr>
          <a:xfrm>
            <a:off x="627063" y="930275"/>
            <a:ext cx="11377612" cy="5884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label:LOOP</a:t>
            </a:r>
            <a:endParaRPr kumimoji="1"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FETCH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INTO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v_credit,v_grade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IF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v_done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THEN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      LEAVE label;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END IF;       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IF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&gt;=70 THEN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   SET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sum_credit+v_credit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END IF;               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END LOOP label;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CLOSE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cs_credit_grade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RETURN 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END$$</a:t>
            </a:r>
          </a:p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;</a:t>
            </a:r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5354CAF2-91D8-0212-E5F3-17E02E7D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825" y="2228850"/>
            <a:ext cx="230981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6">
            <a:extLst>
              <a:ext uri="{FF2B5EF4-FFF2-40B4-BE49-F238E27FC236}">
                <a16:creationId xmlns:a16="http://schemas.microsoft.com/office/drawing/2014/main" id="{2A1B59A2-5FC5-9947-D251-D1010E3E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存储函数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F29C80-2538-3C22-2223-68B30C9CB9CC}"/>
              </a:ext>
            </a:extLst>
          </p:cNvPr>
          <p:cNvSpPr txBox="1"/>
          <p:nvPr/>
        </p:nvSpPr>
        <p:spPr>
          <a:xfrm>
            <a:off x="469900" y="1031875"/>
            <a:ext cx="7848600" cy="742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调用函数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1C43C4-DE1B-0EF5-8D97-BBD3083F035D}"/>
              </a:ext>
            </a:extLst>
          </p:cNvPr>
          <p:cNvSpPr txBox="1"/>
          <p:nvPr/>
        </p:nvSpPr>
        <p:spPr>
          <a:xfrm>
            <a:off x="469900" y="1989138"/>
            <a:ext cx="11306175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20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在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中，自定义函数的调用方法与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内置函数的调用方法是一样的。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内置函数是系统自带的，自定义函数为用户创建的。</a:t>
            </a:r>
          </a:p>
          <a:p>
            <a:pPr marL="342900" indent="-34290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调用方式一：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在语句中直接调用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func_name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func_parameter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调用方式二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SELECT 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func_name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func_parameter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0724" name="TextBox 6">
            <a:extLst>
              <a:ext uri="{FF2B5EF4-FFF2-40B4-BE49-F238E27FC236}">
                <a16:creationId xmlns:a16="http://schemas.microsoft.com/office/drawing/2014/main" id="{5E234734-2601-CE14-5EC1-33F68B4F9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存储函数</a:t>
            </a:r>
          </a:p>
        </p:txBody>
      </p:sp>
    </p:spTree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6">
            <a:extLst>
              <a:ext uri="{FF2B5EF4-FFF2-40B4-BE49-F238E27FC236}">
                <a16:creationId xmlns:a16="http://schemas.microsoft.com/office/drawing/2014/main" id="{EFA345A2-7D50-890C-5ACE-B491EAE33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存储函数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03F128-593F-A65C-0481-EDF9089B939D}"/>
              </a:ext>
            </a:extLst>
          </p:cNvPr>
          <p:cNvSpPr txBox="1"/>
          <p:nvPr/>
        </p:nvSpPr>
        <p:spPr>
          <a:xfrm>
            <a:off x="469900" y="1031875"/>
            <a:ext cx="7848600" cy="742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查看存储函数创建信息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B7DD76-8F4D-CD36-BB04-0BE56DD235BD}"/>
              </a:ext>
            </a:extLst>
          </p:cNvPr>
          <p:cNvSpPr txBox="1"/>
          <p:nvPr/>
        </p:nvSpPr>
        <p:spPr>
          <a:xfrm>
            <a:off x="893763" y="2003425"/>
            <a:ext cx="7150100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SHOW CREATE FUNCTION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function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_ name;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7648C0-6AB2-1F11-1A83-5BCF3ACFD9DC}"/>
              </a:ext>
            </a:extLst>
          </p:cNvPr>
          <p:cNvSpPr txBox="1"/>
          <p:nvPr/>
        </p:nvSpPr>
        <p:spPr>
          <a:xfrm>
            <a:off x="625475" y="2997200"/>
            <a:ext cx="4394200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删除存储函数</a:t>
            </a:r>
            <a:endParaRPr kumimoji="1" lang="en-US" altLang="zh-CN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3E0417-5F60-0238-8C4F-A2A37C6568F5}"/>
              </a:ext>
            </a:extLst>
          </p:cNvPr>
          <p:cNvSpPr txBox="1"/>
          <p:nvPr/>
        </p:nvSpPr>
        <p:spPr>
          <a:xfrm>
            <a:off x="1058863" y="4005263"/>
            <a:ext cx="7993062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FUNCTION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function_name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  <a:endParaRPr kumimoji="1"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6">
            <a:extLst>
              <a:ext uri="{FF2B5EF4-FFF2-40B4-BE49-F238E27FC236}">
                <a16:creationId xmlns:a16="http://schemas.microsoft.com/office/drawing/2014/main" id="{9DA8B9C3-6D6F-0D7F-9F09-BBAC3AC1A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触发器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EB9847-BCC2-3A63-0BC0-DD62EE90F1DC}"/>
              </a:ext>
            </a:extLst>
          </p:cNvPr>
          <p:cNvSpPr txBox="1"/>
          <p:nvPr/>
        </p:nvSpPr>
        <p:spPr>
          <a:xfrm>
            <a:off x="519113" y="1052513"/>
            <a:ext cx="10980737" cy="540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触发器（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trigger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是一种特殊的存储过程，编译后存储在数据库服务器中。当特定事件发生时，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由系统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自动调用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执行。</a:t>
            </a:r>
            <a:endParaRPr kumimoji="1"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触发器不接受任何输入参数</a:t>
            </a:r>
            <a:r>
              <a:rPr kumimoji="1" lang="zh-CN" altLang="en-US" sz="2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endParaRPr kumimoji="1" lang="en-US" altLang="zh-CN" sz="2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触发器是在特定表上进行定义的，该表也称为触发器表。当有针对触发器表的操作时，例如：</a:t>
            </a:r>
            <a:endParaRPr kumimoji="1"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插入（</a:t>
            </a:r>
            <a:r>
              <a:rPr kumimoji="1" lang="en-US" altLang="zh-CN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Insert</a:t>
            </a: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endParaRPr kumimoji="1"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删除（</a:t>
            </a:r>
            <a:r>
              <a:rPr kumimoji="1" lang="en-US" altLang="zh-CN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Delete</a:t>
            </a: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endParaRPr kumimoji="1"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修改（</a:t>
            </a:r>
            <a:r>
              <a:rPr kumimoji="1" lang="en-US" altLang="zh-CN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Update</a:t>
            </a: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endParaRPr kumimoji="1"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ts val="4200"/>
              </a:lnSpc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那么触发器就自动触发执行。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6">
            <a:extLst>
              <a:ext uri="{FF2B5EF4-FFF2-40B4-BE49-F238E27FC236}">
                <a16:creationId xmlns:a16="http://schemas.microsoft.com/office/drawing/2014/main" id="{D7A65C1B-F047-B063-848C-79492C822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创建触发器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80BF88-52D4-7C42-34E6-EDC5086DDD7C}"/>
              </a:ext>
            </a:extLst>
          </p:cNvPr>
          <p:cNvSpPr txBox="1"/>
          <p:nvPr/>
        </p:nvSpPr>
        <p:spPr>
          <a:xfrm>
            <a:off x="914400" y="1196975"/>
            <a:ext cx="1015365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TRIGGER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&lt;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trigger_ name 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{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BEFORE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AFTER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} {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UPDATE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INSERT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DELETE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} ON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&lt; table_ na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me &gt;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[ FOR EACH ROW ]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TRIGGER_BODY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DC84376B-371A-4608-B5FD-B55B57E0100A}"/>
              </a:ext>
            </a:extLst>
          </p:cNvPr>
          <p:cNvSpPr txBox="1"/>
          <p:nvPr/>
        </p:nvSpPr>
        <p:spPr>
          <a:xfrm>
            <a:off x="590550" y="3933035"/>
            <a:ext cx="10152063" cy="5745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ea typeface="楷体_GB2312" pitchFamily="49" charset="-122"/>
              </a:rPr>
              <a:t>触发事件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：指定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INSERT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、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DELETE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或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UPDATE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事件，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>
            <a:extLst>
              <a:ext uri="{FF2B5EF4-FFF2-40B4-BE49-F238E27FC236}">
                <a16:creationId xmlns:a16="http://schemas.microsoft.com/office/drawing/2014/main" id="{7B8E257C-264F-DFA1-08DC-EA4F6F0DEE1F}"/>
              </a:ext>
            </a:extLst>
          </p:cNvPr>
          <p:cNvSpPr txBox="1"/>
          <p:nvPr/>
        </p:nvSpPr>
        <p:spPr>
          <a:xfrm>
            <a:off x="411163" y="1412875"/>
            <a:ext cx="11377612" cy="4487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9E47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触发事件：插入（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Insert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）、删除（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Delete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）、修改（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Update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）；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9E47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触发时机：事件前（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before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）、事件后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after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9E47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触发级别：表级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只触发一次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、行级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for each row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每行触发一次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；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9E47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触发器表：新记录表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旧记录表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old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插入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：新记录在插入时放入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表：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</a:p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删除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：原记录在删除时放入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old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表：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457200" indent="-457200">
              <a:lnSpc>
                <a:spcPct val="120000"/>
              </a:lnSpc>
              <a:spcBef>
                <a:spcPct val="30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修改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：原记录→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(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old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新记录→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(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 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BE90D5B-5AAC-3173-5C25-8A611EA56108}"/>
              </a:ext>
            </a:extLst>
          </p:cNvPr>
          <p:cNvGraphicFramePr>
            <a:graphicFrameLocks noGrp="1"/>
          </p:cNvGraphicFramePr>
          <p:nvPr/>
        </p:nvGraphicFramePr>
        <p:xfrm>
          <a:off x="7035800" y="4076700"/>
          <a:ext cx="3743325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17" marR="91417" marT="45798" marB="457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17" marR="91417" marT="45798" marB="457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17" marR="91417" marT="45798" marB="457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707B46-5F94-C5BD-E26A-A1BBCBA5A792}"/>
              </a:ext>
            </a:extLst>
          </p:cNvPr>
          <p:cNvGraphicFramePr>
            <a:graphicFrameLocks noGrp="1"/>
          </p:cNvGraphicFramePr>
          <p:nvPr/>
        </p:nvGraphicFramePr>
        <p:xfrm>
          <a:off x="6962775" y="4724400"/>
          <a:ext cx="3744913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98" marB="457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98" marB="457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98" marB="457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39" name="TextBox 6">
            <a:extLst>
              <a:ext uri="{FF2B5EF4-FFF2-40B4-BE49-F238E27FC236}">
                <a16:creationId xmlns:a16="http://schemas.microsoft.com/office/drawing/2014/main" id="{11310D96-66CA-F9A3-398C-E1878CC1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创建触发器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26B9EEE-98D9-D91D-0315-7858FBBA8B61}"/>
              </a:ext>
            </a:extLst>
          </p:cNvPr>
          <p:cNvSpPr txBox="1"/>
          <p:nvPr/>
        </p:nvSpPr>
        <p:spPr>
          <a:xfrm>
            <a:off x="771525" y="981075"/>
            <a:ext cx="10655300" cy="1438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8.16】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创建一个保存成绩表修改操作的日志表</a:t>
            </a:r>
            <a:r>
              <a:rPr kumimoji="1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score_log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(id, </a:t>
            </a:r>
            <a:r>
              <a:rPr kumimoji="1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operate_date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operate_user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</a:t>
            </a:r>
            <a:r>
              <a:rPr kumimoji="1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log_text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用于记录对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表所做的修改操作的相关信息。</a:t>
            </a:r>
            <a:endParaRPr kumimoji="1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280099C4-43F7-8F80-B71E-9DC806BFE1BC}"/>
              </a:ext>
            </a:extLst>
          </p:cNvPr>
          <p:cNvSpPr txBox="1"/>
          <p:nvPr/>
        </p:nvSpPr>
        <p:spPr>
          <a:xfrm>
            <a:off x="771525" y="2636838"/>
            <a:ext cx="10153650" cy="3970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）创建日志表</a:t>
            </a:r>
            <a:endParaRPr kumimoji="1"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TABLE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score_log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id INT NOT NULL AUTO_INCREMENT PRIMARY KEY,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operate_date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DATE,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operate_user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VARCHAR(20),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log_text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VARCHAR(200)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);</a:t>
            </a:r>
          </a:p>
        </p:txBody>
      </p:sp>
      <p:sp>
        <p:nvSpPr>
          <p:cNvPr id="35844" name="TextBox 6">
            <a:extLst>
              <a:ext uri="{FF2B5EF4-FFF2-40B4-BE49-F238E27FC236}">
                <a16:creationId xmlns:a16="http://schemas.microsoft.com/office/drawing/2014/main" id="{E3752B85-F624-2165-1DF5-90AEA983B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创建触发器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943821C4-2202-4746-68DF-DC8A544D87FC}"/>
              </a:ext>
            </a:extLst>
          </p:cNvPr>
          <p:cNvSpPr txBox="1"/>
          <p:nvPr/>
        </p:nvSpPr>
        <p:spPr>
          <a:xfrm>
            <a:off x="881063" y="1196975"/>
            <a:ext cx="10153650" cy="49006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）创建触发器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trig_score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//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TRIGGER IF EXISTS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trig_score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//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TRIGGER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trig_score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AFTER UPDATE  ON score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FOR EACH ROW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BEGIN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INSERT INTO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score_log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(id,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operate_date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operate_user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log_text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VALUES(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NULL,NOW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(),USER(),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CONCAT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('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学号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:', 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OLD.sno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,'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原成绩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',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OLD.grade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,'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新成绩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', 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NEW.grade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));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END //</a:t>
            </a:r>
          </a:p>
          <a:p>
            <a:pPr>
              <a:lnSpc>
                <a:spcPts val="34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;</a:t>
            </a:r>
          </a:p>
        </p:txBody>
      </p:sp>
      <p:sp>
        <p:nvSpPr>
          <p:cNvPr id="36867" name="TextBox 6">
            <a:extLst>
              <a:ext uri="{FF2B5EF4-FFF2-40B4-BE49-F238E27FC236}">
                <a16:creationId xmlns:a16="http://schemas.microsoft.com/office/drawing/2014/main" id="{888CFD3D-593E-2DF0-C885-E5560A481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创建触发器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D1D282-442D-C4A4-FD3D-1EDBD571A265}"/>
              </a:ext>
            </a:extLst>
          </p:cNvPr>
          <p:cNvSpPr txBox="1"/>
          <p:nvPr/>
        </p:nvSpPr>
        <p:spPr>
          <a:xfrm>
            <a:off x="784225" y="1484313"/>
            <a:ext cx="10152063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）验证触发器，修改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表数据后，查看</a:t>
            </a:r>
            <a:r>
              <a:rPr kumimoji="1"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score_log</a:t>
            </a:r>
            <a:r>
              <a:rPr kumimoji="1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内容。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UPDATE score SET grade=80 WHERE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=‘001103’ AND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cno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=‘102‘;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SELECT * FROM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score_log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7891" name="TextBox 6">
            <a:extLst>
              <a:ext uri="{FF2B5EF4-FFF2-40B4-BE49-F238E27FC236}">
                <a16:creationId xmlns:a16="http://schemas.microsoft.com/office/drawing/2014/main" id="{A4220A41-A8B0-05B8-F985-2BD247E9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创建触发器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285589-602B-AD91-D2BD-EDFDB3152254}"/>
              </a:ext>
            </a:extLst>
          </p:cNvPr>
          <p:cNvSpPr txBox="1"/>
          <p:nvPr/>
        </p:nvSpPr>
        <p:spPr>
          <a:xfrm>
            <a:off x="771525" y="981075"/>
            <a:ext cx="10655300" cy="1438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【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】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创建触发器</a:t>
            </a:r>
            <a:r>
              <a:rPr kumimoji="1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，实现对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student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表总学分的计算，当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score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中添加记录时，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student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表总学分的值做相应改变。当课程成绩大于等于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60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分时，将该课程的学分加到该学生的总学分中。</a:t>
            </a:r>
            <a:endParaRPr kumimoji="1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03ADFE9E-7A63-58FE-5C82-E6735F23B527}"/>
              </a:ext>
            </a:extLst>
          </p:cNvPr>
          <p:cNvSpPr txBox="1"/>
          <p:nvPr/>
        </p:nvSpPr>
        <p:spPr>
          <a:xfrm>
            <a:off x="771525" y="2435225"/>
            <a:ext cx="10439400" cy="4162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$$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TRIGGER  IF EXISTS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$$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CREATE   TRIGGER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sum_credit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AFTER INSERT </a:t>
            </a:r>
            <a:r>
              <a:rPr kumimoji="1"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ON score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FOR EACH ROW 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BEGIN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UPDATE student SET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totalcredit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totalcredit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(SELECT credit FROM course WHERE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cno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new.cno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)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WHERE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sno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new.sno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AND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new.grade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&gt;=60;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END$$</a:t>
            </a:r>
          </a:p>
          <a:p>
            <a:pPr>
              <a:lnSpc>
                <a:spcPts val="32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DELIMITER ;</a:t>
            </a:r>
          </a:p>
        </p:txBody>
      </p:sp>
      <p:sp>
        <p:nvSpPr>
          <p:cNvPr id="38916" name="TextBox 6">
            <a:extLst>
              <a:ext uri="{FF2B5EF4-FFF2-40B4-BE49-F238E27FC236}">
                <a16:creationId xmlns:a16="http://schemas.microsoft.com/office/drawing/2014/main" id="{F4E71CCB-49C1-0A3F-9970-17481A6D2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创建触发器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6">
            <a:extLst>
              <a:ext uri="{FF2B5EF4-FFF2-40B4-BE49-F238E27FC236}">
                <a16:creationId xmlns:a16="http://schemas.microsoft.com/office/drawing/2014/main" id="{F00C01BA-8495-B8F1-7D21-3EACBF67C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查看和删除触发器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552069-99CC-8757-542D-CE36BED4BF6C}"/>
              </a:ext>
            </a:extLst>
          </p:cNvPr>
          <p:cNvSpPr txBox="1"/>
          <p:nvPr/>
        </p:nvSpPr>
        <p:spPr>
          <a:xfrm>
            <a:off x="876300" y="1196975"/>
            <a:ext cx="10821988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使用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SHOW TRIGGERS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语句查看触发器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SHOW TRIGGERS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</a:t>
            </a:r>
            <a:endParaRPr kumimoji="1"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查看某个触发器的详细信息。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</a:t>
            </a: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SHOW CREATE  TRIGGER </a:t>
            </a:r>
            <a:r>
              <a:rPr kumimoji="1"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trig_score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  <a:endParaRPr kumimoji="1" lang="zh-CN" alt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A7CB278A-8250-FFBC-D160-4499229A78EC}"/>
              </a:ext>
            </a:extLst>
          </p:cNvPr>
          <p:cNvSpPr txBox="1"/>
          <p:nvPr/>
        </p:nvSpPr>
        <p:spPr>
          <a:xfrm>
            <a:off x="860425" y="3644900"/>
            <a:ext cx="108204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删除触发器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del_sc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defRPr/>
            </a:pP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DROP TRIGGER IF EXISTS </a:t>
            </a:r>
            <a:r>
              <a:rPr kumimoji="1" lang="en-US" altLang="zh-CN" sz="24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del_sc</a:t>
            </a:r>
            <a:r>
              <a:rPr kumimoji="1"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6">
            <a:extLst>
              <a:ext uri="{FF2B5EF4-FFF2-40B4-BE49-F238E27FC236}">
                <a16:creationId xmlns:a16="http://schemas.microsoft.com/office/drawing/2014/main" id="{CBEBFF4F-35F1-6225-A830-998AD5EC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 MySQL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事件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E7889F-8905-C039-5D0A-DE9069265C93}"/>
              </a:ext>
            </a:extLst>
          </p:cNvPr>
          <p:cNvSpPr txBox="1"/>
          <p:nvPr/>
        </p:nvSpPr>
        <p:spPr>
          <a:xfrm>
            <a:off x="771525" y="1268413"/>
            <a:ext cx="108204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事件（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EVENT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是指在相应的时刻调用的过程式数据库对象。</a:t>
            </a:r>
            <a:endParaRPr kumimoji="1" lang="en-US" altLang="zh-CN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事件也是一种特殊的存储过程，可以用于定时执行任务，如定时删除记录、对数据进行汇总、清空表、备份表等某些特定任务。</a:t>
            </a:r>
            <a:endParaRPr kumimoji="1"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事件没有调用者，事件是被激活执行。触发器是基于表上的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</a:t>
            </a:r>
            <a:r>
              <a:rPr kumimoji="1"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，而事件是基于时间被调度的。</a:t>
            </a:r>
            <a:endParaRPr kumimoji="1"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（其他内容自学）</a:t>
            </a:r>
            <a:endParaRPr kumimoji="1"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6">
            <a:extLst>
              <a:ext uri="{FF2B5EF4-FFF2-40B4-BE49-F238E27FC236}">
                <a16:creationId xmlns:a16="http://schemas.microsoft.com/office/drawing/2014/main" id="{FB386B11-4EA2-12D9-8D1F-E3790046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 </a:t>
            </a:r>
            <a:r>
              <a:rPr lang="zh-CN" altLang="en-US" sz="40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本章小结</a:t>
            </a:r>
          </a:p>
        </p:txBody>
      </p:sp>
      <p:sp>
        <p:nvSpPr>
          <p:cNvPr id="41987" name="椭圆 1">
            <a:extLst>
              <a:ext uri="{FF2B5EF4-FFF2-40B4-BE49-F238E27FC236}">
                <a16:creationId xmlns:a16="http://schemas.microsoft.com/office/drawing/2014/main" id="{28EAF1A8-A515-C078-E15F-B067317E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852738"/>
            <a:ext cx="1625600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DB1997-4F43-8E54-992E-C90548BE8BA9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2852738"/>
            <a:ext cx="2678113" cy="863600"/>
            <a:chOff x="2139115" y="4869100"/>
            <a:chExt cx="2000206" cy="864060"/>
          </a:xfrm>
        </p:grpSpPr>
        <p:sp>
          <p:nvSpPr>
            <p:cNvPr id="42002" name="椭圆 63">
              <a:extLst>
                <a:ext uri="{FF2B5EF4-FFF2-40B4-BE49-F238E27FC236}">
                  <a16:creationId xmlns:a16="http://schemas.microsoft.com/office/drawing/2014/main" id="{E8E4A676-EE28-CB7A-9A5F-2CDF0C304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940" y="4869100"/>
              <a:ext cx="1424381" cy="864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</a:t>
              </a: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编程基础</a:t>
              </a:r>
            </a:p>
          </p:txBody>
        </p:sp>
        <p:sp>
          <p:nvSpPr>
            <p:cNvPr id="42003" name="右箭头 64">
              <a:extLst>
                <a:ext uri="{FF2B5EF4-FFF2-40B4-BE49-F238E27FC236}">
                  <a16:creationId xmlns:a16="http://schemas.microsoft.com/office/drawing/2014/main" id="{10D62DCD-05E4-05AF-1103-2623D32AA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115" y="5139478"/>
              <a:ext cx="575825" cy="323303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DCACAB5-9945-6ACB-B2F8-5435E810AF2A}"/>
              </a:ext>
            </a:extLst>
          </p:cNvPr>
          <p:cNvGrpSpPr>
            <a:grpSpLocks/>
          </p:cNvGrpSpPr>
          <p:nvPr/>
        </p:nvGrpSpPr>
        <p:grpSpPr bwMode="auto">
          <a:xfrm>
            <a:off x="5505450" y="2232025"/>
            <a:ext cx="2976563" cy="863600"/>
            <a:chOff x="5504986" y="2231265"/>
            <a:chExt cx="2976990" cy="863600"/>
          </a:xfrm>
        </p:grpSpPr>
        <p:sp>
          <p:nvSpPr>
            <p:cNvPr id="42000" name="椭圆 7">
              <a:extLst>
                <a:ext uri="{FF2B5EF4-FFF2-40B4-BE49-F238E27FC236}">
                  <a16:creationId xmlns:a16="http://schemas.microsoft.com/office/drawing/2014/main" id="{212207D1-7B6F-851C-1DDE-8A9551765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51" y="2231265"/>
              <a:ext cx="1787525" cy="86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存储函数</a:t>
              </a:r>
            </a:p>
          </p:txBody>
        </p:sp>
        <p:sp>
          <p:nvSpPr>
            <p:cNvPr id="42001" name="右箭头 72">
              <a:extLst>
                <a:ext uri="{FF2B5EF4-FFF2-40B4-BE49-F238E27FC236}">
                  <a16:creationId xmlns:a16="http://schemas.microsoft.com/office/drawing/2014/main" id="{3EB8A901-5037-242C-F1E4-2605BF049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4986" y="2487031"/>
              <a:ext cx="900857" cy="365929"/>
            </a:xfrm>
            <a:prstGeom prst="rightArrow">
              <a:avLst>
                <a:gd name="adj1" fmla="val 50000"/>
                <a:gd name="adj2" fmla="val 49818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C126662-EE18-7212-C0FB-42B8A95AE83A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3284538"/>
            <a:ext cx="3070225" cy="863600"/>
            <a:chOff x="5545193" y="3284538"/>
            <a:chExt cx="3070787" cy="863600"/>
          </a:xfrm>
        </p:grpSpPr>
        <p:sp>
          <p:nvSpPr>
            <p:cNvPr id="41998" name="椭圆 8">
              <a:extLst>
                <a:ext uri="{FF2B5EF4-FFF2-40B4-BE49-F238E27FC236}">
                  <a16:creationId xmlns:a16="http://schemas.microsoft.com/office/drawing/2014/main" id="{28B6E665-6A54-FC42-DE62-38158D03B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7492" y="3284538"/>
              <a:ext cx="1868488" cy="86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</a:t>
              </a:r>
            </a:p>
          </p:txBody>
        </p:sp>
        <p:sp>
          <p:nvSpPr>
            <p:cNvPr id="41999" name="右箭头 73">
              <a:extLst>
                <a:ext uri="{FF2B5EF4-FFF2-40B4-BE49-F238E27FC236}">
                  <a16:creationId xmlns:a16="http://schemas.microsoft.com/office/drawing/2014/main" id="{44B502F8-8CB4-B326-0CDE-62EF1CD5F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93" y="3567105"/>
              <a:ext cx="903682" cy="365930"/>
            </a:xfrm>
            <a:prstGeom prst="rightArrow">
              <a:avLst>
                <a:gd name="adj1" fmla="val 50000"/>
                <a:gd name="adj2" fmla="val 49814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1ACA862-30FC-18CA-9D82-D7B931F3EA0A}"/>
              </a:ext>
            </a:extLst>
          </p:cNvPr>
          <p:cNvGrpSpPr>
            <a:grpSpLocks/>
          </p:cNvGrpSpPr>
          <p:nvPr/>
        </p:nvGrpSpPr>
        <p:grpSpPr bwMode="auto">
          <a:xfrm>
            <a:off x="5513388" y="1184275"/>
            <a:ext cx="2897187" cy="863600"/>
            <a:chOff x="5513684" y="1184163"/>
            <a:chExt cx="2896820" cy="863600"/>
          </a:xfrm>
        </p:grpSpPr>
        <p:sp>
          <p:nvSpPr>
            <p:cNvPr id="41996" name="椭圆 5">
              <a:extLst>
                <a:ext uri="{FF2B5EF4-FFF2-40B4-BE49-F238E27FC236}">
                  <a16:creationId xmlns:a16="http://schemas.microsoft.com/office/drawing/2014/main" id="{8D43665A-6670-DBBE-AD92-DDAE739C3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254" y="1184163"/>
              <a:ext cx="1746250" cy="86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存储过程</a:t>
              </a:r>
            </a:p>
          </p:txBody>
        </p:sp>
        <p:sp>
          <p:nvSpPr>
            <p:cNvPr id="41997" name="箭头: 右 11">
              <a:extLst>
                <a:ext uri="{FF2B5EF4-FFF2-40B4-BE49-F238E27FC236}">
                  <a16:creationId xmlns:a16="http://schemas.microsoft.com/office/drawing/2014/main" id="{80DFCF9D-F8DC-2197-F702-431C1F615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684" y="1478961"/>
              <a:ext cx="903682" cy="365929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D6ED263-0A06-6F2B-55F0-9BE7AB59C72A}"/>
              </a:ext>
            </a:extLst>
          </p:cNvPr>
          <p:cNvGrpSpPr>
            <a:grpSpLocks/>
          </p:cNvGrpSpPr>
          <p:nvPr/>
        </p:nvGrpSpPr>
        <p:grpSpPr bwMode="auto">
          <a:xfrm>
            <a:off x="5499100" y="4378325"/>
            <a:ext cx="2973388" cy="863600"/>
            <a:chOff x="5499517" y="4377746"/>
            <a:chExt cx="2972222" cy="863600"/>
          </a:xfrm>
        </p:grpSpPr>
        <p:sp>
          <p:nvSpPr>
            <p:cNvPr id="41994" name="椭圆 12">
              <a:extLst>
                <a:ext uri="{FF2B5EF4-FFF2-40B4-BE49-F238E27FC236}">
                  <a16:creationId xmlns:a16="http://schemas.microsoft.com/office/drawing/2014/main" id="{2DD0AE3D-D3BC-65B7-38F6-B404DD66E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3251" y="4377746"/>
              <a:ext cx="1868488" cy="86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</a:t>
              </a:r>
            </a:p>
          </p:txBody>
        </p:sp>
        <p:sp>
          <p:nvSpPr>
            <p:cNvPr id="41995" name="右箭头 73">
              <a:extLst>
                <a:ext uri="{FF2B5EF4-FFF2-40B4-BE49-F238E27FC236}">
                  <a16:creationId xmlns:a16="http://schemas.microsoft.com/office/drawing/2014/main" id="{CA2AFEFB-346A-6F5C-1C60-406341877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517" y="4725090"/>
              <a:ext cx="890712" cy="365930"/>
            </a:xfrm>
            <a:prstGeom prst="rightArrow">
              <a:avLst>
                <a:gd name="adj1" fmla="val 50000"/>
                <a:gd name="adj2" fmla="val 49820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6CFA91CD-93E9-1E16-C788-580593F5E4E6}"/>
              </a:ext>
            </a:extLst>
          </p:cNvPr>
          <p:cNvSpPr>
            <a:spLocks/>
          </p:cNvSpPr>
          <p:nvPr/>
        </p:nvSpPr>
        <p:spPr bwMode="auto">
          <a:xfrm>
            <a:off x="4625975" y="1570038"/>
            <a:ext cx="620713" cy="3240087"/>
          </a:xfrm>
          <a:prstGeom prst="leftBrace">
            <a:avLst>
              <a:gd name="adj1" fmla="val 8337"/>
              <a:gd name="adj2" fmla="val 50000"/>
            </a:avLst>
          </a:prstGeom>
          <a:noFill/>
          <a:ln w="762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3">
            <a:extLst>
              <a:ext uri="{FF2B5EF4-FFF2-40B4-BE49-F238E27FC236}">
                <a16:creationId xmlns:a16="http://schemas.microsoft.com/office/drawing/2014/main" id="{C34D1DCF-E132-A421-90E4-1DCB0872D9C2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2498725" y="3235325"/>
            <a:ext cx="7683500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i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2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3600" b="1" i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2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F4B5C8F-BF36-0E18-AAFB-5BEA4834E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谢谢学习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16543</TotalTime>
  <Pages>0</Pages>
  <Words>2455</Words>
  <Characters>0</Characters>
  <Application>Microsoft Office PowerPoint</Application>
  <DocSecurity>0</DocSecurity>
  <PresentationFormat>自定义</PresentationFormat>
  <Lines>0</Lines>
  <Paragraphs>287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9" baseType="lpstr">
      <vt:lpstr>Arial</vt:lpstr>
      <vt:lpstr>宋体</vt:lpstr>
      <vt:lpstr>Franklin Gothic Medium</vt:lpstr>
      <vt:lpstr>微软雅黑</vt:lpstr>
      <vt:lpstr>Calibri</vt:lpstr>
      <vt:lpstr>Franklin Gothic Book</vt:lpstr>
      <vt:lpstr>黑体</vt:lpstr>
      <vt:lpstr>华文行楷</vt:lpstr>
      <vt:lpstr>Aharoni</vt:lpstr>
      <vt:lpstr>Impact</vt:lpstr>
      <vt:lpstr>楷体_GB2312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zhuigz Lc</cp:lastModifiedBy>
  <cp:revision>666</cp:revision>
  <dcterms:created xsi:type="dcterms:W3CDTF">2014-10-24T14:22:44Z</dcterms:created>
  <dcterms:modified xsi:type="dcterms:W3CDTF">2026-09-22T11:12:14Z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