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685" r:id="rId4"/>
    <p:sldId id="687" r:id="rId5"/>
    <p:sldId id="686" r:id="rId6"/>
    <p:sldId id="688" r:id="rId7"/>
    <p:sldId id="690" r:id="rId8"/>
    <p:sldId id="691" r:id="rId9"/>
    <p:sldId id="608" r:id="rId10"/>
  </p:sldIdLst>
  <p:sldSz cx="1219835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2">
          <p15:clr>
            <a:srgbClr val="A4A3A4"/>
          </p15:clr>
        </p15:guide>
        <p15:guide id="2" pos="384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E47"/>
    <a:srgbClr val="3366FF"/>
    <a:srgbClr val="8AC739"/>
    <a:srgbClr val="FF9933"/>
    <a:srgbClr val="FF9900"/>
    <a:srgbClr val="CC9900"/>
    <a:srgbClr val="3399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2817" autoAdjust="0"/>
  </p:normalViewPr>
  <p:slideViewPr>
    <p:cSldViewPr snapToGrid="0">
      <p:cViewPr varScale="1">
        <p:scale>
          <a:sx n="66" d="100"/>
          <a:sy n="66" d="100"/>
        </p:scale>
        <p:origin x="864" y="72"/>
      </p:cViewPr>
      <p:guideLst>
        <p:guide orient="horz" pos="2102"/>
        <p:guide pos="384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1CDB8D8-F617-F1A8-770A-6236418644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2DF4A80-B208-C8A1-D402-E6C6830092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CD0493E-F833-49CA-BBC3-8E9C5E0B37CB}" type="datetimeFigureOut">
              <a:rPr lang="zh-CN" altLang="en-US"/>
              <a:pPr>
                <a:defRPr/>
              </a:pPr>
              <a:t>2026/9/22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6F56FF-8F16-5788-8844-446F1F9D738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83FC5B-07D0-F28F-8E01-60D7756A2B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944262CF-21EA-42C1-95FA-F03422EDD95E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>
            <a:extLst>
              <a:ext uri="{FF2B5EF4-FFF2-40B4-BE49-F238E27FC236}">
                <a16:creationId xmlns:a16="http://schemas.microsoft.com/office/drawing/2014/main" id="{73134F4B-470D-2E95-C7B8-67F07FFCDBF9}"/>
              </a:ext>
            </a:extLst>
          </p:cNvPr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>
            <a:extLst>
              <a:ext uri="{FF2B5EF4-FFF2-40B4-BE49-F238E27FC236}">
                <a16:creationId xmlns:a16="http://schemas.microsoft.com/office/drawing/2014/main" id="{001F06CE-73EA-1446-7202-A3E62C9F7F2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A88948D-CE43-4662-908B-C53FAFF1F71C}" type="datetime1">
              <a:rPr lang="zh-CN" altLang="en-US"/>
              <a:pPr>
                <a:defRPr/>
              </a:pPr>
              <a:t>2026/9/22</a:t>
            </a:fld>
            <a:endParaRPr lang="en-US" altLang="zh-CN" sz="1200"/>
          </a:p>
        </p:txBody>
      </p:sp>
      <p:sp>
        <p:nvSpPr>
          <p:cNvPr id="4100" name="幻灯片图像占位符 3">
            <a:extLst>
              <a:ext uri="{FF2B5EF4-FFF2-40B4-BE49-F238E27FC236}">
                <a16:creationId xmlns:a16="http://schemas.microsoft.com/office/drawing/2014/main" id="{B765201E-87A8-CF4A-D19C-18F46C566BB3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6869" name="备注占位符 4">
            <a:extLst>
              <a:ext uri="{FF2B5EF4-FFF2-40B4-BE49-F238E27FC236}">
                <a16:creationId xmlns:a16="http://schemas.microsoft.com/office/drawing/2014/main" id="{7C6E3C43-050A-1575-0429-CFF7B33FDE54}"/>
              </a:ext>
            </a:extLst>
          </p:cNvPr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30000"/>
              </a:spcBef>
              <a:defRPr/>
            </a:pPr>
            <a:r>
              <a:rPr lang="zh-CN" altLang="en-US" sz="1200">
                <a:solidFill>
                  <a:srgbClr val="000000"/>
                </a:solidFill>
              </a:rPr>
              <a:t>单击此处编辑母版文本样式</a:t>
            </a:r>
          </a:p>
          <a:p>
            <a:pPr eaLnBrk="0" hangingPunct="0">
              <a:spcBef>
                <a:spcPct val="30000"/>
              </a:spcBef>
              <a:defRPr/>
            </a:pPr>
            <a:r>
              <a:rPr lang="zh-CN" altLang="en-US" sz="1200">
                <a:solidFill>
                  <a:srgbClr val="000000"/>
                </a:solidFill>
              </a:rPr>
              <a:t>第二级</a:t>
            </a:r>
          </a:p>
          <a:p>
            <a:pPr eaLnBrk="0" hangingPunct="0">
              <a:spcBef>
                <a:spcPct val="30000"/>
              </a:spcBef>
              <a:defRPr/>
            </a:pPr>
            <a:r>
              <a:rPr lang="zh-CN" altLang="en-US" sz="1200">
                <a:solidFill>
                  <a:srgbClr val="000000"/>
                </a:solidFill>
              </a:rPr>
              <a:t>第三级</a:t>
            </a:r>
          </a:p>
          <a:p>
            <a:pPr eaLnBrk="0" hangingPunct="0">
              <a:spcBef>
                <a:spcPct val="30000"/>
              </a:spcBef>
              <a:defRPr/>
            </a:pPr>
            <a:r>
              <a:rPr lang="zh-CN" altLang="en-US" sz="1200">
                <a:solidFill>
                  <a:srgbClr val="000000"/>
                </a:solidFill>
              </a:rPr>
              <a:t>第四级</a:t>
            </a:r>
          </a:p>
          <a:p>
            <a:pPr eaLnBrk="0" hangingPunct="0">
              <a:spcBef>
                <a:spcPct val="30000"/>
              </a:spcBef>
              <a:defRPr/>
            </a:pPr>
            <a:r>
              <a:rPr lang="zh-CN" altLang="en-US" sz="1200">
                <a:solidFill>
                  <a:srgbClr val="000000"/>
                </a:solidFill>
              </a:rPr>
              <a:t>第五级</a:t>
            </a:r>
            <a:endParaRPr lang="zh-CN" altLang="en-US"/>
          </a:p>
        </p:txBody>
      </p:sp>
      <p:sp>
        <p:nvSpPr>
          <p:cNvPr id="2054" name="页脚占位符 5">
            <a:extLst>
              <a:ext uri="{FF2B5EF4-FFF2-40B4-BE49-F238E27FC236}">
                <a16:creationId xmlns:a16="http://schemas.microsoft.com/office/drawing/2014/main" id="{F8F8C476-DE06-8A76-BF7E-2A9CE8F167C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>
            <a:extLst>
              <a:ext uri="{FF2B5EF4-FFF2-40B4-BE49-F238E27FC236}">
                <a16:creationId xmlns:a16="http://schemas.microsoft.com/office/drawing/2014/main" id="{B528AC1B-7A82-112D-4F70-33ACAF31C6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/>
            </a:lvl1pPr>
          </a:lstStyle>
          <a:p>
            <a:fld id="{EF1F58D1-504E-492B-AE55-D50538563135}" type="slidenum">
              <a:rPr lang="zh-CN" altLang="en-US"/>
              <a:pPr/>
              <a:t>‹#›</a:t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>
            <a:extLst>
              <a:ext uri="{FF2B5EF4-FFF2-40B4-BE49-F238E27FC236}">
                <a16:creationId xmlns:a16="http://schemas.microsoft.com/office/drawing/2014/main" id="{FB86727E-738B-60D3-DF06-D9FFD274354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6146" name="备注占位符 2">
            <a:extLst>
              <a:ext uri="{FF2B5EF4-FFF2-40B4-BE49-F238E27FC236}">
                <a16:creationId xmlns:a16="http://schemas.microsoft.com/office/drawing/2014/main" id="{83C9F907-F1E9-8646-CE3E-0FB4D320076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7" name="日期占位符 3">
            <a:extLst>
              <a:ext uri="{FF2B5EF4-FFF2-40B4-BE49-F238E27FC236}">
                <a16:creationId xmlns:a16="http://schemas.microsoft.com/office/drawing/2014/main" id="{DFADB4FB-B752-3CB0-1D63-78B24CE9B78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A2DE31FF-84BA-4C4C-B25E-D5A03DFC81D0}" type="datetime1">
              <a:rPr lang="zh-CN" altLang="en-US" smtClean="0"/>
              <a:pPr/>
              <a:t>2026/9/22</a:t>
            </a:fld>
            <a:endParaRPr lang="zh-CN" altLang="en-US" sz="1200"/>
          </a:p>
        </p:txBody>
      </p:sp>
      <p:sp>
        <p:nvSpPr>
          <p:cNvPr id="6148" name="灯片编号占位符 4">
            <a:extLst>
              <a:ext uri="{FF2B5EF4-FFF2-40B4-BE49-F238E27FC236}">
                <a16:creationId xmlns:a16="http://schemas.microsoft.com/office/drawing/2014/main" id="{946BC2D6-FD64-2942-3A0D-37015378EC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39A1FC3E-7AC2-4D0E-B706-7B136CD03439}" type="slidenum">
              <a:rPr lang="zh-CN" altLang="en-US"/>
              <a:pPr/>
              <a:t>1</a:t>
            </a:fld>
            <a:endParaRPr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955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0388" y="3886200"/>
            <a:ext cx="8537575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4115020100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915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64802045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7962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7962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7612842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337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5375" y="1600200"/>
            <a:ext cx="541337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13521723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956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956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3" y="1535113"/>
            <a:ext cx="539273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013" y="2174875"/>
            <a:ext cx="539273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171042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49775991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3511679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3200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0"/>
            <a:ext cx="68199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3200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66840814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0"/>
            <a:ext cx="7319963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9963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8"/>
            <a:ext cx="7319963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71755650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915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14221491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274638"/>
            <a:ext cx="2744787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8196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52144181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7">
            <a:extLst>
              <a:ext uri="{FF2B5EF4-FFF2-40B4-BE49-F238E27FC236}">
                <a16:creationId xmlns:a16="http://schemas.microsoft.com/office/drawing/2014/main" id="{6EFD7ACC-2836-901D-4332-641A14A00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300" y="0"/>
            <a:ext cx="7718425" cy="846138"/>
          </a:xfrm>
          <a:prstGeom prst="chevron">
            <a:avLst>
              <a:gd name="adj" fmla="val 24616"/>
            </a:avLst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367C762-F87A-DF42-E7E1-3B03A9F692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7519" y="101785"/>
            <a:ext cx="1014366" cy="6425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DC0BC75-B1EA-1E37-6033-A7E5929A57D2}"/>
              </a:ext>
            </a:extLst>
          </p:cNvPr>
          <p:cNvSpPr/>
          <p:nvPr/>
        </p:nvSpPr>
        <p:spPr>
          <a:xfrm>
            <a:off x="8848725" y="0"/>
            <a:ext cx="2484000" cy="707886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 eaLnBrk="0" hangingPunct="0">
              <a:defRPr/>
            </a:pPr>
            <a:r>
              <a:rPr lang="zh-CN" altLang="en-US" sz="4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数据库</a:t>
            </a:r>
          </a:p>
        </p:txBody>
      </p:sp>
    </p:spTree>
    <p:extLst>
      <p:ext uri="{BB962C8B-B14F-4D97-AF65-F5344CB8AC3E}">
        <p14:creationId xmlns:p14="http://schemas.microsoft.com/office/powerpoint/2010/main" val="213870432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609600" y="1600200"/>
            <a:ext cx="1097915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452819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FAFAFA"/>
            </a:gs>
            <a:gs pos="50000">
              <a:srgbClr val="FBFBFB"/>
            </a:gs>
            <a:gs pos="100000">
              <a:srgbClr val="FCFCF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2">
            <a:extLst>
              <a:ext uri="{FF2B5EF4-FFF2-40B4-BE49-F238E27FC236}">
                <a16:creationId xmlns:a16="http://schemas.microsoft.com/office/drawing/2014/main" id="{67546A5B-F0AC-694B-8182-E72E94AB4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54075"/>
            <a:ext cx="12198350" cy="115888"/>
          </a:xfrm>
          <a:prstGeom prst="rect">
            <a:avLst/>
          </a:prstGeom>
          <a:solidFill>
            <a:srgbClr val="A5A5A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defRPr/>
            </a:pPr>
            <a:endParaRPr lang="zh-CN" altLang="en-US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7" name="椭圆 14">
            <a:extLst>
              <a:ext uri="{FF2B5EF4-FFF2-40B4-BE49-F238E27FC236}">
                <a16:creationId xmlns:a16="http://schemas.microsoft.com/office/drawing/2014/main" id="{137C2094-9603-F997-694D-4350AC151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3" y="866775"/>
            <a:ext cx="85725" cy="87313"/>
          </a:xfrm>
          <a:prstGeom prst="ellipse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defRPr/>
            </a:pPr>
            <a:endParaRPr lang="zh-CN" altLang="en-US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8" name="椭圆 14">
            <a:extLst>
              <a:ext uri="{FF2B5EF4-FFF2-40B4-BE49-F238E27FC236}">
                <a16:creationId xmlns:a16="http://schemas.microsoft.com/office/drawing/2014/main" id="{B0D35572-497C-5D04-7FF5-5D46EDAD8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5150" y="188913"/>
            <a:ext cx="563563" cy="719137"/>
          </a:xfrm>
          <a:custGeom>
            <a:avLst/>
            <a:gdLst>
              <a:gd name="T0" fmla="*/ 341784 w 683568"/>
              <a:gd name="T1" fmla="*/ 0 h 864094"/>
              <a:gd name="T2" fmla="*/ 683568 w 683568"/>
              <a:gd name="T3" fmla="*/ 341784 h 864094"/>
              <a:gd name="T4" fmla="*/ 577183 w 683568"/>
              <a:gd name="T5" fmla="*/ 588642 h 864094"/>
              <a:gd name="T6" fmla="*/ 341597 w 683568"/>
              <a:gd name="T7" fmla="*/ 864094 h 864094"/>
              <a:gd name="T8" fmla="*/ 105111 w 683568"/>
              <a:gd name="T9" fmla="*/ 587591 h 864094"/>
              <a:gd name="T10" fmla="*/ 59857 w 683568"/>
              <a:gd name="T11" fmla="*/ 534679 h 864094"/>
              <a:gd name="T12" fmla="*/ 59306 w 683568"/>
              <a:gd name="T13" fmla="*/ 534035 h 864094"/>
              <a:gd name="T14" fmla="*/ 59325 w 683568"/>
              <a:gd name="T15" fmla="*/ 534035 h 864094"/>
              <a:gd name="T16" fmla="*/ 0 w 683568"/>
              <a:gd name="T17" fmla="*/ 341784 h 864094"/>
              <a:gd name="T18" fmla="*/ 341784 w 683568"/>
              <a:gd name="T19" fmla="*/ 0 h 8640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3568" h="864094">
                <a:moveTo>
                  <a:pt x="341784" y="0"/>
                </a:moveTo>
                <a:cubicBezTo>
                  <a:pt x="530546" y="0"/>
                  <a:pt x="683568" y="153022"/>
                  <a:pt x="683568" y="341784"/>
                </a:cubicBezTo>
                <a:cubicBezTo>
                  <a:pt x="683568" y="439085"/>
                  <a:pt x="642909" y="526890"/>
                  <a:pt x="577183" y="588642"/>
                </a:cubicBezTo>
                <a:lnTo>
                  <a:pt x="341597" y="864094"/>
                </a:lnTo>
                <a:lnTo>
                  <a:pt x="105111" y="587591"/>
                </a:lnTo>
                <a:cubicBezTo>
                  <a:pt x="87976" y="571864"/>
                  <a:pt x="72869" y="554041"/>
                  <a:pt x="59857" y="534679"/>
                </a:cubicBezTo>
                <a:lnTo>
                  <a:pt x="59306" y="534035"/>
                </a:lnTo>
                <a:lnTo>
                  <a:pt x="59325" y="534035"/>
                </a:lnTo>
                <a:cubicBezTo>
                  <a:pt x="21845" y="479324"/>
                  <a:pt x="0" y="413105"/>
                  <a:pt x="0" y="341784"/>
                </a:cubicBezTo>
                <a:cubicBezTo>
                  <a:pt x="0" y="153022"/>
                  <a:pt x="153022" y="0"/>
                  <a:pt x="341784" y="0"/>
                </a:cubicBezTo>
                <a:close/>
              </a:path>
            </a:pathLst>
          </a:cu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/>
          </a:p>
        </p:txBody>
      </p:sp>
      <p:sp>
        <p:nvSpPr>
          <p:cNvPr id="1029" name="Text Box 7">
            <a:extLst>
              <a:ext uri="{FF2B5EF4-FFF2-40B4-BE49-F238E27FC236}">
                <a16:creationId xmlns:a16="http://schemas.microsoft.com/office/drawing/2014/main" id="{A241FC22-BE52-9D95-8E51-340D744C3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" y="288925"/>
            <a:ext cx="6921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fld id="{2C4CE0AF-4A62-427B-B882-E1D560D3DDA6}" type="slidenum">
              <a:rPr lang="zh-CN" altLang="en-US">
                <a:solidFill>
                  <a:schemeClr val="bg1"/>
                </a:solidFill>
                <a:sym typeface="Calibri" panose="020F0502020204030204" pitchFamily="34" charset="0"/>
              </a:rPr>
              <a:pPr eaLnBrk="0" hangingPunct="0"/>
              <a:t>‹#›</a:t>
            </a:fld>
            <a:endParaRPr lang="zh-CN" altLang="en-US">
              <a:solidFill>
                <a:schemeClr val="bg1"/>
              </a:solidFill>
              <a:sym typeface="Calibri" panose="020F0502020204030204" pitchFamily="34" charset="0"/>
            </a:endParaRPr>
          </a:p>
        </p:txBody>
      </p:sp>
      <p:sp>
        <p:nvSpPr>
          <p:cNvPr id="1030" name="燕尾形 1">
            <a:extLst>
              <a:ext uri="{FF2B5EF4-FFF2-40B4-BE49-F238E27FC236}">
                <a16:creationId xmlns:a16="http://schemas.microsoft.com/office/drawing/2014/main" id="{CCD470FE-15B4-6D1A-AB0A-DE2365B06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79250" y="692150"/>
            <a:ext cx="215900" cy="431800"/>
          </a:xfrm>
          <a:prstGeom prst="chevron">
            <a:avLst>
              <a:gd name="adj" fmla="val 50000"/>
            </a:avLst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defRPr/>
            </a:pPr>
            <a:endParaRPr lang="zh-CN" altLang="en-US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31" name="燕尾形 9">
            <a:extLst>
              <a:ext uri="{FF2B5EF4-FFF2-40B4-BE49-F238E27FC236}">
                <a16:creationId xmlns:a16="http://schemas.microsoft.com/office/drawing/2014/main" id="{0AF799A8-7925-0E13-0610-0464CDF1E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1650" y="692150"/>
            <a:ext cx="215900" cy="431800"/>
          </a:xfrm>
          <a:prstGeom prst="chevron">
            <a:avLst>
              <a:gd name="adj" fmla="val 50000"/>
            </a:avLst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defRPr/>
            </a:pPr>
            <a:endParaRPr lang="zh-CN" altLang="en-US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1" r:id="rId2"/>
    <p:sldLayoutId id="2147483670" r:id="rId3"/>
    <p:sldLayoutId id="2147483669" r:id="rId4"/>
    <p:sldLayoutId id="2147483668" r:id="rId5"/>
    <p:sldLayoutId id="2147483667" r:id="rId6"/>
    <p:sldLayoutId id="2147483666" r:id="rId7"/>
    <p:sldLayoutId id="2147483665" r:id="rId8"/>
    <p:sldLayoutId id="2147483664" r:id="rId9"/>
    <p:sldLayoutId id="2147483663" r:id="rId10"/>
    <p:sldLayoutId id="2147483662" r:id="rId11"/>
    <p:sldLayoutId id="2147483673" r:id="rId12"/>
    <p:sldLayoutId id="2147483661" r:id="rId13"/>
  </p:sldLayoutIdLst>
  <p:transition spd="slow"/>
  <p:txStyles>
    <p:titleStyle>
      <a:lvl1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anose="020B0603020102020204" pitchFamily="34" charset="0"/>
          <a:ea typeface="微软雅黑" panose="020B0503020204020204" pitchFamily="34" charset="-122"/>
          <a:sym typeface="Calibri" panose="020F0502020204030204" pitchFamily="34" charset="0"/>
        </a:defRPr>
      </a:lvl2pPr>
      <a:lvl3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anose="020B0603020102020204" pitchFamily="34" charset="0"/>
          <a:ea typeface="微软雅黑" panose="020B0503020204020204" pitchFamily="34" charset="-122"/>
          <a:sym typeface="Calibri" panose="020F0502020204030204" pitchFamily="34" charset="0"/>
        </a:defRPr>
      </a:lvl3pPr>
      <a:lvl4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anose="020B0603020102020204" pitchFamily="34" charset="0"/>
          <a:ea typeface="微软雅黑" panose="020B0503020204020204" pitchFamily="34" charset="-122"/>
          <a:sym typeface="Calibri" panose="020F0502020204030204" pitchFamily="34" charset="0"/>
        </a:defRPr>
      </a:lvl4pPr>
      <a:lvl5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anose="020B0603020102020204" pitchFamily="34" charset="0"/>
          <a:ea typeface="微软雅黑" panose="020B0503020204020204" pitchFamily="34" charset="-122"/>
          <a:sym typeface="Calibri" panose="020F0502020204030204" pitchFamily="34" charset="0"/>
        </a:defRPr>
      </a:lvl5pPr>
      <a:lvl6pPr marL="13716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xueyinonline.com/detail/232603658" TargetMode="External"/><Relationship Id="rId2" Type="http://schemas.openxmlformats.org/officeDocument/2006/relationships/hyperlink" Target="https://higher.smartedu.cn/" TargetMode="Externa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dn.net/" TargetMode="External"/><Relationship Id="rId2" Type="http://schemas.openxmlformats.org/officeDocument/2006/relationships/hyperlink" Target="https://www.bilibili.com/video/BV1QE411u7Mh/?spm_id_from=333.337.search-card.all.click" TargetMode="Externa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1" name="Picture 2" descr="fengmian">
            <a:extLst>
              <a:ext uri="{FF2B5EF4-FFF2-40B4-BE49-F238E27FC236}">
                <a16:creationId xmlns:a16="http://schemas.microsoft.com/office/drawing/2014/main" id="{9ECFC8C7-D7D3-9753-B19B-257A60A22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0"/>
            <a:ext cx="12230100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2" name="TextBox 5">
            <a:extLst>
              <a:ext uri="{FF2B5EF4-FFF2-40B4-BE49-F238E27FC236}">
                <a16:creationId xmlns:a16="http://schemas.microsoft.com/office/drawing/2014/main" id="{8EB01A70-C5FB-7FFF-8180-5F83AEEC4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1860550"/>
            <a:ext cx="7218363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5400" b="1">
                <a:solidFill>
                  <a:srgbClr val="002060"/>
                </a:solidFill>
                <a:latin typeface="宋体" panose="02010600030101010101" pitchFamily="2" charset="-122"/>
                <a:cs typeface="Aharoni" panose="02010803020104030203" pitchFamily="2" charset="-79"/>
              </a:rPr>
              <a:t>《</a:t>
            </a:r>
            <a:r>
              <a:rPr lang="zh-CN" altLang="en-US" sz="5400" b="1">
                <a:solidFill>
                  <a:srgbClr val="00206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数据库原理及应用</a:t>
            </a:r>
            <a:r>
              <a:rPr lang="en-US" altLang="zh-CN" sz="5400" b="1">
                <a:solidFill>
                  <a:srgbClr val="002060"/>
                </a:solidFill>
                <a:latin typeface="宋体" panose="02010600030101010101" pitchFamily="2" charset="-122"/>
                <a:cs typeface="Aharoni" panose="02010803020104030203" pitchFamily="2" charset="-79"/>
              </a:rPr>
              <a:t>》</a:t>
            </a:r>
            <a:endParaRPr lang="zh-CN" altLang="zh-CN" sz="5400" b="1">
              <a:solidFill>
                <a:srgbClr val="002060"/>
              </a:solidFill>
              <a:latin typeface="宋体" panose="02010600030101010101" pitchFamily="2" charset="-122"/>
              <a:cs typeface="Aharoni" panose="02010803020104030203" pitchFamily="2" charset="-79"/>
            </a:endParaRP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0FC8A4E6-0562-2796-C037-91E137AFD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3" y="4076700"/>
            <a:ext cx="7920037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120000"/>
              </a:lnSpc>
            </a:pPr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  <a:cs typeface="Aharoni" panose="02010803020104030203" pitchFamily="2" charset="-79"/>
              </a:rPr>
              <a:t>数据库虚拟教研室 制作</a:t>
            </a:r>
            <a:endParaRPr lang="zh-CN" altLang="zh-CN" sz="3200" b="1">
              <a:solidFill>
                <a:srgbClr val="002060"/>
              </a:solidFill>
              <a:latin typeface="宋体" panose="02010600030101010101" pitchFamily="2" charset="-122"/>
              <a:cs typeface="Aharoni" panose="02010803020104030203" pitchFamily="2" charset="-79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4348BE8-694F-6B99-1BB4-9A8B5C508639}"/>
              </a:ext>
            </a:extLst>
          </p:cNvPr>
          <p:cNvSpPr/>
          <p:nvPr/>
        </p:nvSpPr>
        <p:spPr>
          <a:xfrm>
            <a:off x="1130830" y="46255"/>
            <a:ext cx="2483999" cy="707886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 eaLnBrk="0" hangingPunct="0">
              <a:defRPr/>
            </a:pPr>
            <a:r>
              <a:rPr lang="zh-CN" altLang="en-US" sz="4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数据库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B7E923A-9BDF-A050-C72B-367240AC78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91" y="46255"/>
            <a:ext cx="1356121" cy="8590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6">
            <a:extLst>
              <a:ext uri="{FF2B5EF4-FFF2-40B4-BE49-F238E27FC236}">
                <a16:creationId xmlns:a16="http://schemas.microsoft.com/office/drawing/2014/main" id="{15039765-A5CB-F7C6-D370-F8EE3D9CF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113" y="1588"/>
            <a:ext cx="3003551" cy="6862762"/>
          </a:xfrm>
          <a:prstGeom prst="rect">
            <a:avLst/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zh-CN" altLang="en-US"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99" name="文本框 52">
            <a:extLst>
              <a:ext uri="{FF2B5EF4-FFF2-40B4-BE49-F238E27FC236}">
                <a16:creationId xmlns:a16="http://schemas.microsoft.com/office/drawing/2014/main" id="{52B5F798-33C8-F0CE-B14A-44B54ADD5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25" y="1408113"/>
            <a:ext cx="2376488" cy="378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目</a:t>
            </a:r>
            <a:endParaRPr lang="en-US" altLang="zh-CN" sz="40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algn="ctr" eaLnBrk="0" hangingPunct="0">
              <a:defRPr/>
            </a:pPr>
            <a:endParaRPr lang="en-US" altLang="zh-CN" sz="4000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algn="ctr" eaLnBrk="0" hangingPunct="0">
              <a:defRPr/>
            </a:pPr>
            <a:endParaRPr lang="en-US" altLang="zh-CN" sz="4000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algn="ctr" eaLnBrk="0" hangingPunct="0">
              <a:defRPr/>
            </a:pPr>
            <a:endParaRPr lang="en-US" altLang="zh-CN" sz="4000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algn="ctr" eaLnBrk="0" hangingPunct="0">
              <a:defRPr/>
            </a:pPr>
            <a:endParaRPr lang="en-US" altLang="zh-CN" sz="4000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algn="ctr" eaLnBrk="0" hangingPunct="0"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录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3E945FFD-5418-C0EF-91A9-336508285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488" y="171450"/>
            <a:ext cx="202882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eaLnBrk="0" hangingPunct="0"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绪  论</a:t>
            </a:r>
          </a:p>
        </p:txBody>
      </p:sp>
      <p:sp>
        <p:nvSpPr>
          <p:cNvPr id="7172" name="TextBox 11">
            <a:extLst>
              <a:ext uri="{FF2B5EF4-FFF2-40B4-BE49-F238E27FC236}">
                <a16:creationId xmlns:a16="http://schemas.microsoft.com/office/drawing/2014/main" id="{C531F4FD-E761-ACAF-F384-91149439C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476625"/>
            <a:ext cx="669607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200" b="1">
                <a:solidFill>
                  <a:schemeClr val="accent2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3 </a:t>
            </a:r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该课程的教学方法</a:t>
            </a:r>
          </a:p>
        </p:txBody>
      </p:sp>
      <p:sp>
        <p:nvSpPr>
          <p:cNvPr id="7173" name="TextBox 10">
            <a:extLst>
              <a:ext uri="{FF2B5EF4-FFF2-40B4-BE49-F238E27FC236}">
                <a16:creationId xmlns:a16="http://schemas.microsoft.com/office/drawing/2014/main" id="{2E4F4366-5638-3244-0084-2A38863A1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682750"/>
            <a:ext cx="669607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200" b="1">
                <a:solidFill>
                  <a:schemeClr val="accent2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1 </a:t>
            </a:r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为什么要学习数据库</a:t>
            </a:r>
            <a:endParaRPr lang="zh-CN" altLang="en-US" sz="3200" b="1">
              <a:solidFill>
                <a:srgbClr val="002060"/>
              </a:solidFill>
              <a:latin typeface="宋体" panose="02010600030101010101" pitchFamily="2" charset="-122"/>
            </a:endParaRPr>
          </a:p>
        </p:txBody>
      </p:sp>
      <p:sp>
        <p:nvSpPr>
          <p:cNvPr id="7174" name="TextBox 10">
            <a:extLst>
              <a:ext uri="{FF2B5EF4-FFF2-40B4-BE49-F238E27FC236}">
                <a16:creationId xmlns:a16="http://schemas.microsoft.com/office/drawing/2014/main" id="{8AEEA142-5494-A892-6F47-7AF4ADC3A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688" y="2582863"/>
            <a:ext cx="669607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200" b="1">
                <a:solidFill>
                  <a:schemeClr val="accent2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2 </a:t>
            </a:r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该课程的学习内容</a:t>
            </a:r>
          </a:p>
        </p:txBody>
      </p:sp>
      <p:sp>
        <p:nvSpPr>
          <p:cNvPr id="7175" name="TextBox 11">
            <a:extLst>
              <a:ext uri="{FF2B5EF4-FFF2-40B4-BE49-F238E27FC236}">
                <a16:creationId xmlns:a16="http://schemas.microsoft.com/office/drawing/2014/main" id="{2683FDAA-7589-5741-C294-86DA07232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5295900"/>
            <a:ext cx="669607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200" b="1">
                <a:solidFill>
                  <a:schemeClr val="accent2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5 </a:t>
            </a:r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该课程学习资源</a:t>
            </a:r>
            <a:endParaRPr lang="zh-CN" altLang="en-US" sz="3200" b="1">
              <a:solidFill>
                <a:srgbClr val="002060"/>
              </a:solidFill>
              <a:latin typeface="宋体" panose="02010600030101010101" pitchFamily="2" charset="-122"/>
            </a:endParaRPr>
          </a:p>
        </p:txBody>
      </p:sp>
      <p:sp>
        <p:nvSpPr>
          <p:cNvPr id="7176" name="TextBox 11">
            <a:extLst>
              <a:ext uri="{FF2B5EF4-FFF2-40B4-BE49-F238E27FC236}">
                <a16:creationId xmlns:a16="http://schemas.microsoft.com/office/drawing/2014/main" id="{E014F620-863E-88DD-FB57-945D68DAE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088" y="4352925"/>
            <a:ext cx="669607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200" b="1">
                <a:solidFill>
                  <a:schemeClr val="accent2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4 </a:t>
            </a:r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该课程教学目标</a:t>
            </a:r>
          </a:p>
        </p:txBody>
      </p:sp>
    </p:spTree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C52CCAEA-1C17-A49B-5A13-B7BDABDD5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eaLnBrk="0" hangingPunct="0"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为什么要学习数据库？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7DBD7939-4BF7-9699-5194-955DA8185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341438"/>
            <a:ext cx="10872788" cy="2462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buClr>
                <a:srgbClr val="32C6CA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数据库不仅是计算机、软件工程等专业的核心课程，而且也是非计算机专业学生必修的信息技术课程。当前人工智能、互联网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+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、大数据、云计算等技术应用都建立在数据库之上，数据库技术已成为各种计算系统的核心技术，数据库课程已成为计算机及其相关专业必修课程。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446AB3B8-8A0F-79EF-AD27-6AF392880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005263"/>
            <a:ext cx="10872788" cy="98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buClr>
                <a:srgbClr val="32C6CA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我们每天都在不知不觉中和数据库打交道，</a:t>
            </a: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请谈谈你每天都用到哪些数据库系统？</a:t>
            </a:r>
            <a:endParaRPr kumimoji="1"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2FF6C4BF-5FAB-5E34-D0C3-3F40F5750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eaLnBrk="0" hangingPunct="0"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该课程的学习内容？</a:t>
            </a:r>
          </a:p>
        </p:txBody>
      </p:sp>
      <p:pic>
        <p:nvPicPr>
          <p:cNvPr id="9218" name="图片 1">
            <a:extLst>
              <a:ext uri="{FF2B5EF4-FFF2-40B4-BE49-F238E27FC236}">
                <a16:creationId xmlns:a16="http://schemas.microsoft.com/office/drawing/2014/main" id="{5208273D-1DDE-25C3-7D19-3E2D5AF82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063" y="928688"/>
            <a:ext cx="6553200" cy="599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2818F1DE-B390-093C-102B-CB970D13D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eaLnBrk="0" hangingPunct="0"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该课程的教学方法？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48393D7-8A3B-0B4A-19B7-F2F34BE05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3" y="1844675"/>
            <a:ext cx="10823575" cy="62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Aft>
                <a:spcPct val="45000"/>
              </a:spcAft>
              <a:buClr>
                <a:schemeClr val="accent2"/>
              </a:buClr>
              <a:defRPr/>
            </a:pPr>
            <a:r>
              <a:rPr lang="zh-CN" altLang="en-US" sz="3200" b="1" dirty="0">
                <a:solidFill>
                  <a:srgbClr val="002060"/>
                </a:solidFill>
              </a:rPr>
              <a:t>        </a:t>
            </a:r>
            <a:endParaRPr lang="zh-CN" alt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B9B054A1-EE74-E769-E6E9-D54919228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3" y="2659063"/>
            <a:ext cx="2582862" cy="2060575"/>
          </a:xfrm>
          <a:prstGeom prst="rightArrow">
            <a:avLst>
              <a:gd name="adj1" fmla="val 79306"/>
              <a:gd name="adj2" fmla="val 33165"/>
            </a:avLst>
          </a:prstGeom>
          <a:gradFill rotWithShape="1">
            <a:gsLst>
              <a:gs pos="0">
                <a:schemeClr val="accent2">
                  <a:gamma/>
                  <a:tint val="51373"/>
                  <a:invGamma/>
                </a:schemeClr>
              </a:gs>
              <a:gs pos="99000">
                <a:schemeClr val="accent2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buFontTx/>
              <a:buNone/>
              <a:defRPr/>
            </a:pPr>
            <a:r>
              <a:rPr lang="zh-CN" altLang="en-US" sz="2800" b="1" dirty="0">
                <a:solidFill>
                  <a:schemeClr val="tx2"/>
                </a:solidFill>
              </a:rPr>
              <a:t>（线上线下）</a:t>
            </a:r>
            <a:endParaRPr lang="en-US" altLang="zh-CN" sz="2800" b="1" dirty="0">
              <a:solidFill>
                <a:schemeClr val="tx2"/>
              </a:solidFill>
            </a:endParaRPr>
          </a:p>
          <a:p>
            <a:pPr>
              <a:buFontTx/>
              <a:buNone/>
              <a:defRPr/>
            </a:pPr>
            <a:r>
              <a:rPr lang="zh-CN" altLang="en-US" sz="2800" b="1" dirty="0">
                <a:solidFill>
                  <a:schemeClr val="tx2"/>
                </a:solidFill>
              </a:rPr>
              <a:t>混合式教学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12025833-83D1-B06B-8C05-6C158CD1144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651250" y="2708275"/>
            <a:ext cx="4038600" cy="990600"/>
          </a:xfrm>
          <a:prstGeom prst="roundRect">
            <a:avLst>
              <a:gd name="adj" fmla="val 9106"/>
            </a:avLst>
          </a:prstGeom>
          <a:solidFill>
            <a:schemeClr val="accent5">
              <a:lumMod val="40000"/>
              <a:lumOff val="60000"/>
            </a:schemeClr>
          </a:solidFill>
          <a:ln w="25400">
            <a:solidFill>
              <a:schemeClr val="bg1"/>
            </a:solidFill>
            <a:round/>
          </a:ln>
        </p:spPr>
        <p:txBody>
          <a:bodyPr wrap="none" anchor="ctr"/>
          <a:lstStyle/>
          <a:p>
            <a:pPr algn="ctr" eaLnBrk="0" hangingPunct="0">
              <a:buFontTx/>
              <a:buNone/>
              <a:defRPr/>
            </a:pPr>
            <a:r>
              <a:rPr lang="zh-CN" altLang="en-US" sz="2400" b="1" dirty="0"/>
              <a:t>分组合作</a:t>
            </a:r>
            <a:endParaRPr lang="en-US" altLang="zh-CN" sz="2400" b="1" dirty="0"/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7BB6271F-74CF-DA3F-0982-F23545F18E0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649663" y="3856038"/>
            <a:ext cx="4038600" cy="990600"/>
          </a:xfrm>
          <a:prstGeom prst="roundRect">
            <a:avLst>
              <a:gd name="adj" fmla="val 9106"/>
            </a:avLst>
          </a:prstGeom>
          <a:solidFill>
            <a:schemeClr val="accent5">
              <a:lumMod val="40000"/>
              <a:lumOff val="60000"/>
            </a:schemeClr>
          </a:solidFill>
          <a:ln w="25400">
            <a:solidFill>
              <a:schemeClr val="bg1"/>
            </a:solidFill>
            <a:round/>
          </a:ln>
        </p:spPr>
        <p:txBody>
          <a:bodyPr wrap="none" anchor="ctr"/>
          <a:lstStyle/>
          <a:p>
            <a:pPr algn="ctr" eaLnBrk="0" hangingPunct="0">
              <a:buFontTx/>
              <a:buNone/>
              <a:defRPr/>
            </a:pPr>
            <a:r>
              <a:rPr lang="zh-CN" altLang="en-US" sz="2400" b="1" dirty="0"/>
              <a:t>讨论交流</a:t>
            </a:r>
            <a:endParaRPr lang="en-US" altLang="zh-CN" sz="2400" b="1" dirty="0"/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B218F6BB-DE5C-4EF0-9260-4C4275F5C07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579813" y="4999038"/>
            <a:ext cx="4038600" cy="990600"/>
          </a:xfrm>
          <a:prstGeom prst="roundRect">
            <a:avLst>
              <a:gd name="adj" fmla="val 9106"/>
            </a:avLst>
          </a:prstGeom>
          <a:solidFill>
            <a:schemeClr val="accent5">
              <a:lumMod val="40000"/>
              <a:lumOff val="60000"/>
            </a:schemeClr>
          </a:solidFill>
          <a:ln w="25400">
            <a:solidFill>
              <a:schemeClr val="bg1"/>
            </a:solidFill>
            <a:round/>
          </a:ln>
        </p:spPr>
        <p:txBody>
          <a:bodyPr wrap="none" anchor="ctr"/>
          <a:lstStyle/>
          <a:p>
            <a:pPr algn="ctr" eaLnBrk="0" hangingPunct="0">
              <a:buFontTx/>
              <a:buNone/>
              <a:defRPr/>
            </a:pPr>
            <a:r>
              <a:rPr lang="zh-CN" altLang="en-US" sz="2400" b="1" dirty="0"/>
              <a:t>检查验收</a:t>
            </a:r>
            <a:endParaRPr lang="en-US" altLang="zh-CN" sz="2400" b="1" dirty="0"/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6ADB1277-BBCE-C92C-2C87-9A5973D36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4525" y="3200400"/>
            <a:ext cx="2514600" cy="1295400"/>
          </a:xfrm>
          <a:prstGeom prst="roundRect">
            <a:avLst>
              <a:gd name="adj" fmla="val 9106"/>
            </a:avLst>
          </a:prstGeom>
          <a:noFill/>
          <a:ln w="25400">
            <a:noFill/>
            <a:round/>
          </a:ln>
          <a:effectLst/>
        </p:spPr>
        <p:txBody>
          <a:bodyPr anchor="ctr"/>
          <a:lstStyle/>
          <a:p>
            <a:pPr algn="ctr">
              <a:buFontTx/>
              <a:buNone/>
              <a:defRPr/>
            </a:pP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C18CA296-BDA5-5746-2583-76B8EC96D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2575" y="2386013"/>
            <a:ext cx="2951163" cy="2460625"/>
          </a:xfrm>
          <a:prstGeom prst="rect">
            <a:avLst/>
          </a:prstGeom>
          <a:noFill/>
          <a:ln>
            <a:noFill/>
          </a:ln>
          <a:effectLst>
            <a:prstShdw prst="shdw12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800" b="1"/>
              <a:t>作业</a:t>
            </a:r>
            <a:r>
              <a:rPr lang="en-US" altLang="zh-CN" sz="2800" b="1"/>
              <a:t>30%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800" b="1"/>
              <a:t>实验</a:t>
            </a:r>
            <a:r>
              <a:rPr lang="en-US" altLang="zh-CN" sz="2800" b="1"/>
              <a:t>50%</a:t>
            </a:r>
          </a:p>
          <a:p>
            <a:pPr algn="ctr">
              <a:spcBef>
                <a:spcPct val="50000"/>
              </a:spcBef>
            </a:pPr>
            <a:r>
              <a:rPr lang="zh-CN" altLang="en-US" sz="2800" b="1"/>
              <a:t>考勤</a:t>
            </a:r>
            <a:r>
              <a:rPr lang="en-US" altLang="zh-CN" sz="2800" b="1"/>
              <a:t>20%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800" b="1"/>
              <a:t>=</a:t>
            </a:r>
            <a:r>
              <a:rPr lang="zh-CN" altLang="en-US" sz="2800" b="1"/>
              <a:t>平时成绩（</a:t>
            </a:r>
            <a:r>
              <a:rPr lang="en-US" altLang="zh-CN" sz="2800" b="1"/>
              <a:t>50%</a:t>
            </a:r>
            <a:r>
              <a:rPr lang="zh-CN" altLang="en-US" sz="2800" b="1"/>
              <a:t>）</a:t>
            </a:r>
          </a:p>
        </p:txBody>
      </p:sp>
      <p:sp>
        <p:nvSpPr>
          <p:cNvPr id="14" name="AutoShape 4">
            <a:extLst>
              <a:ext uri="{FF2B5EF4-FFF2-40B4-BE49-F238E27FC236}">
                <a16:creationId xmlns:a16="http://schemas.microsoft.com/office/drawing/2014/main" id="{EAFF6B9E-51A6-AC23-F9BE-34827CFFBD7B}"/>
              </a:ext>
            </a:extLst>
          </p:cNvPr>
          <p:cNvSpPr>
            <a:spLocks noChangeArrowheads="1"/>
          </p:cNvSpPr>
          <p:nvPr/>
        </p:nvSpPr>
        <p:spPr bwMode="gray">
          <a:xfrm>
            <a:off x="3651250" y="1479550"/>
            <a:ext cx="4038600" cy="990600"/>
          </a:xfrm>
          <a:prstGeom prst="roundRect">
            <a:avLst>
              <a:gd name="adj" fmla="val 9106"/>
            </a:avLst>
          </a:prstGeom>
          <a:solidFill>
            <a:schemeClr val="accent5">
              <a:lumMod val="40000"/>
              <a:lumOff val="60000"/>
            </a:schemeClr>
          </a:solidFill>
          <a:ln w="25400">
            <a:solidFill>
              <a:schemeClr val="bg1"/>
            </a:solidFill>
            <a:round/>
          </a:ln>
        </p:spPr>
        <p:txBody>
          <a:bodyPr wrap="none" anchor="ctr"/>
          <a:lstStyle/>
          <a:p>
            <a:pPr algn="ctr" eaLnBrk="0" hangingPunct="0">
              <a:buFontTx/>
              <a:buNone/>
              <a:defRPr/>
            </a:pPr>
            <a:r>
              <a:rPr lang="zh-CN" altLang="en-US" sz="2400" b="1" dirty="0"/>
              <a:t>重点内容讲解</a:t>
            </a:r>
            <a:r>
              <a:rPr lang="en-US" altLang="zh-CN" sz="2400" b="1" dirty="0"/>
              <a:t>+</a:t>
            </a:r>
            <a:r>
              <a:rPr lang="zh-CN" altLang="en-US" sz="2400" b="1" dirty="0"/>
              <a:t>线上自主学习</a:t>
            </a:r>
            <a:endParaRPr lang="en-US" altLang="zh-CN" sz="2400" b="1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8249681A-3604-ABFC-D067-AF7A1D1D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4475" y="2997200"/>
            <a:ext cx="1258888" cy="949325"/>
          </a:xfrm>
          <a:prstGeom prst="rightArrow">
            <a:avLst>
              <a:gd name="adj1" fmla="val 79306"/>
              <a:gd name="adj2" fmla="val 33165"/>
            </a:avLst>
          </a:prstGeom>
          <a:gradFill rotWithShape="1">
            <a:gsLst>
              <a:gs pos="0">
                <a:schemeClr val="accent2">
                  <a:gamma/>
                  <a:tint val="51373"/>
                  <a:invGamma/>
                </a:schemeClr>
              </a:gs>
              <a:gs pos="99000">
                <a:schemeClr val="accent2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buFontTx/>
              <a:buNone/>
              <a:defRPr/>
            </a:pPr>
            <a:r>
              <a:rPr lang="zh-CN" altLang="en-US" sz="2800" b="1" dirty="0">
                <a:solidFill>
                  <a:schemeClr val="tx2"/>
                </a:solidFill>
              </a:rPr>
              <a:t>考核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/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bldLvl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76E5A6CC-4B68-5E94-5DC4-BC9B781A7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eaLnBrk="0" hangingPunct="0"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该课程的学习目标？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3038888E-A1B1-98BC-5C4E-6920ED23E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2825" y="4878388"/>
            <a:ext cx="1892300" cy="1144587"/>
          </a:xfrm>
          <a:prstGeom prst="notchedRightArrow">
            <a:avLst>
              <a:gd name="adj1" fmla="val 50000"/>
              <a:gd name="adj2" fmla="val 41324"/>
            </a:avLst>
          </a:pr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FontTx/>
              <a:buNone/>
            </a:pPr>
            <a:r>
              <a:rPr lang="zh-CN" altLang="en-US" sz="2400">
                <a:latin typeface="Verdana" panose="020B0604030504040204" pitchFamily="34" charset="0"/>
              </a:rPr>
              <a:t>素养目标</a:t>
            </a: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5DD38387-17CD-27E6-9F9E-C0F2FFC16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350" y="3213100"/>
            <a:ext cx="7056438" cy="936625"/>
          </a:xfrm>
          <a:prstGeom prst="roundRect">
            <a:avLst>
              <a:gd name="adj" fmla="val 16667"/>
            </a:avLst>
          </a:prstGeom>
          <a:solidFill>
            <a:srgbClr val="FFCC99">
              <a:alpha val="2196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r>
              <a:rPr lang="zh-CN" altLang="en-US" sz="2400" b="1">
                <a:solidFill>
                  <a:srgbClr val="002060"/>
                </a:solidFill>
              </a:rPr>
              <a:t>培养学生计算思维能力和分析解决问题的能力；</a:t>
            </a:r>
          </a:p>
          <a:p>
            <a:pPr>
              <a:buFontTx/>
              <a:buNone/>
            </a:pPr>
            <a:r>
              <a:rPr lang="zh-CN" altLang="en-US" sz="2400" b="1">
                <a:solidFill>
                  <a:srgbClr val="002060"/>
                </a:solidFill>
              </a:rPr>
              <a:t>培养学生数据库系统的设计与实现能力；</a:t>
            </a: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50D0DEAB-E9BC-62D7-2CCF-B1E2D52F9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563" y="3141663"/>
            <a:ext cx="1590675" cy="927100"/>
          </a:xfrm>
          <a:prstGeom prst="notchedRightArrow">
            <a:avLst>
              <a:gd name="adj1" fmla="val 50000"/>
              <a:gd name="adj2" fmla="val 42886"/>
            </a:avLst>
          </a:pr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FontTx/>
              <a:buNone/>
            </a:pPr>
            <a:r>
              <a:rPr lang="zh-CN" altLang="en-US" sz="2400">
                <a:latin typeface="Verdana" panose="020B0604030504040204" pitchFamily="34" charset="0"/>
              </a:rPr>
              <a:t>能力目标</a:t>
            </a:r>
          </a:p>
        </p:txBody>
      </p:sp>
      <p:sp>
        <p:nvSpPr>
          <p:cNvPr id="11269" name="AutoShape 3">
            <a:extLst>
              <a:ext uri="{FF2B5EF4-FFF2-40B4-BE49-F238E27FC236}">
                <a16:creationId xmlns:a16="http://schemas.microsoft.com/office/drawing/2014/main" id="{3111530D-CA49-30DA-948F-9D5885BAD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1412875"/>
            <a:ext cx="1824037" cy="927100"/>
          </a:xfrm>
          <a:prstGeom prst="notchedRightArrow">
            <a:avLst>
              <a:gd name="adj1" fmla="val 50000"/>
              <a:gd name="adj2" fmla="val 49178"/>
            </a:avLst>
          </a:pr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FontTx/>
              <a:buNone/>
            </a:pPr>
            <a:r>
              <a:rPr lang="zh-CN" altLang="en-US" sz="2400">
                <a:latin typeface="Verdana" panose="020B0604030504040204" pitchFamily="34" charset="0"/>
              </a:rPr>
              <a:t>知识目标</a:t>
            </a:r>
          </a:p>
        </p:txBody>
      </p:sp>
      <p:sp>
        <p:nvSpPr>
          <p:cNvPr id="11270" name="AutoShape 4">
            <a:extLst>
              <a:ext uri="{FF2B5EF4-FFF2-40B4-BE49-F238E27FC236}">
                <a16:creationId xmlns:a16="http://schemas.microsoft.com/office/drawing/2014/main" id="{10C8F443-470F-D9DD-571C-DAA1B179D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9450" y="1484313"/>
            <a:ext cx="7056438" cy="792162"/>
          </a:xfrm>
          <a:prstGeom prst="roundRect">
            <a:avLst>
              <a:gd name="adj" fmla="val 16667"/>
            </a:avLst>
          </a:prstGeom>
          <a:solidFill>
            <a:srgbClr val="FF99CC">
              <a:alpha val="10196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r>
              <a:rPr lang="zh-CN" altLang="en-US" sz="2400" b="1">
                <a:solidFill>
                  <a:srgbClr val="002060"/>
                </a:solidFill>
              </a:rPr>
              <a:t>掌握数据库系统的基础知识，掌握数据库技术的应</a:t>
            </a:r>
            <a:endParaRPr lang="en-US" altLang="zh-CN" sz="2400" b="1">
              <a:solidFill>
                <a:srgbClr val="002060"/>
              </a:solidFill>
            </a:endParaRPr>
          </a:p>
          <a:p>
            <a:pPr>
              <a:buFontTx/>
              <a:buNone/>
            </a:pPr>
            <a:r>
              <a:rPr lang="zh-CN" altLang="en-US" sz="2400" b="1">
                <a:solidFill>
                  <a:srgbClr val="002060"/>
                </a:solidFill>
              </a:rPr>
              <a:t>用方法，掌握数据库系统设计工具的使用；</a:t>
            </a:r>
            <a:endParaRPr lang="en-US" altLang="zh-CN" sz="2400" b="1">
              <a:solidFill>
                <a:srgbClr val="002060"/>
              </a:solidFill>
            </a:endParaRPr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356914AC-7A2D-274B-C118-22722745B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0" y="4981575"/>
            <a:ext cx="6510338" cy="936625"/>
          </a:xfrm>
          <a:prstGeom prst="roundRect">
            <a:avLst>
              <a:gd name="adj" fmla="val 16667"/>
            </a:avLst>
          </a:prstGeom>
          <a:solidFill>
            <a:srgbClr val="FFCC99">
              <a:alpha val="2196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r>
              <a:rPr lang="zh-CN" altLang="en-US" sz="2400" b="1">
                <a:solidFill>
                  <a:srgbClr val="002060"/>
                </a:solidFill>
              </a:rPr>
              <a:t>培养学生的自主学习能力、团队合作精神、</a:t>
            </a:r>
            <a:endParaRPr lang="en-US" altLang="zh-CN" sz="2400" b="1">
              <a:solidFill>
                <a:srgbClr val="002060"/>
              </a:solidFill>
            </a:endParaRPr>
          </a:p>
          <a:p>
            <a:pPr>
              <a:buFontTx/>
              <a:buNone/>
            </a:pPr>
            <a:r>
              <a:rPr lang="zh-CN" altLang="en-US" sz="2400" b="1">
                <a:solidFill>
                  <a:srgbClr val="002060"/>
                </a:solidFill>
              </a:rPr>
              <a:t>规范化编程、家国情怀。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23267E20-F216-0249-6A3E-15E594D71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eaLnBrk="0" hangingPunct="0"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该课程的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MOOC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学习资源？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EB6EF4A-D7F6-BF8C-7B36-8218B0EC0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208338"/>
            <a:ext cx="11090275" cy="1160462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just">
              <a:lnSpc>
                <a:spcPct val="105000"/>
              </a:lnSpc>
              <a:spcBef>
                <a:spcPct val="20000"/>
              </a:spcBef>
              <a:buClr>
                <a:srgbClr val="0000FF"/>
              </a:buClr>
            </a:pPr>
            <a:r>
              <a:rPr lang="en-US" altLang="zh-CN" sz="2800" b="1">
                <a:solidFill>
                  <a:schemeClr val="tx2"/>
                </a:solidFill>
              </a:rPr>
              <a:t>《</a:t>
            </a:r>
            <a:r>
              <a:rPr lang="zh-CN" altLang="en-US" sz="2800" b="1">
                <a:solidFill>
                  <a:schemeClr val="tx2"/>
                </a:solidFill>
              </a:rPr>
              <a:t>数据库系统</a:t>
            </a:r>
            <a:r>
              <a:rPr lang="en-US" altLang="zh-CN" sz="2800" b="1">
                <a:solidFill>
                  <a:schemeClr val="tx2"/>
                </a:solidFill>
              </a:rPr>
              <a:t>》</a:t>
            </a:r>
            <a:r>
              <a:rPr lang="zh-CN" altLang="en-US" sz="2800" b="1">
                <a:solidFill>
                  <a:schemeClr val="tx2"/>
                </a:solidFill>
              </a:rPr>
              <a:t>哈尔滨工业大学  战德臣   教授</a:t>
            </a:r>
            <a:endParaRPr lang="en-US" altLang="zh-CN" sz="2800" b="1">
              <a:solidFill>
                <a:schemeClr val="tx2"/>
              </a:solidFill>
            </a:endParaRPr>
          </a:p>
          <a:p>
            <a:pPr lvl="1" algn="just">
              <a:lnSpc>
                <a:spcPct val="105000"/>
              </a:lnSpc>
              <a:spcBef>
                <a:spcPct val="20000"/>
              </a:spcBef>
              <a:buClr>
                <a:srgbClr val="0000FF"/>
              </a:buClr>
            </a:pPr>
            <a:r>
              <a:rPr lang="en-US" altLang="zh-CN" sz="2800" b="1">
                <a:solidFill>
                  <a:schemeClr val="tx2"/>
                </a:solidFill>
                <a:hlinkClick r:id="rId2"/>
              </a:rPr>
              <a:t>https://higher.smartedu.cn/</a:t>
            </a:r>
            <a:r>
              <a:rPr lang="zh-CN" altLang="en-US" sz="2800" b="1">
                <a:solidFill>
                  <a:schemeClr val="tx2"/>
                </a:solidFill>
              </a:rPr>
              <a:t>（国家高等教育智慧教育平台）</a:t>
            </a:r>
            <a:endParaRPr lang="en-US" altLang="zh-CN" sz="2800" b="1">
              <a:solidFill>
                <a:schemeClr val="tx2"/>
              </a:solidFill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DB907EF-D498-66A1-DC23-856A95CE3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" y="4641850"/>
            <a:ext cx="11220450" cy="122237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just">
              <a:lnSpc>
                <a:spcPct val="105000"/>
              </a:lnSpc>
              <a:spcBef>
                <a:spcPct val="20000"/>
              </a:spcBef>
              <a:buClr>
                <a:srgbClr val="0000FF"/>
              </a:buClr>
            </a:pPr>
            <a:r>
              <a:rPr lang="en-US" altLang="zh-CN" sz="2800" b="1">
                <a:solidFill>
                  <a:schemeClr val="tx2"/>
                </a:solidFill>
              </a:rPr>
              <a:t>《</a:t>
            </a:r>
            <a:r>
              <a:rPr lang="zh-CN" altLang="en-US" sz="2800" b="1">
                <a:solidFill>
                  <a:schemeClr val="tx2"/>
                </a:solidFill>
              </a:rPr>
              <a:t>数据库系统概论</a:t>
            </a:r>
            <a:r>
              <a:rPr lang="en-US" altLang="zh-CN" sz="2800" b="1">
                <a:solidFill>
                  <a:schemeClr val="tx2"/>
                </a:solidFill>
              </a:rPr>
              <a:t>》</a:t>
            </a:r>
            <a:r>
              <a:rPr lang="zh-CN" altLang="en-US" sz="2800" b="1">
                <a:solidFill>
                  <a:schemeClr val="tx2"/>
                </a:solidFill>
              </a:rPr>
              <a:t>中国人民大学  王珊   教授</a:t>
            </a:r>
            <a:endParaRPr lang="en-US" altLang="zh-CN" sz="2800" b="1">
              <a:solidFill>
                <a:schemeClr val="tx2"/>
              </a:solidFill>
            </a:endParaRPr>
          </a:p>
          <a:p>
            <a:pPr lvl="1" algn="just">
              <a:lnSpc>
                <a:spcPct val="105000"/>
              </a:lnSpc>
              <a:spcBef>
                <a:spcPct val="20000"/>
              </a:spcBef>
              <a:buClr>
                <a:srgbClr val="0000FF"/>
              </a:buClr>
            </a:pPr>
            <a:r>
              <a:rPr lang="en-US" altLang="zh-CN" sz="2800" b="1">
                <a:solidFill>
                  <a:schemeClr val="tx2"/>
                </a:solidFill>
                <a:hlinkClick r:id="rId2"/>
              </a:rPr>
              <a:t>https://higher.smartedu.cn/</a:t>
            </a:r>
            <a:r>
              <a:rPr lang="zh-CN" altLang="en-US" sz="2800" b="1">
                <a:solidFill>
                  <a:schemeClr val="tx2"/>
                </a:solidFill>
              </a:rPr>
              <a:t>（国家高等教育智慧教育平台）</a:t>
            </a:r>
            <a:endParaRPr lang="en-US" altLang="zh-CN" sz="2800" b="1">
              <a:solidFill>
                <a:schemeClr val="tx2"/>
              </a:solidFill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147626B4-8534-AFB1-9604-43EE67815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" y="1200150"/>
            <a:ext cx="11090275" cy="1630363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just">
              <a:lnSpc>
                <a:spcPct val="105000"/>
              </a:lnSpc>
              <a:spcBef>
                <a:spcPct val="20000"/>
              </a:spcBef>
              <a:buClr>
                <a:srgbClr val="0000FF"/>
              </a:buClr>
            </a:pPr>
            <a:r>
              <a:rPr lang="en-US" altLang="zh-CN" sz="2800" b="1">
                <a:solidFill>
                  <a:schemeClr val="tx2"/>
                </a:solidFill>
              </a:rPr>
              <a:t>《</a:t>
            </a:r>
            <a:r>
              <a:rPr lang="zh-CN" altLang="en-US" sz="2800" b="1">
                <a:solidFill>
                  <a:schemeClr val="tx2"/>
                </a:solidFill>
              </a:rPr>
              <a:t>数据库原理及应用</a:t>
            </a:r>
            <a:r>
              <a:rPr lang="en-US" altLang="zh-CN" sz="2800" b="1">
                <a:solidFill>
                  <a:schemeClr val="tx2"/>
                </a:solidFill>
              </a:rPr>
              <a:t>》</a:t>
            </a:r>
            <a:r>
              <a:rPr lang="zh-CN" altLang="en-US" sz="2800" b="1">
                <a:solidFill>
                  <a:schemeClr val="tx2"/>
                </a:solidFill>
              </a:rPr>
              <a:t>安徽工业大学  陈业斌   教授</a:t>
            </a:r>
            <a:endParaRPr lang="en-US" altLang="zh-CN" sz="2800" b="1">
              <a:solidFill>
                <a:schemeClr val="tx2"/>
              </a:solidFill>
            </a:endParaRPr>
          </a:p>
          <a:p>
            <a:pPr lvl="1" algn="just">
              <a:lnSpc>
                <a:spcPct val="105000"/>
              </a:lnSpc>
              <a:spcBef>
                <a:spcPct val="20000"/>
              </a:spcBef>
              <a:buClr>
                <a:srgbClr val="0000FF"/>
              </a:buClr>
            </a:pPr>
            <a:r>
              <a:rPr lang="en-US" altLang="zh-CN" sz="2800" b="1">
                <a:solidFill>
                  <a:schemeClr val="tx2"/>
                </a:solidFill>
                <a:hlinkClick r:id="rId3"/>
              </a:rPr>
              <a:t>https://www.xueyinonline.com/detail/232603658</a:t>
            </a:r>
            <a:r>
              <a:rPr lang="en-US" altLang="zh-CN" sz="2800" b="1">
                <a:solidFill>
                  <a:schemeClr val="tx2"/>
                </a:solidFill>
              </a:rPr>
              <a:t> (</a:t>
            </a:r>
            <a:r>
              <a:rPr lang="zh-CN" altLang="en-US" sz="2800" b="1">
                <a:solidFill>
                  <a:schemeClr val="tx2"/>
                </a:solidFill>
              </a:rPr>
              <a:t>学银在线</a:t>
            </a:r>
            <a:r>
              <a:rPr lang="en-US" altLang="zh-CN" sz="2800" b="1">
                <a:solidFill>
                  <a:schemeClr val="tx2"/>
                </a:solidFill>
              </a:rPr>
              <a:t>)</a:t>
            </a:r>
          </a:p>
          <a:p>
            <a:pPr lvl="1" algn="just">
              <a:lnSpc>
                <a:spcPct val="105000"/>
              </a:lnSpc>
              <a:spcBef>
                <a:spcPct val="20000"/>
              </a:spcBef>
              <a:buClr>
                <a:srgbClr val="0000FF"/>
              </a:buClr>
            </a:pPr>
            <a:r>
              <a:rPr lang="en-US" altLang="zh-CN" sz="2800" b="1">
                <a:solidFill>
                  <a:schemeClr val="tx2"/>
                </a:solidFill>
                <a:hlinkClick r:id="rId2"/>
              </a:rPr>
              <a:t>https://higher.smartedu.cn/</a:t>
            </a:r>
            <a:r>
              <a:rPr lang="en-US" altLang="zh-CN" sz="2800" b="1">
                <a:solidFill>
                  <a:schemeClr val="tx2"/>
                </a:solidFill>
              </a:rPr>
              <a:t> </a:t>
            </a:r>
            <a:r>
              <a:rPr lang="zh-CN" altLang="en-US" sz="2800" b="1">
                <a:solidFill>
                  <a:schemeClr val="tx2"/>
                </a:solidFill>
              </a:rPr>
              <a:t>（国家高等教育智慧教育平台）</a:t>
            </a:r>
            <a:endParaRPr lang="en-US" altLang="zh-CN" sz="2800" b="1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0B4131A7-C607-9814-5E0D-7E2B78033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eaLnBrk="0" hangingPunct="0"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该课程的网络学习资源？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73C1B9E-CD6B-B32B-6412-67FB83C4B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208338"/>
            <a:ext cx="11090275" cy="1160462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just">
              <a:lnSpc>
                <a:spcPct val="105000"/>
              </a:lnSpc>
              <a:spcBef>
                <a:spcPct val="20000"/>
              </a:spcBef>
              <a:buClr>
                <a:srgbClr val="0000FF"/>
              </a:buClr>
            </a:pPr>
            <a:r>
              <a:rPr lang="en-US" altLang="zh-CN" sz="2800" b="1">
                <a:solidFill>
                  <a:schemeClr val="tx2"/>
                </a:solidFill>
              </a:rPr>
              <a:t>Bilibili——</a:t>
            </a:r>
            <a:r>
              <a:rPr lang="zh-CN" altLang="en-US" sz="2800" b="1">
                <a:solidFill>
                  <a:schemeClr val="tx2"/>
                </a:solidFill>
              </a:rPr>
              <a:t>哔哩哔哩</a:t>
            </a:r>
            <a:endParaRPr lang="en-US" altLang="zh-CN" sz="2800" b="1">
              <a:solidFill>
                <a:schemeClr val="tx2"/>
              </a:solidFill>
            </a:endParaRPr>
          </a:p>
          <a:p>
            <a:pPr lvl="1" algn="just">
              <a:lnSpc>
                <a:spcPct val="105000"/>
              </a:lnSpc>
              <a:spcBef>
                <a:spcPct val="20000"/>
              </a:spcBef>
              <a:buClr>
                <a:srgbClr val="0000FF"/>
              </a:buClr>
            </a:pPr>
            <a:r>
              <a:rPr lang="en-US" altLang="zh-CN" sz="2800" b="1">
                <a:solidFill>
                  <a:schemeClr val="tx2"/>
                </a:solidFill>
                <a:hlinkClick r:id="rId2"/>
              </a:rPr>
              <a:t>https://www.bilibili.com/</a:t>
            </a:r>
            <a:endParaRPr lang="en-US" altLang="zh-CN" sz="2800" b="1">
              <a:solidFill>
                <a:schemeClr val="tx2"/>
              </a:solidFill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D0FE6F60-E08C-3841-9431-E922085E3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" y="1200150"/>
            <a:ext cx="11090275" cy="1630363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just">
              <a:lnSpc>
                <a:spcPct val="105000"/>
              </a:lnSpc>
              <a:spcBef>
                <a:spcPct val="20000"/>
              </a:spcBef>
              <a:buClr>
                <a:srgbClr val="0000FF"/>
              </a:buClr>
            </a:pPr>
            <a:r>
              <a:rPr lang="zh-CN" altLang="en-US" sz="2800" b="1">
                <a:solidFill>
                  <a:schemeClr val="tx2"/>
                </a:solidFill>
              </a:rPr>
              <a:t>中国专业</a:t>
            </a:r>
            <a:r>
              <a:rPr lang="en-US" altLang="zh-CN" sz="2800" b="1">
                <a:solidFill>
                  <a:schemeClr val="tx2"/>
                </a:solidFill>
              </a:rPr>
              <a:t>IT</a:t>
            </a:r>
            <a:r>
              <a:rPr lang="zh-CN" altLang="en-US" sz="2800" b="1">
                <a:solidFill>
                  <a:schemeClr val="tx2"/>
                </a:solidFill>
              </a:rPr>
              <a:t>社区</a:t>
            </a:r>
            <a:r>
              <a:rPr lang="en-US" altLang="zh-CN" sz="2800" b="1">
                <a:solidFill>
                  <a:schemeClr val="tx2"/>
                </a:solidFill>
              </a:rPr>
              <a:t>CSDN (Chinese Software Developer Network) </a:t>
            </a:r>
          </a:p>
          <a:p>
            <a:pPr lvl="1" algn="just">
              <a:lnSpc>
                <a:spcPct val="105000"/>
              </a:lnSpc>
              <a:spcBef>
                <a:spcPct val="20000"/>
              </a:spcBef>
              <a:buClr>
                <a:srgbClr val="0000FF"/>
              </a:buClr>
            </a:pPr>
            <a:r>
              <a:rPr lang="en-US" altLang="zh-CN" sz="2800" b="1">
                <a:solidFill>
                  <a:schemeClr val="tx2"/>
                </a:solidFill>
                <a:hlinkClick r:id="rId3"/>
              </a:rPr>
              <a:t>https://www.csdn.net/</a:t>
            </a:r>
            <a:endParaRPr lang="en-US" altLang="zh-CN" sz="2800" b="1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WordArt 3">
            <a:extLst>
              <a:ext uri="{FF2B5EF4-FFF2-40B4-BE49-F238E27FC236}">
                <a16:creationId xmlns:a16="http://schemas.microsoft.com/office/drawing/2014/main" id="{1A60BE6F-9874-85B0-293D-22C20F17F8B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98725" y="3235325"/>
            <a:ext cx="7683500" cy="863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3600" b="1" i="1" kern="1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tx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chemeClr val="tx2">
                      <a:alpha val="50000"/>
                    </a:schemeClr>
                  </a:outerShdw>
                </a:effectLst>
                <a:cs typeface="Arial" panose="020B0604020202020204" pitchFamily="34" charset="0"/>
              </a:rPr>
              <a:t>Thank You !</a:t>
            </a:r>
            <a:endParaRPr lang="zh-CN" altLang="en-US" sz="3600" b="1" i="1" kern="10">
              <a:ln w="19050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tx1"/>
                  </a:gs>
                  <a:gs pos="100000">
                    <a:schemeClr val="hlink"/>
                  </a:gs>
                </a:gsLst>
                <a:lin ang="0" scaled="1"/>
              </a:gradFill>
              <a:effectLst>
                <a:outerShdw dist="63500" dir="2212194" algn="ctr" rotWithShape="0">
                  <a:schemeClr val="tx2">
                    <a:alpha val="50000"/>
                  </a:schemeClr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9EA93AA9-7556-1B4E-992A-F682ABF9C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eaLnBrk="0" hangingPunct="0"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谢谢学习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CD1F06"/>
        </a:solidFill>
        <a:ln>
          <a:noFill/>
        </a:ln>
      </a:spPr>
      <a:bodyPr anchor="ctr"/>
      <a:lstStyle>
        <a:defPPr algn="ctr">
          <a:defRPr sz="3200" b="1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ages>0</Pages>
  <Words>381</Words>
  <Characters>0</Characters>
  <Application>Microsoft Office PowerPoint</Application>
  <DocSecurity>0</DocSecurity>
  <PresentationFormat>自定义</PresentationFormat>
  <Lines>0</Lines>
  <Paragraphs>59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7" baseType="lpstr">
      <vt:lpstr>Arial</vt:lpstr>
      <vt:lpstr>宋体</vt:lpstr>
      <vt:lpstr>Wingdings</vt:lpstr>
      <vt:lpstr>Franklin Gothic Medium</vt:lpstr>
      <vt:lpstr>微软雅黑</vt:lpstr>
      <vt:lpstr>Calibri</vt:lpstr>
      <vt:lpstr>Franklin Gothic Book</vt:lpstr>
      <vt:lpstr>黑体</vt:lpstr>
      <vt:lpstr>Aharoni</vt:lpstr>
      <vt:lpstr>Segoe Print</vt:lpstr>
      <vt:lpstr>华文行楷</vt:lpstr>
      <vt:lpstr>Impact</vt:lpstr>
      <vt:lpstr>楷体_GB2312</vt:lpstr>
      <vt:lpstr>新宋体</vt:lpstr>
      <vt:lpstr>Verdana</vt:lpstr>
      <vt:lpstr>隶书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PC</dc:creator>
  <cp:lastModifiedBy>zhuigz Lc</cp:lastModifiedBy>
  <cp:revision>523</cp:revision>
  <dcterms:created xsi:type="dcterms:W3CDTF">2014-10-24T14:22:44Z</dcterms:created>
  <dcterms:modified xsi:type="dcterms:W3CDTF">2026-09-22T11:10:28Z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89569AFC31B54EAD8A8C89EF152AB1B0_12</vt:lpwstr>
  </property>
</Properties>
</file>