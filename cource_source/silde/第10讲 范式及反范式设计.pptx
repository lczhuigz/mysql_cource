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664" r:id="rId2"/>
    <p:sldId id="257" r:id="rId3"/>
    <p:sldId id="628" r:id="rId4"/>
    <p:sldId id="625" r:id="rId5"/>
    <p:sldId id="626" r:id="rId6"/>
    <p:sldId id="627" r:id="rId7"/>
    <p:sldId id="629" r:id="rId8"/>
    <p:sldId id="631" r:id="rId9"/>
    <p:sldId id="632" r:id="rId10"/>
    <p:sldId id="638" r:id="rId11"/>
    <p:sldId id="642" r:id="rId12"/>
    <p:sldId id="643" r:id="rId13"/>
    <p:sldId id="641" r:id="rId14"/>
    <p:sldId id="644" r:id="rId15"/>
    <p:sldId id="645" r:id="rId16"/>
    <p:sldId id="666" r:id="rId17"/>
    <p:sldId id="667" r:id="rId18"/>
    <p:sldId id="668" r:id="rId19"/>
    <p:sldId id="669" r:id="rId20"/>
    <p:sldId id="670" r:id="rId21"/>
    <p:sldId id="671" r:id="rId22"/>
    <p:sldId id="672" r:id="rId23"/>
    <p:sldId id="624" r:id="rId24"/>
  </p:sldIdLst>
  <p:sldSz cx="1219835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47"/>
    <a:srgbClr val="3366FF"/>
    <a:srgbClr val="8AC739"/>
    <a:srgbClr val="FF9933"/>
    <a:srgbClr val="FF9900"/>
    <a:srgbClr val="CC9900"/>
    <a:srgbClr val="3399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4" autoAdjust="0"/>
    <p:restoredTop sz="94660"/>
  </p:normalViewPr>
  <p:slideViewPr>
    <p:cSldViewPr>
      <p:cViewPr varScale="1">
        <p:scale>
          <a:sx n="104" d="100"/>
          <a:sy n="104" d="100"/>
        </p:scale>
        <p:origin x="810" y="114"/>
      </p:cViewPr>
      <p:guideLst>
        <p:guide orient="horz" pos="2102"/>
        <p:guide pos="384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880" y="-84"/>
      </p:cViewPr>
      <p:guideLst>
        <p:guide orient="horz" pos="2880"/>
        <p:guide pos="2160"/>
      </p:guideLst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0CADE2B-6C26-DFFC-56BB-6662ED727E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 typeface="Arial" charset="0"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FCE3B2-6E75-57CF-B6FA-02BEC5C340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 typeface="Arial" charset="0"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fld id="{2CD0493E-F833-49CA-BBC3-8E9C5E0B37CB}" type="datetimeFigureOut">
              <a:rPr lang="zh-CN" altLang="en-US"/>
              <a:pPr>
                <a:defRPr/>
              </a:pPr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38BFCC-C478-7C07-97D8-9BB26C3728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 typeface="Arial" charset="0"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A9B75B-BD09-1B30-B644-021F214275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BB0519B0-73DC-41BC-8AC1-4B3DE3BDFDE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>
            <a:extLst>
              <a:ext uri="{FF2B5EF4-FFF2-40B4-BE49-F238E27FC236}">
                <a16:creationId xmlns:a16="http://schemas.microsoft.com/office/drawing/2014/main" id="{A8919A71-BB22-FCC2-BC72-FCFFA3F240B0}"/>
              </a:ext>
            </a:extLst>
          </p:cNvPr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>
            <a:extLst>
              <a:ext uri="{FF2B5EF4-FFF2-40B4-BE49-F238E27FC236}">
                <a16:creationId xmlns:a16="http://schemas.microsoft.com/office/drawing/2014/main" id="{06ED11D4-1FA2-82D7-23C0-6DF6532888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A9A227D8-327D-465E-B1AE-62AEEECC2B73}" type="datetime1">
              <a:rPr lang="zh-CN" altLang="en-US"/>
              <a:pPr>
                <a:defRPr/>
              </a:pPr>
              <a:t>2026/9/22</a:t>
            </a:fld>
            <a:endParaRPr lang="en-US" altLang="zh-CN" sz="1200"/>
          </a:p>
        </p:txBody>
      </p:sp>
      <p:sp>
        <p:nvSpPr>
          <p:cNvPr id="4100" name="幻灯片图像占位符 3">
            <a:extLst>
              <a:ext uri="{FF2B5EF4-FFF2-40B4-BE49-F238E27FC236}">
                <a16:creationId xmlns:a16="http://schemas.microsoft.com/office/drawing/2014/main" id="{A952871E-67D9-FA5E-C4D0-813981487B84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9941" name="备注占位符 4">
            <a:extLst>
              <a:ext uri="{FF2B5EF4-FFF2-40B4-BE49-F238E27FC236}">
                <a16:creationId xmlns:a16="http://schemas.microsoft.com/office/drawing/2014/main" id="{7A687088-B84C-EB6A-2990-09D6F90C1880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单击此处编辑母版文本样式</a:t>
            </a: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第二级</a:t>
            </a: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第三级</a:t>
            </a: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第四级</a:t>
            </a:r>
          </a:p>
          <a:p>
            <a:pPr>
              <a:spcBef>
                <a:spcPct val="3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第五级</a:t>
            </a:r>
            <a:endParaRPr lang="zh-CN" altLang="en-US"/>
          </a:p>
        </p:txBody>
      </p:sp>
      <p:sp>
        <p:nvSpPr>
          <p:cNvPr id="2054" name="页脚占位符 5">
            <a:extLst>
              <a:ext uri="{FF2B5EF4-FFF2-40B4-BE49-F238E27FC236}">
                <a16:creationId xmlns:a16="http://schemas.microsoft.com/office/drawing/2014/main" id="{F1B22FC1-14E1-61B6-9114-01914B398B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>
            <a:extLst>
              <a:ext uri="{FF2B5EF4-FFF2-40B4-BE49-F238E27FC236}">
                <a16:creationId xmlns:a16="http://schemas.microsoft.com/office/drawing/2014/main" id="{017E40AF-1CA2-A4FC-EECA-BE5705864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75C36AFF-74DE-4368-BF26-E05E6D1D1C52}" type="slidenum">
              <a:rPr lang="zh-CN" altLang="en-US"/>
              <a:pPr>
                <a:defRPr/>
              </a:pPr>
              <a:t>‹#›</a:t>
            </a:fld>
            <a:endParaRPr lang="en-US" alt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8B672D59-79D0-AB7E-3A9F-52B7C7543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D2B8F24D-2852-DB22-43E2-F6B783C613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日期占位符 3">
            <a:extLst>
              <a:ext uri="{FF2B5EF4-FFF2-40B4-BE49-F238E27FC236}">
                <a16:creationId xmlns:a16="http://schemas.microsoft.com/office/drawing/2014/main" id="{C5C00DEA-9231-B38D-826F-ECE323DB8B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285E5D0-857C-46BE-855D-3B82099D7A27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7173" name="灯片编号占位符 4">
            <a:extLst>
              <a:ext uri="{FF2B5EF4-FFF2-40B4-BE49-F238E27FC236}">
                <a16:creationId xmlns:a16="http://schemas.microsoft.com/office/drawing/2014/main" id="{364C1EAB-6A4A-FE4B-9ED9-56D11A06F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508102E-B68A-4A31-A9E4-6AF0DD6928E9}" type="slidenum">
              <a:rPr lang="zh-CN" altLang="en-US" smtClean="0"/>
              <a:pPr/>
              <a:t>1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955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0388" y="3886200"/>
            <a:ext cx="8537575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648113341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6161779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796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7962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40324145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375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04588410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956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956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273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273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04083770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50229990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837810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3200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0"/>
            <a:ext cx="68199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320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18189418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9963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996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9963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69873147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649596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274638"/>
            <a:ext cx="2744787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819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21212400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7">
            <a:extLst>
              <a:ext uri="{FF2B5EF4-FFF2-40B4-BE49-F238E27FC236}">
                <a16:creationId xmlns:a16="http://schemas.microsoft.com/office/drawing/2014/main" id="{75D1638A-3462-062D-6864-EF0542A0DF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0300" y="0"/>
            <a:ext cx="7718425" cy="846138"/>
          </a:xfrm>
          <a:prstGeom prst="chevron">
            <a:avLst>
              <a:gd name="adj" fmla="val 24616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A1F430-128F-90A6-01DB-2B23BA235461}"/>
              </a:ext>
            </a:extLst>
          </p:cNvPr>
          <p:cNvSpPr/>
          <p:nvPr userDrawn="1"/>
        </p:nvSpPr>
        <p:spPr>
          <a:xfrm>
            <a:off x="8848725" y="-27240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</p:spTree>
    <p:extLst>
      <p:ext uri="{BB962C8B-B14F-4D97-AF65-F5344CB8AC3E}">
        <p14:creationId xmlns:p14="http://schemas.microsoft.com/office/powerpoint/2010/main" val="25470959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1457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7">
            <a:extLst>
              <a:ext uri="{FF2B5EF4-FFF2-40B4-BE49-F238E27FC236}">
                <a16:creationId xmlns:a16="http://schemas.microsoft.com/office/drawing/2014/main" id="{DDAB1B28-BE17-3E57-6164-4476218403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0300" y="0"/>
            <a:ext cx="7718425" cy="846138"/>
          </a:xfrm>
          <a:prstGeom prst="chevron">
            <a:avLst>
              <a:gd name="adj" fmla="val 24616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466AA7-296D-6BC4-F0E1-DB82A54282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67520" y="101786"/>
            <a:ext cx="1014366" cy="6425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9467A44-B955-3C05-3FD4-F1622338FC2B}"/>
              </a:ext>
            </a:extLst>
          </p:cNvPr>
          <p:cNvSpPr/>
          <p:nvPr userDrawn="1"/>
        </p:nvSpPr>
        <p:spPr>
          <a:xfrm>
            <a:off x="8848725" y="0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8EA3AFA-EBE2-0366-E68B-338FBC3CB3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zh-CN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 </a:t>
            </a:r>
            <a:endParaRPr lang="zh-CN" altLang="en-US" sz="40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Impact" panose="020B080603090205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baseline="0">
                <a:solidFill>
                  <a:srgbClr val="7030A0"/>
                </a:solidFill>
                <a:latin typeface="Times New Roman" panose="02020603050405020304" pitchFamily="18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en-US" altLang="zh-CN" dirty="0"/>
              <a:t>		</a:t>
            </a:r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46845" y="77788"/>
            <a:ext cx="6752720" cy="63009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lang="zh-CN" altLang="en-US" sz="4000" b="1" kern="1200" dirty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4995404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1">
          <a:gsLst>
            <a:gs pos="0">
              <a:srgbClr val="FAFAFA"/>
            </a:gs>
            <a:gs pos="50000">
              <a:srgbClr val="FBFBFB"/>
            </a:gs>
            <a:gs pos="100000">
              <a:srgbClr val="FCF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2">
            <a:extLst>
              <a:ext uri="{FF2B5EF4-FFF2-40B4-BE49-F238E27FC236}">
                <a16:creationId xmlns:a16="http://schemas.microsoft.com/office/drawing/2014/main" id="{570C1D1C-99A5-9B4B-6C5B-2875D8A7C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4075"/>
            <a:ext cx="12198350" cy="11588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7" name="椭圆 14">
            <a:extLst>
              <a:ext uri="{FF2B5EF4-FFF2-40B4-BE49-F238E27FC236}">
                <a16:creationId xmlns:a16="http://schemas.microsoft.com/office/drawing/2014/main" id="{3A5BA84F-8AAE-7C70-33F7-412C1B61F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866775"/>
            <a:ext cx="85725" cy="87313"/>
          </a:xfrm>
          <a:prstGeom prst="ellipse">
            <a:avLst/>
          </a:prstGeom>
          <a:solidFill>
            <a:srgbClr val="F6F6F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8" name="椭圆 14">
            <a:extLst>
              <a:ext uri="{FF2B5EF4-FFF2-40B4-BE49-F238E27FC236}">
                <a16:creationId xmlns:a16="http://schemas.microsoft.com/office/drawing/2014/main" id="{450371B6-B776-6612-DD31-D5A6F48F62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50" y="188913"/>
            <a:ext cx="563563" cy="719137"/>
          </a:xfrm>
          <a:custGeom>
            <a:avLst/>
            <a:gdLst>
              <a:gd name="T0" fmla="*/ 125 w 683568"/>
              <a:gd name="T1" fmla="*/ 0 h 864094"/>
              <a:gd name="T2" fmla="*/ 250 w 683568"/>
              <a:gd name="T3" fmla="*/ 184 h 864094"/>
              <a:gd name="T4" fmla="*/ 211 w 683568"/>
              <a:gd name="T5" fmla="*/ 316 h 864094"/>
              <a:gd name="T6" fmla="*/ 125 w 683568"/>
              <a:gd name="T7" fmla="*/ 464 h 864094"/>
              <a:gd name="T8" fmla="*/ 38 w 683568"/>
              <a:gd name="T9" fmla="*/ 316 h 864094"/>
              <a:gd name="T10" fmla="*/ 22 w 683568"/>
              <a:gd name="T11" fmla="*/ 287 h 864094"/>
              <a:gd name="T12" fmla="*/ 21 w 683568"/>
              <a:gd name="T13" fmla="*/ 287 h 864094"/>
              <a:gd name="T14" fmla="*/ 21 w 683568"/>
              <a:gd name="T15" fmla="*/ 287 h 864094"/>
              <a:gd name="T16" fmla="*/ 0 w 683568"/>
              <a:gd name="T17" fmla="*/ 184 h 864094"/>
              <a:gd name="T18" fmla="*/ 125 w 683568"/>
              <a:gd name="T19" fmla="*/ 0 h 86409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83568"/>
              <a:gd name="T31" fmla="*/ 0 h 864094"/>
              <a:gd name="T32" fmla="*/ 683568 w 683568"/>
              <a:gd name="T33" fmla="*/ 864094 h 86409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83568" h="864094"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9" name="Text Box 7">
            <a:extLst>
              <a:ext uri="{FF2B5EF4-FFF2-40B4-BE49-F238E27FC236}">
                <a16:creationId xmlns:a16="http://schemas.microsoft.com/office/drawing/2014/main" id="{11A3AE1F-4A9A-9452-EB5F-44C4C0598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288925"/>
            <a:ext cx="692150" cy="365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fld id="{9ED1E325-0508-4B3A-8F90-DEA5AD83FA23}" type="slidenum">
              <a:rPr lang="zh-CN" altLang="en-US" smtClean="0">
                <a:solidFill>
                  <a:schemeClr val="bg1"/>
                </a:solidFill>
                <a:sym typeface="Calibri" panose="020F0502020204030204" pitchFamily="34" charset="0"/>
              </a:rPr>
              <a:pPr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zh-CN">
              <a:solidFill>
                <a:schemeClr val="bg1"/>
              </a:solidFill>
              <a:sym typeface="Calibri" panose="020F0502020204030204" pitchFamily="34" charset="0"/>
            </a:endParaRPr>
          </a:p>
        </p:txBody>
      </p:sp>
      <p:sp>
        <p:nvSpPr>
          <p:cNvPr id="1030" name="燕尾形 1">
            <a:extLst>
              <a:ext uri="{FF2B5EF4-FFF2-40B4-BE49-F238E27FC236}">
                <a16:creationId xmlns:a16="http://schemas.microsoft.com/office/drawing/2014/main" id="{37B1BC22-D717-015D-089A-F591879D7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31" name="燕尾形 9">
            <a:extLst>
              <a:ext uri="{FF2B5EF4-FFF2-40B4-BE49-F238E27FC236}">
                <a16:creationId xmlns:a16="http://schemas.microsoft.com/office/drawing/2014/main" id="{4277A02B-6EDF-B6C0-D485-F5BF01D35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16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  <p:sldLayoutId id="2147484177" r:id="rId12"/>
    <p:sldLayoutId id="2147484176" r:id="rId13"/>
    <p:sldLayoutId id="2147484178" r:id="rId14"/>
  </p:sldLayoutIdLst>
  <p:transition spd="slow"/>
  <p:txStyles>
    <p:titleStyle>
      <a:lvl1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2pPr>
      <a:lvl3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3pPr>
      <a:lvl4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4pPr>
      <a:lvl5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5pPr>
      <a:lvl6pPr marL="13716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engmian">
            <a:extLst>
              <a:ext uri="{FF2B5EF4-FFF2-40B4-BE49-F238E27FC236}">
                <a16:creationId xmlns:a16="http://schemas.microsoft.com/office/drawing/2014/main" id="{3AABD05D-0FB5-AD7E-1C71-ABE4CD9E8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12230100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Box 5">
            <a:extLst>
              <a:ext uri="{FF2B5EF4-FFF2-40B4-BE49-F238E27FC236}">
                <a16:creationId xmlns:a16="http://schemas.microsoft.com/office/drawing/2014/main" id="{8F7F1981-74E3-CB5B-729E-C99D893CB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860550"/>
            <a:ext cx="7218363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《</a:t>
            </a:r>
            <a:r>
              <a:rPr lang="zh-CN" altLang="en-US" sz="5400" b="1">
                <a:solidFill>
                  <a:srgbClr val="00206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Aharoni" panose="02010803020104030203" pitchFamily="2" charset="-79"/>
              </a:rPr>
              <a:t>数据库原理及应用</a:t>
            </a: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》</a:t>
            </a:r>
            <a:endParaRPr lang="zh-CN" altLang="zh-CN" sz="5400" b="1">
              <a:solidFill>
                <a:srgbClr val="002060"/>
              </a:solidFill>
              <a:latin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6148" name="TextBox 5">
            <a:extLst>
              <a:ext uri="{FF2B5EF4-FFF2-40B4-BE49-F238E27FC236}">
                <a16:creationId xmlns:a16="http://schemas.microsoft.com/office/drawing/2014/main" id="{892DC61E-E3E1-8CAE-0ED7-5182278AA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4076700"/>
            <a:ext cx="7920037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数据库虚拟教研室 制作</a:t>
            </a:r>
            <a:endParaRPr lang="zh-CN" altLang="zh-CN" sz="3200" b="1">
              <a:solidFill>
                <a:srgbClr val="002060"/>
              </a:solidFill>
              <a:latin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2C5F2C-B975-E80D-A905-2ADC32C87FF1}"/>
              </a:ext>
            </a:extLst>
          </p:cNvPr>
          <p:cNvSpPr/>
          <p:nvPr/>
        </p:nvSpPr>
        <p:spPr>
          <a:xfrm>
            <a:off x="1130830" y="46256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59A78039-9378-B4E6-6EEB-2312B8512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13" y="1588"/>
            <a:ext cx="3003551" cy="6862762"/>
          </a:xfrm>
          <a:prstGeom prst="rect">
            <a:avLst/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9" name="文本框 52">
            <a:extLst>
              <a:ext uri="{FF2B5EF4-FFF2-40B4-BE49-F238E27FC236}">
                <a16:creationId xmlns:a16="http://schemas.microsoft.com/office/drawing/2014/main" id="{BF05E536-BD7B-3727-605F-AEC812CCD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1408113"/>
            <a:ext cx="2376488" cy="3786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目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录</a:t>
            </a:r>
          </a:p>
        </p:txBody>
      </p:sp>
      <p:sp>
        <p:nvSpPr>
          <p:cNvPr id="8196" name="TextBox 11">
            <a:extLst>
              <a:ext uri="{FF2B5EF4-FFF2-40B4-BE49-F238E27FC236}">
                <a16:creationId xmlns:a16="http://schemas.microsoft.com/office/drawing/2014/main" id="{403C36A1-76D2-0F1E-DD32-87910C1DF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3433763"/>
            <a:ext cx="66960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3</a:t>
            </a:r>
            <a:r>
              <a:rPr lang="zh-CN" altLang="en-US" sz="36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 </a:t>
            </a:r>
            <a:r>
              <a:rPr lang="zh-CN" altLang="en-US" sz="3600" b="1">
                <a:latin typeface="宋体" panose="02010600030101010101" pitchFamily="2" charset="-122"/>
                <a:sym typeface="Impact" panose="020B0806030902050204" pitchFamily="34" charset="0"/>
              </a:rPr>
              <a:t> </a:t>
            </a:r>
            <a:r>
              <a:rPr lang="zh-CN" altLang="en-US" sz="36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范式理论</a:t>
            </a:r>
            <a:endParaRPr lang="zh-CN" altLang="en-US" sz="36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8197" name="TextBox 10">
            <a:extLst>
              <a:ext uri="{FF2B5EF4-FFF2-40B4-BE49-F238E27FC236}">
                <a16:creationId xmlns:a16="http://schemas.microsoft.com/office/drawing/2014/main" id="{AFD35073-6F35-A336-B7B1-B58BE533E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1689100"/>
            <a:ext cx="66960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1</a:t>
            </a:r>
            <a:r>
              <a:rPr lang="zh-CN" altLang="en-US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  </a:t>
            </a:r>
            <a:r>
              <a:rPr lang="zh-CN" altLang="en-US" sz="36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规范化概念</a:t>
            </a:r>
            <a:endParaRPr lang="zh-CN" altLang="en-US" sz="36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8198" name="TextBox 10">
            <a:extLst>
              <a:ext uri="{FF2B5EF4-FFF2-40B4-BE49-F238E27FC236}">
                <a16:creationId xmlns:a16="http://schemas.microsoft.com/office/drawing/2014/main" id="{491E74D5-2E66-89BC-A973-58E1E357A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6550" y="2543175"/>
            <a:ext cx="66960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2  </a:t>
            </a:r>
            <a:r>
              <a:rPr lang="zh-CN" altLang="en-US" sz="36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函数依赖</a:t>
            </a:r>
            <a:endParaRPr lang="zh-CN" altLang="en-US" sz="36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A303C932-60D3-E356-2FD0-FE7296D4D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088" y="115888"/>
            <a:ext cx="5988050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第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10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章 范式及反范式设计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200" name="TextBox 11">
            <a:extLst>
              <a:ext uri="{FF2B5EF4-FFF2-40B4-BE49-F238E27FC236}">
                <a16:creationId xmlns:a16="http://schemas.microsoft.com/office/drawing/2014/main" id="{6D08CB48-EB05-F49E-EA88-27BC85C38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4346575"/>
            <a:ext cx="66960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4</a:t>
            </a:r>
            <a:r>
              <a:rPr lang="zh-CN" altLang="en-US" sz="36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 </a:t>
            </a:r>
            <a:r>
              <a:rPr lang="zh-CN" altLang="en-US" sz="3600" b="1">
                <a:latin typeface="宋体" panose="02010600030101010101" pitchFamily="2" charset="-122"/>
                <a:sym typeface="Impact" panose="020B0806030902050204" pitchFamily="34" charset="0"/>
              </a:rPr>
              <a:t> </a:t>
            </a:r>
            <a:r>
              <a:rPr lang="zh-CN" altLang="en-US" sz="36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范式设计</a:t>
            </a:r>
            <a:endParaRPr lang="zh-CN" altLang="en-US" sz="36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8201" name="TextBox 11">
            <a:extLst>
              <a:ext uri="{FF2B5EF4-FFF2-40B4-BE49-F238E27FC236}">
                <a16:creationId xmlns:a16="http://schemas.microsoft.com/office/drawing/2014/main" id="{52441023-90FC-FB05-FE6D-7A2482681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5278438"/>
            <a:ext cx="66960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600" b="1">
                <a:solidFill>
                  <a:srgbClr val="CD1F06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5</a:t>
            </a:r>
            <a:r>
              <a:rPr lang="zh-CN" altLang="en-US" sz="3600" b="1">
                <a:solidFill>
                  <a:schemeClr val="accent2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 </a:t>
            </a:r>
            <a:r>
              <a:rPr lang="zh-CN" altLang="en-US" sz="3600" b="1">
                <a:latin typeface="宋体" panose="02010600030101010101" pitchFamily="2" charset="-122"/>
                <a:sym typeface="Impact" panose="020B0806030902050204" pitchFamily="34" charset="0"/>
              </a:rPr>
              <a:t> </a:t>
            </a:r>
            <a:r>
              <a:rPr lang="zh-CN" altLang="en-US" sz="36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反范式设计</a:t>
            </a:r>
            <a:endParaRPr lang="zh-CN" altLang="en-US" sz="36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723DD77E-0C88-EB8A-7247-599512286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规范化概念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DF1A7E56-4B09-E959-9FDE-25EAF43A2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96975"/>
            <a:ext cx="11317288" cy="21177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】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设计一个教学管理数据库，希望从该数据库中经常得到下面的有关信息：学号、姓名、年龄、性别、系、系主任姓名、课程号、成绩等。   参考设计的关系模式如下：</a:t>
            </a:r>
          </a:p>
          <a:p>
            <a:pPr algn="ctr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SCS</a:t>
            </a:r>
            <a:r>
              <a: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(</a:t>
            </a:r>
            <a:r>
              <a:rPr lang="en-US" altLang="zh-CN" sz="2800" u="sng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sno</a:t>
            </a:r>
            <a:r>
              <a:rPr lang="en-US" altLang="zh-CN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,sname,</a:t>
            </a:r>
            <a:r>
              <a:rPr lang="en-US" altLang="zh-CN" sz="2800" u="sng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cno</a:t>
            </a:r>
            <a:r>
              <a:rPr lang="en-US" altLang="zh-CN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,cname,term,credit,grade</a:t>
            </a:r>
            <a:r>
              <a: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60A82E-3E0A-585F-D572-79621F12F43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924050" y="3875088"/>
            <a:ext cx="8840788" cy="1757362"/>
          </a:xfrm>
          <a:prstGeom prst="rect">
            <a:avLst/>
          </a:prstGeom>
          <a:solidFill>
            <a:srgbClr val="FFFFCC"/>
          </a:solidFill>
          <a:ln w="25400">
            <a:solidFill>
              <a:srgbClr val="FF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问题：</a:t>
            </a:r>
            <a:r>
              <a:rPr lang="zh-CN" altLang="en-US" sz="2800" b="1">
                <a:solidFill>
                  <a:srgbClr val="002060"/>
                </a:solidFill>
                <a:latin typeface="仿宋_GB2312" pitchFamily="49" charset="-122"/>
                <a:ea typeface="仿宋_GB2312" pitchFamily="49" charset="-122"/>
              </a:rPr>
              <a:t>这是不是一个理想的关系模式呢</a:t>
            </a:r>
            <a:r>
              <a:rPr lang="zh-CN" altLang="en-US" sz="28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？</a:t>
            </a:r>
            <a:endParaRPr lang="en-US" altLang="zh-CN" sz="2800" b="1">
              <a:solidFill>
                <a:srgbClr val="FF0000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9FF32846-1EC8-DBDC-BE5A-C396D32AE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规范化概念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243" name="Picture 88">
            <a:extLst>
              <a:ext uri="{FF2B5EF4-FFF2-40B4-BE49-F238E27FC236}">
                <a16:creationId xmlns:a16="http://schemas.microsoft.com/office/drawing/2014/main" id="{47B4AEC6-7F8E-A29F-B32B-2399F2B4D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268413"/>
            <a:ext cx="10798175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78F407E9-601D-A745-CA4E-41A73EA1F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规范化概念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Rectangle 1026">
            <a:extLst>
              <a:ext uri="{FF2B5EF4-FFF2-40B4-BE49-F238E27FC236}">
                <a16:creationId xmlns:a16="http://schemas.microsoft.com/office/drawing/2014/main" id="{F7B4B777-A4F0-F3C6-2AEA-02FE9EEA3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052513"/>
            <a:ext cx="11449050" cy="12779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3200" b="1" dirty="0">
                <a:solidFill>
                  <a:schemeClr val="accent2"/>
                </a:solidFill>
                <a:latin typeface="Arial" charset="0"/>
              </a:rPr>
              <a:t>关系模式</a:t>
            </a:r>
            <a:r>
              <a:rPr lang="en-US" altLang="zh-CN" sz="3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SCS</a:t>
            </a:r>
            <a:r>
              <a:rPr lang="zh-CN" altLang="en-US" sz="3200" b="1" dirty="0">
                <a:solidFill>
                  <a:schemeClr val="accent2"/>
                </a:solidFill>
                <a:latin typeface="Arial" charset="0"/>
              </a:rPr>
              <a:t>存在的问题是：</a:t>
            </a:r>
          </a:p>
          <a:p>
            <a:pPr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① 冗余大：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表中相同信息多次存储，浪费存储空间。</a:t>
            </a: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642E5A83-6CB4-CD6B-CA18-7818E4E4C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2505075"/>
            <a:ext cx="11449050" cy="5445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② 插入异常：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若没有招生，课程信息无法插入到数据库中。</a:t>
            </a:r>
          </a:p>
        </p:txBody>
      </p:sp>
      <p:sp>
        <p:nvSpPr>
          <p:cNvPr id="5" name="Rectangle 1026">
            <a:extLst>
              <a:ext uri="{FF2B5EF4-FFF2-40B4-BE49-F238E27FC236}">
                <a16:creationId xmlns:a16="http://schemas.microsoft.com/office/drawing/2014/main" id="{AC8E949B-1508-E755-2851-A92225913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3171825"/>
            <a:ext cx="11304587" cy="5445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③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删除异常：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删除课程就删除了学生记录。</a:t>
            </a:r>
          </a:p>
        </p:txBody>
      </p:sp>
      <p:sp>
        <p:nvSpPr>
          <p:cNvPr id="7" name="Rectangle 1026">
            <a:extLst>
              <a:ext uri="{FF2B5EF4-FFF2-40B4-BE49-F238E27FC236}">
                <a16:creationId xmlns:a16="http://schemas.microsoft.com/office/drawing/2014/main" id="{C6207CFF-573D-3FF0-7532-ED685717B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3951288"/>
            <a:ext cx="11468100" cy="5445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④ 更新异常：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由于信息存在大量冗余，更新信息时要付出很大的代价。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7A31FF9-C14B-4E6E-CA7C-5C6BEA993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规范化概念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AB6947-7E5C-C881-CF4E-B59E0F070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8" y="1341438"/>
            <a:ext cx="11088687" cy="19510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Aft>
                <a:spcPct val="4000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b="1" dirty="0">
                <a:solidFill>
                  <a:schemeClr val="accent2"/>
                </a:solidFill>
                <a:latin typeface="Arial" charset="0"/>
              </a:rPr>
              <a:t>结论：</a:t>
            </a:r>
            <a:r>
              <a:rPr lang="en-US" altLang="zh-CN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SCS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关系模式不是一个理想的模式。</a:t>
            </a:r>
          </a:p>
          <a:p>
            <a:pPr>
              <a:lnSpc>
                <a:spcPct val="110000"/>
              </a:lnSpc>
              <a:spcAft>
                <a:spcPct val="40000"/>
              </a:spcAft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原因：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由于模式中存在的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数据依赖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引起的。</a:t>
            </a:r>
          </a:p>
          <a:p>
            <a:pPr>
              <a:lnSpc>
                <a:spcPct val="110000"/>
              </a:lnSpc>
              <a:spcAft>
                <a:spcPct val="40000"/>
              </a:spcAft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解决方法：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通过分解关系模式来消除其中不合适的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数据依赖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5D449A7-57F3-B01D-A818-CEE405EAB0C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11163" y="3998913"/>
            <a:ext cx="11442700" cy="1446212"/>
          </a:xfrm>
          <a:prstGeom prst="rect">
            <a:avLst/>
          </a:prstGeom>
          <a:solidFill>
            <a:srgbClr val="FFFFCC"/>
          </a:solidFill>
          <a:ln w="25400">
            <a:solidFill>
              <a:srgbClr val="FF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chemeClr val="accent2"/>
                </a:solidFill>
                <a:latin typeface="仿宋_GB2312" pitchFamily="49" charset="-122"/>
                <a:ea typeface="仿宋_GB2312" pitchFamily="49" charset="-122"/>
              </a:rPr>
              <a:t>数据依赖</a:t>
            </a: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是各属性间的关联，包括函数依赖、多值依赖和连接依赖。</a:t>
            </a:r>
            <a:endParaRPr lang="en-US" altLang="zh-CN" sz="2800" b="1">
              <a:latin typeface="仿宋_GB2312" pitchFamily="49" charset="-122"/>
              <a:ea typeface="仿宋_GB2312" pitchFamily="49" charset="-122"/>
            </a:endParaRPr>
          </a:p>
          <a:p>
            <a:pPr lvl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Arial" panose="020B0604020202020204" pitchFamily="34" charset="0"/>
              <a:buNone/>
            </a:pP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这里我们只学习</a:t>
            </a:r>
            <a:r>
              <a:rPr lang="zh-CN" altLang="en-US" sz="2800" b="1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函数依赖</a:t>
            </a: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。</a:t>
            </a:r>
            <a:endParaRPr lang="en-US" altLang="zh-CN" sz="2800" b="1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E79337E-DA90-4313-87CB-78279D6A0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函数依赖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F7F77-340F-6797-34CC-F71A5F4C5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1196975"/>
            <a:ext cx="10298113" cy="25701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chemeClr val="accent2"/>
              </a:buClr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定义１：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R(U)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是属性集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U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上的关系模式。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U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的子集。对于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的每一个具体值，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都有唯一的值与之对应，则称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楷体_GB2312" pitchFamily="49" charset="-122"/>
              </a:rPr>
              <a:t>“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函数决定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楷体_GB2312" pitchFamily="49" charset="-122"/>
              </a:rPr>
              <a:t>”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楷体_GB2312" pitchFamily="49" charset="-122"/>
              </a:rPr>
              <a:t>“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函数依赖于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楷体_GB2312" pitchFamily="49" charset="-122"/>
              </a:rPr>
              <a:t>”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，记作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。称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为决定因子，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是依赖因子。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为模式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R(U)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的一个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函数依赖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如：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sno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sname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, (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sno,cno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 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grade</a:t>
            </a: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1CE4DAB-F7A2-6F37-33C9-F5310237510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82600" y="4292600"/>
            <a:ext cx="11028363" cy="1446213"/>
          </a:xfrm>
          <a:prstGeom prst="rect">
            <a:avLst/>
          </a:prstGeom>
          <a:solidFill>
            <a:srgbClr val="FFFFCC"/>
          </a:solidFill>
          <a:ln w="25400">
            <a:solidFill>
              <a:srgbClr val="FF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楷体_GB2312" pitchFamily="49" charset="-122"/>
              </a:rPr>
              <a:t>注意：</a:t>
            </a:r>
            <a:r>
              <a:rPr lang="zh-CN" altLang="en-US" sz="2800" b="1" dirty="0">
                <a:solidFill>
                  <a:srgbClr val="002060"/>
                </a:solidFill>
                <a:latin typeface="Arial" charset="0"/>
              </a:rPr>
              <a:t>属性间的函数依赖完全来自于现实世界的语义，而不是凭主</a:t>
            </a:r>
            <a:endParaRPr lang="en-US" altLang="zh-CN" sz="2800" b="1" dirty="0">
              <a:solidFill>
                <a:srgbClr val="002060"/>
              </a:solidFill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latin typeface="Arial" charset="0"/>
              </a:rPr>
              <a:t>            </a:t>
            </a:r>
            <a:r>
              <a:rPr lang="zh-CN" altLang="en-US" sz="2800" b="1" dirty="0">
                <a:solidFill>
                  <a:srgbClr val="002060"/>
                </a:solidFill>
                <a:latin typeface="Arial" charset="0"/>
              </a:rPr>
              <a:t>观臆断的。</a:t>
            </a:r>
            <a:endParaRPr lang="en-US" altLang="zh-CN" sz="2800" b="1" dirty="0">
              <a:solidFill>
                <a:srgbClr val="002060"/>
              </a:solidFill>
              <a:latin typeface="Arial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DD3DFCA-210E-EA2B-51B0-3F70D400F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函数依赖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2B0A10-2A34-CC4C-50F5-6810BBE29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1412875"/>
            <a:ext cx="10258425" cy="11271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Clr>
                <a:schemeClr val="accent2"/>
              </a:buClr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定义２：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在关系模式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R(U)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中，如果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，并且对于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的任何一个真子集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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都有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Y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，则称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Y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完全函数依赖于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X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，记作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XY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。</a:t>
            </a:r>
            <a:endParaRPr lang="zh-CN" altLang="en-US" sz="3200" b="1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340" name="Line 5">
            <a:extLst>
              <a:ext uri="{FF2B5EF4-FFF2-40B4-BE49-F238E27FC236}">
                <a16:creationId xmlns:a16="http://schemas.microsoft.com/office/drawing/2014/main" id="{DCC64D03-AF3A-5143-44CF-71099BA2D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6788" y="2162175"/>
            <a:ext cx="76200" cy="2286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" name="TextBox 1">
            <a:extLst>
              <a:ext uri="{FF2B5EF4-FFF2-40B4-BE49-F238E27FC236}">
                <a16:creationId xmlns:a16="http://schemas.microsoft.com/office/drawing/2014/main" id="{31C2B982-7E49-C163-E365-5B69B29C291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339263" y="1989138"/>
            <a:ext cx="431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/>
              <a:t>f</a:t>
            </a:r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602D3E-E6E2-D453-DE74-58F0DE3865E6}"/>
              </a:ext>
            </a:extLst>
          </p:cNvPr>
          <p:cNvGrpSpPr>
            <a:grpSpLocks/>
          </p:cNvGrpSpPr>
          <p:nvPr/>
        </p:nvGrpSpPr>
        <p:grpSpPr bwMode="auto">
          <a:xfrm>
            <a:off x="969963" y="3808413"/>
            <a:ext cx="10258425" cy="1255712"/>
            <a:chOff x="970077" y="3809059"/>
            <a:chExt cx="10258425" cy="1255728"/>
          </a:xfrm>
        </p:grpSpPr>
        <p:sp>
          <p:nvSpPr>
            <p:cNvPr id="13" name="Rectangle 2">
              <a:extLst>
                <a:ext uri="{FF2B5EF4-FFF2-40B4-BE49-F238E27FC236}">
                  <a16:creationId xmlns:a16="http://schemas.microsoft.com/office/drawing/2014/main" id="{E80A77A1-775B-C0F4-464B-042B8A5C5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077" y="3809059"/>
              <a:ext cx="10258425" cy="12557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30000"/>
                </a:spcBef>
                <a:buClr>
                  <a:schemeClr val="accent2"/>
                </a:buClr>
                <a:buFont typeface="Wingdings" pitchFamily="2" charset="2"/>
                <a:buChar char="²"/>
                <a:defRPr/>
              </a:pP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如果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Y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部分函数依赖于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，则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必定是组合属性。</a:t>
              </a:r>
              <a:endPara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  <a:p>
              <a:pPr>
                <a:lnSpc>
                  <a:spcPct val="120000"/>
                </a:lnSpc>
                <a:spcBef>
                  <a:spcPct val="30000"/>
                </a:spcBef>
                <a:buFont typeface="Arial" charset="0"/>
                <a:buNone/>
                <a:defRPr/>
              </a:pPr>
              <a:r>
                <a:rPr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如：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sz="28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sno,cno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)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</a:t>
              </a:r>
              <a:r>
                <a:rPr lang="en-US" altLang="zh-CN" sz="28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sname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，</a:t>
              </a:r>
              <a:r>
                <a:rPr lang="en-US" altLang="zh-CN" sz="28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sno</a:t>
              </a:r>
              <a:r>
                <a:rPr lang="en-US" altLang="zh-CN" sz="28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sname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 ,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sz="28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sno,cno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)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</a:t>
              </a:r>
              <a:r>
                <a:rPr lang="en-US" altLang="zh-CN" sz="28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sname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。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347" name="TextBox 6">
              <a:extLst>
                <a:ext uri="{FF2B5EF4-FFF2-40B4-BE49-F238E27FC236}">
                  <a16:creationId xmlns:a16="http://schemas.microsoft.com/office/drawing/2014/main" id="{FC0637F1-DA5B-15FE-DD30-0493D35DD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764050" y="4437070"/>
              <a:ext cx="431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/>
                <a:t>p</a:t>
              </a:r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0DC924F-DD43-7CAD-CA74-AF05EA88C46C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2636838"/>
            <a:ext cx="10258425" cy="1127125"/>
            <a:chOff x="953105" y="2636945"/>
            <a:chExt cx="10258425" cy="1126462"/>
          </a:xfrm>
        </p:grpSpPr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5F949513-54DD-11E8-F5F4-B43C04EF0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105" y="2636945"/>
              <a:ext cx="10258425" cy="11264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30000"/>
                </a:spcBef>
                <a:buClr>
                  <a:schemeClr val="accent2"/>
                </a:buClr>
                <a:buFont typeface="Wingdings" pitchFamily="2" charset="2"/>
                <a:buChar char="²"/>
                <a:defRPr/>
              </a:pP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若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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Y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，并且对于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的某一个真子集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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（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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）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，有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en-US" altLang="zh-CN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 Y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，则称</a:t>
              </a:r>
              <a:r>
                <a:rPr lang="en-US" altLang="zh-CN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Y</a:t>
              </a:r>
              <a:r>
                <a:rPr lang="zh-CN" altLang="en-US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部分函数依赖于</a:t>
              </a:r>
              <a:r>
                <a:rPr lang="en-US" altLang="zh-CN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，记作：</a:t>
              </a:r>
              <a:r>
                <a:rPr lang="en-US" altLang="zh-CN" sz="2800" b="1" dirty="0" err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XY</a:t>
              </a:r>
              <a:r>
                <a:rPr lang="zh-CN" alt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。</a:t>
              </a:r>
              <a:endPara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345" name="TextBox 6">
              <a:extLst>
                <a:ext uri="{FF2B5EF4-FFF2-40B4-BE49-F238E27FC236}">
                  <a16:creationId xmlns:a16="http://schemas.microsoft.com/office/drawing/2014/main" id="{20933AEA-E5A5-2E7A-221E-2AC72114C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883390" y="3140980"/>
              <a:ext cx="431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/>
                <a:t>p</a:t>
              </a:r>
              <a:endParaRPr lang="zh-CN" altLang="en-US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DAFBB0A-31CB-989B-86B7-2A1540151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函数依赖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7CBB7-DAA4-C1BD-AAE6-3AF143053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1628775"/>
            <a:ext cx="10566400" cy="11271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Clr>
                <a:schemeClr val="accent2"/>
              </a:buClr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定义３：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在关系模式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R(U)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中，如果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(Y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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X)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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，则称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传递函数依赖于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，记作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Z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3200" b="1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364" name="Line 6">
            <a:extLst>
              <a:ext uri="{FF2B5EF4-FFF2-40B4-BE49-F238E27FC236}">
                <a16:creationId xmlns:a16="http://schemas.microsoft.com/office/drawing/2014/main" id="{59BF872E-2AB7-4453-DB01-E9F462080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9267825" y="1774825"/>
            <a:ext cx="13335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5" name="TextBox 7">
            <a:extLst>
              <a:ext uri="{FF2B5EF4-FFF2-40B4-BE49-F238E27FC236}">
                <a16:creationId xmlns:a16="http://schemas.microsoft.com/office/drawing/2014/main" id="{0F0B9C47-3F43-B7B8-9907-F8A3D7C282D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864225" y="2192338"/>
            <a:ext cx="354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/>
              <a:t>t</a:t>
            </a:r>
            <a:endParaRPr lang="zh-CN" altLang="en-US"/>
          </a:p>
        </p:txBody>
      </p:sp>
      <p:sp>
        <p:nvSpPr>
          <p:cNvPr id="15366" name="Line 6">
            <a:extLst>
              <a:ext uri="{FF2B5EF4-FFF2-40B4-BE49-F238E27FC236}">
                <a16:creationId xmlns:a16="http://schemas.microsoft.com/office/drawing/2014/main" id="{418353FB-460F-FC38-8A35-DEAC2A15ED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1800" y="1833563"/>
            <a:ext cx="13335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EABC28E-6202-11DA-2820-1A202FAA9E64}"/>
              </a:ext>
            </a:extLst>
          </p:cNvPr>
          <p:cNvGrpSpPr>
            <a:grpSpLocks/>
          </p:cNvGrpSpPr>
          <p:nvPr/>
        </p:nvGrpSpPr>
        <p:grpSpPr bwMode="auto">
          <a:xfrm>
            <a:off x="806450" y="3517900"/>
            <a:ext cx="10566400" cy="1176338"/>
            <a:chOff x="806450" y="3518375"/>
            <a:chExt cx="10566400" cy="1175706"/>
          </a:xfrm>
        </p:grpSpPr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9E2233E5-3330-F520-DD92-7981672FD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450" y="3518375"/>
              <a:ext cx="10566400" cy="117570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  <a:spcBef>
                  <a:spcPct val="30000"/>
                </a:spcBef>
                <a:buClr>
                  <a:srgbClr val="FF0000"/>
                </a:buClr>
                <a:buFont typeface="Wingdings" pitchFamily="2" charset="2"/>
                <a:buNone/>
                <a:defRPr/>
              </a:pP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【</a:t>
              </a:r>
              <a:r>
                <a:rPr lang="zh-CN" altLang="en-US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10.3】 </a:t>
              </a:r>
              <a:r>
                <a:rPr lang="zh-CN" altLang="en-US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在</a:t>
              </a: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STD(</a:t>
              </a:r>
              <a:r>
                <a:rPr lang="en-US" altLang="zh-CN" sz="32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sno,dept,dname</a:t>
              </a: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)</a:t>
              </a:r>
              <a:r>
                <a:rPr lang="zh-CN" altLang="en-US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，有</a:t>
              </a:r>
              <a:r>
                <a:rPr lang="en-US" altLang="zh-CN" sz="32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sno→dept</a:t>
              </a:r>
              <a:r>
                <a:rPr lang="zh-CN" altLang="en-US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en-US" altLang="zh-CN" sz="32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dept→dname</a:t>
              </a:r>
              <a:r>
                <a:rPr lang="zh-CN" altLang="en-US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，且</a:t>
              </a:r>
              <a:r>
                <a:rPr lang="en-US" altLang="zh-CN" sz="32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dept</a:t>
              </a: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   </a:t>
              </a:r>
              <a:r>
                <a:rPr lang="en-US" altLang="zh-CN" sz="32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sno</a:t>
              </a:r>
              <a:r>
                <a:rPr lang="zh-CN" altLang="en-US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，则</a:t>
              </a:r>
              <a:r>
                <a:rPr lang="en-US" altLang="zh-CN" sz="32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sno</a:t>
              </a: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 → </a:t>
              </a:r>
              <a:r>
                <a:rPr lang="en-US" altLang="zh-CN" sz="32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dname</a:t>
              </a:r>
              <a:r>
                <a:rPr lang="zh-CN" altLang="en-US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。</a:t>
              </a:r>
              <a:endPara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5369" name="TextBox 7">
              <a:extLst>
                <a:ext uri="{FF2B5EF4-FFF2-40B4-BE49-F238E27FC236}">
                  <a16:creationId xmlns:a16="http://schemas.microsoft.com/office/drawing/2014/main" id="{3DA4C987-447D-6C53-5E65-D715647C67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696201" y="4067182"/>
              <a:ext cx="355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/>
                <a:t>t</a:t>
              </a:r>
              <a:endParaRPr lang="zh-CN" altLang="en-US"/>
            </a:p>
          </p:txBody>
        </p:sp>
        <p:pic>
          <p:nvPicPr>
            <p:cNvPr id="15370" name="图片 23">
              <a:extLst>
                <a:ext uri="{FF2B5EF4-FFF2-40B4-BE49-F238E27FC236}">
                  <a16:creationId xmlns:a16="http://schemas.microsoft.com/office/drawing/2014/main" id="{265B81E7-BFB7-89DD-8928-387DB7F02B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0618" y="4271510"/>
              <a:ext cx="412760" cy="309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9E64E1A-6139-0E13-94FE-A76AE2EA9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范式理论</a:t>
            </a:r>
          </a:p>
        </p:txBody>
      </p:sp>
      <p:sp>
        <p:nvSpPr>
          <p:cNvPr id="3" name="Text Box 1026">
            <a:extLst>
              <a:ext uri="{FF2B5EF4-FFF2-40B4-BE49-F238E27FC236}">
                <a16:creationId xmlns:a16="http://schemas.microsoft.com/office/drawing/2014/main" id="{5B205475-4937-B8C4-DD55-F3B43B1D7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388" y="1628775"/>
            <a:ext cx="10691812" cy="2484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Arial" charset="0"/>
              </a:rPr>
              <a:t>定义</a:t>
            </a:r>
            <a:r>
              <a:rPr lang="en-US" altLang="zh-CN" sz="2800" b="1" dirty="0">
                <a:solidFill>
                  <a:schemeClr val="accent2"/>
                </a:solidFill>
                <a:latin typeface="Arial" charset="0"/>
              </a:rPr>
              <a:t>4</a:t>
            </a:r>
            <a:r>
              <a:rPr lang="zh-CN" altLang="en-US" sz="2800" b="1" dirty="0">
                <a:solidFill>
                  <a:schemeClr val="accent2"/>
                </a:solidFill>
                <a:latin typeface="Arial" charset="0"/>
              </a:rPr>
              <a:t>：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设有关系模式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R(U)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，其所有的属性都是不可分的基本数据项，则称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属于第一范式，简称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1NF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，记作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1NF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。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sym typeface="Symbol" pitchFamily="18" charset="2"/>
            </a:endParaRPr>
          </a:p>
          <a:p>
            <a:pPr>
              <a:lnSpc>
                <a:spcPct val="105000"/>
              </a:lnSpc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在任何一个关系数据库系统中，第一范式是对关系模式的一个最起码的要求。不满足第一范式的数据库模式不能称为关系数据库。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0DE30D1D-1AD6-0FBC-DFFF-11E4B95CA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4418013"/>
            <a:ext cx="10245725" cy="12128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【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】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关系模式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SCD(</a:t>
            </a:r>
            <a:r>
              <a:rPr lang="en-US" altLang="zh-CN" sz="2800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sno,cno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,sname,sage,dept,dname,grade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) </a:t>
            </a: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 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SCD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1NF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DB7FD24-88BD-79CA-59CF-942C96FEF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范式理论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A4B3321E-7A54-F7E7-A76B-E42097CF8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1557338"/>
            <a:ext cx="10547350" cy="15795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设有关系模式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R(U)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1NF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，如果其所有非主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码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属性都完全函数依赖于码，则称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属于第二范式，简称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2NF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，记作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2NF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。</a:t>
            </a:r>
          </a:p>
          <a:p>
            <a:pPr>
              <a:lnSpc>
                <a:spcPct val="105000"/>
              </a:lnSpc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即关系模式中不存在非主属性对码的部分函数依赖问题。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B11BC78D-36BD-3A54-0E5C-9D81A67B4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500438"/>
            <a:ext cx="10313988" cy="18811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【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】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分解法将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SCD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分解为两个关系模式：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S(</a:t>
            </a:r>
            <a:r>
              <a:rPr lang="en-US" altLang="zh-CN" sz="2800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sno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,sname,sage,dept,dname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，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</a:t>
            </a:r>
            <a:r>
              <a:rPr lang="en-US" altLang="zh-CN" sz="28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2NF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SC(</a:t>
            </a:r>
            <a:r>
              <a:rPr lang="en-US" altLang="zh-CN" sz="2800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sno,cno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,grade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，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SC</a:t>
            </a:r>
            <a:r>
              <a:rPr lang="en-US" altLang="zh-CN" sz="28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2NF</a:t>
            </a:r>
            <a:endParaRPr lang="en-US" altLang="zh-CN" sz="2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47C0421-1393-12EA-3C48-F03838589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范式理论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A9696C9C-C633-1269-52A5-74006F5A2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1412875"/>
            <a:ext cx="10402888" cy="15795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设有关系模式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R(U)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2NF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，如果其所有非主属性都不传递函数依赖于码，则称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属于第三范式，简称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3NF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，记作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3NF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。</a:t>
            </a:r>
          </a:p>
          <a:p>
            <a:pPr>
              <a:lnSpc>
                <a:spcPct val="105000"/>
              </a:lnSpc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即关系模式中不存在非主属性对码的传递函数依赖关系。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0B62E624-5F71-F4F4-371C-A3F65359A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3644900"/>
            <a:ext cx="9736138" cy="18811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【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】S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分解为两个关系模式：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ST(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sno,sname,sage,dept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，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ST</a:t>
            </a:r>
            <a:r>
              <a:rPr lang="en-US" altLang="zh-CN" sz="28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3NF</a:t>
            </a:r>
            <a:endParaRPr lang="zh-CN" altLang="en-US" sz="280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SD(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dept,dname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，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SD</a:t>
            </a:r>
            <a:r>
              <a:rPr lang="en-US" altLang="zh-CN" sz="28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3NF</a:t>
            </a:r>
            <a:endParaRPr lang="en-US" altLang="zh-CN" sz="2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682A481-8146-47C2-3877-17E908648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范式设计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F181121C-3B5D-1F08-EBB9-2D0D8A193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1125538"/>
            <a:ext cx="10402887" cy="9969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范式设计：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一般是将一个符合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1NF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的关系模式分解为符合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3NF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的过程。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1CB2467-45CA-A6F4-4E1E-D43981B8FCAB}"/>
              </a:ext>
            </a:extLst>
          </p:cNvPr>
          <p:cNvGrpSpPr>
            <a:grpSpLocks/>
          </p:cNvGrpSpPr>
          <p:nvPr/>
        </p:nvGrpSpPr>
        <p:grpSpPr bwMode="auto">
          <a:xfrm>
            <a:off x="3722688" y="2565400"/>
            <a:ext cx="1584325" cy="647700"/>
            <a:chOff x="3218976" y="2780955"/>
            <a:chExt cx="1584110" cy="648045"/>
          </a:xfrm>
        </p:grpSpPr>
        <p:sp>
          <p:nvSpPr>
            <p:cNvPr id="19471" name="矩形 1">
              <a:extLst>
                <a:ext uri="{FF2B5EF4-FFF2-40B4-BE49-F238E27FC236}">
                  <a16:creationId xmlns:a16="http://schemas.microsoft.com/office/drawing/2014/main" id="{664AC61A-AAB8-AB64-D2E2-9D207D137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8976" y="2780955"/>
              <a:ext cx="1584110" cy="64804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2C107CC-C865-4E26-3F81-0A46D8740800}"/>
                </a:ext>
              </a:extLst>
            </p:cNvPr>
            <p:cNvSpPr txBox="1"/>
            <p:nvPr/>
          </p:nvSpPr>
          <p:spPr>
            <a:xfrm>
              <a:off x="3579289" y="2852431"/>
              <a:ext cx="934911" cy="52415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panose="020B0604020202020204" pitchFamily="34" charset="0"/>
                <a:buNone/>
                <a:defRPr/>
              </a:pPr>
              <a:r>
                <a:rPr lang="en-US" altLang="zh-CN" sz="28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1NF</a:t>
              </a:r>
              <a:endPara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ACB6A77-7315-F13C-0F81-8F9EE8234483}"/>
              </a:ext>
            </a:extLst>
          </p:cNvPr>
          <p:cNvGrpSpPr>
            <a:grpSpLocks/>
          </p:cNvGrpSpPr>
          <p:nvPr/>
        </p:nvGrpSpPr>
        <p:grpSpPr bwMode="auto">
          <a:xfrm>
            <a:off x="3759200" y="4005263"/>
            <a:ext cx="1584325" cy="647700"/>
            <a:chOff x="3218976" y="2780955"/>
            <a:chExt cx="1584110" cy="648045"/>
          </a:xfrm>
        </p:grpSpPr>
        <p:sp>
          <p:nvSpPr>
            <p:cNvPr id="19469" name="矩形 8">
              <a:extLst>
                <a:ext uri="{FF2B5EF4-FFF2-40B4-BE49-F238E27FC236}">
                  <a16:creationId xmlns:a16="http://schemas.microsoft.com/office/drawing/2014/main" id="{A1CA7BEB-205F-3E39-0951-D09647BED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8976" y="2780955"/>
              <a:ext cx="1584110" cy="64804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2623AEE-58D9-4069-4A74-17E01AC3230B}"/>
                </a:ext>
              </a:extLst>
            </p:cNvPr>
            <p:cNvSpPr txBox="1"/>
            <p:nvPr/>
          </p:nvSpPr>
          <p:spPr>
            <a:xfrm>
              <a:off x="3579290" y="2852430"/>
              <a:ext cx="934910" cy="52415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panose="020B0604020202020204" pitchFamily="34" charset="0"/>
                <a:buNone/>
                <a:defRPr/>
              </a:pPr>
              <a:r>
                <a:rPr lang="en-US" altLang="zh-CN" sz="28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2NF</a:t>
              </a:r>
              <a:endPara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128C78F-C986-7F1C-8E4A-A3B10B36169C}"/>
              </a:ext>
            </a:extLst>
          </p:cNvPr>
          <p:cNvGrpSpPr>
            <a:grpSpLocks/>
          </p:cNvGrpSpPr>
          <p:nvPr/>
        </p:nvGrpSpPr>
        <p:grpSpPr bwMode="auto">
          <a:xfrm>
            <a:off x="3794125" y="5516563"/>
            <a:ext cx="1584325" cy="649287"/>
            <a:chOff x="3218976" y="2780955"/>
            <a:chExt cx="1584110" cy="648045"/>
          </a:xfrm>
        </p:grpSpPr>
        <p:sp>
          <p:nvSpPr>
            <p:cNvPr id="19467" name="矩形 11">
              <a:extLst>
                <a:ext uri="{FF2B5EF4-FFF2-40B4-BE49-F238E27FC236}">
                  <a16:creationId xmlns:a16="http://schemas.microsoft.com/office/drawing/2014/main" id="{0BB80187-3AF3-2390-19C3-D8306FA2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8976" y="2780955"/>
              <a:ext cx="1584110" cy="64804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AF9AA9-2193-C06C-13FD-D9981F1719D0}"/>
                </a:ext>
              </a:extLst>
            </p:cNvPr>
            <p:cNvSpPr txBox="1"/>
            <p:nvPr/>
          </p:nvSpPr>
          <p:spPr>
            <a:xfrm>
              <a:off x="3579290" y="2853840"/>
              <a:ext cx="934910" cy="52287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panose="020B0604020202020204" pitchFamily="34" charset="0"/>
                <a:buNone/>
                <a:defRPr/>
              </a:pPr>
              <a:r>
                <a:rPr lang="en-US" altLang="zh-CN" sz="28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3NF</a:t>
              </a:r>
              <a:endPara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" name="下箭头 6">
            <a:extLst>
              <a:ext uri="{FF2B5EF4-FFF2-40B4-BE49-F238E27FC236}">
                <a16:creationId xmlns:a16="http://schemas.microsoft.com/office/drawing/2014/main" id="{918A7E3C-35CF-13FD-EA9B-470D4EDC6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388" y="3298825"/>
            <a:ext cx="360362" cy="706438"/>
          </a:xfrm>
          <a:prstGeom prst="downArrow">
            <a:avLst>
              <a:gd name="adj1" fmla="val 50000"/>
              <a:gd name="adj2" fmla="val 49998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下箭头 14">
            <a:extLst>
              <a:ext uri="{FF2B5EF4-FFF2-40B4-BE49-F238E27FC236}">
                <a16:creationId xmlns:a16="http://schemas.microsoft.com/office/drawing/2014/main" id="{FC1F1EF0-0F96-46E3-69C3-E0CBBB198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388" y="4783138"/>
            <a:ext cx="360362" cy="706437"/>
          </a:xfrm>
          <a:prstGeom prst="downArrow">
            <a:avLst>
              <a:gd name="adj1" fmla="val 50000"/>
              <a:gd name="adj2" fmla="val 49998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155072-9EB1-B67A-53F0-726C0B8A819E}"/>
              </a:ext>
            </a:extLst>
          </p:cNvPr>
          <p:cNvSpPr txBox="1"/>
          <p:nvPr/>
        </p:nvSpPr>
        <p:spPr>
          <a:xfrm>
            <a:off x="5378450" y="3298825"/>
            <a:ext cx="57435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消除非主属性对码的部分依赖关系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1063DF-2F59-3536-C860-00FB43E72198}"/>
              </a:ext>
            </a:extLst>
          </p:cNvPr>
          <p:cNvSpPr txBox="1"/>
          <p:nvPr/>
        </p:nvSpPr>
        <p:spPr>
          <a:xfrm>
            <a:off x="5307013" y="4783138"/>
            <a:ext cx="57435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消除非主属性对码的传送依赖关系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3DEEA128-60B2-3D9B-7AC3-2552F7B98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范式设计</a:t>
            </a:r>
          </a:p>
        </p:txBody>
      </p:sp>
      <p:sp>
        <p:nvSpPr>
          <p:cNvPr id="20483" name="Text Box 2">
            <a:extLst>
              <a:ext uri="{FF2B5EF4-FFF2-40B4-BE49-F238E27FC236}">
                <a16:creationId xmlns:a16="http://schemas.microsoft.com/office/drawing/2014/main" id="{8C446B0A-579D-F35C-A08F-4DE5FC267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1341438"/>
            <a:ext cx="11017250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：已知关系模式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R(A,B,C,D,E)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上存在的函数依赖有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F={AB→E, B→C, C→D}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，求：</a:t>
            </a:r>
            <a:br>
              <a:rPr lang="zh-CN" altLang="en-US" sz="2800" b="1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  ① 关系模式的码；</a:t>
            </a:r>
            <a:br>
              <a:rPr lang="zh-CN" altLang="en-US" sz="2800" b="1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  ② 该关系模式满足几范式，为什么？</a:t>
            </a:r>
            <a:br>
              <a:rPr lang="zh-CN" altLang="en-US" sz="2800" b="1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  ③ 将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分解为高一级的范式，并说明理由。</a:t>
            </a:r>
          </a:p>
        </p:txBody>
      </p:sp>
    </p:spTree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3B62F1E0-B781-CBF9-8F1A-5F53A336B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范式设计</a:t>
            </a:r>
          </a:p>
        </p:txBody>
      </p:sp>
      <p:sp>
        <p:nvSpPr>
          <p:cNvPr id="21507" name="Text Box 2">
            <a:extLst>
              <a:ext uri="{FF2B5EF4-FFF2-40B4-BE49-F238E27FC236}">
                <a16:creationId xmlns:a16="http://schemas.microsoft.com/office/drawing/2014/main" id="{BAF4D2DA-5C6A-0D95-544C-604D2711E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1135063"/>
            <a:ext cx="1065212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① 根据函数依赖集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F={AB→E, B→C, C→D}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由于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(A,B)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能够决定所有的属性集合，且没有任一真子集能够决定所有的属性集合，所以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的码为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(A,B)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900FEE8A-A389-B158-F144-B0D00568C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8" y="3921125"/>
            <a:ext cx="10825162" cy="26765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③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分解为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pPr>
              <a:buFont typeface="Arial" charset="0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A,B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,E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），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F1={(A,B)→E}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>
              <a:buFont typeface="Arial" charset="0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,C,D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），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F2={ B→C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C→D}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>
              <a:buFont typeface="Arial" charset="0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中：不存在非主属性对码的部分函数依赖，所以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R1∈2NF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>
              <a:buFont typeface="Arial" charset="0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中：码为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，则非主属性为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，不存在非主属性对码的部分函数依赖，所以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R2∈2NF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82CA4C04-9EAE-0278-B674-0DC458360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2519363"/>
            <a:ext cx="10652125" cy="138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② 已知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的码为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(A,B)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，所以非主属性为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C,D,E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∵ 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中存在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B→C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∴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存在非主属性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对码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(A,B)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的部分函数依赖，所以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R∈1NF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5A028D3-EA28-6509-5B85-1D0BAEBFF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范式设计</a:t>
            </a: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5CC0083B-5B30-13AA-02B8-2E476C3A5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1268413"/>
            <a:ext cx="11377613" cy="526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10.5】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某教学管理系统中有学生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(student)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、课程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(course)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两个实体，一个学生可以选修多门课程，一门课程可以供多个学生选修，学生通过考试可以获得该门课程的成绩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(grade)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。若成绩合格可以获得相应的学分，若成绩不合格可以重修该课程，每一次考试成绩保存到成绩表中。可以通过学生选修的课程统计出该学生所获得的总学分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(totalcredit)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	根据上述需求，结合实际情况，建立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E-R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图； 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	将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E-R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图转换为关系模式，注明主码。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 按照数据库规范化设计步骤，分析关系模式是否满足范式设计要求。</a:t>
            </a:r>
          </a:p>
        </p:txBody>
      </p:sp>
    </p:spTree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27291A9D-9505-AB93-9382-EF1991C5F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1135063"/>
            <a:ext cx="10652125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按照数据库的设计步骤进行数据库设计。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）按照教学管理系统的业务需求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得出系统的概念模型如下。</a:t>
            </a:r>
          </a:p>
        </p:txBody>
      </p:sp>
      <p:pic>
        <p:nvPicPr>
          <p:cNvPr id="23555" name="Picture 67">
            <a:extLst>
              <a:ext uri="{FF2B5EF4-FFF2-40B4-BE49-F238E27FC236}">
                <a16:creationId xmlns:a16="http://schemas.microsoft.com/office/drawing/2014/main" id="{065AE615-3BE3-8422-36B9-ECC42F411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2708275"/>
            <a:ext cx="8777287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E355F486-EDA7-3598-DE3B-F4CFECC20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范式设计</a:t>
            </a:r>
          </a:p>
        </p:txBody>
      </p:sp>
    </p:spTree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AEC50EB1-44E9-107A-1BFC-DC2B62628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1412875"/>
            <a:ext cx="10652125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）将概念模型转换为关系模式如下。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student(sno,sname,sex,dept,birthday,totalcredit,remarks)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course(cno,cname,term,ctime,credit)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score(</a:t>
            </a:r>
            <a:r>
              <a:rPr lang="en-US" altLang="zh-CN" sz="2400" b="1" u="sng">
                <a:latin typeface="楷体_GB2312" pitchFamily="49" charset="-122"/>
                <a:ea typeface="楷体_GB2312" pitchFamily="49" charset="-122"/>
              </a:rPr>
              <a:t>sno,cno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,grade)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C28DBCE0-2CF8-8539-4B0D-16D518463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3357563"/>
            <a:ext cx="10728325" cy="278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ts val="3500"/>
              </a:lnSpc>
              <a:buFont typeface="Arial" charset="0"/>
              <a:buNone/>
              <a:defRPr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）分析关系模式是否满足范式设计要求和业务需求。</a:t>
            </a:r>
          </a:p>
          <a:p>
            <a:pPr marL="342900" indent="-342900">
              <a:lnSpc>
                <a:spcPts val="35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在关系模式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student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中，码</a:t>
            </a:r>
            <a:r>
              <a:rPr lang="en-US" altLang="zh-CN" sz="2400" b="1" dirty="0" err="1">
                <a:latin typeface="楷体_GB2312" pitchFamily="49" charset="-122"/>
                <a:ea typeface="楷体_GB2312" pitchFamily="49" charset="-122"/>
              </a:rPr>
              <a:t>sno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与非码属性</a:t>
            </a:r>
            <a:r>
              <a:rPr lang="en-US" altLang="zh-CN" sz="2400" b="1" dirty="0" err="1">
                <a:latin typeface="楷体_GB2312" pitchFamily="49" charset="-122"/>
                <a:ea typeface="楷体_GB2312" pitchFamily="49" charset="-122"/>
              </a:rPr>
              <a:t>totalcredit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不存在函数依赖关系，若把总学分属性放在学生关系中，在录入学生信息时，总学分的值总为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NULL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值。另外，总学分是根据学生选修课程计算出来的，总学分直接依赖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grade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credit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两个属性，与</a:t>
            </a:r>
            <a:r>
              <a:rPr lang="en-US" altLang="zh-CN" sz="2400" b="1" dirty="0" err="1">
                <a:latin typeface="楷体_GB2312" pitchFamily="49" charset="-122"/>
                <a:ea typeface="楷体_GB2312" pitchFamily="49" charset="-122"/>
              </a:rPr>
              <a:t>sno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无直接依赖关系，应该把</a:t>
            </a:r>
            <a:r>
              <a:rPr lang="en-US" altLang="zh-CN" sz="2400" b="1" dirty="0" err="1">
                <a:latin typeface="楷体_GB2312" pitchFamily="49" charset="-122"/>
                <a:ea typeface="楷体_GB2312" pitchFamily="49" charset="-122"/>
              </a:rPr>
              <a:t>totalcredit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student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关系模式中去掉。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E9A1453E-A893-1D84-1A25-9E5BA3523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范式设计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>
            <a:extLst>
              <a:ext uri="{FF2B5EF4-FFF2-40B4-BE49-F238E27FC236}">
                <a16:creationId xmlns:a16="http://schemas.microsoft.com/office/drawing/2014/main" id="{8DC143CC-4173-7D6B-EBB6-1D66CF23D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1268413"/>
            <a:ext cx="10728325" cy="323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  <a:buFont typeface="Wingdings" panose="05000000000000000000" pitchFamily="2" charset="2"/>
              <a:buChar char="u"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在关系模式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score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u="sng">
                <a:latin typeface="楷体_GB2312" pitchFamily="49" charset="-122"/>
                <a:ea typeface="楷体_GB2312" pitchFamily="49" charset="-122"/>
              </a:rPr>
              <a:t>sno,cno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,grade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）中，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sno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cno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做为组合主键，它与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grade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之间是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函数依赖关系，但业务需求中应该是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对多的函数依赖关系，即一个学生选修某门课程可以存在多个成绩。要解决上述问题，则可以使用一个无符号的自增逻辑主键（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score_id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）来替代业务主键（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sno,cno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），它的作用是区分每一条记录。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ts val="3500"/>
              </a:lnSpc>
              <a:buFont typeface="Wingdings" panose="05000000000000000000" pitchFamily="2" charset="2"/>
              <a:buChar char="u"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至于总分学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totalcredit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的值，可以设计一个存储过程进行计算并显示，无需把它看成某个实体的属性来存放他的值。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A77805A3-C01B-A4BF-14EE-902E69FB4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4724400"/>
            <a:ext cx="10652125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满足设计要求的关系模式如下。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student(</a:t>
            </a:r>
            <a:r>
              <a:rPr lang="en-US" altLang="zh-CN" sz="2400" b="1" u="sng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sno</a:t>
            </a: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,sname,sex,dept,birthday,remarks)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course(</a:t>
            </a:r>
            <a:r>
              <a:rPr lang="en-US" altLang="zh-CN" sz="2400" b="1" u="sng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cno</a:t>
            </a: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,cname,term,ctime,credit)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score(</a:t>
            </a:r>
            <a:r>
              <a:rPr lang="en-US" altLang="zh-CN" sz="2400" b="1" u="sng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score_id</a:t>
            </a: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 ,sno,cno,grade)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1D1A6C28-9C09-01E8-AF1D-AFBA67CEA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范式设计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3A605959-BCCC-1FCA-64D8-DFA62AE37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反范式设计</a:t>
            </a:r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C9E1DBE7-3CED-4853-89AA-EA284D6B9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1196975"/>
            <a:ext cx="11017250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问题：</a:t>
            </a:r>
            <a:r>
              <a:rPr lang="zh-CN" altLang="en-US" sz="28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规范化理论使得每张表只表达围绕主码的数据库最核心的内容，数据之间的关联性需要通过外码进行表间连接来实现。在实际使用中，往往需要进行多表连接才能满足业务需求，这会降低系统的查询效率。</a:t>
            </a:r>
          </a:p>
        </p:txBody>
      </p:sp>
      <p:sp>
        <p:nvSpPr>
          <p:cNvPr id="26628" name="Text Box 2">
            <a:extLst>
              <a:ext uri="{FF2B5EF4-FFF2-40B4-BE49-F238E27FC236}">
                <a16:creationId xmlns:a16="http://schemas.microsoft.com/office/drawing/2014/main" id="{B0A6D9CA-76C8-5F2D-7268-E963BA3BF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3500438"/>
            <a:ext cx="11017250" cy="216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    规范化的思路是从空间最小化的角度来进行的数据库设计，通过规范化使得数据库的空间占用率最低。然而在具体使用中，可能需要关注更高的时间效率，“以空间换时间”也会经常被使用，所以会出现</a:t>
            </a:r>
            <a:r>
              <a:rPr lang="zh-CN" altLang="en-US" sz="28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反范式设计</a:t>
            </a:r>
            <a:r>
              <a:rPr lang="zh-CN" altLang="en-US" sz="28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的思想。</a:t>
            </a:r>
          </a:p>
        </p:txBody>
      </p:sp>
    </p:spTree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3A4E56EF-5EEB-9DFF-9F2F-41B9C153A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反范式设计</a:t>
            </a:r>
          </a:p>
        </p:txBody>
      </p:sp>
      <p:sp>
        <p:nvSpPr>
          <p:cNvPr id="27651" name="Text Box 2">
            <a:extLst>
              <a:ext uri="{FF2B5EF4-FFF2-40B4-BE49-F238E27FC236}">
                <a16:creationId xmlns:a16="http://schemas.microsoft.com/office/drawing/2014/main" id="{28586E46-50E3-4872-45B4-A1A1C6A99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1196975"/>
            <a:ext cx="11017250" cy="157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10.6】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在教学管理系统中，经常用到的一个业务需求是查询某学生某门课程的成绩，返回的信息包含学号、姓名、课程号、课程名、成绩等信息。</a:t>
            </a:r>
          </a:p>
        </p:txBody>
      </p:sp>
      <p:sp>
        <p:nvSpPr>
          <p:cNvPr id="27652" name="Text Box 2">
            <a:extLst>
              <a:ext uri="{FF2B5EF4-FFF2-40B4-BE49-F238E27FC236}">
                <a16:creationId xmlns:a16="http://schemas.microsoft.com/office/drawing/2014/main" id="{872D0075-FCA2-3575-3250-75D0BF051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2924175"/>
            <a:ext cx="11017250" cy="214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给出反范式设计的关系模式如下。</a:t>
            </a:r>
            <a:r>
              <a:rPr lang="en-US" altLang="zh-CN" sz="28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student(</a:t>
            </a:r>
            <a:r>
              <a:rPr lang="en-US" altLang="zh-CN" sz="2800" b="1" u="sng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sno</a:t>
            </a:r>
            <a:r>
              <a:rPr lang="en-US" altLang="zh-CN" sz="28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,sname,sex,dept,birthday,remarks)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∈3NF</a:t>
            </a:r>
          </a:p>
          <a:p>
            <a:pPr>
              <a:lnSpc>
                <a:spcPts val="4000"/>
              </a:lnSpc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course(</a:t>
            </a:r>
            <a:r>
              <a:rPr lang="en-US" altLang="zh-CN" sz="2800" b="1" u="sng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cno</a:t>
            </a:r>
            <a:r>
              <a:rPr lang="en-US" altLang="zh-CN" sz="28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,cname,term,ctime,credit)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∈3NF</a:t>
            </a:r>
          </a:p>
          <a:p>
            <a:pPr>
              <a:lnSpc>
                <a:spcPts val="4000"/>
              </a:lnSpc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score(</a:t>
            </a:r>
            <a:r>
              <a:rPr lang="en-US" altLang="zh-CN" sz="2800" b="1" u="sng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sno,cno</a:t>
            </a:r>
            <a:r>
              <a:rPr lang="en-US" altLang="zh-CN" sz="28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sname,cname</a:t>
            </a:r>
            <a:r>
              <a:rPr lang="en-US" altLang="zh-CN" sz="28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,grade)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∈1NF</a:t>
            </a:r>
          </a:p>
        </p:txBody>
      </p:sp>
    </p:spTree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F3C74CE3-8945-6E34-42DD-03A83783E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反范式设计</a:t>
            </a:r>
          </a:p>
        </p:txBody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5FB367EE-B89C-CEBA-D33B-09698D64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1196975"/>
            <a:ext cx="11017250" cy="188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反范式设计也会带来一些问题，比如更新异常问题，因为学生的姓名</a:t>
            </a: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(sname)</a:t>
            </a:r>
            <a:r>
              <a:rPr lang="zh-CN" altLang="en-US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和课程名</a:t>
            </a: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(cname)</a:t>
            </a:r>
            <a:r>
              <a:rPr lang="zh-CN" altLang="en-US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score</a:t>
            </a:r>
            <a:r>
              <a:rPr lang="zh-CN" altLang="en-US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表中被重复保存，若</a:t>
            </a: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course</a:t>
            </a:r>
            <a:r>
              <a:rPr lang="zh-CN" altLang="en-US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表的</a:t>
            </a: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cname</a:t>
            </a:r>
            <a:r>
              <a:rPr lang="zh-CN" altLang="en-US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值改变了，则在</a:t>
            </a: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score</a:t>
            </a:r>
            <a:r>
              <a:rPr lang="zh-CN" altLang="en-US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表中已经保存的</a:t>
            </a: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cname</a:t>
            </a:r>
            <a:r>
              <a:rPr lang="zh-CN" altLang="en-US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值也要发生变化，否则就有更新异常发生。可以考虑在</a:t>
            </a: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course</a:t>
            </a:r>
            <a:r>
              <a:rPr lang="zh-CN" altLang="en-US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表中设计一个更新触发器来解决课程名变化的问题。</a:t>
            </a:r>
          </a:p>
        </p:txBody>
      </p:sp>
      <p:sp>
        <p:nvSpPr>
          <p:cNvPr id="28676" name="Text Box 2">
            <a:extLst>
              <a:ext uri="{FF2B5EF4-FFF2-40B4-BE49-F238E27FC236}">
                <a16:creationId xmlns:a16="http://schemas.microsoft.com/office/drawing/2014/main" id="{A8EEA8E3-8216-3940-8120-7D01906A8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" y="3084513"/>
            <a:ext cx="11017250" cy="323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DELIMITER $$</a:t>
            </a:r>
          </a:p>
          <a:p>
            <a:pPr>
              <a:lnSpc>
                <a:spcPts val="35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CREATE TRIGGER tr_course_cname AFTER UPDATE</a:t>
            </a:r>
          </a:p>
          <a:p>
            <a:pPr>
              <a:lnSpc>
                <a:spcPts val="35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    ON  course  FOR EACH ROW </a:t>
            </a:r>
          </a:p>
          <a:p>
            <a:pPr>
              <a:lnSpc>
                <a:spcPts val="35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    BEGIN</a:t>
            </a:r>
          </a:p>
          <a:p>
            <a:pPr>
              <a:lnSpc>
                <a:spcPts val="35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      UPDATE score SET cname=new.cname WHERE cno=old.cno;  </a:t>
            </a:r>
          </a:p>
          <a:p>
            <a:pPr>
              <a:lnSpc>
                <a:spcPts val="35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    END$$</a:t>
            </a:r>
          </a:p>
          <a:p>
            <a:pPr>
              <a:lnSpc>
                <a:spcPts val="3500"/>
              </a:lnSpc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DELIMITER ;</a:t>
            </a:r>
          </a:p>
        </p:txBody>
      </p:sp>
    </p:spTree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3B48CB2-D355-13A6-0D6B-4FB40345F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本讲内容回顾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007E2975-DF89-2D61-8FDF-77EF0656B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2852738"/>
            <a:ext cx="1625600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规范化概念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9FA743C-FBDC-DFBD-976A-45C4C705283C}"/>
              </a:ext>
            </a:extLst>
          </p:cNvPr>
          <p:cNvGrpSpPr>
            <a:grpSpLocks/>
          </p:cNvGrpSpPr>
          <p:nvPr/>
        </p:nvGrpSpPr>
        <p:grpSpPr bwMode="auto">
          <a:xfrm>
            <a:off x="2138363" y="2852738"/>
            <a:ext cx="2000250" cy="863600"/>
            <a:chOff x="2139115" y="4869100"/>
            <a:chExt cx="2000206" cy="864060"/>
          </a:xfrm>
        </p:grpSpPr>
        <p:sp>
          <p:nvSpPr>
            <p:cNvPr id="29707" name="椭圆 63">
              <a:extLst>
                <a:ext uri="{FF2B5EF4-FFF2-40B4-BE49-F238E27FC236}">
                  <a16:creationId xmlns:a16="http://schemas.microsoft.com/office/drawing/2014/main" id="{2E3507D4-9026-568E-F3EC-F0CD3A55C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8950" y="4869100"/>
              <a:ext cx="1280371" cy="8640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函数依赖</a:t>
              </a:r>
            </a:p>
          </p:txBody>
        </p:sp>
        <p:sp>
          <p:nvSpPr>
            <p:cNvPr id="29708" name="右箭头 64">
              <a:extLst>
                <a:ext uri="{FF2B5EF4-FFF2-40B4-BE49-F238E27FC236}">
                  <a16:creationId xmlns:a16="http://schemas.microsoft.com/office/drawing/2014/main" id="{6943775F-7FEA-4BBB-8020-E1BFCC81F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115" y="5139478"/>
              <a:ext cx="575825" cy="323303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rgbClr val="CD1F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9" name="椭圆 68">
            <a:extLst>
              <a:ext uri="{FF2B5EF4-FFF2-40B4-BE49-F238E27FC236}">
                <a16:creationId xmlns:a16="http://schemas.microsoft.com/office/drawing/2014/main" id="{F6597EB3-6AB8-703A-2239-115530939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213" y="2852738"/>
            <a:ext cx="1528762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范式理论</a:t>
            </a:r>
          </a:p>
        </p:txBody>
      </p:sp>
      <p:sp>
        <p:nvSpPr>
          <p:cNvPr id="70" name="右箭头 69">
            <a:extLst>
              <a:ext uri="{FF2B5EF4-FFF2-40B4-BE49-F238E27FC236}">
                <a16:creationId xmlns:a16="http://schemas.microsoft.com/office/drawing/2014/main" id="{38C1C0E9-047A-C443-2349-040002580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488" y="3122613"/>
            <a:ext cx="576262" cy="323850"/>
          </a:xfrm>
          <a:prstGeom prst="rightArrow">
            <a:avLst>
              <a:gd name="adj1" fmla="val 50000"/>
              <a:gd name="adj2" fmla="val 49955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4689B0C2-F126-4452-C6F2-960F485C5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2852738"/>
            <a:ext cx="1889125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范式设计</a:t>
            </a: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D91F54E6-1CFA-A015-ACC2-5F4AD7FBC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988" y="2852738"/>
            <a:ext cx="1584325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反范式设计</a:t>
            </a:r>
          </a:p>
        </p:txBody>
      </p:sp>
      <p:sp>
        <p:nvSpPr>
          <p:cNvPr id="73" name="右箭头 72">
            <a:extLst>
              <a:ext uri="{FF2B5EF4-FFF2-40B4-BE49-F238E27FC236}">
                <a16:creationId xmlns:a16="http://schemas.microsoft.com/office/drawing/2014/main" id="{6172B21D-AE2A-5210-9C3C-DCE20A100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0" y="3122613"/>
            <a:ext cx="574675" cy="323850"/>
          </a:xfrm>
          <a:prstGeom prst="rightArrow">
            <a:avLst>
              <a:gd name="adj1" fmla="val 50000"/>
              <a:gd name="adj2" fmla="val 49818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右箭头 73">
            <a:extLst>
              <a:ext uri="{FF2B5EF4-FFF2-40B4-BE49-F238E27FC236}">
                <a16:creationId xmlns:a16="http://schemas.microsoft.com/office/drawing/2014/main" id="{7920A548-3FA8-038E-96F5-000948FD0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9425" y="3114675"/>
            <a:ext cx="574675" cy="323850"/>
          </a:xfrm>
          <a:prstGeom prst="rightArrow">
            <a:avLst>
              <a:gd name="adj1" fmla="val 50000"/>
              <a:gd name="adj2" fmla="val 49818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D1F06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anchor="ctr"/>
      <a:lstStyle>
        <a:defPPr algn="ctr">
          <a:defRPr sz="3200" b="1" dirty="0">
            <a:solidFill>
              <a:schemeClr val="bg1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8768</TotalTime>
  <Pages>0</Pages>
  <Words>2077</Words>
  <Characters>0</Characters>
  <Application>Microsoft Office PowerPoint</Application>
  <DocSecurity>0</DocSecurity>
  <PresentationFormat>自定义</PresentationFormat>
  <Lines>0</Lines>
  <Paragraphs>134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Franklin Gothic Medium</vt:lpstr>
      <vt:lpstr>微软雅黑</vt:lpstr>
      <vt:lpstr>Calibri</vt:lpstr>
      <vt:lpstr>Franklin Gothic Book</vt:lpstr>
      <vt:lpstr>黑体</vt:lpstr>
      <vt:lpstr>Impact</vt:lpstr>
      <vt:lpstr>Aharoni</vt:lpstr>
      <vt:lpstr>华文行楷</vt:lpstr>
      <vt:lpstr>Wingdings</vt:lpstr>
      <vt:lpstr>仿宋_GB2312</vt:lpstr>
      <vt:lpstr>楷体_GB2312</vt:lpstr>
      <vt:lpstr>Times New Roman</vt:lpstr>
      <vt:lpstr>Symbol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PC</dc:creator>
  <cp:lastModifiedBy>zhuigz Lc</cp:lastModifiedBy>
  <cp:revision>436</cp:revision>
  <dcterms:created xsi:type="dcterms:W3CDTF">2014-10-24T14:22:44Z</dcterms:created>
  <dcterms:modified xsi:type="dcterms:W3CDTF">2026-09-22T11:16:26Z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2052-9.1.0.4855</vt:lpwstr>
  </property>
</Properties>
</file>