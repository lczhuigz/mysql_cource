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handoutMasterIdLst>
    <p:handoutMasterId r:id="rId47"/>
  </p:handoutMasterIdLst>
  <p:sldIdLst>
    <p:sldId id="674" r:id="rId2"/>
    <p:sldId id="257" r:id="rId3"/>
    <p:sldId id="700" r:id="rId4"/>
    <p:sldId id="701" r:id="rId5"/>
    <p:sldId id="702" r:id="rId6"/>
    <p:sldId id="703" r:id="rId7"/>
    <p:sldId id="629" r:id="rId8"/>
    <p:sldId id="631" r:id="rId9"/>
    <p:sldId id="632" r:id="rId10"/>
    <p:sldId id="704" r:id="rId11"/>
    <p:sldId id="680" r:id="rId12"/>
    <p:sldId id="681" r:id="rId13"/>
    <p:sldId id="682" r:id="rId14"/>
    <p:sldId id="683" r:id="rId15"/>
    <p:sldId id="684" r:id="rId16"/>
    <p:sldId id="685" r:id="rId17"/>
    <p:sldId id="688" r:id="rId18"/>
    <p:sldId id="689" r:id="rId19"/>
    <p:sldId id="690" r:id="rId20"/>
    <p:sldId id="691" r:id="rId21"/>
    <p:sldId id="692" r:id="rId22"/>
    <p:sldId id="693" r:id="rId23"/>
    <p:sldId id="656" r:id="rId24"/>
    <p:sldId id="660" r:id="rId25"/>
    <p:sldId id="661" r:id="rId26"/>
    <p:sldId id="662" r:id="rId27"/>
    <p:sldId id="663" r:id="rId28"/>
    <p:sldId id="664" r:id="rId29"/>
    <p:sldId id="665" r:id="rId30"/>
    <p:sldId id="657" r:id="rId31"/>
    <p:sldId id="668" r:id="rId32"/>
    <p:sldId id="658" r:id="rId33"/>
    <p:sldId id="669" r:id="rId34"/>
    <p:sldId id="673" r:id="rId35"/>
    <p:sldId id="698" r:id="rId36"/>
    <p:sldId id="699" r:id="rId37"/>
    <p:sldId id="670" r:id="rId38"/>
    <p:sldId id="671" r:id="rId39"/>
    <p:sldId id="695" r:id="rId40"/>
    <p:sldId id="694" r:id="rId41"/>
    <p:sldId id="696" r:id="rId42"/>
    <p:sldId id="697" r:id="rId43"/>
    <p:sldId id="624" r:id="rId44"/>
    <p:sldId id="608" r:id="rId45"/>
  </p:sldIdLst>
  <p:sldSz cx="12198350" cy="6858000"/>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02">
          <p15:clr>
            <a:srgbClr val="A4A3A4"/>
          </p15:clr>
        </p15:guide>
        <p15:guide id="2" pos="384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CCFF"/>
    <a:srgbClr val="009E47"/>
    <a:srgbClr val="3366FF"/>
    <a:srgbClr val="8AC739"/>
    <a:srgbClr val="FF9933"/>
    <a:srgbClr val="FF9900"/>
    <a:srgbClr val="CC9900"/>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4" autoAdjust="0"/>
    <p:restoredTop sz="94660"/>
  </p:normalViewPr>
  <p:slideViewPr>
    <p:cSldViewPr>
      <p:cViewPr varScale="1">
        <p:scale>
          <a:sx n="104" d="100"/>
          <a:sy n="104" d="100"/>
        </p:scale>
        <p:origin x="810" y="114"/>
      </p:cViewPr>
      <p:guideLst>
        <p:guide orient="horz" pos="2102"/>
        <p:guide pos="3841"/>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54" d="100"/>
          <a:sy n="54" d="100"/>
        </p:scale>
        <p:origin x="-2880" y="-84"/>
      </p:cViewPr>
      <p:guideLst>
        <p:guide orient="horz" pos="2880"/>
        <p:guide pos="2160"/>
      </p:guideLst>
    </p:cSldViewPr>
  </p:notes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18B772E5-F4C7-BE28-BB3A-0B783FC3FEB4}"/>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buFont typeface="Arial" charset="0"/>
              <a:buNone/>
              <a:defRPr sz="1200">
                <a:latin typeface="Arial" charset="0"/>
              </a:defRPr>
            </a:lvl1pPr>
          </a:lstStyle>
          <a:p>
            <a:pPr>
              <a:defRPr/>
            </a:pPr>
            <a:endParaRPr lang="zh-CN" altLang="en-US"/>
          </a:p>
        </p:txBody>
      </p:sp>
      <p:sp>
        <p:nvSpPr>
          <p:cNvPr id="3" name="日期占位符 2">
            <a:extLst>
              <a:ext uri="{FF2B5EF4-FFF2-40B4-BE49-F238E27FC236}">
                <a16:creationId xmlns:a16="http://schemas.microsoft.com/office/drawing/2014/main" id="{331EB560-B915-18AF-9908-9C0B181A0F86}"/>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buFont typeface="Arial" charset="0"/>
              <a:buNone/>
              <a:defRPr sz="1200">
                <a:latin typeface="Arial" charset="0"/>
              </a:defRPr>
            </a:lvl1pPr>
          </a:lstStyle>
          <a:p>
            <a:pPr>
              <a:defRPr/>
            </a:pPr>
            <a:fld id="{2CD0493E-F833-49CA-BBC3-8E9C5E0B37CB}" type="datetimeFigureOut">
              <a:rPr lang="zh-CN" altLang="en-US"/>
              <a:pPr>
                <a:defRPr/>
              </a:pPr>
              <a:t>2026/9/22</a:t>
            </a:fld>
            <a:endParaRPr lang="zh-CN" altLang="en-US"/>
          </a:p>
        </p:txBody>
      </p:sp>
      <p:sp>
        <p:nvSpPr>
          <p:cNvPr id="4" name="页脚占位符 3">
            <a:extLst>
              <a:ext uri="{FF2B5EF4-FFF2-40B4-BE49-F238E27FC236}">
                <a16:creationId xmlns:a16="http://schemas.microsoft.com/office/drawing/2014/main" id="{04C33B8B-7627-6B94-09AF-9B7152B49F12}"/>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buFont typeface="Arial" charset="0"/>
              <a:buNone/>
              <a:defRPr sz="1200">
                <a:latin typeface="Arial" charset="0"/>
              </a:defRPr>
            </a:lvl1pPr>
          </a:lstStyle>
          <a:p>
            <a:pPr>
              <a:defRPr/>
            </a:pPr>
            <a:endParaRPr lang="zh-CN" altLang="en-US"/>
          </a:p>
        </p:txBody>
      </p:sp>
      <p:sp>
        <p:nvSpPr>
          <p:cNvPr id="5" name="灯片编号占位符 4">
            <a:extLst>
              <a:ext uri="{FF2B5EF4-FFF2-40B4-BE49-F238E27FC236}">
                <a16:creationId xmlns:a16="http://schemas.microsoft.com/office/drawing/2014/main" id="{0AA60FD7-DCB9-FBF2-A294-3CE189A48193}"/>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buFont typeface="Arial" panose="020B0604020202020204" pitchFamily="34" charset="0"/>
              <a:buNone/>
              <a:defRPr sz="1200" smtClean="0"/>
            </a:lvl1pPr>
          </a:lstStyle>
          <a:p>
            <a:pPr>
              <a:defRPr/>
            </a:pPr>
            <a:fld id="{0216C778-FEE9-4FA6-8621-28089AAA7EE5}"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a:extLst>
              <a:ext uri="{FF2B5EF4-FFF2-40B4-BE49-F238E27FC236}">
                <a16:creationId xmlns:a16="http://schemas.microsoft.com/office/drawing/2014/main" id="{3159A7D7-32CB-B97A-B889-C4EF98B39BFC}"/>
              </a:ext>
            </a:extLst>
          </p:cNvPr>
          <p:cNvSpPr>
            <a:spLocks noGrp="1" noChangeArrowheads="1"/>
          </p:cNvSpPr>
          <p:nvPr>
            <p:ph type="hdr" sz="quarter" idx="4294967295"/>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buFont typeface="Arial" pitchFamily="34" charset="0"/>
              <a:buNone/>
              <a:defRPr sz="1200">
                <a:latin typeface="Arial" pitchFamily="34" charset="0"/>
                <a:ea typeface="宋体" pitchFamily="2" charset="-122"/>
              </a:defRPr>
            </a:lvl1pPr>
          </a:lstStyle>
          <a:p>
            <a:pPr>
              <a:defRPr/>
            </a:pPr>
            <a:endParaRPr lang="zh-CN" altLang="en-US"/>
          </a:p>
        </p:txBody>
      </p:sp>
      <p:sp>
        <p:nvSpPr>
          <p:cNvPr id="2051" name="日期占位符 2">
            <a:extLst>
              <a:ext uri="{FF2B5EF4-FFF2-40B4-BE49-F238E27FC236}">
                <a16:creationId xmlns:a16="http://schemas.microsoft.com/office/drawing/2014/main" id="{8D17E752-6884-C35D-8A7B-8999C487A8B2}"/>
              </a:ext>
            </a:extLst>
          </p:cNvPr>
          <p:cNvSpPr>
            <a:spLocks noGrp="1" noChangeArrowheads="1"/>
          </p:cNvSpPr>
          <p:nvPr>
            <p:ph type="dt" idx="1"/>
          </p:nvPr>
        </p:nvSpPr>
        <p:spPr bwMode="auto">
          <a:xfrm>
            <a:off x="3884613"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buFont typeface="Arial" pitchFamily="34" charset="0"/>
              <a:buNone/>
              <a:defRPr>
                <a:latin typeface="Arial" pitchFamily="34" charset="0"/>
                <a:ea typeface="宋体" pitchFamily="2" charset="-122"/>
              </a:defRPr>
            </a:lvl1pPr>
          </a:lstStyle>
          <a:p>
            <a:pPr>
              <a:defRPr/>
            </a:pPr>
            <a:fld id="{20C1355B-A9B5-46C8-93E5-473600847B73}" type="datetime1">
              <a:rPr lang="zh-CN" altLang="en-US"/>
              <a:pPr>
                <a:defRPr/>
              </a:pPr>
              <a:t>2026/9/22</a:t>
            </a:fld>
            <a:endParaRPr lang="en-US" altLang="zh-CN" sz="1200"/>
          </a:p>
        </p:txBody>
      </p:sp>
      <p:sp>
        <p:nvSpPr>
          <p:cNvPr id="4100" name="幻灯片图像占位符 3">
            <a:extLst>
              <a:ext uri="{FF2B5EF4-FFF2-40B4-BE49-F238E27FC236}">
                <a16:creationId xmlns:a16="http://schemas.microsoft.com/office/drawing/2014/main" id="{D00CBB59-EC73-3E78-36A0-58C10DFC6E04}"/>
              </a:ext>
            </a:extLst>
          </p:cNvPr>
          <p:cNvSpPr>
            <a:spLocks noGrp="1" noRot="1" noChangeAspect="1" noChangeArrowheads="1"/>
          </p:cNvSpPr>
          <p:nvPr>
            <p:ph type="sldImg" idx="2"/>
          </p:nvPr>
        </p:nvSpPr>
        <p:spPr bwMode="auto">
          <a:xfrm>
            <a:off x="379413" y="685800"/>
            <a:ext cx="609917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41989" name="备注占位符 4">
            <a:extLst>
              <a:ext uri="{FF2B5EF4-FFF2-40B4-BE49-F238E27FC236}">
                <a16:creationId xmlns:a16="http://schemas.microsoft.com/office/drawing/2014/main" id="{194E81FC-FF80-4E99-DCA5-ADFB43DCB7EB}"/>
              </a:ext>
            </a:extLst>
          </p:cNvPr>
          <p:cNvSpPr>
            <a:spLocks noGrp="1" noRot="1" noChangeAspect="1" noChangeArrowheads="1"/>
          </p:cNvSpPr>
          <p:nvPr/>
        </p:nvSpPr>
        <p:spPr bwMode="auto">
          <a:xfrm>
            <a:off x="685800" y="4343400"/>
            <a:ext cx="5486400" cy="4114800"/>
          </a:xfrm>
          <a:prstGeom prst="rect">
            <a:avLst/>
          </a:prstGeom>
          <a:noFill/>
          <a:ln>
            <a:noFill/>
          </a:ln>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spcBef>
                <a:spcPct val="30000"/>
              </a:spcBef>
              <a:buFont typeface="Arial" charset="0"/>
              <a:buNone/>
              <a:defRPr/>
            </a:pPr>
            <a:r>
              <a:rPr lang="zh-CN" altLang="en-US" sz="1200">
                <a:solidFill>
                  <a:srgbClr val="000000"/>
                </a:solidFill>
              </a:rPr>
              <a:t>单击此处编辑母版文本样式</a:t>
            </a:r>
          </a:p>
          <a:p>
            <a:pPr>
              <a:spcBef>
                <a:spcPct val="30000"/>
              </a:spcBef>
              <a:buFont typeface="Arial" charset="0"/>
              <a:buNone/>
              <a:defRPr/>
            </a:pPr>
            <a:r>
              <a:rPr lang="zh-CN" altLang="en-US" sz="1200">
                <a:solidFill>
                  <a:srgbClr val="000000"/>
                </a:solidFill>
              </a:rPr>
              <a:t>第二级</a:t>
            </a:r>
          </a:p>
          <a:p>
            <a:pPr>
              <a:spcBef>
                <a:spcPct val="30000"/>
              </a:spcBef>
              <a:buFont typeface="Arial" charset="0"/>
              <a:buNone/>
              <a:defRPr/>
            </a:pPr>
            <a:r>
              <a:rPr lang="zh-CN" altLang="en-US" sz="1200">
                <a:solidFill>
                  <a:srgbClr val="000000"/>
                </a:solidFill>
              </a:rPr>
              <a:t>第三级</a:t>
            </a:r>
          </a:p>
          <a:p>
            <a:pPr>
              <a:spcBef>
                <a:spcPct val="30000"/>
              </a:spcBef>
              <a:buFont typeface="Arial" charset="0"/>
              <a:buNone/>
              <a:defRPr/>
            </a:pPr>
            <a:r>
              <a:rPr lang="zh-CN" altLang="en-US" sz="1200">
                <a:solidFill>
                  <a:srgbClr val="000000"/>
                </a:solidFill>
              </a:rPr>
              <a:t>第四级</a:t>
            </a:r>
          </a:p>
          <a:p>
            <a:pPr>
              <a:spcBef>
                <a:spcPct val="30000"/>
              </a:spcBef>
              <a:buFont typeface="Arial" charset="0"/>
              <a:buNone/>
              <a:defRPr/>
            </a:pPr>
            <a:r>
              <a:rPr lang="zh-CN" altLang="en-US" sz="1200">
                <a:solidFill>
                  <a:srgbClr val="000000"/>
                </a:solidFill>
              </a:rPr>
              <a:t>第五级</a:t>
            </a:r>
            <a:endParaRPr lang="zh-CN" altLang="en-US"/>
          </a:p>
        </p:txBody>
      </p:sp>
      <p:sp>
        <p:nvSpPr>
          <p:cNvPr id="2054" name="页脚占位符 5">
            <a:extLst>
              <a:ext uri="{FF2B5EF4-FFF2-40B4-BE49-F238E27FC236}">
                <a16:creationId xmlns:a16="http://schemas.microsoft.com/office/drawing/2014/main" id="{8021A6DB-6CB1-010B-4FB5-7FCB14041332}"/>
              </a:ext>
            </a:extLst>
          </p:cNvPr>
          <p:cNvSpPr>
            <a:spLocks noGrp="1" noChangeArrowheads="1"/>
          </p:cNvSpPr>
          <p:nvPr>
            <p:ph type="ftr" sz="quarter" idx="4"/>
          </p:nvPr>
        </p:nvSpPr>
        <p:spPr bwMode="auto">
          <a:xfrm>
            <a:off x="0"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buFont typeface="Arial" pitchFamily="34" charset="0"/>
              <a:buNone/>
              <a:defRPr sz="1200">
                <a:latin typeface="Arial" pitchFamily="34" charset="0"/>
                <a:ea typeface="宋体" pitchFamily="2" charset="-122"/>
              </a:defRPr>
            </a:lvl1pPr>
          </a:lstStyle>
          <a:p>
            <a:pPr>
              <a:defRPr/>
            </a:pPr>
            <a:endParaRPr lang="zh-CN" altLang="en-US"/>
          </a:p>
        </p:txBody>
      </p:sp>
      <p:sp>
        <p:nvSpPr>
          <p:cNvPr id="2055" name="灯片编号占位符 6">
            <a:extLst>
              <a:ext uri="{FF2B5EF4-FFF2-40B4-BE49-F238E27FC236}">
                <a16:creationId xmlns:a16="http://schemas.microsoft.com/office/drawing/2014/main" id="{B8DE83E2-E440-A4AA-CA84-A38AB9953130}"/>
              </a:ext>
            </a:extLst>
          </p:cNvPr>
          <p:cNvSpPr>
            <a:spLocks noGrp="1" noChangeArrowheads="1"/>
          </p:cNvSpPr>
          <p:nvPr>
            <p:ph type="sldNum" sz="quarter" idx="5"/>
          </p:nvPr>
        </p:nvSpPr>
        <p:spPr bwMode="auto">
          <a:xfrm>
            <a:off x="3884613"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lgn="r">
              <a:buFont typeface="Arial" panose="020B0604020202020204" pitchFamily="34" charset="0"/>
              <a:buNone/>
              <a:defRPr smtClean="0"/>
            </a:lvl1pPr>
          </a:lstStyle>
          <a:p>
            <a:pPr>
              <a:defRPr/>
            </a:pPr>
            <a:fld id="{1AF395CA-B232-4F9A-8832-279FCAA9E0FE}" type="slidenum">
              <a:rPr lang="zh-CN" altLang="en-US"/>
              <a:pPr>
                <a:defRPr/>
              </a:pPr>
              <a:t>‹#›</a:t>
            </a:fld>
            <a:endParaRPr lang="en-US" altLang="zh-CN"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defTabSz="0"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defTabSz="0"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defTabSz="0"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defTabSz="0"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E143C5F1-4B8F-5CFF-BD5F-A2174B287294}"/>
              </a:ext>
            </a:extLst>
          </p:cNvPr>
          <p:cNvSpPr>
            <a:spLocks noGrp="1" noRot="1" noChangeAspect="1" noChangeArrowheads="1" noTextEdit="1"/>
          </p:cNvSpPr>
          <p:nvPr>
            <p:ph type="sldImg"/>
          </p:nvPr>
        </p:nvSpPr>
        <p:spPr/>
      </p:sp>
      <p:sp>
        <p:nvSpPr>
          <p:cNvPr id="7171" name="备注占位符 2">
            <a:extLst>
              <a:ext uri="{FF2B5EF4-FFF2-40B4-BE49-F238E27FC236}">
                <a16:creationId xmlns:a16="http://schemas.microsoft.com/office/drawing/2014/main" id="{C28395A1-BF9E-90DF-C7FF-A773B9F1A536}"/>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2" name="日期占位符 3">
            <a:extLst>
              <a:ext uri="{FF2B5EF4-FFF2-40B4-BE49-F238E27FC236}">
                <a16:creationId xmlns:a16="http://schemas.microsoft.com/office/drawing/2014/main" id="{ADEA2659-9A3B-B893-0792-014033CE8B41}"/>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295F4163-A190-44BD-8372-CB129559E98E}" type="datetime1">
              <a:rPr lang="zh-CN" altLang="en-US" smtClean="0"/>
              <a:pPr/>
              <a:t>2026/9/22</a:t>
            </a:fld>
            <a:endParaRPr lang="en-US" altLang="zh-CN" sz="1200"/>
          </a:p>
        </p:txBody>
      </p:sp>
      <p:sp>
        <p:nvSpPr>
          <p:cNvPr id="7173" name="灯片编号占位符 4">
            <a:extLst>
              <a:ext uri="{FF2B5EF4-FFF2-40B4-BE49-F238E27FC236}">
                <a16:creationId xmlns:a16="http://schemas.microsoft.com/office/drawing/2014/main" id="{6632642D-28A0-C782-A726-640D97A7D943}"/>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D786E187-E7D0-41D3-BF3C-DFC54FDFA553}" type="slidenum">
              <a:rPr lang="zh-CN" altLang="en-US"/>
              <a:pPr/>
              <a:t>1</a:t>
            </a:fld>
            <a:endParaRPr lang="en-US" altLang="zh-CN"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4D2D017B-B184-2EBE-BFE8-BCC960D844D7}"/>
              </a:ext>
            </a:extLst>
          </p:cNvPr>
          <p:cNvSpPr>
            <a:spLocks noGrp="1" noRot="1" noChangeAspect="1" noChangeArrowheads="1" noTextEdit="1"/>
          </p:cNvSpPr>
          <p:nvPr>
            <p:ph type="sldImg"/>
          </p:nvPr>
        </p:nvSpPr>
        <p:spPr/>
      </p:sp>
      <p:sp>
        <p:nvSpPr>
          <p:cNvPr id="39939" name="备注占位符 2">
            <a:extLst>
              <a:ext uri="{FF2B5EF4-FFF2-40B4-BE49-F238E27FC236}">
                <a16:creationId xmlns:a16="http://schemas.microsoft.com/office/drawing/2014/main" id="{BAF1F97C-BC71-2F71-C0A5-377792CDDB79}"/>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9940" name="日期占位符 3">
            <a:extLst>
              <a:ext uri="{FF2B5EF4-FFF2-40B4-BE49-F238E27FC236}">
                <a16:creationId xmlns:a16="http://schemas.microsoft.com/office/drawing/2014/main" id="{0B3A658C-F6C6-12C8-4D3A-848ACA5C2EF0}"/>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D45F043F-8BEC-4775-BC9A-CBF318BBC32B}" type="datetime1">
              <a:rPr lang="zh-CN" altLang="en-US" smtClean="0"/>
              <a:pPr/>
              <a:t>2026/9/22</a:t>
            </a:fld>
            <a:endParaRPr lang="en-US" altLang="zh-CN" sz="1200"/>
          </a:p>
        </p:txBody>
      </p:sp>
      <p:sp>
        <p:nvSpPr>
          <p:cNvPr id="39941" name="灯片编号占位符 4">
            <a:extLst>
              <a:ext uri="{FF2B5EF4-FFF2-40B4-BE49-F238E27FC236}">
                <a16:creationId xmlns:a16="http://schemas.microsoft.com/office/drawing/2014/main" id="{A1048400-570F-F3E6-60AD-BA212EAFF12A}"/>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D8630D7F-9E90-4278-8DFD-E041D546DB58}" type="slidenum">
              <a:rPr lang="zh-CN" altLang="en-US"/>
              <a:pPr/>
              <a:t>32</a:t>
            </a:fld>
            <a:endParaRPr lang="en-US" altLang="zh-CN"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3EBEEDAE-5FD1-D66C-DE48-F121197F6846}"/>
              </a:ext>
            </a:extLst>
          </p:cNvPr>
          <p:cNvSpPr>
            <a:spLocks noGrp="1" noRot="1" noChangeAspect="1" noChangeArrowheads="1" noTextEdit="1"/>
          </p:cNvSpPr>
          <p:nvPr>
            <p:ph type="sldImg"/>
          </p:nvPr>
        </p:nvSpPr>
        <p:spPr/>
      </p:sp>
      <p:sp>
        <p:nvSpPr>
          <p:cNvPr id="41987" name="备注占位符 2">
            <a:extLst>
              <a:ext uri="{FF2B5EF4-FFF2-40B4-BE49-F238E27FC236}">
                <a16:creationId xmlns:a16="http://schemas.microsoft.com/office/drawing/2014/main" id="{AF9E7B17-17D2-20F2-C3B1-0D1D88210EF9}"/>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1988" name="日期占位符 3">
            <a:extLst>
              <a:ext uri="{FF2B5EF4-FFF2-40B4-BE49-F238E27FC236}">
                <a16:creationId xmlns:a16="http://schemas.microsoft.com/office/drawing/2014/main" id="{EF057AEB-2A43-8B48-174B-0571C274F481}"/>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B4FA98BD-D0D5-42BA-B935-1F9ED1B8A358}" type="datetime1">
              <a:rPr lang="zh-CN" altLang="en-US" smtClean="0"/>
              <a:pPr/>
              <a:t>2026/9/22</a:t>
            </a:fld>
            <a:endParaRPr lang="en-US" altLang="zh-CN" sz="1200"/>
          </a:p>
        </p:txBody>
      </p:sp>
      <p:sp>
        <p:nvSpPr>
          <p:cNvPr id="41989" name="灯片编号占位符 4">
            <a:extLst>
              <a:ext uri="{FF2B5EF4-FFF2-40B4-BE49-F238E27FC236}">
                <a16:creationId xmlns:a16="http://schemas.microsoft.com/office/drawing/2014/main" id="{B123C7B8-6B0E-4213-1446-C9E1C7EF6F9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8AC10EB2-5DC2-4A06-9AA1-59CEE6790DAA}" type="slidenum">
              <a:rPr lang="zh-CN" altLang="en-US"/>
              <a:pPr/>
              <a:t>33</a:t>
            </a:fld>
            <a:endParaRPr lang="en-US" altLang="zh-CN"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a:extLst>
              <a:ext uri="{FF2B5EF4-FFF2-40B4-BE49-F238E27FC236}">
                <a16:creationId xmlns:a16="http://schemas.microsoft.com/office/drawing/2014/main" id="{E2672DE1-2C2E-CDB3-46A0-7F677750FF53}"/>
              </a:ext>
            </a:extLst>
          </p:cNvPr>
          <p:cNvSpPr>
            <a:spLocks noGrp="1" noRot="1" noChangeAspect="1" noChangeArrowheads="1" noTextEdit="1"/>
          </p:cNvSpPr>
          <p:nvPr>
            <p:ph type="sldImg"/>
          </p:nvPr>
        </p:nvSpPr>
        <p:spPr/>
      </p:sp>
      <p:sp>
        <p:nvSpPr>
          <p:cNvPr id="44035" name="备注占位符 2">
            <a:extLst>
              <a:ext uri="{FF2B5EF4-FFF2-40B4-BE49-F238E27FC236}">
                <a16:creationId xmlns:a16="http://schemas.microsoft.com/office/drawing/2014/main" id="{E3779B42-9E5E-EFAE-8EA5-48003D49BF54}"/>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4036" name="日期占位符 3">
            <a:extLst>
              <a:ext uri="{FF2B5EF4-FFF2-40B4-BE49-F238E27FC236}">
                <a16:creationId xmlns:a16="http://schemas.microsoft.com/office/drawing/2014/main" id="{5EF31062-B087-597D-7ED0-21A5F6E3C254}"/>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5A80418E-DCC4-40BC-87C5-29B8D68CF383}" type="datetime1">
              <a:rPr lang="zh-CN" altLang="en-US" smtClean="0"/>
              <a:pPr/>
              <a:t>2026/9/22</a:t>
            </a:fld>
            <a:endParaRPr lang="en-US" altLang="zh-CN" sz="1200"/>
          </a:p>
        </p:txBody>
      </p:sp>
      <p:sp>
        <p:nvSpPr>
          <p:cNvPr id="44037" name="灯片编号占位符 4">
            <a:extLst>
              <a:ext uri="{FF2B5EF4-FFF2-40B4-BE49-F238E27FC236}">
                <a16:creationId xmlns:a16="http://schemas.microsoft.com/office/drawing/2014/main" id="{091D2929-DD8A-FE0C-435F-C6B3B813677E}"/>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4EBBA259-64E0-4228-8AE6-2CC56EAA9630}" type="slidenum">
              <a:rPr lang="zh-CN" altLang="en-US"/>
              <a:pPr/>
              <a:t>34</a:t>
            </a:fld>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955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30388" y="3886200"/>
            <a:ext cx="8537575"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3703480551"/>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0"/>
            <a:ext cx="1097915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80092264"/>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7962"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7962"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439780718"/>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4133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5375" y="1600200"/>
            <a:ext cx="54133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31558179"/>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956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956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6013" y="1535113"/>
            <a:ext cx="539273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6013" y="2174875"/>
            <a:ext cx="539273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5501894"/>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05953031"/>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0545494"/>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3200"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8850" y="273050"/>
            <a:ext cx="681990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3200"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237167632"/>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9963"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775" y="612775"/>
            <a:ext cx="7319963"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2390775" y="5367338"/>
            <a:ext cx="7319963"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186910227"/>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0"/>
            <a:ext cx="1097915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44655100"/>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274638"/>
            <a:ext cx="2744787"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81963"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84197701"/>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燕尾形 7">
            <a:extLst>
              <a:ext uri="{FF2B5EF4-FFF2-40B4-BE49-F238E27FC236}">
                <a16:creationId xmlns:a16="http://schemas.microsoft.com/office/drawing/2014/main" id="{26F2ADEB-41F8-257B-F748-A224CEE53D35}"/>
              </a:ext>
            </a:extLst>
          </p:cNvPr>
          <p:cNvSpPr>
            <a:spLocks noChangeArrowheads="1"/>
          </p:cNvSpPr>
          <p:nvPr userDrawn="1"/>
        </p:nvSpPr>
        <p:spPr bwMode="auto">
          <a:xfrm>
            <a:off x="1130300" y="0"/>
            <a:ext cx="7718425" cy="846138"/>
          </a:xfrm>
          <a:prstGeom prst="chevron">
            <a:avLst>
              <a:gd name="adj" fmla="val 24616"/>
            </a:avLst>
          </a:prstGeom>
          <a:solidFill>
            <a:srgbClr val="CD1F06"/>
          </a:solidFill>
          <a:ln>
            <a:noFill/>
          </a:ln>
        </p:spPr>
        <p:txBody>
          <a:bodyPr anchor="ctr"/>
          <a:lstStyle>
            <a:defPPr>
              <a:defRPr lang="zh-CN"/>
            </a:defPPr>
            <a:lvl1pPr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defRPr/>
            </a:pPr>
            <a:endParaRPr lang="zh-CN" altLang="en-US" sz="3200" b="1" dirty="0">
              <a:solidFill>
                <a:schemeClr val="bg1"/>
              </a:solidFill>
              <a:latin typeface="微软雅黑" pitchFamily="34" charset="-122"/>
              <a:ea typeface="微软雅黑" pitchFamily="34" charset="-122"/>
            </a:endParaRPr>
          </a:p>
        </p:txBody>
      </p:sp>
      <p:sp>
        <p:nvSpPr>
          <p:cNvPr id="3" name="矩形 2">
            <a:extLst>
              <a:ext uri="{FF2B5EF4-FFF2-40B4-BE49-F238E27FC236}">
                <a16:creationId xmlns:a16="http://schemas.microsoft.com/office/drawing/2014/main" id="{E791F42C-51BE-C12C-3C8C-EFD3D3A7537C}"/>
              </a:ext>
            </a:extLst>
          </p:cNvPr>
          <p:cNvSpPr/>
          <p:nvPr userDrawn="1"/>
        </p:nvSpPr>
        <p:spPr>
          <a:xfrm>
            <a:off x="8848725" y="-27240"/>
            <a:ext cx="2484000" cy="707886"/>
          </a:xfrm>
          <a:prstGeom prst="rect">
            <a:avLst/>
          </a:prstGeom>
          <a:noFill/>
        </p:spPr>
        <p:txBody>
          <a:bodyPr>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buFont typeface="Arial" charset="0"/>
              <a:buNone/>
              <a:defRPr/>
            </a:pPr>
            <a:r>
              <a:rPr lang="zh-CN" altLang="en-US" sz="4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隶书" panose="02010509060101010101" pitchFamily="49" charset="-122"/>
                <a:ea typeface="隶书" panose="02010509060101010101" pitchFamily="49" charset="-122"/>
              </a:rPr>
              <a:t>数据库</a:t>
            </a:r>
          </a:p>
        </p:txBody>
      </p:sp>
    </p:spTree>
    <p:extLst>
      <p:ext uri="{BB962C8B-B14F-4D97-AF65-F5344CB8AC3E}">
        <p14:creationId xmlns:p14="http://schemas.microsoft.com/office/powerpoint/2010/main" val="1485394055"/>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SmartArt 占位符 2"/>
          <p:cNvSpPr>
            <a:spLocks noGrp="1"/>
          </p:cNvSpPr>
          <p:nvPr>
            <p:ph type="dgm" idx="1"/>
          </p:nvPr>
        </p:nvSpPr>
        <p:spPr>
          <a:xfrm>
            <a:off x="609600" y="1600200"/>
            <a:ext cx="10979150" cy="4525963"/>
          </a:xfrm>
          <a:prstGeom prst="rect">
            <a:avLst/>
          </a:prstGeom>
        </p:spPr>
        <p:txBody>
          <a:bodyPr/>
          <a:lstStyle/>
          <a:p>
            <a:pPr lvl="0"/>
            <a:endParaRPr lang="zh-CN" altLang="en-US" noProof="0">
              <a:sym typeface="Calibri" pitchFamily="34" charset="0"/>
            </a:endParaRPr>
          </a:p>
        </p:txBody>
      </p:sp>
    </p:spTree>
    <p:extLst>
      <p:ext uri="{BB962C8B-B14F-4D97-AF65-F5344CB8AC3E}">
        <p14:creationId xmlns:p14="http://schemas.microsoft.com/office/powerpoint/2010/main" val="3699280891"/>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燕尾形 7">
            <a:extLst>
              <a:ext uri="{FF2B5EF4-FFF2-40B4-BE49-F238E27FC236}">
                <a16:creationId xmlns:a16="http://schemas.microsoft.com/office/drawing/2014/main" id="{BF6D1969-DE94-6784-5D3E-73BA1DF6784C}"/>
              </a:ext>
            </a:extLst>
          </p:cNvPr>
          <p:cNvSpPr>
            <a:spLocks noChangeArrowheads="1"/>
          </p:cNvSpPr>
          <p:nvPr userDrawn="1"/>
        </p:nvSpPr>
        <p:spPr bwMode="auto">
          <a:xfrm>
            <a:off x="1130300" y="0"/>
            <a:ext cx="7718425" cy="846138"/>
          </a:xfrm>
          <a:prstGeom prst="chevron">
            <a:avLst>
              <a:gd name="adj" fmla="val 24616"/>
            </a:avLst>
          </a:prstGeom>
          <a:solidFill>
            <a:srgbClr val="CD1F06"/>
          </a:solidFill>
          <a:ln>
            <a:noFill/>
          </a:ln>
        </p:spPr>
        <p:txBody>
          <a:bodyPr anchor="ctr"/>
          <a:lstStyle>
            <a:defPPr>
              <a:defRPr lang="zh-CN"/>
            </a:defPPr>
            <a:lvl1pPr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defRPr/>
            </a:pPr>
            <a:endParaRPr lang="zh-CN" altLang="en-US" sz="3200" b="1" dirty="0">
              <a:solidFill>
                <a:schemeClr val="bg1"/>
              </a:solidFill>
              <a:latin typeface="微软雅黑" pitchFamily="34" charset="-122"/>
              <a:ea typeface="微软雅黑" pitchFamily="34" charset="-122"/>
            </a:endParaRPr>
          </a:p>
        </p:txBody>
      </p:sp>
      <p:pic>
        <p:nvPicPr>
          <p:cNvPr id="3" name="图片 2">
            <a:extLst>
              <a:ext uri="{FF2B5EF4-FFF2-40B4-BE49-F238E27FC236}">
                <a16:creationId xmlns:a16="http://schemas.microsoft.com/office/drawing/2014/main" id="{1C7B5F1F-D596-0BC9-61A4-53246809A3FA}"/>
              </a:ext>
            </a:extLst>
          </p:cNvPr>
          <p:cNvPicPr>
            <a:picLocks noChangeAspect="1"/>
          </p:cNvPicPr>
          <p:nvPr userDrawn="1"/>
        </p:nvPicPr>
        <p:blipFill>
          <a:blip r:embed="rId2" cstate="print"/>
          <a:stretch>
            <a:fillRect/>
          </a:stretch>
        </p:blipFill>
        <p:spPr>
          <a:xfrm>
            <a:off x="11067520" y="101786"/>
            <a:ext cx="1014366" cy="642566"/>
          </a:xfrm>
          <a:prstGeom prst="rect">
            <a:avLst/>
          </a:prstGeom>
          <a:ln>
            <a:noFill/>
          </a:ln>
          <a:effectLst>
            <a:softEdge rad="112500"/>
          </a:effectLst>
        </p:spPr>
      </p:pic>
      <p:sp>
        <p:nvSpPr>
          <p:cNvPr id="4" name="矩形 3">
            <a:extLst>
              <a:ext uri="{FF2B5EF4-FFF2-40B4-BE49-F238E27FC236}">
                <a16:creationId xmlns:a16="http://schemas.microsoft.com/office/drawing/2014/main" id="{C9D929CA-31C8-7ACD-856C-B09D1FA7411C}"/>
              </a:ext>
            </a:extLst>
          </p:cNvPr>
          <p:cNvSpPr/>
          <p:nvPr userDrawn="1"/>
        </p:nvSpPr>
        <p:spPr>
          <a:xfrm>
            <a:off x="8848725" y="0"/>
            <a:ext cx="2484000" cy="707886"/>
          </a:xfrm>
          <a:prstGeom prst="rect">
            <a:avLst/>
          </a:prstGeom>
          <a:noFill/>
        </p:spPr>
        <p:txBody>
          <a:bodyPr>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buFont typeface="Arial" charset="0"/>
              <a:buNone/>
              <a:defRPr/>
            </a:pPr>
            <a:r>
              <a:rPr lang="zh-CN" altLang="en-US" sz="4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隶书" panose="02010509060101010101" pitchFamily="49" charset="-122"/>
                <a:ea typeface="隶书" panose="02010509060101010101" pitchFamily="49" charset="-122"/>
              </a:rPr>
              <a:t>数据库</a:t>
            </a:r>
          </a:p>
        </p:txBody>
      </p:sp>
      <p:sp>
        <p:nvSpPr>
          <p:cNvPr id="6" name="TextBox 6">
            <a:extLst>
              <a:ext uri="{FF2B5EF4-FFF2-40B4-BE49-F238E27FC236}">
                <a16:creationId xmlns:a16="http://schemas.microsoft.com/office/drawing/2014/main" id="{76CBCB37-2CB7-A2AA-54F5-C991E09680F9}"/>
              </a:ext>
            </a:extLst>
          </p:cNvPr>
          <p:cNvSpPr>
            <a:spLocks noChangeArrowheads="1"/>
          </p:cNvSpPr>
          <p:nvPr userDrawn="1"/>
        </p:nvSpPr>
        <p:spPr bwMode="auto">
          <a:xfrm>
            <a:off x="1490663" y="77788"/>
            <a:ext cx="6048375" cy="615950"/>
          </a:xfrm>
          <a:prstGeom prst="rect">
            <a:avLst/>
          </a:prstGeom>
          <a:noFill/>
          <a:ln>
            <a:noFill/>
          </a:ln>
        </p:spPr>
        <p:txBody>
          <a:bodyPr lIns="0" tIns="0" rIns="0" bIns="0"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defRPr/>
            </a:pPr>
            <a:r>
              <a:rPr lang="en-US" altLang="zh-CN" sz="4000" b="1">
                <a:solidFill>
                  <a:schemeClr val="bg1"/>
                </a:solidFill>
                <a:latin typeface="黑体" panose="02010609060101010101" pitchFamily="49" charset="-122"/>
                <a:ea typeface="黑体" panose="02010609060101010101" pitchFamily="49" charset="-122"/>
                <a:sym typeface="Impact" panose="020B0806030902050204" pitchFamily="34" charset="0"/>
              </a:rPr>
              <a:t> </a:t>
            </a:r>
            <a:endParaRPr lang="zh-CN" altLang="en-US" sz="4000" b="1">
              <a:solidFill>
                <a:schemeClr val="bg1"/>
              </a:solidFill>
              <a:latin typeface="黑体" panose="02010609060101010101" pitchFamily="49" charset="-122"/>
              <a:ea typeface="黑体" panose="02010609060101010101" pitchFamily="49" charset="-122"/>
              <a:sym typeface="Impact" panose="020B0806030902050204" pitchFamily="34" charset="0"/>
            </a:endParaRPr>
          </a:p>
        </p:txBody>
      </p:sp>
      <p:sp>
        <p:nvSpPr>
          <p:cNvPr id="5" name="内容占位符 2"/>
          <p:cNvSpPr>
            <a:spLocks noGrp="1"/>
          </p:cNvSpPr>
          <p:nvPr>
            <p:ph idx="1"/>
          </p:nvPr>
        </p:nvSpPr>
        <p:spPr>
          <a:xfrm>
            <a:off x="609600" y="1600200"/>
            <a:ext cx="10979150" cy="4525963"/>
          </a:xfrm>
          <a:prstGeom prst="rect">
            <a:avLst/>
          </a:prstGeom>
        </p:spPr>
        <p:txBody>
          <a:bodyPr/>
          <a:lstStyle>
            <a:lvl1pPr marL="0" indent="0">
              <a:buFontTx/>
              <a:buNone/>
              <a:defRPr baseline="0">
                <a:solidFill>
                  <a:srgbClr val="7030A0"/>
                </a:solidFill>
                <a:latin typeface="Times New Roman" panose="02020603050405020304" pitchFamily="18" charset="0"/>
              </a:defRPr>
            </a:lvl1pPr>
            <a:lvl2pPr marL="0" indent="457200" algn="l" defTabSz="0" rtl="0" eaLnBrk="0" fontAlgn="base" hangingPunct="0">
              <a:lnSpc>
                <a:spcPct val="110000"/>
              </a:lnSpc>
              <a:spcBef>
                <a:spcPct val="20000"/>
              </a:spcBef>
              <a:spcAft>
                <a:spcPct val="0"/>
              </a:spcAft>
              <a:buClr>
                <a:srgbClr val="32C6CA"/>
              </a:buClr>
              <a:buSzPct val="80000"/>
              <a:buFontTx/>
              <a:buNone/>
              <a:defRPr kumimoji="1" lang="zh-CN" altLang="en-US" sz="2800" b="1" baseline="0" dirty="0">
                <a:solidFill>
                  <a:srgbClr val="000066"/>
                </a:solidFill>
                <a:effectLst>
                  <a:outerShdw blurRad="38100" dist="38100" dir="2700000" algn="tl">
                    <a:srgbClr val="C0C0C0"/>
                  </a:outerShdw>
                </a:effectLst>
                <a:latin typeface="Times New Roman" panose="02020603050405020304" pitchFamily="18" charset="0"/>
                <a:ea typeface="楷体_GB2312" pitchFamily="49" charset="-122"/>
                <a:cs typeface="+mn-cs"/>
                <a:sym typeface="Calibri" panose="020F0502020204030204" pitchFamily="34" charset="0"/>
              </a:defRPr>
            </a:lvl2pPr>
            <a:lvl3pPr>
              <a:defRPr lang="zh-CN" altLang="en-US" sz="2800" b="1" kern="1200" baseline="0" dirty="0">
                <a:solidFill>
                  <a:schemeClr val="accent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en-US" altLang="zh-CN" dirty="0"/>
              <a:t>		</a:t>
            </a:r>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标题 1"/>
          <p:cNvSpPr>
            <a:spLocks noGrp="1"/>
          </p:cNvSpPr>
          <p:nvPr>
            <p:ph type="title"/>
          </p:nvPr>
        </p:nvSpPr>
        <p:spPr>
          <a:xfrm>
            <a:off x="1346845" y="77788"/>
            <a:ext cx="6752720" cy="630098"/>
          </a:xfrm>
          <a:prstGeom prst="rect">
            <a:avLst/>
          </a:prstGeom>
        </p:spPr>
        <p:txBody>
          <a:bodyPr/>
          <a:lstStyle>
            <a:lvl1pPr marL="0" indent="0" algn="l" rtl="0" eaLnBrk="0" fontAlgn="base" hangingPunct="0">
              <a:spcBef>
                <a:spcPct val="0"/>
              </a:spcBef>
              <a:spcAft>
                <a:spcPct val="0"/>
              </a:spcAft>
              <a:buFont typeface="Arial" charset="0"/>
              <a:buNone/>
              <a:defRPr lang="zh-CN" altLang="en-US" sz="4000" b="1" kern="1200" dirty="0">
                <a:solidFill>
                  <a:schemeClr val="bg1"/>
                </a:solidFill>
                <a:latin typeface="+mn-ea"/>
                <a:ea typeface="+mn-ea"/>
                <a:cs typeface="+mn-cs"/>
              </a:defRPr>
            </a:lvl1pPr>
          </a:lstStyle>
          <a:p>
            <a:r>
              <a:rPr lang="zh-CN" altLang="en-US" dirty="0"/>
              <a:t>单击此处编辑母版标题样式</a:t>
            </a:r>
          </a:p>
        </p:txBody>
      </p:sp>
    </p:spTree>
    <p:extLst>
      <p:ext uri="{BB962C8B-B14F-4D97-AF65-F5344CB8AC3E}">
        <p14:creationId xmlns:p14="http://schemas.microsoft.com/office/powerpoint/2010/main" val="104177759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1">
          <a:gsLst>
            <a:gs pos="0">
              <a:srgbClr val="FAFAFA"/>
            </a:gs>
            <a:gs pos="50000">
              <a:srgbClr val="FBFBFB"/>
            </a:gs>
            <a:gs pos="100000">
              <a:srgbClr val="FCFCFC"/>
            </a:gs>
          </a:gsLst>
          <a:lin ang="5400000" scaled="1"/>
        </a:gradFill>
        <a:effectLst/>
      </p:bgPr>
    </p:bg>
    <p:spTree>
      <p:nvGrpSpPr>
        <p:cNvPr id="1" name=""/>
        <p:cNvGrpSpPr/>
        <p:nvPr/>
      </p:nvGrpSpPr>
      <p:grpSpPr>
        <a:xfrm>
          <a:off x="0" y="0"/>
          <a:ext cx="0" cy="0"/>
          <a:chOff x="0" y="0"/>
          <a:chExt cx="0" cy="0"/>
        </a:xfrm>
      </p:grpSpPr>
      <p:sp>
        <p:nvSpPr>
          <p:cNvPr id="1026" name="矩形 2">
            <a:extLst>
              <a:ext uri="{FF2B5EF4-FFF2-40B4-BE49-F238E27FC236}">
                <a16:creationId xmlns:a16="http://schemas.microsoft.com/office/drawing/2014/main" id="{A88CEBE2-EE5D-6217-6E79-77E7406389BE}"/>
              </a:ext>
            </a:extLst>
          </p:cNvPr>
          <p:cNvSpPr>
            <a:spLocks noChangeArrowheads="1"/>
          </p:cNvSpPr>
          <p:nvPr/>
        </p:nvSpPr>
        <p:spPr bwMode="auto">
          <a:xfrm>
            <a:off x="0" y="854075"/>
            <a:ext cx="12198350" cy="115888"/>
          </a:xfrm>
          <a:prstGeom prst="rect">
            <a:avLst/>
          </a:prstGeom>
          <a:solidFill>
            <a:srgbClr val="A5A5A5"/>
          </a:solidFill>
          <a:ln>
            <a:noFill/>
          </a:ln>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a:buFont typeface="Arial" charset="0"/>
              <a:buNone/>
              <a:defRPr/>
            </a:pPr>
            <a:endParaRPr lang="zh-CN" altLang="en-US">
              <a:solidFill>
                <a:srgbClr val="FFFFFF"/>
              </a:solidFill>
              <a:latin typeface="宋体" pitchFamily="2" charset="-122"/>
              <a:sym typeface="宋体" pitchFamily="2" charset="-122"/>
            </a:endParaRPr>
          </a:p>
        </p:txBody>
      </p:sp>
      <p:sp>
        <p:nvSpPr>
          <p:cNvPr id="1027" name="椭圆 14">
            <a:extLst>
              <a:ext uri="{FF2B5EF4-FFF2-40B4-BE49-F238E27FC236}">
                <a16:creationId xmlns:a16="http://schemas.microsoft.com/office/drawing/2014/main" id="{5E755A76-C796-6201-C294-E75B994ECE1A}"/>
              </a:ext>
            </a:extLst>
          </p:cNvPr>
          <p:cNvSpPr>
            <a:spLocks noChangeArrowheads="1"/>
          </p:cNvSpPr>
          <p:nvPr/>
        </p:nvSpPr>
        <p:spPr bwMode="auto">
          <a:xfrm>
            <a:off x="804863" y="866775"/>
            <a:ext cx="85725" cy="87313"/>
          </a:xfrm>
          <a:prstGeom prst="ellipse">
            <a:avLst/>
          </a:prstGeom>
          <a:solidFill>
            <a:srgbClr val="F6F6F6"/>
          </a:solidFill>
          <a:ln>
            <a:noFill/>
          </a:ln>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a:buFont typeface="Arial" charset="0"/>
              <a:buNone/>
              <a:defRPr/>
            </a:pPr>
            <a:endParaRPr lang="zh-CN" altLang="en-US">
              <a:solidFill>
                <a:srgbClr val="FFFFFF"/>
              </a:solidFill>
              <a:latin typeface="宋体" pitchFamily="2" charset="-122"/>
              <a:sym typeface="宋体" pitchFamily="2" charset="-122"/>
            </a:endParaRPr>
          </a:p>
        </p:txBody>
      </p:sp>
      <p:sp>
        <p:nvSpPr>
          <p:cNvPr id="1028" name="椭圆 14">
            <a:extLst>
              <a:ext uri="{FF2B5EF4-FFF2-40B4-BE49-F238E27FC236}">
                <a16:creationId xmlns:a16="http://schemas.microsoft.com/office/drawing/2014/main" id="{2BD27520-0D0D-C531-EABA-9F06BDF5CA42}"/>
              </a:ext>
            </a:extLst>
          </p:cNvPr>
          <p:cNvSpPr>
            <a:spLocks noChangeAspect="1" noChangeArrowheads="1"/>
          </p:cNvSpPr>
          <p:nvPr/>
        </p:nvSpPr>
        <p:spPr bwMode="auto">
          <a:xfrm>
            <a:off x="565150" y="188913"/>
            <a:ext cx="563563" cy="719137"/>
          </a:xfrm>
          <a:custGeom>
            <a:avLst/>
            <a:gdLst>
              <a:gd name="T0" fmla="*/ 58 w 683568"/>
              <a:gd name="T1" fmla="*/ 0 h 864094"/>
              <a:gd name="T2" fmla="*/ 115 w 683568"/>
              <a:gd name="T3" fmla="*/ 88 h 864094"/>
              <a:gd name="T4" fmla="*/ 97 w 683568"/>
              <a:gd name="T5" fmla="*/ 151 h 864094"/>
              <a:gd name="T6" fmla="*/ 58 w 683568"/>
              <a:gd name="T7" fmla="*/ 222 h 864094"/>
              <a:gd name="T8" fmla="*/ 17 w 683568"/>
              <a:gd name="T9" fmla="*/ 151 h 864094"/>
              <a:gd name="T10" fmla="*/ 10 w 683568"/>
              <a:gd name="T11" fmla="*/ 138 h 864094"/>
              <a:gd name="T12" fmla="*/ 10 w 683568"/>
              <a:gd name="T13" fmla="*/ 138 h 864094"/>
              <a:gd name="T14" fmla="*/ 10 w 683568"/>
              <a:gd name="T15" fmla="*/ 138 h 864094"/>
              <a:gd name="T16" fmla="*/ 0 w 683568"/>
              <a:gd name="T17" fmla="*/ 88 h 864094"/>
              <a:gd name="T18" fmla="*/ 58 w 683568"/>
              <a:gd name="T19" fmla="*/ 0 h 8640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83568"/>
              <a:gd name="T31" fmla="*/ 0 h 864094"/>
              <a:gd name="T32" fmla="*/ 683568 w 683568"/>
              <a:gd name="T33" fmla="*/ 864094 h 86409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83568" h="864094">
                <a:moveTo>
                  <a:pt x="341784" y="0"/>
                </a:moveTo>
                <a:cubicBezTo>
                  <a:pt x="530546" y="0"/>
                  <a:pt x="683568" y="153022"/>
                  <a:pt x="683568" y="341784"/>
                </a:cubicBezTo>
                <a:cubicBezTo>
                  <a:pt x="683568" y="439085"/>
                  <a:pt x="642909" y="526890"/>
                  <a:pt x="577183" y="588642"/>
                </a:cubicBezTo>
                <a:lnTo>
                  <a:pt x="341597" y="864094"/>
                </a:lnTo>
                <a:lnTo>
                  <a:pt x="105111" y="587591"/>
                </a:lnTo>
                <a:cubicBezTo>
                  <a:pt x="87976" y="571864"/>
                  <a:pt x="72869" y="554041"/>
                  <a:pt x="59857" y="534679"/>
                </a:cubicBezTo>
                <a:lnTo>
                  <a:pt x="59306" y="534035"/>
                </a:lnTo>
                <a:lnTo>
                  <a:pt x="59325" y="534035"/>
                </a:lnTo>
                <a:cubicBezTo>
                  <a:pt x="21845" y="479324"/>
                  <a:pt x="0" y="413105"/>
                  <a:pt x="0" y="341784"/>
                </a:cubicBezTo>
                <a:cubicBezTo>
                  <a:pt x="0" y="153022"/>
                  <a:pt x="153022" y="0"/>
                  <a:pt x="341784" y="0"/>
                </a:cubicBezTo>
                <a:close/>
              </a:path>
            </a:pathLst>
          </a:cu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1029" name="Text Box 7">
            <a:extLst>
              <a:ext uri="{FF2B5EF4-FFF2-40B4-BE49-F238E27FC236}">
                <a16:creationId xmlns:a16="http://schemas.microsoft.com/office/drawing/2014/main" id="{01FEA03E-24BC-33A0-AC81-87C1CDA82812}"/>
              </a:ext>
            </a:extLst>
          </p:cNvPr>
          <p:cNvSpPr>
            <a:spLocks noChangeArrowheads="1"/>
          </p:cNvSpPr>
          <p:nvPr/>
        </p:nvSpPr>
        <p:spPr bwMode="auto">
          <a:xfrm>
            <a:off x="644525" y="288925"/>
            <a:ext cx="692150" cy="36512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defRPr/>
            </a:pPr>
            <a:fld id="{78AD0FD4-4668-41C1-A83B-05C4DE29A637}" type="slidenum">
              <a:rPr lang="zh-CN" altLang="en-US" smtClean="0">
                <a:solidFill>
                  <a:schemeClr val="bg1"/>
                </a:solidFill>
                <a:sym typeface="Calibri" panose="020F0502020204030204" pitchFamily="34" charset="0"/>
              </a:rPr>
              <a:pPr>
                <a:buFont typeface="Arial" panose="020B0604020202020204" pitchFamily="34" charset="0"/>
                <a:buNone/>
                <a:defRPr/>
              </a:pPr>
              <a:t>‹#›</a:t>
            </a:fld>
            <a:endParaRPr lang="en-US" altLang="zh-CN">
              <a:solidFill>
                <a:schemeClr val="bg1"/>
              </a:solidFill>
              <a:sym typeface="Calibri" panose="020F0502020204030204" pitchFamily="34" charset="0"/>
            </a:endParaRPr>
          </a:p>
        </p:txBody>
      </p:sp>
      <p:sp>
        <p:nvSpPr>
          <p:cNvPr id="1030" name="燕尾形 1">
            <a:extLst>
              <a:ext uri="{FF2B5EF4-FFF2-40B4-BE49-F238E27FC236}">
                <a16:creationId xmlns:a16="http://schemas.microsoft.com/office/drawing/2014/main" id="{1C5644C8-1503-3E5E-E1D6-3D4DB863B3EC}"/>
              </a:ext>
            </a:extLst>
          </p:cNvPr>
          <p:cNvSpPr>
            <a:spLocks noChangeArrowheads="1"/>
          </p:cNvSpPr>
          <p:nvPr/>
        </p:nvSpPr>
        <p:spPr bwMode="auto">
          <a:xfrm>
            <a:off x="11779250" y="692150"/>
            <a:ext cx="215900" cy="431800"/>
          </a:xfrm>
          <a:prstGeom prst="chevron">
            <a:avLst>
              <a:gd name="adj" fmla="val 50000"/>
            </a:avLst>
          </a:prstGeom>
          <a:solidFill>
            <a:srgbClr val="CD1F06"/>
          </a:solidFill>
          <a:ln>
            <a:noFill/>
          </a:ln>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a:buFont typeface="Arial" charset="0"/>
              <a:buNone/>
              <a:defRPr/>
            </a:pPr>
            <a:endParaRPr lang="zh-CN" altLang="en-US">
              <a:solidFill>
                <a:srgbClr val="FFFFFF"/>
              </a:solidFill>
              <a:latin typeface="宋体" pitchFamily="2" charset="-122"/>
              <a:sym typeface="宋体" pitchFamily="2" charset="-122"/>
            </a:endParaRPr>
          </a:p>
        </p:txBody>
      </p:sp>
      <p:sp>
        <p:nvSpPr>
          <p:cNvPr id="1031" name="燕尾形 9">
            <a:extLst>
              <a:ext uri="{FF2B5EF4-FFF2-40B4-BE49-F238E27FC236}">
                <a16:creationId xmlns:a16="http://schemas.microsoft.com/office/drawing/2014/main" id="{4A95752F-BE5D-6543-70A0-6E47CDF9F84F}"/>
              </a:ext>
            </a:extLst>
          </p:cNvPr>
          <p:cNvSpPr>
            <a:spLocks noChangeArrowheads="1"/>
          </p:cNvSpPr>
          <p:nvPr/>
        </p:nvSpPr>
        <p:spPr bwMode="auto">
          <a:xfrm>
            <a:off x="11931650" y="692150"/>
            <a:ext cx="215900" cy="431800"/>
          </a:xfrm>
          <a:prstGeom prst="chevron">
            <a:avLst>
              <a:gd name="adj" fmla="val 50000"/>
            </a:avLst>
          </a:prstGeom>
          <a:solidFill>
            <a:srgbClr val="CD1F06"/>
          </a:solidFill>
          <a:ln>
            <a:noFill/>
          </a:ln>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a:buFont typeface="Arial" charset="0"/>
              <a:buNone/>
              <a:defRPr/>
            </a:pPr>
            <a:endParaRPr lang="zh-CN" altLang="en-US">
              <a:solidFill>
                <a:srgbClr val="FFFFFF"/>
              </a:solidFill>
              <a:latin typeface="宋体" pitchFamily="2" charset="-122"/>
              <a:sym typeface="宋体" pitchFamily="2" charset="-122"/>
            </a:endParaRPr>
          </a:p>
        </p:txBody>
      </p:sp>
    </p:spTree>
  </p:cSld>
  <p:clrMap bg1="lt1" tx1="dk1" bg2="lt2" tx2="dk2" accent1="accent1" accent2="accent2" accent3="accent3" accent4="accent4" accent5="accent5" accent6="accent6" hlink="hlink" folHlink="folHlink"/>
  <p:sldLayoutIdLst>
    <p:sldLayoutId id="2147484227" r:id="rId1"/>
    <p:sldLayoutId id="2147484228" r:id="rId2"/>
    <p:sldLayoutId id="2147484229" r:id="rId3"/>
    <p:sldLayoutId id="2147484230" r:id="rId4"/>
    <p:sldLayoutId id="2147484231" r:id="rId5"/>
    <p:sldLayoutId id="2147484232" r:id="rId6"/>
    <p:sldLayoutId id="2147484233" r:id="rId7"/>
    <p:sldLayoutId id="2147484234" r:id="rId8"/>
    <p:sldLayoutId id="2147484235" r:id="rId9"/>
    <p:sldLayoutId id="2147484236" r:id="rId10"/>
    <p:sldLayoutId id="2147484237" r:id="rId11"/>
    <p:sldLayoutId id="2147484239" r:id="rId12"/>
    <p:sldLayoutId id="2147484238" r:id="rId13"/>
    <p:sldLayoutId id="2147484240" r:id="rId14"/>
  </p:sldLayoutIdLst>
  <p:transition spd="slow"/>
  <p:txStyles>
    <p:titleStyle>
      <a:lvl1pPr marL="914400" indent="-914400" algn="ctr" defTabSz="0"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2pPr>
      <a:lvl3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3pPr>
      <a:lvl4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4pPr>
      <a:lvl5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5pPr>
      <a:lvl6pPr marL="13716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6pPr>
      <a:lvl7pPr marL="18288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7pPr>
      <a:lvl8pPr marL="22860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8pPr>
      <a:lvl9pPr marL="27432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Calibri" panose="020F050202020403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Calibri" panose="020F050202020403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2.png"/><Relationship Id="rId2"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2.png"/><Relationship Id="rId2"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fengmian">
            <a:extLst>
              <a:ext uri="{FF2B5EF4-FFF2-40B4-BE49-F238E27FC236}">
                <a16:creationId xmlns:a16="http://schemas.microsoft.com/office/drawing/2014/main" id="{F4AB9E1C-4320-0F12-7B69-D1EC6AD5FC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 y="0"/>
            <a:ext cx="12230100" cy="687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TextBox 5">
            <a:extLst>
              <a:ext uri="{FF2B5EF4-FFF2-40B4-BE49-F238E27FC236}">
                <a16:creationId xmlns:a16="http://schemas.microsoft.com/office/drawing/2014/main" id="{26826EFD-8E09-2D7D-DAA9-6E139DD93F3C}"/>
              </a:ext>
            </a:extLst>
          </p:cNvPr>
          <p:cNvSpPr>
            <a:spLocks noChangeArrowheads="1"/>
          </p:cNvSpPr>
          <p:nvPr/>
        </p:nvSpPr>
        <p:spPr bwMode="auto">
          <a:xfrm>
            <a:off x="1822450" y="1860550"/>
            <a:ext cx="7218363"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20000"/>
              </a:lnSpc>
            </a:pPr>
            <a:r>
              <a:rPr lang="en-US" altLang="zh-CN" sz="5400" b="1">
                <a:solidFill>
                  <a:srgbClr val="002060"/>
                </a:solidFill>
                <a:latin typeface="宋体" panose="02010600030101010101" pitchFamily="2" charset="-122"/>
                <a:cs typeface="Aharoni" panose="02010803020104030203" pitchFamily="2" charset="-79"/>
              </a:rPr>
              <a:t>《</a:t>
            </a:r>
            <a:r>
              <a:rPr lang="zh-CN" altLang="en-US" sz="5400" b="1">
                <a:solidFill>
                  <a:srgbClr val="002060"/>
                </a:solidFill>
                <a:latin typeface="华文行楷" panose="02010800040101010101" pitchFamily="2" charset="-122"/>
                <a:ea typeface="华文行楷" panose="02010800040101010101" pitchFamily="2" charset="-122"/>
                <a:cs typeface="Aharoni" panose="02010803020104030203" pitchFamily="2" charset="-79"/>
              </a:rPr>
              <a:t>数据库原理及应用</a:t>
            </a:r>
            <a:r>
              <a:rPr lang="en-US" altLang="zh-CN" sz="5400" b="1">
                <a:solidFill>
                  <a:srgbClr val="002060"/>
                </a:solidFill>
                <a:latin typeface="宋体" panose="02010600030101010101" pitchFamily="2" charset="-122"/>
                <a:cs typeface="Aharoni" panose="02010803020104030203" pitchFamily="2" charset="-79"/>
              </a:rPr>
              <a:t>》</a:t>
            </a:r>
            <a:endParaRPr lang="zh-CN" altLang="zh-CN" sz="5400" b="1">
              <a:solidFill>
                <a:srgbClr val="002060"/>
              </a:solidFill>
              <a:latin typeface="宋体" panose="02010600030101010101" pitchFamily="2" charset="-122"/>
              <a:cs typeface="Aharoni" panose="02010803020104030203" pitchFamily="2" charset="-79"/>
            </a:endParaRPr>
          </a:p>
        </p:txBody>
      </p:sp>
      <p:sp>
        <p:nvSpPr>
          <p:cNvPr id="6148" name="TextBox 5">
            <a:extLst>
              <a:ext uri="{FF2B5EF4-FFF2-40B4-BE49-F238E27FC236}">
                <a16:creationId xmlns:a16="http://schemas.microsoft.com/office/drawing/2014/main" id="{AD6455FB-E6F5-9CB3-0D53-2BF65147B017}"/>
              </a:ext>
            </a:extLst>
          </p:cNvPr>
          <p:cNvSpPr>
            <a:spLocks noChangeArrowheads="1"/>
          </p:cNvSpPr>
          <p:nvPr/>
        </p:nvSpPr>
        <p:spPr bwMode="auto">
          <a:xfrm>
            <a:off x="1471613" y="4076700"/>
            <a:ext cx="7920037"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0000"/>
              </a:lnSpc>
            </a:pPr>
            <a:r>
              <a:rPr lang="zh-CN" altLang="en-US" sz="3200" b="1">
                <a:solidFill>
                  <a:srgbClr val="002060"/>
                </a:solidFill>
                <a:latin typeface="宋体" panose="02010600030101010101" pitchFamily="2" charset="-122"/>
                <a:cs typeface="Aharoni" panose="02010803020104030203" pitchFamily="2" charset="-79"/>
              </a:rPr>
              <a:t>数据库虚拟教研室 制作</a:t>
            </a:r>
            <a:endParaRPr lang="zh-CN" altLang="zh-CN" sz="3200" b="1">
              <a:solidFill>
                <a:srgbClr val="002060"/>
              </a:solidFill>
              <a:latin typeface="宋体" panose="02010600030101010101" pitchFamily="2" charset="-122"/>
              <a:cs typeface="Aharoni" panose="02010803020104030203" pitchFamily="2" charset="-79"/>
            </a:endParaRPr>
          </a:p>
        </p:txBody>
      </p:sp>
      <p:sp>
        <p:nvSpPr>
          <p:cNvPr id="10" name="矩形 9">
            <a:extLst>
              <a:ext uri="{FF2B5EF4-FFF2-40B4-BE49-F238E27FC236}">
                <a16:creationId xmlns:a16="http://schemas.microsoft.com/office/drawing/2014/main" id="{C443B5A4-875A-0125-946B-2A199936808B}"/>
              </a:ext>
            </a:extLst>
          </p:cNvPr>
          <p:cNvSpPr/>
          <p:nvPr/>
        </p:nvSpPr>
        <p:spPr>
          <a:xfrm>
            <a:off x="1130830" y="46256"/>
            <a:ext cx="2484000" cy="707886"/>
          </a:xfrm>
          <a:prstGeom prst="rect">
            <a:avLst/>
          </a:prstGeom>
          <a:noFill/>
        </p:spPr>
        <p:txBody>
          <a:bodyPr>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buFont typeface="Arial" charset="0"/>
              <a:buNone/>
              <a:defRPr/>
            </a:pPr>
            <a:r>
              <a:rPr lang="zh-CN" altLang="en-US" sz="4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隶书" panose="02010509060101010101" pitchFamily="49" charset="-122"/>
                <a:ea typeface="隶书" panose="02010509060101010101" pitchFamily="49" charset="-122"/>
              </a:rPr>
              <a:t>数据库</a:t>
            </a:r>
          </a:p>
        </p:txBody>
      </p:sp>
    </p:spTree>
  </p:cSld>
  <p:clrMapOvr>
    <a:masterClrMapping/>
  </p:clrMapOvr>
  <p:transition spd="slow">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6">
            <a:extLst>
              <a:ext uri="{FF2B5EF4-FFF2-40B4-BE49-F238E27FC236}">
                <a16:creationId xmlns:a16="http://schemas.microsoft.com/office/drawing/2014/main" id="{1B1C1BA5-0868-2759-E0FA-049B75D2679F}"/>
              </a:ext>
            </a:extLst>
          </p:cNvPr>
          <p:cNvSpPr>
            <a:spLocks noChangeArrowheads="1"/>
          </p:cNvSpPr>
          <p:nvPr/>
        </p:nvSpPr>
        <p:spPr bwMode="auto">
          <a:xfrm>
            <a:off x="-11113" y="1588"/>
            <a:ext cx="3003551" cy="6862762"/>
          </a:xfrm>
          <a:prstGeom prst="rect">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latin typeface="Calibri" panose="020F0502020204030204" pitchFamily="34" charset="0"/>
              <a:sym typeface="Calibri" panose="020F0502020204030204" pitchFamily="34" charset="0"/>
            </a:endParaRPr>
          </a:p>
        </p:txBody>
      </p:sp>
      <p:sp>
        <p:nvSpPr>
          <p:cNvPr id="4099" name="文本框 52">
            <a:extLst>
              <a:ext uri="{FF2B5EF4-FFF2-40B4-BE49-F238E27FC236}">
                <a16:creationId xmlns:a16="http://schemas.microsoft.com/office/drawing/2014/main" id="{3C049D92-3F25-4745-3F35-D56A9670E99B}"/>
              </a:ext>
            </a:extLst>
          </p:cNvPr>
          <p:cNvSpPr>
            <a:spLocks noChangeArrowheads="1"/>
          </p:cNvSpPr>
          <p:nvPr/>
        </p:nvSpPr>
        <p:spPr bwMode="auto">
          <a:xfrm>
            <a:off x="301625" y="1408113"/>
            <a:ext cx="2376488" cy="3786187"/>
          </a:xfrm>
          <a:prstGeom prst="rect">
            <a:avLst/>
          </a:prstGeom>
          <a:noFill/>
          <a:ln>
            <a:noFill/>
          </a:ln>
        </p:spPr>
        <p:txBody>
          <a:bodyPr>
            <a:spAutoFit/>
          </a:bodyPr>
          <a:lstStyle/>
          <a:p>
            <a:pPr algn="ctr">
              <a:buFont typeface="Arial" charset="0"/>
              <a:buNone/>
              <a:defRPr/>
            </a:pPr>
            <a:r>
              <a:rPr lang="zh-CN" altLang="en-US" sz="4000" b="1" dirty="0">
                <a:solidFill>
                  <a:schemeClr val="bg1"/>
                </a:solidFill>
                <a:latin typeface="+mn-ea"/>
                <a:ea typeface="+mn-ea"/>
              </a:rPr>
              <a:t>目</a:t>
            </a:r>
            <a:endParaRPr lang="en-US" altLang="zh-CN" sz="4000" b="1" dirty="0">
              <a:solidFill>
                <a:schemeClr val="bg1"/>
              </a:solidFill>
              <a:latin typeface="+mn-ea"/>
              <a:ea typeface="+mn-ea"/>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r>
              <a:rPr lang="zh-CN" altLang="en-US" sz="4000" b="1" dirty="0">
                <a:solidFill>
                  <a:schemeClr val="bg1"/>
                </a:solidFill>
                <a:latin typeface="+mn-ea"/>
                <a:ea typeface="+mn-ea"/>
              </a:rPr>
              <a:t>录</a:t>
            </a:r>
          </a:p>
        </p:txBody>
      </p:sp>
      <p:sp>
        <p:nvSpPr>
          <p:cNvPr id="8196" name="TextBox 10">
            <a:extLst>
              <a:ext uri="{FF2B5EF4-FFF2-40B4-BE49-F238E27FC236}">
                <a16:creationId xmlns:a16="http://schemas.microsoft.com/office/drawing/2014/main" id="{0223C5DC-16E6-3010-F318-086F71AA04D2}"/>
              </a:ext>
            </a:extLst>
          </p:cNvPr>
          <p:cNvSpPr>
            <a:spLocks noChangeArrowheads="1"/>
          </p:cNvSpPr>
          <p:nvPr/>
        </p:nvSpPr>
        <p:spPr bwMode="auto">
          <a:xfrm>
            <a:off x="4022725" y="1468438"/>
            <a:ext cx="6696075" cy="471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marL="742950" indent="-74295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50000"/>
              </a:lnSpc>
              <a:buFont typeface="Arial" panose="020B0604020202020204" pitchFamily="34" charset="0"/>
              <a:buAutoNum type="arabicPlain"/>
            </a:pPr>
            <a:r>
              <a:rPr lang="zh-CN" altLang="en-US" sz="3600" b="1">
                <a:solidFill>
                  <a:srgbClr val="002060"/>
                </a:solidFill>
                <a:latin typeface="宋体" panose="02010600030101010101" pitchFamily="2" charset="-122"/>
                <a:sym typeface="Impact" panose="020B0806030902050204" pitchFamily="34" charset="0"/>
              </a:rPr>
              <a:t>数据建模</a:t>
            </a:r>
            <a:endParaRPr lang="en-US" altLang="zh-CN" sz="3600" b="1">
              <a:solidFill>
                <a:srgbClr val="002060"/>
              </a:solidFill>
              <a:latin typeface="宋体" panose="02010600030101010101" pitchFamily="2" charset="-122"/>
              <a:sym typeface="Impact" panose="020B0806030902050204" pitchFamily="34" charset="0"/>
            </a:endParaRPr>
          </a:p>
          <a:p>
            <a:pPr>
              <a:lnSpc>
                <a:spcPct val="150000"/>
              </a:lnSpc>
              <a:buFont typeface="Arial" panose="020B0604020202020204" pitchFamily="34" charset="0"/>
              <a:buAutoNum type="arabicPlain"/>
            </a:pPr>
            <a:r>
              <a:rPr lang="zh-CN" altLang="en-US" sz="3600" b="1">
                <a:solidFill>
                  <a:srgbClr val="002060"/>
                </a:solidFill>
                <a:latin typeface="宋体" panose="02010600030101010101" pitchFamily="2" charset="-122"/>
                <a:sym typeface="Impact" panose="020B0806030902050204" pitchFamily="34" charset="0"/>
              </a:rPr>
              <a:t>需求分析</a:t>
            </a:r>
            <a:endParaRPr lang="en-US" altLang="zh-CN" sz="3600" b="1">
              <a:solidFill>
                <a:srgbClr val="002060"/>
              </a:solidFill>
              <a:latin typeface="宋体" panose="02010600030101010101" pitchFamily="2" charset="-122"/>
              <a:sym typeface="Impact" panose="020B0806030902050204" pitchFamily="34" charset="0"/>
            </a:endParaRPr>
          </a:p>
          <a:p>
            <a:pPr>
              <a:lnSpc>
                <a:spcPct val="150000"/>
              </a:lnSpc>
              <a:buFont typeface="Arial" panose="020B0604020202020204" pitchFamily="34" charset="0"/>
              <a:buAutoNum type="arabicPlain"/>
            </a:pPr>
            <a:r>
              <a:rPr lang="zh-CN" altLang="en-US" sz="3600" b="1">
                <a:solidFill>
                  <a:srgbClr val="002060"/>
                </a:solidFill>
                <a:latin typeface="宋体" panose="02010600030101010101" pitchFamily="2" charset="-122"/>
                <a:sym typeface="Impact" panose="020B0806030902050204" pitchFamily="34" charset="0"/>
              </a:rPr>
              <a:t>概念结构设计</a:t>
            </a:r>
            <a:endParaRPr lang="en-US" altLang="zh-CN" sz="3600" b="1">
              <a:solidFill>
                <a:srgbClr val="002060"/>
              </a:solidFill>
              <a:latin typeface="宋体" panose="02010600030101010101" pitchFamily="2" charset="-122"/>
              <a:sym typeface="Impact" panose="020B0806030902050204" pitchFamily="34" charset="0"/>
            </a:endParaRPr>
          </a:p>
          <a:p>
            <a:pPr>
              <a:lnSpc>
                <a:spcPct val="150000"/>
              </a:lnSpc>
              <a:buFont typeface="Arial" panose="020B0604020202020204" pitchFamily="34" charset="0"/>
              <a:buAutoNum type="arabicPlain"/>
            </a:pPr>
            <a:r>
              <a:rPr lang="zh-CN" altLang="en-US" sz="3600" b="1">
                <a:solidFill>
                  <a:srgbClr val="002060"/>
                </a:solidFill>
                <a:latin typeface="宋体" panose="02010600030101010101" pitchFamily="2" charset="-122"/>
                <a:sym typeface="Impact" panose="020B0806030902050204" pitchFamily="34" charset="0"/>
              </a:rPr>
              <a:t>逻辑结构设计</a:t>
            </a:r>
            <a:endParaRPr lang="en-US" altLang="zh-CN" sz="3600" b="1">
              <a:solidFill>
                <a:srgbClr val="002060"/>
              </a:solidFill>
              <a:latin typeface="宋体" panose="02010600030101010101" pitchFamily="2" charset="-122"/>
              <a:sym typeface="Impact" panose="020B0806030902050204" pitchFamily="34" charset="0"/>
            </a:endParaRPr>
          </a:p>
          <a:p>
            <a:pPr>
              <a:lnSpc>
                <a:spcPct val="150000"/>
              </a:lnSpc>
              <a:buFont typeface="Arial" panose="020B0604020202020204" pitchFamily="34" charset="0"/>
              <a:buAutoNum type="arabicPlain"/>
            </a:pPr>
            <a:r>
              <a:rPr lang="zh-CN" altLang="en-US" sz="3600" b="1">
                <a:solidFill>
                  <a:srgbClr val="002060"/>
                </a:solidFill>
                <a:latin typeface="宋体" panose="02010600030101010101" pitchFamily="2" charset="-122"/>
                <a:sym typeface="Impact" panose="020B0806030902050204" pitchFamily="34" charset="0"/>
              </a:rPr>
              <a:t>物理结构设计</a:t>
            </a:r>
            <a:endParaRPr lang="zh-CN" altLang="en-US" sz="3600" b="1">
              <a:solidFill>
                <a:srgbClr val="002060"/>
              </a:solidFill>
              <a:latin typeface="宋体" panose="02010600030101010101" pitchFamily="2" charset="-122"/>
            </a:endParaRPr>
          </a:p>
          <a:p>
            <a:pPr>
              <a:buFont typeface="Arial" panose="020B0604020202020204" pitchFamily="34" charset="0"/>
              <a:buAutoNum type="arabicPlain"/>
            </a:pPr>
            <a:endParaRPr lang="zh-CN" altLang="en-US" sz="3600" b="1">
              <a:latin typeface="宋体" panose="02010600030101010101" pitchFamily="2" charset="-122"/>
            </a:endParaRPr>
          </a:p>
        </p:txBody>
      </p:sp>
      <p:sp>
        <p:nvSpPr>
          <p:cNvPr id="8" name="TextBox 6">
            <a:extLst>
              <a:ext uri="{FF2B5EF4-FFF2-40B4-BE49-F238E27FC236}">
                <a16:creationId xmlns:a16="http://schemas.microsoft.com/office/drawing/2014/main" id="{D5F31F00-7570-9DAE-FBF9-D8063918A087}"/>
              </a:ext>
            </a:extLst>
          </p:cNvPr>
          <p:cNvSpPr>
            <a:spLocks noChangeArrowheads="1"/>
          </p:cNvSpPr>
          <p:nvPr/>
        </p:nvSpPr>
        <p:spPr bwMode="auto">
          <a:xfrm>
            <a:off x="2992438" y="115888"/>
            <a:ext cx="4392612"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第九讲 数据库设计</a:t>
            </a:r>
            <a:endParaRPr lang="zh-CN" altLang="en-US" sz="4000" b="1" dirty="0">
              <a:solidFill>
                <a:schemeClr val="bg1"/>
              </a:solidFill>
              <a:latin typeface="+mn-ea"/>
              <a:ea typeface="+mn-ea"/>
            </a:endParaRPr>
          </a:p>
        </p:txBody>
      </p:sp>
    </p:spTree>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DEA04741-85EF-E5E3-7DB9-0191E960312D}"/>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数据建模概念</a:t>
            </a:r>
          </a:p>
        </p:txBody>
      </p:sp>
      <p:grpSp>
        <p:nvGrpSpPr>
          <p:cNvPr id="9219" name="组合 16">
            <a:extLst>
              <a:ext uri="{FF2B5EF4-FFF2-40B4-BE49-F238E27FC236}">
                <a16:creationId xmlns:a16="http://schemas.microsoft.com/office/drawing/2014/main" id="{898E4E26-4E51-9FC4-04D6-9E138B857806}"/>
              </a:ext>
            </a:extLst>
          </p:cNvPr>
          <p:cNvGrpSpPr>
            <a:grpSpLocks/>
          </p:cNvGrpSpPr>
          <p:nvPr/>
        </p:nvGrpSpPr>
        <p:grpSpPr bwMode="auto">
          <a:xfrm>
            <a:off x="754063" y="3340100"/>
            <a:ext cx="10712450" cy="2470150"/>
            <a:chOff x="699636" y="2379954"/>
            <a:chExt cx="10712450" cy="2470278"/>
          </a:xfrm>
        </p:grpSpPr>
        <p:pic>
          <p:nvPicPr>
            <p:cNvPr id="9222" name="图片 1">
              <a:extLst>
                <a:ext uri="{FF2B5EF4-FFF2-40B4-BE49-F238E27FC236}">
                  <a16:creationId xmlns:a16="http://schemas.microsoft.com/office/drawing/2014/main" id="{A73C5104-80F4-6B8C-A1BB-891D86DD842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99636" y="2419642"/>
              <a:ext cx="2301875" cy="152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3" name="TextBox 21">
              <a:extLst>
                <a:ext uri="{FF2B5EF4-FFF2-40B4-BE49-F238E27FC236}">
                  <a16:creationId xmlns:a16="http://schemas.microsoft.com/office/drawing/2014/main" id="{D80E82F6-B3FB-9CAE-78CB-4179E3DFF769}"/>
                </a:ext>
              </a:extLst>
            </p:cNvPr>
            <p:cNvSpPr txBox="1">
              <a:spLocks noChangeArrowheads="1"/>
            </p:cNvSpPr>
            <p:nvPr/>
          </p:nvSpPr>
          <p:spPr bwMode="auto">
            <a:xfrm>
              <a:off x="2639334" y="2668034"/>
              <a:ext cx="1397000" cy="338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1600" b="1"/>
                <a:t>一级抽象 </a:t>
              </a:r>
            </a:p>
          </p:txBody>
        </p:sp>
        <p:sp>
          <p:nvSpPr>
            <p:cNvPr id="9224" name="右箭头 3">
              <a:extLst>
                <a:ext uri="{FF2B5EF4-FFF2-40B4-BE49-F238E27FC236}">
                  <a16:creationId xmlns:a16="http://schemas.microsoft.com/office/drawing/2014/main" id="{4855D95E-E507-6251-FA15-2A924447A029}"/>
                </a:ext>
              </a:extLst>
            </p:cNvPr>
            <p:cNvSpPr>
              <a:spLocks noChangeArrowheads="1"/>
            </p:cNvSpPr>
            <p:nvPr/>
          </p:nvSpPr>
          <p:spPr bwMode="auto">
            <a:xfrm>
              <a:off x="2710260" y="3200690"/>
              <a:ext cx="917575" cy="179387"/>
            </a:xfrm>
            <a:prstGeom prst="rightArrow">
              <a:avLst>
                <a:gd name="adj1" fmla="val 50000"/>
                <a:gd name="adj2" fmla="val 50203"/>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pic>
          <p:nvPicPr>
            <p:cNvPr id="9225" name="Picture 14">
              <a:extLst>
                <a:ext uri="{FF2B5EF4-FFF2-40B4-BE49-F238E27FC236}">
                  <a16:creationId xmlns:a16="http://schemas.microsoft.com/office/drawing/2014/main" id="{B322F0B1-0568-2327-FA7E-AF0349F9B6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9136" y="2379954"/>
              <a:ext cx="3282950" cy="160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26" name="右箭头 3">
              <a:extLst>
                <a:ext uri="{FF2B5EF4-FFF2-40B4-BE49-F238E27FC236}">
                  <a16:creationId xmlns:a16="http://schemas.microsoft.com/office/drawing/2014/main" id="{B2095EF8-8875-479C-CF74-E4ADE4378BDA}"/>
                </a:ext>
              </a:extLst>
            </p:cNvPr>
            <p:cNvSpPr>
              <a:spLocks noChangeArrowheads="1"/>
            </p:cNvSpPr>
            <p:nvPr/>
          </p:nvSpPr>
          <p:spPr bwMode="auto">
            <a:xfrm>
              <a:off x="7004960" y="3160580"/>
              <a:ext cx="917575" cy="179387"/>
            </a:xfrm>
            <a:prstGeom prst="rightArrow">
              <a:avLst>
                <a:gd name="adj1" fmla="val 50000"/>
                <a:gd name="adj2" fmla="val 50203"/>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9227" name="TextBox 27">
              <a:extLst>
                <a:ext uri="{FF2B5EF4-FFF2-40B4-BE49-F238E27FC236}">
                  <a16:creationId xmlns:a16="http://schemas.microsoft.com/office/drawing/2014/main" id="{A48E199F-4B7D-036C-7ECE-8EC0E4F0493A}"/>
                </a:ext>
              </a:extLst>
            </p:cNvPr>
            <p:cNvSpPr txBox="1">
              <a:spLocks noChangeArrowheads="1"/>
            </p:cNvSpPr>
            <p:nvPr/>
          </p:nvSpPr>
          <p:spPr bwMode="auto">
            <a:xfrm>
              <a:off x="6821036" y="2667974"/>
              <a:ext cx="1397000" cy="338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1600" b="1"/>
                <a:t>二级抽象 </a:t>
              </a:r>
            </a:p>
          </p:txBody>
        </p:sp>
        <p:sp>
          <p:nvSpPr>
            <p:cNvPr id="9228" name="TextBox 28">
              <a:extLst>
                <a:ext uri="{FF2B5EF4-FFF2-40B4-BE49-F238E27FC236}">
                  <a16:creationId xmlns:a16="http://schemas.microsoft.com/office/drawing/2014/main" id="{2BB16792-9043-2117-4A7A-327E2F70B704}"/>
                </a:ext>
              </a:extLst>
            </p:cNvPr>
            <p:cNvSpPr txBox="1">
              <a:spLocks noChangeArrowheads="1"/>
            </p:cNvSpPr>
            <p:nvPr/>
          </p:nvSpPr>
          <p:spPr bwMode="auto">
            <a:xfrm>
              <a:off x="933643" y="3948404"/>
              <a:ext cx="1397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2000" b="1">
                  <a:solidFill>
                    <a:srgbClr val="002060"/>
                  </a:solidFill>
                </a:rPr>
                <a:t>实体</a:t>
              </a:r>
            </a:p>
          </p:txBody>
        </p:sp>
        <p:sp>
          <p:nvSpPr>
            <p:cNvPr id="9229" name="TextBox 29">
              <a:extLst>
                <a:ext uri="{FF2B5EF4-FFF2-40B4-BE49-F238E27FC236}">
                  <a16:creationId xmlns:a16="http://schemas.microsoft.com/office/drawing/2014/main" id="{05659C9E-9898-A1B3-7995-F6ACA8A4958B}"/>
                </a:ext>
              </a:extLst>
            </p:cNvPr>
            <p:cNvSpPr txBox="1">
              <a:spLocks noChangeArrowheads="1"/>
            </p:cNvSpPr>
            <p:nvPr/>
          </p:nvSpPr>
          <p:spPr bwMode="auto">
            <a:xfrm>
              <a:off x="4754111" y="3986504"/>
              <a:ext cx="1397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000" b="1">
                  <a:solidFill>
                    <a:srgbClr val="002060"/>
                  </a:solidFill>
                </a:rPr>
                <a:t>概念模型</a:t>
              </a:r>
            </a:p>
          </p:txBody>
        </p:sp>
        <p:sp>
          <p:nvSpPr>
            <p:cNvPr id="9230" name="TextBox 30">
              <a:extLst>
                <a:ext uri="{FF2B5EF4-FFF2-40B4-BE49-F238E27FC236}">
                  <a16:creationId xmlns:a16="http://schemas.microsoft.com/office/drawing/2014/main" id="{DFFD613B-2EEA-72B4-4CE8-51B57E6D5063}"/>
                </a:ext>
              </a:extLst>
            </p:cNvPr>
            <p:cNvSpPr txBox="1">
              <a:spLocks noChangeArrowheads="1"/>
            </p:cNvSpPr>
            <p:nvPr/>
          </p:nvSpPr>
          <p:spPr bwMode="auto">
            <a:xfrm>
              <a:off x="9116561" y="3986504"/>
              <a:ext cx="1397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000" b="1">
                  <a:solidFill>
                    <a:srgbClr val="002060"/>
                  </a:solidFill>
                </a:rPr>
                <a:t>关系模型</a:t>
              </a:r>
            </a:p>
          </p:txBody>
        </p:sp>
        <p:sp>
          <p:nvSpPr>
            <p:cNvPr id="9231" name="矩形 1">
              <a:extLst>
                <a:ext uri="{FF2B5EF4-FFF2-40B4-BE49-F238E27FC236}">
                  <a16:creationId xmlns:a16="http://schemas.microsoft.com/office/drawing/2014/main" id="{4C2F8050-5A2F-02AD-AB90-54B411910762}"/>
                </a:ext>
              </a:extLst>
            </p:cNvPr>
            <p:cNvSpPr>
              <a:spLocks noChangeArrowheads="1"/>
            </p:cNvSpPr>
            <p:nvPr/>
          </p:nvSpPr>
          <p:spPr bwMode="auto">
            <a:xfrm>
              <a:off x="3789109" y="3039056"/>
              <a:ext cx="668139" cy="52789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b="1">
                  <a:latin typeface="微软雅黑" panose="020B0503020204020204" pitchFamily="34" charset="-122"/>
                  <a:ea typeface="微软雅黑" panose="020B0503020204020204" pitchFamily="34" charset="-122"/>
                </a:rPr>
                <a:t>学生</a:t>
              </a:r>
            </a:p>
          </p:txBody>
        </p:sp>
        <p:sp>
          <p:nvSpPr>
            <p:cNvPr id="9232" name="矩形 31">
              <a:extLst>
                <a:ext uri="{FF2B5EF4-FFF2-40B4-BE49-F238E27FC236}">
                  <a16:creationId xmlns:a16="http://schemas.microsoft.com/office/drawing/2014/main" id="{70BC70FF-BE87-A38A-70A3-2880108A6D1D}"/>
                </a:ext>
              </a:extLst>
            </p:cNvPr>
            <p:cNvSpPr>
              <a:spLocks noChangeArrowheads="1"/>
            </p:cNvSpPr>
            <p:nvPr/>
          </p:nvSpPr>
          <p:spPr bwMode="auto">
            <a:xfrm>
              <a:off x="6246361" y="3038002"/>
              <a:ext cx="663575" cy="52789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b="1">
                  <a:latin typeface="微软雅黑" panose="020B0503020204020204" pitchFamily="34" charset="-122"/>
                  <a:ea typeface="微软雅黑" panose="020B0503020204020204" pitchFamily="34" charset="-122"/>
                </a:rPr>
                <a:t>课程</a:t>
              </a:r>
            </a:p>
          </p:txBody>
        </p:sp>
        <p:sp>
          <p:nvSpPr>
            <p:cNvPr id="9233" name="菱形 2">
              <a:extLst>
                <a:ext uri="{FF2B5EF4-FFF2-40B4-BE49-F238E27FC236}">
                  <a16:creationId xmlns:a16="http://schemas.microsoft.com/office/drawing/2014/main" id="{1259F6D4-1F76-E24F-B97F-14A69238535D}"/>
                </a:ext>
              </a:extLst>
            </p:cNvPr>
            <p:cNvSpPr>
              <a:spLocks noChangeArrowheads="1"/>
            </p:cNvSpPr>
            <p:nvPr/>
          </p:nvSpPr>
          <p:spPr bwMode="auto">
            <a:xfrm>
              <a:off x="4866367" y="2994802"/>
              <a:ext cx="1107626" cy="623881"/>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1600" b="1">
                  <a:latin typeface="微软雅黑" panose="020B0503020204020204" pitchFamily="34" charset="-122"/>
                  <a:ea typeface="微软雅黑" panose="020B0503020204020204" pitchFamily="34" charset="-122"/>
                </a:rPr>
                <a:t>学习</a:t>
              </a:r>
            </a:p>
          </p:txBody>
        </p:sp>
        <p:cxnSp>
          <p:nvCxnSpPr>
            <p:cNvPr id="9234" name="直接连接符 9">
              <a:extLst>
                <a:ext uri="{FF2B5EF4-FFF2-40B4-BE49-F238E27FC236}">
                  <a16:creationId xmlns:a16="http://schemas.microsoft.com/office/drawing/2014/main" id="{715039A2-FB3C-2834-BBFA-6DEBF9EED143}"/>
                </a:ext>
              </a:extLst>
            </p:cNvPr>
            <p:cNvCxnSpPr>
              <a:cxnSpLocks noChangeShapeType="1"/>
              <a:stCxn id="9231" idx="3"/>
              <a:endCxn id="9233" idx="1"/>
            </p:cNvCxnSpPr>
            <p:nvPr/>
          </p:nvCxnSpPr>
          <p:spPr bwMode="auto">
            <a:xfrm>
              <a:off x="4457248" y="3303004"/>
              <a:ext cx="409119" cy="3739"/>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35" name="直接连接符 12">
              <a:extLst>
                <a:ext uri="{FF2B5EF4-FFF2-40B4-BE49-F238E27FC236}">
                  <a16:creationId xmlns:a16="http://schemas.microsoft.com/office/drawing/2014/main" id="{A0E11E44-C21A-1D62-438D-F3AE2BFEDD9B}"/>
                </a:ext>
              </a:extLst>
            </p:cNvPr>
            <p:cNvCxnSpPr>
              <a:cxnSpLocks noChangeShapeType="1"/>
              <a:stCxn id="9233" idx="3"/>
              <a:endCxn id="9232" idx="1"/>
            </p:cNvCxnSpPr>
            <p:nvPr/>
          </p:nvCxnSpPr>
          <p:spPr bwMode="auto">
            <a:xfrm flipV="1">
              <a:off x="5973993" y="3301950"/>
              <a:ext cx="272368" cy="4793"/>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36" name="TextBox 34">
              <a:extLst>
                <a:ext uri="{FF2B5EF4-FFF2-40B4-BE49-F238E27FC236}">
                  <a16:creationId xmlns:a16="http://schemas.microsoft.com/office/drawing/2014/main" id="{73D7F4FA-C0BB-BF66-69F5-90DE31CA63DC}"/>
                </a:ext>
              </a:extLst>
            </p:cNvPr>
            <p:cNvSpPr txBox="1">
              <a:spLocks noChangeArrowheads="1"/>
            </p:cNvSpPr>
            <p:nvPr/>
          </p:nvSpPr>
          <p:spPr bwMode="auto">
            <a:xfrm>
              <a:off x="4537077" y="2814701"/>
              <a:ext cx="43406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000" b="1"/>
                <a:t>m</a:t>
              </a:r>
              <a:endParaRPr lang="zh-CN" altLang="en-US" sz="2000" b="1"/>
            </a:p>
          </p:txBody>
        </p:sp>
        <p:sp>
          <p:nvSpPr>
            <p:cNvPr id="9237" name="TextBox 35">
              <a:extLst>
                <a:ext uri="{FF2B5EF4-FFF2-40B4-BE49-F238E27FC236}">
                  <a16:creationId xmlns:a16="http://schemas.microsoft.com/office/drawing/2014/main" id="{85E1C223-EA24-61B0-3EE0-E49EC5EA8C5E}"/>
                </a:ext>
              </a:extLst>
            </p:cNvPr>
            <p:cNvSpPr txBox="1">
              <a:spLocks noChangeArrowheads="1"/>
            </p:cNvSpPr>
            <p:nvPr/>
          </p:nvSpPr>
          <p:spPr bwMode="auto">
            <a:xfrm>
              <a:off x="5883048" y="2842738"/>
              <a:ext cx="43406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000" b="1"/>
                <a:t>n</a:t>
              </a:r>
              <a:endParaRPr lang="zh-CN" altLang="en-US" sz="2000" b="1"/>
            </a:p>
          </p:txBody>
        </p:sp>
        <p:sp>
          <p:nvSpPr>
            <p:cNvPr id="9238" name="TextBox 37">
              <a:extLst>
                <a:ext uri="{FF2B5EF4-FFF2-40B4-BE49-F238E27FC236}">
                  <a16:creationId xmlns:a16="http://schemas.microsoft.com/office/drawing/2014/main" id="{38D594FA-F4FE-FCC7-C2FB-141FB2E5936A}"/>
                </a:ext>
              </a:extLst>
            </p:cNvPr>
            <p:cNvSpPr txBox="1">
              <a:spLocks noChangeArrowheads="1"/>
            </p:cNvSpPr>
            <p:nvPr/>
          </p:nvSpPr>
          <p:spPr bwMode="auto">
            <a:xfrm>
              <a:off x="933643" y="4337181"/>
              <a:ext cx="1397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000" b="1">
                  <a:solidFill>
                    <a:srgbClr val="C00000"/>
                  </a:solidFill>
                </a:rPr>
                <a:t>现实世界</a:t>
              </a:r>
            </a:p>
          </p:txBody>
        </p:sp>
        <p:sp>
          <p:nvSpPr>
            <p:cNvPr id="9239" name="TextBox 38">
              <a:extLst>
                <a:ext uri="{FF2B5EF4-FFF2-40B4-BE49-F238E27FC236}">
                  <a16:creationId xmlns:a16="http://schemas.microsoft.com/office/drawing/2014/main" id="{7BD7261B-4A1D-03CD-69D6-3114274D895B}"/>
                </a:ext>
              </a:extLst>
            </p:cNvPr>
            <p:cNvSpPr txBox="1">
              <a:spLocks noChangeArrowheads="1"/>
            </p:cNvSpPr>
            <p:nvPr/>
          </p:nvSpPr>
          <p:spPr bwMode="auto">
            <a:xfrm>
              <a:off x="4754111" y="4435608"/>
              <a:ext cx="1397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000" b="1">
                  <a:solidFill>
                    <a:srgbClr val="C00000"/>
                  </a:solidFill>
                </a:rPr>
                <a:t>信息世界</a:t>
              </a:r>
            </a:p>
          </p:txBody>
        </p:sp>
        <p:sp>
          <p:nvSpPr>
            <p:cNvPr id="9240" name="TextBox 39">
              <a:extLst>
                <a:ext uri="{FF2B5EF4-FFF2-40B4-BE49-F238E27FC236}">
                  <a16:creationId xmlns:a16="http://schemas.microsoft.com/office/drawing/2014/main" id="{0181259C-E882-E92E-438F-5C922DDA1DEE}"/>
                </a:ext>
              </a:extLst>
            </p:cNvPr>
            <p:cNvSpPr txBox="1">
              <a:spLocks noChangeArrowheads="1"/>
            </p:cNvSpPr>
            <p:nvPr/>
          </p:nvSpPr>
          <p:spPr bwMode="auto">
            <a:xfrm>
              <a:off x="9089149" y="4450122"/>
              <a:ext cx="17333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000" b="1">
                  <a:solidFill>
                    <a:srgbClr val="C00000"/>
                  </a:solidFill>
                </a:rPr>
                <a:t>计算机世界</a:t>
              </a:r>
            </a:p>
          </p:txBody>
        </p:sp>
      </p:grpSp>
      <p:sp>
        <p:nvSpPr>
          <p:cNvPr id="9220" name="矩形 22">
            <a:extLst>
              <a:ext uri="{FF2B5EF4-FFF2-40B4-BE49-F238E27FC236}">
                <a16:creationId xmlns:a16="http://schemas.microsoft.com/office/drawing/2014/main" id="{748944E5-3EC5-1066-744D-14398B03E227}"/>
              </a:ext>
            </a:extLst>
          </p:cNvPr>
          <p:cNvSpPr>
            <a:spLocks noChangeArrowheads="1"/>
          </p:cNvSpPr>
          <p:nvPr/>
        </p:nvSpPr>
        <p:spPr bwMode="auto">
          <a:xfrm>
            <a:off x="411163" y="1114425"/>
            <a:ext cx="11449050"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nSpc>
                <a:spcPts val="4200"/>
              </a:lnSpc>
              <a:spcBef>
                <a:spcPct val="25000"/>
              </a:spcBef>
              <a:buClr>
                <a:schemeClr val="accent2"/>
              </a:buClr>
            </a:pPr>
            <a:r>
              <a:rPr lang="zh-CN" altLang="en-US" sz="2800" b="1">
                <a:solidFill>
                  <a:srgbClr val="002060"/>
                </a:solidFill>
                <a:latin typeface="Times New Roman" panose="02020603050405020304" pitchFamily="18" charset="0"/>
              </a:rPr>
              <a:t>把现实世界中的对象（实体）特征抽象出来，使用计算机进行描述，这个过程称为</a:t>
            </a:r>
            <a:r>
              <a:rPr lang="zh-CN" altLang="en-US" sz="2800" b="1">
                <a:solidFill>
                  <a:srgbClr val="C00000"/>
                </a:solidFill>
                <a:latin typeface="Times New Roman" panose="02020603050405020304" pitchFamily="18" charset="0"/>
              </a:rPr>
              <a:t>数据建模</a:t>
            </a:r>
            <a:r>
              <a:rPr lang="zh-CN" altLang="en-US" sz="2800" b="1">
                <a:solidFill>
                  <a:srgbClr val="002060"/>
                </a:solidFill>
                <a:latin typeface="Times New Roman" panose="02020603050405020304" pitchFamily="18" charset="0"/>
              </a:rPr>
              <a:t>，需要对三个世界（现实世界、信息世界、计算机世界）进行两次抽象。</a:t>
            </a:r>
            <a:endParaRPr lang="en-US" altLang="zh-CN" sz="2800" b="1">
              <a:solidFill>
                <a:srgbClr val="002060"/>
              </a:solidFill>
              <a:latin typeface="Times New Roman" panose="02020603050405020304" pitchFamily="18" charset="0"/>
            </a:endParaRPr>
          </a:p>
        </p:txBody>
      </p:sp>
      <p:sp>
        <p:nvSpPr>
          <p:cNvPr id="9221" name="圆角矩形 1">
            <a:extLst>
              <a:ext uri="{FF2B5EF4-FFF2-40B4-BE49-F238E27FC236}">
                <a16:creationId xmlns:a16="http://schemas.microsoft.com/office/drawing/2014/main" id="{FAFF0BBB-EF15-2966-7F86-65225B765253}"/>
              </a:ext>
            </a:extLst>
          </p:cNvPr>
          <p:cNvSpPr>
            <a:spLocks noChangeArrowheads="1"/>
          </p:cNvSpPr>
          <p:nvPr/>
        </p:nvSpPr>
        <p:spPr bwMode="auto">
          <a:xfrm>
            <a:off x="3683000" y="3627438"/>
            <a:ext cx="3376613" cy="1281112"/>
          </a:xfrm>
          <a:prstGeom prst="roundRect">
            <a:avLst>
              <a:gd name="adj" fmla="val 16667"/>
            </a:avLst>
          </a:prstGeom>
          <a:noFill/>
          <a:ln w="9525">
            <a:solidFill>
              <a:srgbClr val="0070C0"/>
            </a:solidFill>
            <a:round/>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5CFACA4-CAA4-C83A-C792-FCF6C05612D5}"/>
              </a:ext>
            </a:extLst>
          </p:cNvPr>
          <p:cNvSpPr/>
          <p:nvPr/>
        </p:nvSpPr>
        <p:spPr>
          <a:xfrm>
            <a:off x="754063" y="1206500"/>
            <a:ext cx="10656887" cy="2957513"/>
          </a:xfrm>
          <a:prstGeom prst="rect">
            <a:avLst/>
          </a:prstGeom>
        </p:spPr>
        <p:txBody>
          <a:bodyPr>
            <a:spAutoFit/>
          </a:bodyPr>
          <a:lstStyle/>
          <a:p>
            <a:pPr lvl="1" algn="just">
              <a:lnSpc>
                <a:spcPct val="105000"/>
              </a:lnSpc>
              <a:spcAft>
                <a:spcPct val="35000"/>
              </a:spcAft>
              <a:buClr>
                <a:srgbClr val="0000FF"/>
              </a:buClr>
              <a:buFont typeface="Arial" charset="0"/>
              <a:buNone/>
              <a:defRPr/>
            </a:pPr>
            <a:r>
              <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rPr>
              <a:t>1.</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现实世界的个体：</a:t>
            </a:r>
            <a:endPar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endParaRPr>
          </a:p>
          <a:p>
            <a:pPr lvl="1" algn="just">
              <a:lnSpc>
                <a:spcPct val="105000"/>
              </a:lnSpc>
              <a:spcAft>
                <a:spcPct val="35000"/>
              </a:spcAft>
              <a:buClr>
                <a:srgbClr val="0000FF"/>
              </a:buClr>
              <a:buFont typeface="Arial" charset="0"/>
              <a:buNone/>
              <a:defRPr/>
            </a:pPr>
            <a:r>
              <a:rPr lang="zh-CN" altLang="en-US" sz="2800" b="1" dirty="0">
                <a:solidFill>
                  <a:schemeClr val="accent2"/>
                </a:solidFill>
                <a:effectLst>
                  <a:outerShdw blurRad="38100" dist="38100" dir="2700000" algn="tl">
                    <a:srgbClr val="C0C0C0"/>
                  </a:outerShdw>
                </a:effectLst>
                <a:latin typeface="仿宋_GB2312" pitchFamily="49" charset="-122"/>
                <a:ea typeface="仿宋_GB2312" pitchFamily="49" charset="-122"/>
              </a:rPr>
              <a:t>个体</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是一个实际存在的且可以被识别的事物。</a:t>
            </a:r>
          </a:p>
          <a:p>
            <a:pPr marL="742950" lvl="1" indent="-285750">
              <a:lnSpc>
                <a:spcPct val="105000"/>
              </a:lnSpc>
              <a:spcAft>
                <a:spcPct val="35000"/>
              </a:spcAft>
              <a:buClr>
                <a:srgbClr val="FF3300"/>
              </a:buClr>
              <a:buFont typeface="Wingdings" pitchFamily="2" charset="2"/>
              <a:buChar char="F"/>
              <a:defRPr/>
            </a:pPr>
            <a:r>
              <a:rPr lang="zh-CN" altLang="en-US" sz="2800" b="1" dirty="0">
                <a:solidFill>
                  <a:srgbClr val="008080"/>
                </a:solidFill>
                <a:effectLst>
                  <a:outerShdw blurRad="38100" dist="38100" dir="2700000" algn="tl">
                    <a:srgbClr val="C0C0C0"/>
                  </a:outerShdw>
                </a:effectLst>
                <a:latin typeface="Arial" charset="0"/>
              </a:rPr>
              <a:t> </a:t>
            </a:r>
            <a:r>
              <a:rPr lang="zh-CN" altLang="en-US" sz="2800" b="1" dirty="0">
                <a:solidFill>
                  <a:srgbClr val="002060"/>
                </a:solidFill>
                <a:effectLst>
                  <a:outerShdw blurRad="38100" dist="38100" dir="2700000" algn="tl">
                    <a:srgbClr val="C0C0C0"/>
                  </a:outerShdw>
                </a:effectLst>
                <a:latin typeface="Arial" charset="0"/>
              </a:rPr>
              <a:t>可以是可接触的具体事物，如</a:t>
            </a:r>
            <a:r>
              <a:rPr lang="zh-CN" altLang="en-US" sz="2800" b="1" dirty="0">
                <a:solidFill>
                  <a:srgbClr val="008080"/>
                </a:solidFill>
                <a:effectLst>
                  <a:outerShdw blurRad="38100" dist="38100" dir="2700000" algn="tl">
                    <a:srgbClr val="C0C0C0"/>
                  </a:outerShdw>
                </a:effectLst>
                <a:latin typeface="Arial" charset="0"/>
              </a:rPr>
              <a:t>学生；</a:t>
            </a:r>
          </a:p>
          <a:p>
            <a:pPr marL="742950" lvl="1" indent="-285750">
              <a:lnSpc>
                <a:spcPct val="105000"/>
              </a:lnSpc>
              <a:spcAft>
                <a:spcPct val="35000"/>
              </a:spcAft>
              <a:buClr>
                <a:srgbClr val="FF3300"/>
              </a:buClr>
              <a:buFont typeface="Wingdings" pitchFamily="2" charset="2"/>
              <a:buChar char="F"/>
              <a:defRPr/>
            </a:pPr>
            <a:r>
              <a:rPr lang="zh-CN" altLang="en-US" sz="2800" b="1" dirty="0">
                <a:solidFill>
                  <a:srgbClr val="008080"/>
                </a:solidFill>
                <a:effectLst>
                  <a:outerShdw blurRad="38100" dist="38100" dir="2700000" algn="tl">
                    <a:srgbClr val="C0C0C0"/>
                  </a:outerShdw>
                </a:effectLst>
                <a:latin typeface="Arial" charset="0"/>
              </a:rPr>
              <a:t> </a:t>
            </a:r>
            <a:r>
              <a:rPr lang="zh-CN" altLang="en-US" sz="2800" b="1" dirty="0">
                <a:solidFill>
                  <a:srgbClr val="002060"/>
                </a:solidFill>
                <a:effectLst>
                  <a:outerShdw blurRad="38100" dist="38100" dir="2700000" algn="tl">
                    <a:srgbClr val="C0C0C0"/>
                  </a:outerShdw>
                </a:effectLst>
                <a:latin typeface="Arial" charset="0"/>
              </a:rPr>
              <a:t>也可以是不可接触的抽象概念，如</a:t>
            </a:r>
            <a:r>
              <a:rPr lang="zh-CN" altLang="en-US" sz="2800" b="1" dirty="0">
                <a:solidFill>
                  <a:srgbClr val="008080"/>
                </a:solidFill>
                <a:effectLst>
                  <a:outerShdw blurRad="38100" dist="38100" dir="2700000" algn="tl">
                    <a:srgbClr val="C0C0C0"/>
                  </a:outerShdw>
                </a:effectLst>
                <a:latin typeface="Arial" charset="0"/>
              </a:rPr>
              <a:t>课程；</a:t>
            </a:r>
            <a:endParaRPr lang="en-US" altLang="zh-CN" sz="2800" b="1" dirty="0">
              <a:solidFill>
                <a:srgbClr val="008080"/>
              </a:solidFill>
              <a:effectLst>
                <a:outerShdw blurRad="38100" dist="38100" dir="2700000" algn="tl">
                  <a:srgbClr val="C0C0C0"/>
                </a:outerShdw>
              </a:effectLst>
              <a:latin typeface="Arial" charset="0"/>
            </a:endParaRPr>
          </a:p>
          <a:p>
            <a:pPr marL="742950" lvl="1" indent="-285750">
              <a:lnSpc>
                <a:spcPct val="105000"/>
              </a:lnSpc>
              <a:spcAft>
                <a:spcPct val="35000"/>
              </a:spcAft>
              <a:buClr>
                <a:srgbClr val="FF3300"/>
              </a:buClr>
              <a:buFont typeface="Wingdings" pitchFamily="2" charset="2"/>
              <a:buChar char="F"/>
              <a:defRPr/>
            </a:pPr>
            <a:r>
              <a:rPr lang="en-US" altLang="zh-CN" sz="2800" b="1" dirty="0">
                <a:solidFill>
                  <a:srgbClr val="008080"/>
                </a:solidFill>
                <a:effectLst>
                  <a:outerShdw blurRad="38100" dist="38100" dir="2700000" algn="tl">
                    <a:srgbClr val="C0C0C0"/>
                  </a:outerShdw>
                </a:effectLst>
                <a:latin typeface="Arial" charset="0"/>
              </a:rPr>
              <a:t> </a:t>
            </a:r>
            <a:r>
              <a:rPr lang="zh-CN" altLang="en-US" sz="2800" b="1" dirty="0">
                <a:solidFill>
                  <a:srgbClr val="002060"/>
                </a:solidFill>
                <a:effectLst>
                  <a:outerShdw blurRad="38100" dist="38100" dir="2700000" algn="tl">
                    <a:srgbClr val="C0C0C0"/>
                  </a:outerShdw>
                </a:effectLst>
                <a:latin typeface="Arial" charset="0"/>
              </a:rPr>
              <a:t>个体之间往往存在一定的关联关系。</a:t>
            </a:r>
          </a:p>
        </p:txBody>
      </p:sp>
      <p:pic>
        <p:nvPicPr>
          <p:cNvPr id="28" name="图片 1">
            <a:extLst>
              <a:ext uri="{FF2B5EF4-FFF2-40B4-BE49-F238E27FC236}">
                <a16:creationId xmlns:a16="http://schemas.microsoft.com/office/drawing/2014/main" id="{23E0F819-A608-DA29-6E0A-A09A9EEFE1F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38363" y="4056063"/>
            <a:ext cx="2952750" cy="196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20" descr="book">
            <a:extLst>
              <a:ext uri="{FF2B5EF4-FFF2-40B4-BE49-F238E27FC236}">
                <a16:creationId xmlns:a16="http://schemas.microsoft.com/office/drawing/2014/main" id="{B4E973D2-F002-D582-500E-BB07CF729F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0888" y="4230688"/>
            <a:ext cx="21907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Box 30">
            <a:extLst>
              <a:ext uri="{FF2B5EF4-FFF2-40B4-BE49-F238E27FC236}">
                <a16:creationId xmlns:a16="http://schemas.microsoft.com/office/drawing/2014/main" id="{68EAFC7F-E4D6-1602-4623-F12ABC33DB8B}"/>
              </a:ext>
            </a:extLst>
          </p:cNvPr>
          <p:cNvSpPr txBox="1">
            <a:spLocks noChangeArrowheads="1"/>
          </p:cNvSpPr>
          <p:nvPr/>
        </p:nvSpPr>
        <p:spPr bwMode="auto">
          <a:xfrm>
            <a:off x="2600325" y="6183313"/>
            <a:ext cx="1398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2000" b="1"/>
              <a:t>学生</a:t>
            </a:r>
          </a:p>
        </p:txBody>
      </p:sp>
      <p:sp>
        <p:nvSpPr>
          <p:cNvPr id="33" name="TextBox 32">
            <a:extLst>
              <a:ext uri="{FF2B5EF4-FFF2-40B4-BE49-F238E27FC236}">
                <a16:creationId xmlns:a16="http://schemas.microsoft.com/office/drawing/2014/main" id="{ADF5BC13-5485-E85A-C193-AA72BF25473B}"/>
              </a:ext>
            </a:extLst>
          </p:cNvPr>
          <p:cNvSpPr txBox="1">
            <a:spLocks noChangeArrowheads="1"/>
          </p:cNvSpPr>
          <p:nvPr/>
        </p:nvSpPr>
        <p:spPr bwMode="auto">
          <a:xfrm>
            <a:off x="6227763" y="6165850"/>
            <a:ext cx="1398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2000" b="1"/>
              <a:t>课程</a:t>
            </a:r>
          </a:p>
        </p:txBody>
      </p:sp>
      <p:sp>
        <p:nvSpPr>
          <p:cNvPr id="11" name="TextBox 6">
            <a:extLst>
              <a:ext uri="{FF2B5EF4-FFF2-40B4-BE49-F238E27FC236}">
                <a16:creationId xmlns:a16="http://schemas.microsoft.com/office/drawing/2014/main" id="{129DEBEE-2E97-0907-1FF9-0D064ED30041}"/>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数据建模概念</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cBhvr additive="base">
                                        <p:cTn id="11" dur="500" fill="hold"/>
                                        <p:tgtEl>
                                          <p:spTgt spid="33"/>
                                        </p:tgtEl>
                                        <p:attrNameLst>
                                          <p:attrName>ppt_x</p:attrName>
                                        </p:attrNameLst>
                                      </p:cBhvr>
                                      <p:tavLst>
                                        <p:tav tm="0">
                                          <p:val>
                                            <p:strVal val="#ppt_x"/>
                                          </p:val>
                                        </p:tav>
                                        <p:tav tm="100000">
                                          <p:val>
                                            <p:strVal val="#ppt_x"/>
                                          </p:val>
                                        </p:tav>
                                      </p:tavLst>
                                    </p:anim>
                                    <p:anim calcmode="lin" valueType="num">
                                      <p:cBhvr additive="base">
                                        <p:cTn id="12" dur="500" fill="hold"/>
                                        <p:tgtEl>
                                          <p:spTgt spid="3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ppt_x"/>
                                          </p:val>
                                        </p:tav>
                                        <p:tav tm="100000">
                                          <p:val>
                                            <p:strVal val="#ppt_x"/>
                                          </p:val>
                                        </p:tav>
                                      </p:tavLst>
                                    </p:anim>
                                    <p:anim calcmode="lin" valueType="num">
                                      <p:cBhvr additive="base">
                                        <p:cTn id="16" dur="500" fill="hold"/>
                                        <p:tgtEl>
                                          <p:spTgt spid="2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ppt_x"/>
                                          </p:val>
                                        </p:tav>
                                        <p:tav tm="100000">
                                          <p:val>
                                            <p:strVal val="#ppt_x"/>
                                          </p:val>
                                        </p:tav>
                                      </p:tavLst>
                                    </p:anim>
                                    <p:anim calcmode="lin" valueType="num">
                                      <p:cBhvr additive="base">
                                        <p:cTn id="2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E335617-C767-028D-9DD6-9664985D99D0}"/>
              </a:ext>
            </a:extLst>
          </p:cNvPr>
          <p:cNvSpPr/>
          <p:nvPr/>
        </p:nvSpPr>
        <p:spPr>
          <a:xfrm>
            <a:off x="754063" y="1206500"/>
            <a:ext cx="10961687" cy="2549525"/>
          </a:xfrm>
          <a:prstGeom prst="rect">
            <a:avLst/>
          </a:prstGeom>
        </p:spPr>
        <p:txBody>
          <a:bodyPr>
            <a:spAutoFit/>
          </a:bodyPr>
          <a:lstStyle/>
          <a:p>
            <a:pPr lvl="1" algn="just">
              <a:lnSpc>
                <a:spcPct val="105000"/>
              </a:lnSpc>
              <a:spcAft>
                <a:spcPct val="40000"/>
              </a:spcAft>
              <a:buClr>
                <a:srgbClr val="0000FF"/>
              </a:buClr>
              <a:buFont typeface="Arial" charset="0"/>
              <a:buNone/>
              <a:defRPr/>
            </a:pPr>
            <a:r>
              <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rPr>
              <a:t>2.</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信息世界的概念模型</a:t>
            </a:r>
            <a:endPar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endParaRPr>
          </a:p>
          <a:p>
            <a:pPr lvl="1" algn="just">
              <a:lnSpc>
                <a:spcPts val="2900"/>
              </a:lnSpc>
              <a:spcAft>
                <a:spcPct val="40000"/>
              </a:spcAft>
              <a:buClr>
                <a:srgbClr val="0000FF"/>
              </a:buClr>
              <a:buFont typeface="Arial" charset="0"/>
              <a:buNone/>
              <a:defRPr/>
            </a:pP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实体</a:t>
            </a:r>
            <a:r>
              <a:rPr lang="en-US" altLang="zh-CN" sz="2800" b="1" dirty="0">
                <a:solidFill>
                  <a:srgbClr val="002060"/>
                </a:solidFill>
                <a:effectLst>
                  <a:outerShdw blurRad="38100" dist="38100" dir="2700000" algn="tl">
                    <a:srgbClr val="C0C0C0"/>
                  </a:outerShdw>
                </a:effectLst>
                <a:latin typeface="Arial" charset="0"/>
              </a:rPr>
              <a:t>(</a:t>
            </a:r>
            <a:r>
              <a:rPr lang="en-US" altLang="zh-CN" sz="2800" b="1" dirty="0">
                <a:solidFill>
                  <a:srgbClr val="C00000"/>
                </a:solidFill>
                <a:effectLst>
                  <a:outerShdw blurRad="38100" dist="38100" dir="2700000" algn="tl">
                    <a:srgbClr val="C0C0C0"/>
                  </a:outerShdw>
                </a:effectLst>
                <a:latin typeface="Arial" charset="0"/>
              </a:rPr>
              <a:t>E</a:t>
            </a:r>
            <a:r>
              <a:rPr lang="en-US" altLang="zh-CN" sz="2800" b="1" dirty="0">
                <a:solidFill>
                  <a:srgbClr val="002060"/>
                </a:solidFill>
                <a:effectLst>
                  <a:outerShdw blurRad="38100" dist="38100" dir="2700000" algn="tl">
                    <a:srgbClr val="C0C0C0"/>
                  </a:outerShdw>
                </a:effectLst>
                <a:latin typeface="Arial" charset="0"/>
              </a:rPr>
              <a:t>ntity)</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：即现实世界的个体，在信息世界一般面对的是个体的集合，称为</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实体集</a:t>
            </a:r>
            <a:r>
              <a:rPr lang="zh-CN" altLang="en-US" sz="2800" b="1" dirty="0">
                <a:solidFill>
                  <a:srgbClr val="002060"/>
                </a:solidFill>
                <a:effectLst>
                  <a:outerShdw blurRad="38100" dist="38100" dir="2700000" algn="tl">
                    <a:srgbClr val="C0C0C0"/>
                  </a:outerShdw>
                </a:effectLst>
                <a:latin typeface="宋体" pitchFamily="2" charset="-122"/>
              </a:rPr>
              <a:t>。</a:t>
            </a:r>
          </a:p>
          <a:p>
            <a:pPr lvl="1" algn="just">
              <a:lnSpc>
                <a:spcPts val="2900"/>
              </a:lnSpc>
              <a:spcAft>
                <a:spcPct val="40000"/>
              </a:spcAft>
              <a:buClr>
                <a:srgbClr val="0000FF"/>
              </a:buClr>
              <a:buFont typeface="Arial" charset="0"/>
              <a:buNone/>
              <a:defRPr/>
            </a:pP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属性：</a:t>
            </a:r>
            <a:r>
              <a:rPr lang="zh-CN" altLang="en-US" sz="2800" b="1" dirty="0">
                <a:solidFill>
                  <a:srgbClr val="002060"/>
                </a:solidFill>
                <a:effectLst>
                  <a:outerShdw blurRad="38100" dist="38100" dir="2700000" algn="tl">
                    <a:srgbClr val="C0C0C0"/>
                  </a:outerShdw>
                </a:effectLst>
                <a:latin typeface="宋体" pitchFamily="2" charset="-122"/>
              </a:rPr>
              <a:t>实体集共有的某一特征。</a:t>
            </a:r>
            <a:endParaRPr lang="en-US" altLang="zh-CN" sz="2800" b="1" dirty="0">
              <a:solidFill>
                <a:srgbClr val="002060"/>
              </a:solidFill>
              <a:effectLst>
                <a:outerShdw blurRad="38100" dist="38100" dir="2700000" algn="tl">
                  <a:srgbClr val="C0C0C0"/>
                </a:outerShdw>
              </a:effectLst>
              <a:latin typeface="宋体" pitchFamily="2" charset="-122"/>
            </a:endParaRPr>
          </a:p>
          <a:p>
            <a:pPr lvl="1" algn="just">
              <a:lnSpc>
                <a:spcPts val="2900"/>
              </a:lnSpc>
              <a:spcAft>
                <a:spcPct val="40000"/>
              </a:spcAft>
              <a:buClr>
                <a:srgbClr val="0000FF"/>
              </a:buClr>
              <a:buFont typeface="Arial" charset="0"/>
              <a:buNone/>
              <a:defRPr/>
            </a:pP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联系</a:t>
            </a:r>
            <a:r>
              <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rPr>
              <a:t>(</a:t>
            </a:r>
            <a:r>
              <a:rPr lang="en-US" altLang="zh-CN" sz="2800" b="1" dirty="0">
                <a:solidFill>
                  <a:srgbClr val="C00000"/>
                </a:solidFill>
                <a:effectLst>
                  <a:outerShdw blurRad="38100" dist="38100" dir="2700000" algn="tl">
                    <a:srgbClr val="C0C0C0"/>
                  </a:outerShdw>
                </a:effectLst>
                <a:latin typeface="Arial" charset="0"/>
              </a:rPr>
              <a:t>R</a:t>
            </a:r>
            <a:r>
              <a:rPr lang="en-US" altLang="zh-CN" sz="2800" b="1" dirty="0">
                <a:solidFill>
                  <a:srgbClr val="002060"/>
                </a:solidFill>
                <a:effectLst>
                  <a:outerShdw blurRad="38100" dist="38100" dir="2700000" algn="tl">
                    <a:srgbClr val="C0C0C0"/>
                  </a:outerShdw>
                </a:effectLst>
                <a:latin typeface="Arial" charset="0"/>
              </a:rPr>
              <a:t>elationship</a:t>
            </a:r>
            <a:r>
              <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rPr>
              <a:t>) </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a:t>
            </a:r>
            <a:r>
              <a:rPr lang="zh-CN" altLang="en-US" sz="2800" b="1" dirty="0">
                <a:solidFill>
                  <a:srgbClr val="002060"/>
                </a:solidFill>
                <a:effectLst>
                  <a:outerShdw blurRad="38100" dist="38100" dir="2700000" algn="tl">
                    <a:srgbClr val="C0C0C0"/>
                  </a:outerShdw>
                </a:effectLst>
                <a:latin typeface="宋体" pitchFamily="2" charset="-122"/>
              </a:rPr>
              <a:t>实体集内部以及实体集之间的相互关系。</a:t>
            </a:r>
          </a:p>
        </p:txBody>
      </p:sp>
      <p:pic>
        <p:nvPicPr>
          <p:cNvPr id="10" name="Picture 67">
            <a:extLst>
              <a:ext uri="{FF2B5EF4-FFF2-40B4-BE49-F238E27FC236}">
                <a16:creationId xmlns:a16="http://schemas.microsoft.com/office/drawing/2014/main" id="{0217B0AD-F3CD-FBBB-3C77-89F02418C8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2463" y="3921125"/>
            <a:ext cx="7345362" cy="27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1802EDDA-17C4-F875-7605-7AEB1A51EE0B}"/>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数据建模概念</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CB0E33B-2678-1996-F20D-527E1548F50A}"/>
              </a:ext>
            </a:extLst>
          </p:cNvPr>
          <p:cNvSpPr/>
          <p:nvPr/>
        </p:nvSpPr>
        <p:spPr>
          <a:xfrm>
            <a:off x="754063" y="1206500"/>
            <a:ext cx="10656887" cy="1793875"/>
          </a:xfrm>
          <a:prstGeom prst="rect">
            <a:avLst/>
          </a:prstGeom>
        </p:spPr>
        <p:txBody>
          <a:bodyPr>
            <a:spAutoFit/>
          </a:bodyPr>
          <a:lstStyle/>
          <a:p>
            <a:pPr lvl="1" algn="just">
              <a:lnSpc>
                <a:spcPct val="105000"/>
              </a:lnSpc>
              <a:spcAft>
                <a:spcPct val="40000"/>
              </a:spcAft>
              <a:buClr>
                <a:srgbClr val="0000FF"/>
              </a:buClr>
              <a:buFont typeface="Arial" charset="0"/>
              <a:buNone/>
              <a:defRPr/>
            </a:pPr>
            <a:r>
              <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rPr>
              <a:t>3.</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机器世界中的关系模型</a:t>
            </a:r>
            <a:endPar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endParaRPr>
          </a:p>
          <a:p>
            <a:pPr lvl="1" algn="just">
              <a:lnSpc>
                <a:spcPct val="105000"/>
              </a:lnSpc>
              <a:spcAft>
                <a:spcPct val="40000"/>
              </a:spcAft>
              <a:buClr>
                <a:srgbClr val="0000FF"/>
              </a:buClr>
              <a:buFont typeface="Arial" charset="0"/>
              <a:buNone/>
              <a:defRPr/>
            </a:pP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关系模式：</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是由概念模型转换得到的逻辑模型。</a:t>
            </a:r>
            <a:endPar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endParaRPr>
          </a:p>
          <a:p>
            <a:pPr lvl="1" algn="just">
              <a:lnSpc>
                <a:spcPct val="105000"/>
              </a:lnSpc>
              <a:spcAft>
                <a:spcPct val="40000"/>
              </a:spcAft>
              <a:buClr>
                <a:srgbClr val="0000FF"/>
              </a:buClr>
              <a:buFont typeface="Arial" charset="0"/>
              <a:buNone/>
              <a:defRPr/>
            </a:pP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关系表：</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是由关系模式</a:t>
            </a:r>
            <a:r>
              <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rPr>
              <a:t>+</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数据的定义</a:t>
            </a:r>
            <a:r>
              <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rPr>
              <a:t>+</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完整性约束，即物理模型。</a:t>
            </a:r>
            <a:endParaRPr lang="zh-CN" altLang="en-US" sz="2800" b="1" dirty="0">
              <a:solidFill>
                <a:srgbClr val="002060"/>
              </a:solidFill>
              <a:effectLst>
                <a:outerShdw blurRad="38100" dist="38100" dir="2700000" algn="tl">
                  <a:srgbClr val="C0C0C0"/>
                </a:outerShdw>
              </a:effectLst>
              <a:latin typeface="宋体" pitchFamily="2" charset="-122"/>
            </a:endParaRPr>
          </a:p>
        </p:txBody>
      </p:sp>
      <p:sp>
        <p:nvSpPr>
          <p:cNvPr id="5" name="Text Box 5">
            <a:extLst>
              <a:ext uri="{FF2B5EF4-FFF2-40B4-BE49-F238E27FC236}">
                <a16:creationId xmlns:a16="http://schemas.microsoft.com/office/drawing/2014/main" id="{4152C525-C8F3-EEE1-CB63-D9C935D968B5}"/>
              </a:ext>
            </a:extLst>
          </p:cNvPr>
          <p:cNvSpPr txBox="1">
            <a:spLocks noChangeArrowheads="1"/>
          </p:cNvSpPr>
          <p:nvPr/>
        </p:nvSpPr>
        <p:spPr bwMode="auto">
          <a:xfrm>
            <a:off x="195263" y="4202113"/>
            <a:ext cx="7343775" cy="1784350"/>
          </a:xfrm>
          <a:prstGeom prst="rect">
            <a:avLst/>
          </a:prstGeom>
          <a:noFill/>
          <a:ln>
            <a:noFill/>
          </a:ln>
          <a:effectLst/>
        </p:spPr>
        <p:txBody>
          <a:bodyPr>
            <a:spAutoFit/>
          </a:bodyPr>
          <a:lstStyle/>
          <a:p>
            <a:pPr>
              <a:spcBef>
                <a:spcPct val="50000"/>
              </a:spcBef>
              <a:buFont typeface="Arial" charset="0"/>
              <a:buNone/>
              <a:defRPr/>
            </a:pPr>
            <a:r>
              <a:rPr lang="zh-CN" altLang="en-US" sz="2000" b="1" dirty="0">
                <a:solidFill>
                  <a:schemeClr val="accent2"/>
                </a:solidFill>
                <a:effectLst>
                  <a:outerShdw blurRad="38100" dist="38100" dir="2700000" algn="tl">
                    <a:srgbClr val="C0C0C0"/>
                  </a:outerShdw>
                </a:effectLst>
                <a:latin typeface="Arial" charset="0"/>
              </a:rPr>
              <a:t>关系模式：</a:t>
            </a:r>
          </a:p>
          <a:p>
            <a:pPr>
              <a:spcBef>
                <a:spcPct val="50000"/>
              </a:spcBef>
              <a:buFont typeface="Arial" charset="0"/>
              <a:buNone/>
              <a:defRPr/>
            </a:pPr>
            <a:r>
              <a:rPr lang="zh-CN" altLang="en-US" sz="2000" b="1" dirty="0">
                <a:effectLst>
                  <a:outerShdw blurRad="38100" dist="38100" dir="2700000" algn="tl">
                    <a:srgbClr val="C0C0C0"/>
                  </a:outerShdw>
                </a:effectLst>
                <a:latin typeface="Arial" charset="0"/>
              </a:rPr>
              <a:t>学生</a:t>
            </a:r>
            <a:r>
              <a:rPr lang="en-US" altLang="zh-CN" sz="2000" b="1" dirty="0">
                <a:effectLst>
                  <a:outerShdw blurRad="38100" dist="38100" dir="2700000" algn="tl">
                    <a:srgbClr val="C0C0C0"/>
                  </a:outerShdw>
                </a:effectLst>
                <a:latin typeface="Arial" charset="0"/>
              </a:rPr>
              <a:t>(</a:t>
            </a:r>
            <a:r>
              <a:rPr lang="zh-CN" altLang="en-US" sz="2000" b="1" u="sng" dirty="0">
                <a:effectLst>
                  <a:outerShdw blurRad="38100" dist="38100" dir="2700000" algn="tl">
                    <a:srgbClr val="C0C0C0"/>
                  </a:outerShdw>
                </a:effectLst>
                <a:latin typeface="Arial" charset="0"/>
              </a:rPr>
              <a:t>学号</a:t>
            </a:r>
            <a:r>
              <a:rPr lang="zh-CN" altLang="en-US" sz="2000" b="1" dirty="0">
                <a:effectLst>
                  <a:outerShdw blurRad="38100" dist="38100" dir="2700000" algn="tl">
                    <a:srgbClr val="C0C0C0"/>
                  </a:outerShdw>
                </a:effectLst>
                <a:latin typeface="Arial" charset="0"/>
              </a:rPr>
              <a:t>，姓名，专业名，性别，出生日期，总学分，备注）</a:t>
            </a:r>
          </a:p>
          <a:p>
            <a:pPr>
              <a:spcBef>
                <a:spcPct val="50000"/>
              </a:spcBef>
              <a:buFont typeface="Arial" charset="0"/>
              <a:buNone/>
              <a:defRPr/>
            </a:pPr>
            <a:r>
              <a:rPr lang="zh-CN" altLang="en-US" sz="2000" b="1" dirty="0">
                <a:effectLst>
                  <a:outerShdw blurRad="38100" dist="38100" dir="2700000" algn="tl">
                    <a:srgbClr val="C0C0C0"/>
                  </a:outerShdw>
                </a:effectLst>
                <a:latin typeface="Arial" charset="0"/>
              </a:rPr>
              <a:t>课程（</a:t>
            </a:r>
            <a:r>
              <a:rPr lang="zh-CN" altLang="en-US" sz="2000" b="1" u="sng" dirty="0">
                <a:effectLst>
                  <a:outerShdw blurRad="38100" dist="38100" dir="2700000" algn="tl">
                    <a:srgbClr val="C0C0C0"/>
                  </a:outerShdw>
                </a:effectLst>
                <a:latin typeface="Arial" charset="0"/>
              </a:rPr>
              <a:t>课程号</a:t>
            </a:r>
            <a:r>
              <a:rPr lang="zh-CN" altLang="en-US" sz="2000" b="1" dirty="0">
                <a:effectLst>
                  <a:outerShdw blurRad="38100" dist="38100" dir="2700000" algn="tl">
                    <a:srgbClr val="C0C0C0"/>
                  </a:outerShdw>
                </a:effectLst>
                <a:latin typeface="Arial" charset="0"/>
              </a:rPr>
              <a:t>，课程名，开课学期，学时，学分）</a:t>
            </a:r>
          </a:p>
          <a:p>
            <a:pPr>
              <a:spcBef>
                <a:spcPct val="50000"/>
              </a:spcBef>
              <a:buFont typeface="Arial" charset="0"/>
              <a:buNone/>
              <a:defRPr/>
            </a:pPr>
            <a:r>
              <a:rPr lang="zh-CN" altLang="en-US" sz="2000" b="1" dirty="0">
                <a:effectLst>
                  <a:outerShdw blurRad="38100" dist="38100" dir="2700000" algn="tl">
                    <a:srgbClr val="C0C0C0"/>
                  </a:outerShdw>
                </a:effectLst>
                <a:latin typeface="Arial" charset="0"/>
              </a:rPr>
              <a:t>成绩（</a:t>
            </a:r>
            <a:r>
              <a:rPr lang="zh-CN" altLang="en-US" sz="2000" b="1" u="sng" dirty="0">
                <a:effectLst>
                  <a:outerShdw blurRad="38100" dist="38100" dir="2700000" algn="tl">
                    <a:srgbClr val="C0C0C0"/>
                  </a:outerShdw>
                </a:effectLst>
                <a:latin typeface="Arial" charset="0"/>
              </a:rPr>
              <a:t>学号，课程号</a:t>
            </a:r>
            <a:r>
              <a:rPr lang="zh-CN" altLang="en-US" sz="2000" b="1" dirty="0">
                <a:effectLst>
                  <a:outerShdw blurRad="38100" dist="38100" dir="2700000" algn="tl">
                    <a:srgbClr val="C0C0C0"/>
                  </a:outerShdw>
                </a:effectLst>
                <a:latin typeface="Arial" charset="0"/>
              </a:rPr>
              <a:t>，成绩）</a:t>
            </a:r>
          </a:p>
        </p:txBody>
      </p:sp>
      <p:pic>
        <p:nvPicPr>
          <p:cNvPr id="35842" name="Picture 2">
            <a:extLst>
              <a:ext uri="{FF2B5EF4-FFF2-40B4-BE49-F238E27FC236}">
                <a16:creationId xmlns:a16="http://schemas.microsoft.com/office/drawing/2014/main" id="{C314BA38-5CE2-D423-E967-883C628C23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9038" y="4202113"/>
            <a:ext cx="4027487" cy="1973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6">
            <a:extLst>
              <a:ext uri="{FF2B5EF4-FFF2-40B4-BE49-F238E27FC236}">
                <a16:creationId xmlns:a16="http://schemas.microsoft.com/office/drawing/2014/main" id="{25387117-C6DE-1A3E-961C-6D8B84BE6397}"/>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数据建模过程</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5842"/>
                                        </p:tgtEl>
                                        <p:attrNameLst>
                                          <p:attrName>style.visibility</p:attrName>
                                        </p:attrNameLst>
                                      </p:cBhvr>
                                      <p:to>
                                        <p:strVal val="visible"/>
                                      </p:to>
                                    </p:set>
                                    <p:anim calcmode="lin" valueType="num">
                                      <p:cBhvr additive="base">
                                        <p:cTn id="13" dur="500" fill="hold"/>
                                        <p:tgtEl>
                                          <p:spTgt spid="35842"/>
                                        </p:tgtEl>
                                        <p:attrNameLst>
                                          <p:attrName>ppt_x</p:attrName>
                                        </p:attrNameLst>
                                      </p:cBhvr>
                                      <p:tavLst>
                                        <p:tav tm="0">
                                          <p:val>
                                            <p:strVal val="#ppt_x"/>
                                          </p:val>
                                        </p:tav>
                                        <p:tav tm="100000">
                                          <p:val>
                                            <p:strVal val="#ppt_x"/>
                                          </p:val>
                                        </p:tav>
                                      </p:tavLst>
                                    </p:anim>
                                    <p:anim calcmode="lin" valueType="num">
                                      <p:cBhvr additive="base">
                                        <p:cTn id="14" dur="500" fill="hold"/>
                                        <p:tgtEl>
                                          <p:spTgt spid="358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7C8D60FF-70C0-D698-58CA-FAD4220CD5F7}"/>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数据设计概述</a:t>
            </a:r>
            <a:endParaRPr lang="zh-CN" altLang="en-US" sz="4000" b="1" dirty="0">
              <a:solidFill>
                <a:schemeClr val="bg1"/>
              </a:solidFill>
              <a:latin typeface="+mn-ea"/>
              <a:ea typeface="+mn-ea"/>
            </a:endParaRPr>
          </a:p>
        </p:txBody>
      </p:sp>
      <p:sp>
        <p:nvSpPr>
          <p:cNvPr id="2" name="矩形 1">
            <a:extLst>
              <a:ext uri="{FF2B5EF4-FFF2-40B4-BE49-F238E27FC236}">
                <a16:creationId xmlns:a16="http://schemas.microsoft.com/office/drawing/2014/main" id="{C3772023-05AC-1856-A403-CC358DCF491A}"/>
              </a:ext>
            </a:extLst>
          </p:cNvPr>
          <p:cNvSpPr/>
          <p:nvPr/>
        </p:nvSpPr>
        <p:spPr>
          <a:xfrm>
            <a:off x="771525" y="1141413"/>
            <a:ext cx="10817225" cy="1449387"/>
          </a:xfrm>
          <a:prstGeom prst="rect">
            <a:avLst/>
          </a:prstGeom>
        </p:spPr>
        <p:txBody>
          <a:bodyPr>
            <a:spAutoFit/>
          </a:bodyPr>
          <a:lstStyle/>
          <a:p>
            <a:pPr lvl="1" algn="just">
              <a:lnSpc>
                <a:spcPct val="105000"/>
              </a:lnSpc>
              <a:spcAft>
                <a:spcPct val="35000"/>
              </a:spcAft>
              <a:buClr>
                <a:srgbClr val="0000FF"/>
              </a:buClr>
              <a:buFont typeface="Arial" charset="0"/>
              <a:buNone/>
              <a:defRPr/>
            </a:pPr>
            <a:r>
              <a:rPr lang="zh-CN" altLang="en-US" sz="2800" b="1" dirty="0">
                <a:solidFill>
                  <a:schemeClr val="accent2"/>
                </a:solidFill>
                <a:effectLst>
                  <a:outerShdw blurRad="38100" dist="38100" dir="2700000" algn="tl">
                    <a:srgbClr val="C0C0C0"/>
                  </a:outerShdw>
                </a:effectLst>
                <a:latin typeface="仿宋_GB2312" pitchFamily="49" charset="-122"/>
                <a:ea typeface="仿宋_GB2312" pitchFamily="49" charset="-122"/>
              </a:rPr>
              <a:t>数据库设计</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是指对于一个给定的应用环境，构造最优的数据库模式，建立数据库及其应用系统，使之能够有效地存储数据，满足各种用户的应用需求。共分四步。</a:t>
            </a:r>
          </a:p>
        </p:txBody>
      </p:sp>
      <p:grpSp>
        <p:nvGrpSpPr>
          <p:cNvPr id="5" name="组合 4">
            <a:extLst>
              <a:ext uri="{FF2B5EF4-FFF2-40B4-BE49-F238E27FC236}">
                <a16:creationId xmlns:a16="http://schemas.microsoft.com/office/drawing/2014/main" id="{1F0A24C9-BB1C-44EA-1B9D-324C024C6FFE}"/>
              </a:ext>
            </a:extLst>
          </p:cNvPr>
          <p:cNvGrpSpPr>
            <a:grpSpLocks/>
          </p:cNvGrpSpPr>
          <p:nvPr/>
        </p:nvGrpSpPr>
        <p:grpSpPr bwMode="auto">
          <a:xfrm>
            <a:off x="2662238" y="2708275"/>
            <a:ext cx="3673475" cy="576263"/>
            <a:chOff x="4875090" y="2780955"/>
            <a:chExt cx="3672255" cy="576040"/>
          </a:xfrm>
        </p:grpSpPr>
        <p:sp>
          <p:nvSpPr>
            <p:cNvPr id="13341" name="矩形 2">
              <a:extLst>
                <a:ext uri="{FF2B5EF4-FFF2-40B4-BE49-F238E27FC236}">
                  <a16:creationId xmlns:a16="http://schemas.microsoft.com/office/drawing/2014/main" id="{61B619D9-A958-CA6B-B7A9-8D3DF81F5920}"/>
                </a:ext>
              </a:extLst>
            </p:cNvPr>
            <p:cNvSpPr>
              <a:spLocks noChangeArrowheads="1"/>
            </p:cNvSpPr>
            <p:nvPr/>
          </p:nvSpPr>
          <p:spPr bwMode="auto">
            <a:xfrm>
              <a:off x="4875090" y="2780955"/>
              <a:ext cx="3672255" cy="576040"/>
            </a:xfrm>
            <a:prstGeom prst="rect">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4" name="TextBox 3">
              <a:extLst>
                <a:ext uri="{FF2B5EF4-FFF2-40B4-BE49-F238E27FC236}">
                  <a16:creationId xmlns:a16="http://schemas.microsoft.com/office/drawing/2014/main" id="{CCB73EF9-50D6-4F44-B404-741F05E7E2E1}"/>
                </a:ext>
              </a:extLst>
            </p:cNvPr>
            <p:cNvSpPr txBox="1"/>
            <p:nvPr/>
          </p:nvSpPr>
          <p:spPr>
            <a:xfrm>
              <a:off x="5379747" y="2838083"/>
              <a:ext cx="2662940" cy="461784"/>
            </a:xfrm>
            <a:prstGeom prst="rect">
              <a:avLst/>
            </a:prstGeom>
            <a:noFill/>
          </p:spPr>
          <p:txBody>
            <a:bodyPr>
              <a:spAutoFit/>
            </a:bodyPr>
            <a:lstStyle/>
            <a:p>
              <a:pPr>
                <a:buFont typeface="Arial" charset="0"/>
                <a:buNone/>
                <a:defRPr/>
              </a:pPr>
              <a:r>
                <a:rPr lang="zh-CN" altLang="en-US" sz="2400" b="1" dirty="0">
                  <a:solidFill>
                    <a:srgbClr val="C00000"/>
                  </a:solidFill>
                  <a:effectLst>
                    <a:outerShdw blurRad="38100" dist="38100" dir="2700000" algn="tl">
                      <a:srgbClr val="000000">
                        <a:alpha val="43137"/>
                      </a:srgbClr>
                    </a:outerShdw>
                  </a:effectLst>
                  <a:latin typeface="Arial" charset="0"/>
                </a:rPr>
                <a:t>第</a:t>
              </a:r>
              <a:r>
                <a:rPr lang="en-US" altLang="zh-CN" sz="2400" b="1" dirty="0">
                  <a:solidFill>
                    <a:srgbClr val="C00000"/>
                  </a:solidFill>
                  <a:effectLst>
                    <a:outerShdw blurRad="38100" dist="38100" dir="2700000" algn="tl">
                      <a:srgbClr val="000000">
                        <a:alpha val="43137"/>
                      </a:srgbClr>
                    </a:outerShdw>
                  </a:effectLst>
                  <a:latin typeface="Arial" charset="0"/>
                </a:rPr>
                <a:t>1</a:t>
              </a:r>
              <a:r>
                <a:rPr lang="zh-CN" altLang="en-US" sz="2400" b="1" dirty="0">
                  <a:solidFill>
                    <a:srgbClr val="C00000"/>
                  </a:solidFill>
                  <a:effectLst>
                    <a:outerShdw blurRad="38100" dist="38100" dir="2700000" algn="tl">
                      <a:srgbClr val="000000">
                        <a:alpha val="43137"/>
                      </a:srgbClr>
                    </a:outerShdw>
                  </a:effectLst>
                  <a:latin typeface="Arial" charset="0"/>
                </a:rPr>
                <a:t>步  需要分析</a:t>
              </a:r>
            </a:p>
          </p:txBody>
        </p:sp>
      </p:grpSp>
      <p:sp>
        <p:nvSpPr>
          <p:cNvPr id="7" name="下箭头 6">
            <a:extLst>
              <a:ext uri="{FF2B5EF4-FFF2-40B4-BE49-F238E27FC236}">
                <a16:creationId xmlns:a16="http://schemas.microsoft.com/office/drawing/2014/main" id="{21ACADF5-BCB6-271E-779E-E88DA94E96BE}"/>
              </a:ext>
            </a:extLst>
          </p:cNvPr>
          <p:cNvSpPr>
            <a:spLocks noChangeArrowheads="1"/>
          </p:cNvSpPr>
          <p:nvPr/>
        </p:nvSpPr>
        <p:spPr bwMode="auto">
          <a:xfrm>
            <a:off x="4451350" y="3357563"/>
            <a:ext cx="206375" cy="431800"/>
          </a:xfrm>
          <a:prstGeom prst="downArrow">
            <a:avLst>
              <a:gd name="adj1" fmla="val 50000"/>
              <a:gd name="adj2" fmla="val 50138"/>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grpSp>
        <p:nvGrpSpPr>
          <p:cNvPr id="10" name="组合 9">
            <a:extLst>
              <a:ext uri="{FF2B5EF4-FFF2-40B4-BE49-F238E27FC236}">
                <a16:creationId xmlns:a16="http://schemas.microsoft.com/office/drawing/2014/main" id="{0B85FA1A-4529-4FD4-CD7A-016C10A97FCF}"/>
              </a:ext>
            </a:extLst>
          </p:cNvPr>
          <p:cNvGrpSpPr>
            <a:grpSpLocks/>
          </p:cNvGrpSpPr>
          <p:nvPr/>
        </p:nvGrpSpPr>
        <p:grpSpPr bwMode="auto">
          <a:xfrm>
            <a:off x="6457950" y="2679700"/>
            <a:ext cx="3489325" cy="460375"/>
            <a:chOff x="8187320" y="2751320"/>
            <a:chExt cx="3489152" cy="461665"/>
          </a:xfrm>
        </p:grpSpPr>
        <p:sp>
          <p:nvSpPr>
            <p:cNvPr id="13339" name="右箭头 7">
              <a:extLst>
                <a:ext uri="{FF2B5EF4-FFF2-40B4-BE49-F238E27FC236}">
                  <a16:creationId xmlns:a16="http://schemas.microsoft.com/office/drawing/2014/main" id="{E4EED3F0-CE8F-6CAE-54BC-825733C8C86C}"/>
                </a:ext>
              </a:extLst>
            </p:cNvPr>
            <p:cNvSpPr>
              <a:spLocks noChangeArrowheads="1"/>
            </p:cNvSpPr>
            <p:nvPr/>
          </p:nvSpPr>
          <p:spPr bwMode="auto">
            <a:xfrm>
              <a:off x="8187320" y="2924965"/>
              <a:ext cx="864060" cy="230833"/>
            </a:xfrm>
            <a:prstGeom prst="rightArrow">
              <a:avLst>
                <a:gd name="adj1" fmla="val 50000"/>
                <a:gd name="adj2" fmla="val 49996"/>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9" name="TextBox 8">
              <a:extLst>
                <a:ext uri="{FF2B5EF4-FFF2-40B4-BE49-F238E27FC236}">
                  <a16:creationId xmlns:a16="http://schemas.microsoft.com/office/drawing/2014/main" id="{7DB55C74-C9F8-8C3C-C75B-472BCD881879}"/>
                </a:ext>
              </a:extLst>
            </p:cNvPr>
            <p:cNvSpPr txBox="1"/>
            <p:nvPr/>
          </p:nvSpPr>
          <p:spPr>
            <a:xfrm>
              <a:off x="9084214" y="2751320"/>
              <a:ext cx="2592258" cy="461665"/>
            </a:xfrm>
            <a:prstGeom prst="rect">
              <a:avLst/>
            </a:prstGeom>
            <a:noFill/>
          </p:spPr>
          <p:txBody>
            <a:bodyPr>
              <a:spAutoFit/>
            </a:bodyPr>
            <a:lstStyle/>
            <a:p>
              <a:pPr>
                <a:buFont typeface="Arial" charset="0"/>
                <a:buNone/>
                <a:defRPr/>
              </a:pPr>
              <a:r>
                <a:rPr lang="zh-CN" altLang="en-US" sz="2400" b="1" dirty="0">
                  <a:solidFill>
                    <a:srgbClr val="002060"/>
                  </a:solidFill>
                  <a:effectLst>
                    <a:outerShdw blurRad="38100" dist="38100" dir="2700000" algn="tl">
                      <a:srgbClr val="000000">
                        <a:alpha val="43137"/>
                      </a:srgbClr>
                    </a:outerShdw>
                  </a:effectLst>
                  <a:latin typeface="Arial" charset="0"/>
                </a:rPr>
                <a:t>需求分析说明书</a:t>
              </a:r>
            </a:p>
          </p:txBody>
        </p:sp>
      </p:grpSp>
      <p:grpSp>
        <p:nvGrpSpPr>
          <p:cNvPr id="12" name="组合 11">
            <a:extLst>
              <a:ext uri="{FF2B5EF4-FFF2-40B4-BE49-F238E27FC236}">
                <a16:creationId xmlns:a16="http://schemas.microsoft.com/office/drawing/2014/main" id="{2B80ABBB-372A-0C83-8691-523082B9A32B}"/>
              </a:ext>
            </a:extLst>
          </p:cNvPr>
          <p:cNvGrpSpPr>
            <a:grpSpLocks/>
          </p:cNvGrpSpPr>
          <p:nvPr/>
        </p:nvGrpSpPr>
        <p:grpSpPr bwMode="auto">
          <a:xfrm>
            <a:off x="2662238" y="3860800"/>
            <a:ext cx="3673475" cy="576263"/>
            <a:chOff x="4875090" y="2780955"/>
            <a:chExt cx="3672255" cy="576040"/>
          </a:xfrm>
        </p:grpSpPr>
        <p:sp>
          <p:nvSpPr>
            <p:cNvPr id="13337" name="矩形 12">
              <a:extLst>
                <a:ext uri="{FF2B5EF4-FFF2-40B4-BE49-F238E27FC236}">
                  <a16:creationId xmlns:a16="http://schemas.microsoft.com/office/drawing/2014/main" id="{6857C410-ABA4-69FA-6B89-6C7E3759F472}"/>
                </a:ext>
              </a:extLst>
            </p:cNvPr>
            <p:cNvSpPr>
              <a:spLocks noChangeArrowheads="1"/>
            </p:cNvSpPr>
            <p:nvPr/>
          </p:nvSpPr>
          <p:spPr bwMode="auto">
            <a:xfrm>
              <a:off x="4875090" y="2780955"/>
              <a:ext cx="3672255" cy="576040"/>
            </a:xfrm>
            <a:prstGeom prst="rect">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14" name="TextBox 13">
              <a:extLst>
                <a:ext uri="{FF2B5EF4-FFF2-40B4-BE49-F238E27FC236}">
                  <a16:creationId xmlns:a16="http://schemas.microsoft.com/office/drawing/2014/main" id="{ACDFD5F4-CF03-F270-EA88-343528FD00D7}"/>
                </a:ext>
              </a:extLst>
            </p:cNvPr>
            <p:cNvSpPr txBox="1"/>
            <p:nvPr/>
          </p:nvSpPr>
          <p:spPr>
            <a:xfrm>
              <a:off x="5071875" y="2838083"/>
              <a:ext cx="3319947" cy="461784"/>
            </a:xfrm>
            <a:prstGeom prst="rect">
              <a:avLst/>
            </a:prstGeom>
            <a:noFill/>
          </p:spPr>
          <p:txBody>
            <a:bodyPr>
              <a:spAutoFit/>
            </a:bodyPr>
            <a:lstStyle/>
            <a:p>
              <a:pPr algn="ctr">
                <a:buFont typeface="Arial" charset="0"/>
                <a:buNone/>
                <a:defRPr/>
              </a:pPr>
              <a:r>
                <a:rPr lang="zh-CN" altLang="en-US" sz="2400" b="1" dirty="0">
                  <a:solidFill>
                    <a:srgbClr val="C00000"/>
                  </a:solidFill>
                  <a:effectLst>
                    <a:outerShdw blurRad="38100" dist="38100" dir="2700000" algn="tl">
                      <a:srgbClr val="000000">
                        <a:alpha val="43137"/>
                      </a:srgbClr>
                    </a:outerShdw>
                  </a:effectLst>
                  <a:latin typeface="Arial" charset="0"/>
                </a:rPr>
                <a:t>第</a:t>
              </a:r>
              <a:r>
                <a:rPr lang="en-US" altLang="zh-CN" sz="2400" b="1" dirty="0">
                  <a:solidFill>
                    <a:srgbClr val="C00000"/>
                  </a:solidFill>
                  <a:effectLst>
                    <a:outerShdw blurRad="38100" dist="38100" dir="2700000" algn="tl">
                      <a:srgbClr val="000000">
                        <a:alpha val="43137"/>
                      </a:srgbClr>
                    </a:outerShdw>
                  </a:effectLst>
                  <a:latin typeface="Arial" charset="0"/>
                </a:rPr>
                <a:t>2</a:t>
              </a:r>
              <a:r>
                <a:rPr lang="zh-CN" altLang="en-US" sz="2400" b="1" dirty="0">
                  <a:solidFill>
                    <a:srgbClr val="C00000"/>
                  </a:solidFill>
                  <a:effectLst>
                    <a:outerShdw blurRad="38100" dist="38100" dir="2700000" algn="tl">
                      <a:srgbClr val="000000">
                        <a:alpha val="43137"/>
                      </a:srgbClr>
                    </a:outerShdw>
                  </a:effectLst>
                  <a:latin typeface="Arial" charset="0"/>
                </a:rPr>
                <a:t>步  概念结构设计</a:t>
              </a:r>
            </a:p>
          </p:txBody>
        </p:sp>
      </p:grpSp>
      <p:grpSp>
        <p:nvGrpSpPr>
          <p:cNvPr id="15" name="组合 14">
            <a:extLst>
              <a:ext uri="{FF2B5EF4-FFF2-40B4-BE49-F238E27FC236}">
                <a16:creationId xmlns:a16="http://schemas.microsoft.com/office/drawing/2014/main" id="{87606414-EC11-F234-693B-AAB7922AFD46}"/>
              </a:ext>
            </a:extLst>
          </p:cNvPr>
          <p:cNvGrpSpPr>
            <a:grpSpLocks/>
          </p:cNvGrpSpPr>
          <p:nvPr/>
        </p:nvGrpSpPr>
        <p:grpSpPr bwMode="auto">
          <a:xfrm>
            <a:off x="6457950" y="3830638"/>
            <a:ext cx="4033838" cy="461962"/>
            <a:chOff x="8187320" y="2751320"/>
            <a:chExt cx="4033000" cy="461665"/>
          </a:xfrm>
        </p:grpSpPr>
        <p:sp>
          <p:nvSpPr>
            <p:cNvPr id="13335" name="右箭头 15">
              <a:extLst>
                <a:ext uri="{FF2B5EF4-FFF2-40B4-BE49-F238E27FC236}">
                  <a16:creationId xmlns:a16="http://schemas.microsoft.com/office/drawing/2014/main" id="{AEC1D69E-7498-A811-D764-382BC9A3F775}"/>
                </a:ext>
              </a:extLst>
            </p:cNvPr>
            <p:cNvSpPr>
              <a:spLocks noChangeArrowheads="1"/>
            </p:cNvSpPr>
            <p:nvPr/>
          </p:nvSpPr>
          <p:spPr bwMode="auto">
            <a:xfrm>
              <a:off x="8187320" y="2924965"/>
              <a:ext cx="864060" cy="230833"/>
            </a:xfrm>
            <a:prstGeom prst="rightArrow">
              <a:avLst>
                <a:gd name="adj1" fmla="val 50000"/>
                <a:gd name="adj2" fmla="val 49996"/>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17" name="TextBox 16">
              <a:extLst>
                <a:ext uri="{FF2B5EF4-FFF2-40B4-BE49-F238E27FC236}">
                  <a16:creationId xmlns:a16="http://schemas.microsoft.com/office/drawing/2014/main" id="{1FD33140-FEF3-B3BC-3BA3-FFBD011C2F2A}"/>
                </a:ext>
              </a:extLst>
            </p:cNvPr>
            <p:cNvSpPr txBox="1"/>
            <p:nvPr/>
          </p:nvSpPr>
          <p:spPr>
            <a:xfrm>
              <a:off x="9084072" y="2751320"/>
              <a:ext cx="3136248" cy="461665"/>
            </a:xfrm>
            <a:prstGeom prst="rect">
              <a:avLst/>
            </a:prstGeom>
            <a:noFill/>
          </p:spPr>
          <p:txBody>
            <a:bodyPr>
              <a:spAutoFit/>
            </a:bodyPr>
            <a:lstStyle/>
            <a:p>
              <a:pPr>
                <a:buFont typeface="Arial" charset="0"/>
                <a:buNone/>
                <a:defRPr/>
              </a:pPr>
              <a:r>
                <a:rPr lang="zh-CN" altLang="en-US" sz="2400" b="1" dirty="0">
                  <a:solidFill>
                    <a:srgbClr val="002060"/>
                  </a:solidFill>
                  <a:effectLst>
                    <a:outerShdw blurRad="38100" dist="38100" dir="2700000" algn="tl">
                      <a:srgbClr val="000000">
                        <a:alpha val="43137"/>
                      </a:srgbClr>
                    </a:outerShdw>
                  </a:effectLst>
                  <a:latin typeface="Arial" charset="0"/>
                </a:rPr>
                <a:t>概念模型：</a:t>
              </a:r>
              <a:r>
                <a:rPr lang="en-US" altLang="zh-CN" sz="2400" b="1" dirty="0">
                  <a:solidFill>
                    <a:srgbClr val="002060"/>
                  </a:solidFill>
                  <a:effectLst>
                    <a:outerShdw blurRad="38100" dist="38100" dir="2700000" algn="tl">
                      <a:srgbClr val="000000">
                        <a:alpha val="43137"/>
                      </a:srgbClr>
                    </a:outerShdw>
                  </a:effectLst>
                  <a:latin typeface="Arial" charset="0"/>
                </a:rPr>
                <a:t>E - R</a:t>
              </a:r>
              <a:r>
                <a:rPr lang="zh-CN" altLang="en-US" sz="2400" b="1" dirty="0">
                  <a:solidFill>
                    <a:srgbClr val="002060"/>
                  </a:solidFill>
                  <a:effectLst>
                    <a:outerShdw blurRad="38100" dist="38100" dir="2700000" algn="tl">
                      <a:srgbClr val="000000">
                        <a:alpha val="43137"/>
                      </a:srgbClr>
                    </a:outerShdw>
                  </a:effectLst>
                  <a:latin typeface="Arial" charset="0"/>
                </a:rPr>
                <a:t>图</a:t>
              </a:r>
            </a:p>
          </p:txBody>
        </p:sp>
      </p:grpSp>
      <p:sp>
        <p:nvSpPr>
          <p:cNvPr id="18" name="下箭头 17">
            <a:extLst>
              <a:ext uri="{FF2B5EF4-FFF2-40B4-BE49-F238E27FC236}">
                <a16:creationId xmlns:a16="http://schemas.microsoft.com/office/drawing/2014/main" id="{C88FD91D-1274-FF7F-FAE6-AA24C334650F}"/>
              </a:ext>
            </a:extLst>
          </p:cNvPr>
          <p:cNvSpPr>
            <a:spLocks noChangeArrowheads="1"/>
          </p:cNvSpPr>
          <p:nvPr/>
        </p:nvSpPr>
        <p:spPr bwMode="auto">
          <a:xfrm>
            <a:off x="4448175" y="4475163"/>
            <a:ext cx="206375" cy="431800"/>
          </a:xfrm>
          <a:prstGeom prst="downArrow">
            <a:avLst>
              <a:gd name="adj1" fmla="val 50000"/>
              <a:gd name="adj2" fmla="val 50138"/>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grpSp>
        <p:nvGrpSpPr>
          <p:cNvPr id="19" name="组合 18">
            <a:extLst>
              <a:ext uri="{FF2B5EF4-FFF2-40B4-BE49-F238E27FC236}">
                <a16:creationId xmlns:a16="http://schemas.microsoft.com/office/drawing/2014/main" id="{ED8D11DD-4986-5A74-E5B6-E4F6E0E81AB5}"/>
              </a:ext>
            </a:extLst>
          </p:cNvPr>
          <p:cNvGrpSpPr>
            <a:grpSpLocks/>
          </p:cNvGrpSpPr>
          <p:nvPr/>
        </p:nvGrpSpPr>
        <p:grpSpPr bwMode="auto">
          <a:xfrm>
            <a:off x="2659063" y="4978400"/>
            <a:ext cx="3673475" cy="576263"/>
            <a:chOff x="4875090" y="2780955"/>
            <a:chExt cx="3672255" cy="576040"/>
          </a:xfrm>
        </p:grpSpPr>
        <p:sp>
          <p:nvSpPr>
            <p:cNvPr id="13333" name="矩形 19">
              <a:extLst>
                <a:ext uri="{FF2B5EF4-FFF2-40B4-BE49-F238E27FC236}">
                  <a16:creationId xmlns:a16="http://schemas.microsoft.com/office/drawing/2014/main" id="{77B9E1F7-4733-BC30-B966-188CC1A71E07}"/>
                </a:ext>
              </a:extLst>
            </p:cNvPr>
            <p:cNvSpPr>
              <a:spLocks noChangeArrowheads="1"/>
            </p:cNvSpPr>
            <p:nvPr/>
          </p:nvSpPr>
          <p:spPr bwMode="auto">
            <a:xfrm>
              <a:off x="4875090" y="2780955"/>
              <a:ext cx="3672255" cy="576040"/>
            </a:xfrm>
            <a:prstGeom prst="rect">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21" name="TextBox 20">
              <a:extLst>
                <a:ext uri="{FF2B5EF4-FFF2-40B4-BE49-F238E27FC236}">
                  <a16:creationId xmlns:a16="http://schemas.microsoft.com/office/drawing/2014/main" id="{AA35999A-4ABD-C183-F0C7-8E0F1C5FA5A8}"/>
                </a:ext>
              </a:extLst>
            </p:cNvPr>
            <p:cNvSpPr txBox="1"/>
            <p:nvPr/>
          </p:nvSpPr>
          <p:spPr>
            <a:xfrm>
              <a:off x="5073461" y="2838083"/>
              <a:ext cx="3473884" cy="461784"/>
            </a:xfrm>
            <a:prstGeom prst="rect">
              <a:avLst/>
            </a:prstGeom>
            <a:noFill/>
          </p:spPr>
          <p:txBody>
            <a:bodyPr>
              <a:spAutoFit/>
            </a:bodyPr>
            <a:lstStyle/>
            <a:p>
              <a:pPr algn="ctr">
                <a:buFont typeface="Arial" charset="0"/>
                <a:buNone/>
                <a:defRPr/>
              </a:pPr>
              <a:r>
                <a:rPr lang="zh-CN" altLang="en-US" sz="2400" b="1" dirty="0">
                  <a:solidFill>
                    <a:srgbClr val="C00000"/>
                  </a:solidFill>
                  <a:effectLst>
                    <a:outerShdw blurRad="38100" dist="38100" dir="2700000" algn="tl">
                      <a:srgbClr val="000000">
                        <a:alpha val="43137"/>
                      </a:srgbClr>
                    </a:outerShdw>
                  </a:effectLst>
                  <a:latin typeface="Arial" charset="0"/>
                </a:rPr>
                <a:t>第</a:t>
              </a:r>
              <a:r>
                <a:rPr lang="en-US" altLang="zh-CN" sz="2400" b="1" dirty="0">
                  <a:solidFill>
                    <a:srgbClr val="C00000"/>
                  </a:solidFill>
                  <a:effectLst>
                    <a:outerShdw blurRad="38100" dist="38100" dir="2700000" algn="tl">
                      <a:srgbClr val="000000">
                        <a:alpha val="43137"/>
                      </a:srgbClr>
                    </a:outerShdw>
                  </a:effectLst>
                  <a:latin typeface="Arial" charset="0"/>
                </a:rPr>
                <a:t>3</a:t>
              </a:r>
              <a:r>
                <a:rPr lang="zh-CN" altLang="en-US" sz="2400" b="1" dirty="0">
                  <a:solidFill>
                    <a:srgbClr val="C00000"/>
                  </a:solidFill>
                  <a:effectLst>
                    <a:outerShdw blurRad="38100" dist="38100" dir="2700000" algn="tl">
                      <a:srgbClr val="000000">
                        <a:alpha val="43137"/>
                      </a:srgbClr>
                    </a:outerShdw>
                  </a:effectLst>
                  <a:latin typeface="Arial" charset="0"/>
                </a:rPr>
                <a:t>步  逻辑结构设计</a:t>
              </a:r>
            </a:p>
          </p:txBody>
        </p:sp>
      </p:grpSp>
      <p:grpSp>
        <p:nvGrpSpPr>
          <p:cNvPr id="22" name="组合 21">
            <a:extLst>
              <a:ext uri="{FF2B5EF4-FFF2-40B4-BE49-F238E27FC236}">
                <a16:creationId xmlns:a16="http://schemas.microsoft.com/office/drawing/2014/main" id="{B26B0559-4C8F-DFE3-4631-E800189B8D73}"/>
              </a:ext>
            </a:extLst>
          </p:cNvPr>
          <p:cNvGrpSpPr>
            <a:grpSpLocks/>
          </p:cNvGrpSpPr>
          <p:nvPr/>
        </p:nvGrpSpPr>
        <p:grpSpPr bwMode="auto">
          <a:xfrm>
            <a:off x="6454775" y="4948238"/>
            <a:ext cx="4037013" cy="461962"/>
            <a:chOff x="8187320" y="2751320"/>
            <a:chExt cx="3717752" cy="461665"/>
          </a:xfrm>
        </p:grpSpPr>
        <p:sp>
          <p:nvSpPr>
            <p:cNvPr id="13331" name="右箭头 22">
              <a:extLst>
                <a:ext uri="{FF2B5EF4-FFF2-40B4-BE49-F238E27FC236}">
                  <a16:creationId xmlns:a16="http://schemas.microsoft.com/office/drawing/2014/main" id="{2F487003-4674-37D9-3146-F6603C87F56B}"/>
                </a:ext>
              </a:extLst>
            </p:cNvPr>
            <p:cNvSpPr>
              <a:spLocks noChangeArrowheads="1"/>
            </p:cNvSpPr>
            <p:nvPr/>
          </p:nvSpPr>
          <p:spPr bwMode="auto">
            <a:xfrm>
              <a:off x="8187320" y="2924965"/>
              <a:ext cx="864060" cy="230833"/>
            </a:xfrm>
            <a:prstGeom prst="rightArrow">
              <a:avLst>
                <a:gd name="adj1" fmla="val 50000"/>
                <a:gd name="adj2" fmla="val 49996"/>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24" name="TextBox 23">
              <a:extLst>
                <a:ext uri="{FF2B5EF4-FFF2-40B4-BE49-F238E27FC236}">
                  <a16:creationId xmlns:a16="http://schemas.microsoft.com/office/drawing/2014/main" id="{81D37697-1BA5-76D0-FC4B-A71297EC4B8D}"/>
                </a:ext>
              </a:extLst>
            </p:cNvPr>
            <p:cNvSpPr txBox="1"/>
            <p:nvPr/>
          </p:nvSpPr>
          <p:spPr>
            <a:xfrm>
              <a:off x="9084960" y="2751320"/>
              <a:ext cx="2820112" cy="461665"/>
            </a:xfrm>
            <a:prstGeom prst="rect">
              <a:avLst/>
            </a:prstGeom>
            <a:noFill/>
          </p:spPr>
          <p:txBody>
            <a:bodyPr>
              <a:spAutoFit/>
            </a:bodyPr>
            <a:lstStyle/>
            <a:p>
              <a:pPr>
                <a:buFont typeface="Arial" charset="0"/>
                <a:buNone/>
                <a:defRPr/>
              </a:pPr>
              <a:r>
                <a:rPr lang="zh-CN" altLang="en-US" sz="2400" b="1" dirty="0">
                  <a:solidFill>
                    <a:srgbClr val="002060"/>
                  </a:solidFill>
                  <a:effectLst>
                    <a:outerShdw blurRad="38100" dist="38100" dir="2700000" algn="tl">
                      <a:srgbClr val="000000">
                        <a:alpha val="43137"/>
                      </a:srgbClr>
                    </a:outerShdw>
                  </a:effectLst>
                  <a:latin typeface="Arial" charset="0"/>
                </a:rPr>
                <a:t>逻辑模型：关系模式</a:t>
              </a:r>
            </a:p>
          </p:txBody>
        </p:sp>
      </p:grpSp>
      <p:sp>
        <p:nvSpPr>
          <p:cNvPr id="25" name="下箭头 24">
            <a:extLst>
              <a:ext uri="{FF2B5EF4-FFF2-40B4-BE49-F238E27FC236}">
                <a16:creationId xmlns:a16="http://schemas.microsoft.com/office/drawing/2014/main" id="{054F7797-8801-E205-2684-CFEFE70CD319}"/>
              </a:ext>
            </a:extLst>
          </p:cNvPr>
          <p:cNvSpPr>
            <a:spLocks noChangeArrowheads="1"/>
          </p:cNvSpPr>
          <p:nvPr/>
        </p:nvSpPr>
        <p:spPr bwMode="auto">
          <a:xfrm>
            <a:off x="4451350" y="5589588"/>
            <a:ext cx="206375" cy="431800"/>
          </a:xfrm>
          <a:prstGeom prst="downArrow">
            <a:avLst>
              <a:gd name="adj1" fmla="val 50000"/>
              <a:gd name="adj2" fmla="val 50138"/>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grpSp>
        <p:nvGrpSpPr>
          <p:cNvPr id="26" name="组合 25">
            <a:extLst>
              <a:ext uri="{FF2B5EF4-FFF2-40B4-BE49-F238E27FC236}">
                <a16:creationId xmlns:a16="http://schemas.microsoft.com/office/drawing/2014/main" id="{FCEAF332-CA3C-1FFB-4908-85B3503EF10C}"/>
              </a:ext>
            </a:extLst>
          </p:cNvPr>
          <p:cNvGrpSpPr>
            <a:grpSpLocks/>
          </p:cNvGrpSpPr>
          <p:nvPr/>
        </p:nvGrpSpPr>
        <p:grpSpPr bwMode="auto">
          <a:xfrm>
            <a:off x="2662238" y="6092825"/>
            <a:ext cx="3673475" cy="576263"/>
            <a:chOff x="4875090" y="2780955"/>
            <a:chExt cx="3672255" cy="576040"/>
          </a:xfrm>
        </p:grpSpPr>
        <p:sp>
          <p:nvSpPr>
            <p:cNvPr id="13329" name="矩形 26">
              <a:extLst>
                <a:ext uri="{FF2B5EF4-FFF2-40B4-BE49-F238E27FC236}">
                  <a16:creationId xmlns:a16="http://schemas.microsoft.com/office/drawing/2014/main" id="{6D2A4FE3-4AA6-4535-2213-894E9C3EDDA2}"/>
                </a:ext>
              </a:extLst>
            </p:cNvPr>
            <p:cNvSpPr>
              <a:spLocks noChangeArrowheads="1"/>
            </p:cNvSpPr>
            <p:nvPr/>
          </p:nvSpPr>
          <p:spPr bwMode="auto">
            <a:xfrm>
              <a:off x="4875090" y="2780955"/>
              <a:ext cx="3672255" cy="576040"/>
            </a:xfrm>
            <a:prstGeom prst="rect">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28" name="TextBox 27">
              <a:extLst>
                <a:ext uri="{FF2B5EF4-FFF2-40B4-BE49-F238E27FC236}">
                  <a16:creationId xmlns:a16="http://schemas.microsoft.com/office/drawing/2014/main" id="{04F35E61-D002-E8D6-9CE1-9AB4117F943F}"/>
                </a:ext>
              </a:extLst>
            </p:cNvPr>
            <p:cNvSpPr txBox="1"/>
            <p:nvPr/>
          </p:nvSpPr>
          <p:spPr>
            <a:xfrm>
              <a:off x="5071875" y="2838083"/>
              <a:ext cx="3472296" cy="461784"/>
            </a:xfrm>
            <a:prstGeom prst="rect">
              <a:avLst/>
            </a:prstGeom>
            <a:noFill/>
          </p:spPr>
          <p:txBody>
            <a:bodyPr>
              <a:spAutoFit/>
            </a:bodyPr>
            <a:lstStyle/>
            <a:p>
              <a:pPr algn="ctr">
                <a:buFont typeface="Arial" charset="0"/>
                <a:buNone/>
                <a:defRPr/>
              </a:pPr>
              <a:r>
                <a:rPr lang="zh-CN" altLang="en-US" sz="2400" b="1" dirty="0">
                  <a:solidFill>
                    <a:srgbClr val="C00000"/>
                  </a:solidFill>
                  <a:effectLst>
                    <a:outerShdw blurRad="38100" dist="38100" dir="2700000" algn="tl">
                      <a:srgbClr val="000000">
                        <a:alpha val="43137"/>
                      </a:srgbClr>
                    </a:outerShdw>
                  </a:effectLst>
                  <a:latin typeface="Arial" charset="0"/>
                </a:rPr>
                <a:t>第</a:t>
              </a:r>
              <a:r>
                <a:rPr lang="en-US" altLang="zh-CN" sz="2400" b="1" dirty="0">
                  <a:solidFill>
                    <a:srgbClr val="C00000"/>
                  </a:solidFill>
                  <a:effectLst>
                    <a:outerShdw blurRad="38100" dist="38100" dir="2700000" algn="tl">
                      <a:srgbClr val="000000">
                        <a:alpha val="43137"/>
                      </a:srgbClr>
                    </a:outerShdw>
                  </a:effectLst>
                  <a:latin typeface="Arial" charset="0"/>
                </a:rPr>
                <a:t>4</a:t>
              </a:r>
              <a:r>
                <a:rPr lang="zh-CN" altLang="en-US" sz="2400" b="1" dirty="0">
                  <a:solidFill>
                    <a:srgbClr val="C00000"/>
                  </a:solidFill>
                  <a:effectLst>
                    <a:outerShdw blurRad="38100" dist="38100" dir="2700000" algn="tl">
                      <a:srgbClr val="000000">
                        <a:alpha val="43137"/>
                      </a:srgbClr>
                    </a:outerShdw>
                  </a:effectLst>
                  <a:latin typeface="Arial" charset="0"/>
                </a:rPr>
                <a:t>步  物理结构设计</a:t>
              </a:r>
            </a:p>
          </p:txBody>
        </p:sp>
      </p:grpSp>
      <p:grpSp>
        <p:nvGrpSpPr>
          <p:cNvPr id="29" name="组合 28">
            <a:extLst>
              <a:ext uri="{FF2B5EF4-FFF2-40B4-BE49-F238E27FC236}">
                <a16:creationId xmlns:a16="http://schemas.microsoft.com/office/drawing/2014/main" id="{B530D92F-9315-2632-2048-BF0B85AC20EE}"/>
              </a:ext>
            </a:extLst>
          </p:cNvPr>
          <p:cNvGrpSpPr>
            <a:grpSpLocks/>
          </p:cNvGrpSpPr>
          <p:nvPr/>
        </p:nvGrpSpPr>
        <p:grpSpPr bwMode="auto">
          <a:xfrm>
            <a:off x="6457950" y="6062663"/>
            <a:ext cx="4033838" cy="461962"/>
            <a:chOff x="8187320" y="2751320"/>
            <a:chExt cx="4032999" cy="461665"/>
          </a:xfrm>
        </p:grpSpPr>
        <p:sp>
          <p:nvSpPr>
            <p:cNvPr id="13327" name="右箭头 29">
              <a:extLst>
                <a:ext uri="{FF2B5EF4-FFF2-40B4-BE49-F238E27FC236}">
                  <a16:creationId xmlns:a16="http://schemas.microsoft.com/office/drawing/2014/main" id="{7848241F-81C4-FED7-3020-9A2913B46607}"/>
                </a:ext>
              </a:extLst>
            </p:cNvPr>
            <p:cNvSpPr>
              <a:spLocks noChangeArrowheads="1"/>
            </p:cNvSpPr>
            <p:nvPr/>
          </p:nvSpPr>
          <p:spPr bwMode="auto">
            <a:xfrm>
              <a:off x="8187320" y="2924965"/>
              <a:ext cx="864060" cy="230833"/>
            </a:xfrm>
            <a:prstGeom prst="rightArrow">
              <a:avLst>
                <a:gd name="adj1" fmla="val 50000"/>
                <a:gd name="adj2" fmla="val 49996"/>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31" name="TextBox 30">
              <a:extLst>
                <a:ext uri="{FF2B5EF4-FFF2-40B4-BE49-F238E27FC236}">
                  <a16:creationId xmlns:a16="http://schemas.microsoft.com/office/drawing/2014/main" id="{CA5367EF-0CE8-76B0-DF84-BD0749BC1554}"/>
                </a:ext>
              </a:extLst>
            </p:cNvPr>
            <p:cNvSpPr txBox="1"/>
            <p:nvPr/>
          </p:nvSpPr>
          <p:spPr>
            <a:xfrm>
              <a:off x="9084071" y="2751320"/>
              <a:ext cx="3136248" cy="461665"/>
            </a:xfrm>
            <a:prstGeom prst="rect">
              <a:avLst/>
            </a:prstGeom>
            <a:noFill/>
          </p:spPr>
          <p:txBody>
            <a:bodyPr>
              <a:spAutoFit/>
            </a:bodyPr>
            <a:lstStyle/>
            <a:p>
              <a:pPr>
                <a:buFont typeface="Arial" charset="0"/>
                <a:buNone/>
                <a:defRPr/>
              </a:pPr>
              <a:r>
                <a:rPr lang="zh-CN" altLang="en-US" sz="2400" b="1" dirty="0">
                  <a:solidFill>
                    <a:srgbClr val="002060"/>
                  </a:solidFill>
                  <a:effectLst>
                    <a:outerShdw blurRad="38100" dist="38100" dir="2700000" algn="tl">
                      <a:srgbClr val="000000">
                        <a:alpha val="43137"/>
                      </a:srgbClr>
                    </a:outerShdw>
                  </a:effectLst>
                  <a:latin typeface="Arial" charset="0"/>
                </a:rPr>
                <a:t>物理模型：建表语句</a:t>
              </a:r>
            </a:p>
          </p:txBody>
        </p:sp>
      </p:gr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nodeType="afterGroup">
                            <p:stCondLst>
                              <p:cond delay="500"/>
                            </p:stCondLst>
                            <p:childTnLst>
                              <p:par>
                                <p:cTn id="9" presetID="6" presetClass="entr" presetSubtype="16"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circle(in)">
                                      <p:cBhvr>
                                        <p:cTn id="11" dur="2000"/>
                                        <p:tgtEl>
                                          <p:spTgt spid="1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par>
                          <p:cTn id="20" fill="hold" nodeType="afterGroup">
                            <p:stCondLst>
                              <p:cond delay="500"/>
                            </p:stCondLst>
                            <p:childTnLst>
                              <p:par>
                                <p:cTn id="21" presetID="6" presetClass="entr" presetSubtype="16"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2000"/>
                                        <p:tgtEl>
                                          <p:spTgt spid="1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childTnLst>
                          </p:cTn>
                        </p:par>
                        <p:par>
                          <p:cTn id="32" fill="hold" nodeType="afterGroup">
                            <p:stCondLst>
                              <p:cond delay="500"/>
                            </p:stCondLst>
                            <p:childTnLst>
                              <p:par>
                                <p:cTn id="33" presetID="6" presetClass="entr" presetSubtype="16" fill="hold"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circle(in)">
                                      <p:cBhvr>
                                        <p:cTn id="35" dur="2000"/>
                                        <p:tgtEl>
                                          <p:spTgt spid="2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childTnLst>
                          </p:cTn>
                        </p:par>
                        <p:par>
                          <p:cTn id="44" fill="hold" nodeType="afterGroup">
                            <p:stCondLst>
                              <p:cond delay="500"/>
                            </p:stCondLst>
                            <p:childTnLst>
                              <p:par>
                                <p:cTn id="45" presetID="6" presetClass="entr" presetSubtype="16" fill="hold"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circle(in)">
                                      <p:cBhvr>
                                        <p:cTn id="47"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8" grpId="0" animBg="1"/>
      <p:bldP spid="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71B1B02A-9824-D87C-822D-D448EEF2176C}"/>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需求分析</a:t>
            </a:r>
          </a:p>
        </p:txBody>
      </p:sp>
      <p:sp>
        <p:nvSpPr>
          <p:cNvPr id="2" name="矩形 1">
            <a:extLst>
              <a:ext uri="{FF2B5EF4-FFF2-40B4-BE49-F238E27FC236}">
                <a16:creationId xmlns:a16="http://schemas.microsoft.com/office/drawing/2014/main" id="{97AC70BB-F070-A297-0AC9-CFFBBE882646}"/>
              </a:ext>
            </a:extLst>
          </p:cNvPr>
          <p:cNvSpPr/>
          <p:nvPr/>
        </p:nvSpPr>
        <p:spPr>
          <a:xfrm>
            <a:off x="482600" y="1189038"/>
            <a:ext cx="11017250" cy="1901825"/>
          </a:xfrm>
          <a:prstGeom prst="rect">
            <a:avLst/>
          </a:prstGeom>
        </p:spPr>
        <p:txBody>
          <a:bodyPr>
            <a:spAutoFit/>
          </a:bodyPr>
          <a:lstStyle/>
          <a:p>
            <a:pPr lvl="1" algn="just">
              <a:lnSpc>
                <a:spcPct val="105000"/>
              </a:lnSpc>
              <a:spcAft>
                <a:spcPct val="35000"/>
              </a:spcAft>
              <a:buClr>
                <a:srgbClr val="0000FF"/>
              </a:buClr>
              <a:buFont typeface="Arial" charset="0"/>
              <a:buNone/>
              <a:defRPr/>
            </a:pP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需求分析的目标和任务：</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对某数据库系统的整个应用情况作全面的详细调查，确定企业组织的目标，收集支持系统总的设计目标的基础数据和对这些数据的要求，确定用户的需求，并把这些要求写成用户和数据库设计者都能接受的文档</a:t>
            </a:r>
            <a:r>
              <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rPr>
              <a:t>——</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需求分析说明书</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a:t>
            </a:r>
          </a:p>
        </p:txBody>
      </p:sp>
      <p:sp>
        <p:nvSpPr>
          <p:cNvPr id="7" name="矩形 6">
            <a:extLst>
              <a:ext uri="{FF2B5EF4-FFF2-40B4-BE49-F238E27FC236}">
                <a16:creationId xmlns:a16="http://schemas.microsoft.com/office/drawing/2014/main" id="{4FCAB3CB-A8C1-E404-797E-87910A2202D2}"/>
              </a:ext>
            </a:extLst>
          </p:cNvPr>
          <p:cNvSpPr/>
          <p:nvPr/>
        </p:nvSpPr>
        <p:spPr>
          <a:xfrm>
            <a:off x="446088" y="3429000"/>
            <a:ext cx="11015662" cy="1449388"/>
          </a:xfrm>
          <a:prstGeom prst="rect">
            <a:avLst/>
          </a:prstGeom>
        </p:spPr>
        <p:txBody>
          <a:bodyPr>
            <a:spAutoFit/>
          </a:bodyPr>
          <a:lstStyle/>
          <a:p>
            <a:pPr lvl="1" algn="just">
              <a:lnSpc>
                <a:spcPct val="105000"/>
              </a:lnSpc>
              <a:spcAft>
                <a:spcPct val="35000"/>
              </a:spcAft>
              <a:buClr>
                <a:srgbClr val="0000FF"/>
              </a:buClr>
              <a:buFont typeface="Arial" charset="0"/>
              <a:buNone/>
              <a:defRPr/>
            </a:pP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需求分析方法：</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对数据库的需求分析往往是嵌套在对数据库系统功能的需求分析中，但也可以把对数据库的需求分析从中抽取出来，单独进行分析与设计。</a:t>
            </a:r>
          </a:p>
        </p:txBody>
      </p:sp>
    </p:spTree>
  </p:cSld>
  <p:clrMapOvr>
    <a:masterClrMapping/>
  </p:clrMapOvr>
  <p:transition spd="slow">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9B804FD3-7810-BD67-5F43-A14662705FE5}"/>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需求分析</a:t>
            </a:r>
          </a:p>
        </p:txBody>
      </p:sp>
      <p:sp>
        <p:nvSpPr>
          <p:cNvPr id="5" name="矩形 1">
            <a:extLst>
              <a:ext uri="{FF2B5EF4-FFF2-40B4-BE49-F238E27FC236}">
                <a16:creationId xmlns:a16="http://schemas.microsoft.com/office/drawing/2014/main" id="{C58E660E-9E68-48F7-740E-38EDE25E75F5}"/>
              </a:ext>
            </a:extLst>
          </p:cNvPr>
          <p:cNvSpPr>
            <a:spLocks noChangeArrowheads="1"/>
          </p:cNvSpPr>
          <p:nvPr/>
        </p:nvSpPr>
        <p:spPr bwMode="auto">
          <a:xfrm>
            <a:off x="466725" y="2420938"/>
            <a:ext cx="11225213" cy="356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spcBef>
                <a:spcPct val="25000"/>
              </a:spcBef>
              <a:buClr>
                <a:schemeClr val="accent2"/>
              </a:buClr>
            </a:pPr>
            <a:r>
              <a:rPr lang="zh-CN" altLang="en-US" sz="2400" b="1">
                <a:solidFill>
                  <a:srgbClr val="002060"/>
                </a:solidFill>
                <a:latin typeface="Times New Roman" panose="02020603050405020304" pitchFamily="18" charset="0"/>
              </a:rPr>
              <a:t>（</a:t>
            </a:r>
            <a:r>
              <a:rPr lang="en-US" altLang="zh-CN" sz="2400" b="1">
                <a:solidFill>
                  <a:srgbClr val="002060"/>
                </a:solidFill>
                <a:latin typeface="Times New Roman" panose="02020603050405020304" pitchFamily="18" charset="0"/>
              </a:rPr>
              <a:t>1</a:t>
            </a:r>
            <a:r>
              <a:rPr lang="zh-CN" altLang="en-US" sz="2400" b="1">
                <a:solidFill>
                  <a:srgbClr val="002060"/>
                </a:solidFill>
                <a:latin typeface="Times New Roman" panose="02020603050405020304" pitchFamily="18" charset="0"/>
              </a:rPr>
              <a:t>）一个仓库可以存放多种零件，一种零件可以存放在多个仓库中；</a:t>
            </a:r>
            <a:r>
              <a:rPr lang="en-US" altLang="zh-CN" sz="2400" b="1">
                <a:solidFill>
                  <a:srgbClr val="002060"/>
                </a:solidFill>
                <a:latin typeface="Times New Roman" panose="02020603050405020304" pitchFamily="18" charset="0"/>
              </a:rPr>
              <a:t>  </a:t>
            </a:r>
            <a:r>
              <a:rPr lang="zh-CN" altLang="en-US" sz="2400" b="1">
                <a:solidFill>
                  <a:srgbClr val="002060"/>
                </a:solidFill>
                <a:latin typeface="Times New Roman" panose="02020603050405020304" pitchFamily="18" charset="0"/>
              </a:rPr>
              <a:t>仓库有仓库号、仓库类型和面积，零件有零件号、名称、</a:t>
            </a:r>
            <a:r>
              <a:rPr lang="en-US" altLang="zh-CN" sz="2400" b="1">
                <a:solidFill>
                  <a:srgbClr val="002060"/>
                </a:solidFill>
                <a:latin typeface="Times New Roman" panose="02020603050405020304" pitchFamily="18" charset="0"/>
              </a:rPr>
              <a:t> </a:t>
            </a:r>
            <a:r>
              <a:rPr lang="zh-CN" altLang="en-US" sz="2400" b="1">
                <a:solidFill>
                  <a:srgbClr val="002060"/>
                </a:solidFill>
                <a:latin typeface="Times New Roman" panose="02020603050405020304" pitchFamily="18" charset="0"/>
              </a:rPr>
              <a:t>规格、单价、描述等属性。</a:t>
            </a:r>
            <a:endParaRPr lang="en-US" altLang="zh-CN" sz="2400" b="1">
              <a:solidFill>
                <a:srgbClr val="002060"/>
              </a:solidFill>
              <a:latin typeface="Times New Roman" panose="02020603050405020304" pitchFamily="18" charset="0"/>
            </a:endParaRPr>
          </a:p>
          <a:p>
            <a:pPr lvl="1">
              <a:spcBef>
                <a:spcPct val="25000"/>
              </a:spcBef>
              <a:buClr>
                <a:schemeClr val="accent2"/>
              </a:buClr>
            </a:pPr>
            <a:r>
              <a:rPr lang="zh-CN" altLang="en-US" sz="2400" b="1">
                <a:solidFill>
                  <a:srgbClr val="002060"/>
                </a:solidFill>
                <a:latin typeface="Times New Roman" panose="02020603050405020304" pitchFamily="18" charset="0"/>
              </a:rPr>
              <a:t>（</a:t>
            </a:r>
            <a:r>
              <a:rPr lang="en-US" altLang="zh-CN" sz="2400" b="1">
                <a:solidFill>
                  <a:srgbClr val="002060"/>
                </a:solidFill>
                <a:latin typeface="Times New Roman" panose="02020603050405020304" pitchFamily="18" charset="0"/>
              </a:rPr>
              <a:t>2</a:t>
            </a:r>
            <a:r>
              <a:rPr lang="zh-CN" altLang="en-US" sz="2400" b="1">
                <a:solidFill>
                  <a:srgbClr val="002060"/>
                </a:solidFill>
                <a:latin typeface="Times New Roman" panose="02020603050405020304" pitchFamily="18" charset="0"/>
              </a:rPr>
              <a:t>）一个职工只能在一个仓库工作，一个仓库有多个职工当保管员；</a:t>
            </a:r>
            <a:endParaRPr lang="en-US" altLang="zh-CN" sz="2400" b="1">
              <a:solidFill>
                <a:srgbClr val="002060"/>
              </a:solidFill>
              <a:latin typeface="Times New Roman" panose="02020603050405020304" pitchFamily="18" charset="0"/>
            </a:endParaRPr>
          </a:p>
          <a:p>
            <a:pPr lvl="1">
              <a:spcBef>
                <a:spcPct val="25000"/>
              </a:spcBef>
              <a:buClr>
                <a:schemeClr val="accent2"/>
              </a:buClr>
            </a:pPr>
            <a:r>
              <a:rPr lang="en-US" altLang="zh-CN" sz="2400" b="1">
                <a:solidFill>
                  <a:srgbClr val="002060"/>
                </a:solidFill>
                <a:latin typeface="Times New Roman" panose="02020603050405020304" pitchFamily="18" charset="0"/>
              </a:rPr>
              <a:t>        </a:t>
            </a:r>
            <a:r>
              <a:rPr lang="zh-CN" altLang="en-US" sz="2400" b="1">
                <a:solidFill>
                  <a:srgbClr val="002060"/>
                </a:solidFill>
                <a:latin typeface="Times New Roman" panose="02020603050405020304" pitchFamily="18" charset="0"/>
              </a:rPr>
              <a:t>职工有职工号、姓名、性别、职务、出生年月属性。</a:t>
            </a:r>
          </a:p>
          <a:p>
            <a:pPr lvl="1">
              <a:spcBef>
                <a:spcPct val="25000"/>
              </a:spcBef>
              <a:buClr>
                <a:schemeClr val="accent2"/>
              </a:buClr>
            </a:pPr>
            <a:r>
              <a:rPr lang="zh-CN" altLang="en-US" sz="2400" b="1">
                <a:solidFill>
                  <a:srgbClr val="002060"/>
                </a:solidFill>
                <a:latin typeface="Times New Roman" panose="02020603050405020304" pitchFamily="18" charset="0"/>
              </a:rPr>
              <a:t>（</a:t>
            </a:r>
            <a:r>
              <a:rPr lang="en-US" altLang="zh-CN" sz="2400" b="1">
                <a:solidFill>
                  <a:srgbClr val="002060"/>
                </a:solidFill>
                <a:latin typeface="Times New Roman" panose="02020603050405020304" pitchFamily="18" charset="0"/>
              </a:rPr>
              <a:t>3</a:t>
            </a:r>
            <a:r>
              <a:rPr lang="zh-CN" altLang="en-US" sz="2400" b="1">
                <a:solidFill>
                  <a:srgbClr val="002060"/>
                </a:solidFill>
                <a:latin typeface="Times New Roman" panose="02020603050405020304" pitchFamily="18" charset="0"/>
              </a:rPr>
              <a:t>）职工之间有领导与被领导关系，仓库主任领导若干保管员；</a:t>
            </a:r>
            <a:endParaRPr lang="en-US" altLang="zh-CN" sz="2400" b="1">
              <a:solidFill>
                <a:srgbClr val="002060"/>
              </a:solidFill>
              <a:latin typeface="Times New Roman" panose="02020603050405020304" pitchFamily="18" charset="0"/>
            </a:endParaRPr>
          </a:p>
          <a:p>
            <a:pPr lvl="1">
              <a:lnSpc>
                <a:spcPct val="105000"/>
              </a:lnSpc>
              <a:spcBef>
                <a:spcPct val="50000"/>
              </a:spcBef>
              <a:buClr>
                <a:srgbClr val="0000FF"/>
              </a:buClr>
            </a:pPr>
            <a:r>
              <a:rPr lang="zh-CN" altLang="en-US" sz="2400" b="1">
                <a:solidFill>
                  <a:srgbClr val="002060"/>
                </a:solidFill>
              </a:rPr>
              <a:t>（</a:t>
            </a:r>
            <a:r>
              <a:rPr lang="en-US" altLang="zh-CN" sz="2400" b="1">
                <a:solidFill>
                  <a:srgbClr val="002060"/>
                </a:solidFill>
              </a:rPr>
              <a:t>4</a:t>
            </a:r>
            <a:r>
              <a:rPr lang="zh-CN" altLang="en-US" sz="2400" b="1">
                <a:solidFill>
                  <a:srgbClr val="002060"/>
                </a:solidFill>
              </a:rPr>
              <a:t>）一个供应商可以供应若干项目多种零件；而一个项目可以使用不同供应商供应的多种零件；一种零件可由不同供应商供给多个工程项目。</a:t>
            </a:r>
            <a:r>
              <a:rPr lang="zh-CN" altLang="en-US" sz="2400" b="1">
                <a:solidFill>
                  <a:srgbClr val="002060"/>
                </a:solidFill>
                <a:latin typeface="Times New Roman" panose="02020603050405020304" pitchFamily="18" charset="0"/>
              </a:rPr>
              <a:t>供应商有供应商号、姓名、住址、电话、帐号，项目有项目号、预算、开工日期等属性。</a:t>
            </a:r>
          </a:p>
        </p:txBody>
      </p:sp>
      <p:sp>
        <p:nvSpPr>
          <p:cNvPr id="15364" name="矩形 6">
            <a:extLst>
              <a:ext uri="{FF2B5EF4-FFF2-40B4-BE49-F238E27FC236}">
                <a16:creationId xmlns:a16="http://schemas.microsoft.com/office/drawing/2014/main" id="{67BFA049-6C9C-1A95-E293-EA07E05D1670}"/>
              </a:ext>
            </a:extLst>
          </p:cNvPr>
          <p:cNvSpPr>
            <a:spLocks noChangeArrowheads="1"/>
          </p:cNvSpPr>
          <p:nvPr/>
        </p:nvSpPr>
        <p:spPr bwMode="auto">
          <a:xfrm>
            <a:off x="627063" y="1114425"/>
            <a:ext cx="112331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spcBef>
                <a:spcPct val="25000"/>
              </a:spcBef>
              <a:buClr>
                <a:schemeClr val="accent2"/>
              </a:buClr>
            </a:pPr>
            <a:r>
              <a:rPr lang="zh-CN" altLang="en-US" sz="2800" b="1">
                <a:solidFill>
                  <a:srgbClr val="C00000"/>
                </a:solidFill>
                <a:latin typeface="Times New Roman" panose="02020603050405020304" pitchFamily="18" charset="0"/>
              </a:rPr>
              <a:t>例：</a:t>
            </a:r>
            <a:r>
              <a:rPr lang="zh-CN" altLang="en-US" sz="2800" b="1">
                <a:latin typeface="Times New Roman" panose="02020603050405020304" pitchFamily="18" charset="0"/>
              </a:rPr>
              <a:t>以下是从某数据库系统需要说明书中抽取出来与数据库设计相关的语义，根据语义完成概念结构设计。</a:t>
            </a:r>
            <a:endParaRPr lang="en-US" altLang="zh-CN" sz="2800" b="1">
              <a:latin typeface="Times New Roman" panose="02020603050405020304" pitchFamily="18" charset="0"/>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fade">
                                      <p:cBhvr>
                                        <p:cTn id="20" dur="500"/>
                                        <p:tgtEl>
                                          <p:spTgt spid="5">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Effect transition="in" filter="fade">
                                      <p:cBhvr>
                                        <p:cTn id="25" dur="500"/>
                                        <p:tgtEl>
                                          <p:spTgt spid="5">
                                            <p:txEl>
                                              <p:pRg st="3" end="3"/>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nodeType="clickEffect">
                                  <p:stCondLst>
                                    <p:cond delay="0"/>
                                  </p:stCondLst>
                                  <p:childTnLst>
                                    <p:set>
                                      <p:cBhvr>
                                        <p:cTn id="29" dur="1" fill="hold">
                                          <p:stCondLst>
                                            <p:cond delay="0"/>
                                          </p:stCondLst>
                                        </p:cTn>
                                        <p:tgtEl>
                                          <p:spTgt spid="5">
                                            <p:txEl>
                                              <p:pRg st="4" end="4"/>
                                            </p:txEl>
                                          </p:spTgt>
                                        </p:tgtEl>
                                        <p:attrNameLst>
                                          <p:attrName>style.visibility</p:attrName>
                                        </p:attrNameLst>
                                      </p:cBhvr>
                                      <p:to>
                                        <p:strVal val="visible"/>
                                      </p:to>
                                    </p:set>
                                    <p:animEffect transition="in" filter="fade">
                                      <p:cBhvr>
                                        <p:cTn id="30"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矩形 1">
            <a:extLst>
              <a:ext uri="{FF2B5EF4-FFF2-40B4-BE49-F238E27FC236}">
                <a16:creationId xmlns:a16="http://schemas.microsoft.com/office/drawing/2014/main" id="{874BADA2-8C46-8AA5-557B-CE8D62D742A3}"/>
              </a:ext>
            </a:extLst>
          </p:cNvPr>
          <p:cNvSpPr>
            <a:spLocks noChangeArrowheads="1"/>
          </p:cNvSpPr>
          <p:nvPr/>
        </p:nvSpPr>
        <p:spPr bwMode="auto">
          <a:xfrm>
            <a:off x="4494213" y="3292475"/>
            <a:ext cx="18415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10000"/>
              </a:lnSpc>
            </a:pPr>
            <a:endParaRPr lang="zh-CN" altLang="en-US">
              <a:latin typeface="黑体" panose="02010609060101010101" pitchFamily="49" charset="-122"/>
              <a:ea typeface="黑体" panose="02010609060101010101" pitchFamily="49" charset="-122"/>
            </a:endParaRPr>
          </a:p>
        </p:txBody>
      </p:sp>
      <p:sp>
        <p:nvSpPr>
          <p:cNvPr id="28" name="矩形 27">
            <a:extLst>
              <a:ext uri="{FF2B5EF4-FFF2-40B4-BE49-F238E27FC236}">
                <a16:creationId xmlns:a16="http://schemas.microsoft.com/office/drawing/2014/main" id="{FBD9DD6F-1267-E955-A416-129A13A1A843}"/>
              </a:ext>
            </a:extLst>
          </p:cNvPr>
          <p:cNvSpPr/>
          <p:nvPr/>
        </p:nvSpPr>
        <p:spPr>
          <a:xfrm>
            <a:off x="266700" y="1268413"/>
            <a:ext cx="10961688" cy="3495675"/>
          </a:xfrm>
          <a:prstGeom prst="rect">
            <a:avLst/>
          </a:prstGeom>
        </p:spPr>
        <p:txBody>
          <a:bodyPr>
            <a:spAutoFit/>
          </a:bodyPr>
          <a:lstStyle/>
          <a:p>
            <a:pPr lvl="1" algn="just">
              <a:lnSpc>
                <a:spcPct val="150000"/>
              </a:lnSpc>
              <a:spcAft>
                <a:spcPct val="40000"/>
              </a:spcAft>
              <a:buClr>
                <a:srgbClr val="0000FF"/>
              </a:buClr>
              <a:buFont typeface="Arial" charset="0"/>
              <a:buNone/>
              <a:defRPr/>
            </a:pP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所谓模型</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就是从特定角度对客观事物及其联系的一种简化抽象和描述。</a:t>
            </a:r>
            <a:endPar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endParaRPr>
          </a:p>
          <a:p>
            <a:pPr lvl="1" algn="just">
              <a:lnSpc>
                <a:spcPct val="150000"/>
              </a:lnSpc>
              <a:spcAft>
                <a:spcPct val="40000"/>
              </a:spcAft>
              <a:buClr>
                <a:srgbClr val="0000FF"/>
              </a:buClr>
              <a:buFont typeface="Arial" charset="0"/>
              <a:buNone/>
              <a:defRPr/>
            </a:pP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概念模型</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信息世界中</a:t>
            </a:r>
            <a:r>
              <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rPr>
              <a:t>,</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对客观实体及其联系的描述，建立概念模型的工具很多，其中比较常用的是</a:t>
            </a:r>
            <a:r>
              <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rPr>
              <a:t>E-R</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模型</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，即</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实体关系模型（</a:t>
            </a:r>
            <a:r>
              <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rPr>
              <a:t>Entity-Relationship Model</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a:t>
            </a:r>
            <a:endPar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endParaRPr>
          </a:p>
        </p:txBody>
      </p:sp>
      <p:sp>
        <p:nvSpPr>
          <p:cNvPr id="7" name="TextBox 6">
            <a:extLst>
              <a:ext uri="{FF2B5EF4-FFF2-40B4-BE49-F238E27FC236}">
                <a16:creationId xmlns:a16="http://schemas.microsoft.com/office/drawing/2014/main" id="{A9EA5C18-0CE9-2616-9F69-64DCA94CC40D}"/>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概念模型</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8">
                                            <p:txEl>
                                              <p:pRg st="1" end="1"/>
                                            </p:txEl>
                                          </p:spTgt>
                                        </p:tgtEl>
                                        <p:attrNameLst>
                                          <p:attrName>style.visibility</p:attrName>
                                        </p:attrNameLst>
                                      </p:cBhvr>
                                      <p:to>
                                        <p:strVal val="visible"/>
                                      </p:to>
                                    </p:set>
                                    <p:animEffect transition="in" filter="fade">
                                      <p:cBhvr>
                                        <p:cTn id="7" dur="500"/>
                                        <p:tgtEl>
                                          <p:spTgt spid="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矩形 1">
            <a:extLst>
              <a:ext uri="{FF2B5EF4-FFF2-40B4-BE49-F238E27FC236}">
                <a16:creationId xmlns:a16="http://schemas.microsoft.com/office/drawing/2014/main" id="{5E04BD7C-A774-E77F-FAD0-F4781E59301E}"/>
              </a:ext>
            </a:extLst>
          </p:cNvPr>
          <p:cNvSpPr>
            <a:spLocks noChangeArrowheads="1"/>
          </p:cNvSpPr>
          <p:nvPr/>
        </p:nvSpPr>
        <p:spPr bwMode="auto">
          <a:xfrm>
            <a:off x="4494213" y="3292475"/>
            <a:ext cx="18415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10000"/>
              </a:lnSpc>
            </a:pPr>
            <a:endParaRPr lang="zh-CN" altLang="en-US">
              <a:latin typeface="黑体" panose="02010609060101010101" pitchFamily="49" charset="-122"/>
              <a:ea typeface="黑体" panose="02010609060101010101" pitchFamily="49" charset="-122"/>
            </a:endParaRPr>
          </a:p>
        </p:txBody>
      </p:sp>
      <p:sp>
        <p:nvSpPr>
          <p:cNvPr id="28" name="矩形 27">
            <a:extLst>
              <a:ext uri="{FF2B5EF4-FFF2-40B4-BE49-F238E27FC236}">
                <a16:creationId xmlns:a16="http://schemas.microsoft.com/office/drawing/2014/main" id="{6FFCA92E-DCFD-3FCB-D73E-917728E31F16}"/>
              </a:ext>
            </a:extLst>
          </p:cNvPr>
          <p:cNvSpPr/>
          <p:nvPr/>
        </p:nvSpPr>
        <p:spPr>
          <a:xfrm>
            <a:off x="914400" y="1355725"/>
            <a:ext cx="10313988" cy="3873500"/>
          </a:xfrm>
          <a:prstGeom prst="rect">
            <a:avLst/>
          </a:prstGeom>
        </p:spPr>
        <p:txBody>
          <a:bodyPr>
            <a:spAutoFit/>
          </a:bodyPr>
          <a:lstStyle/>
          <a:p>
            <a:pPr lvl="1" algn="just">
              <a:lnSpc>
                <a:spcPct val="105000"/>
              </a:lnSpc>
              <a:spcAft>
                <a:spcPct val="40000"/>
              </a:spcAft>
              <a:buClr>
                <a:srgbClr val="0000FF"/>
              </a:buClr>
              <a:buFont typeface="Arial" charset="0"/>
              <a:buNone/>
              <a:defRPr/>
            </a:pPr>
            <a:r>
              <a:rPr lang="en-US" altLang="zh-CN" sz="2800" b="1" dirty="0" err="1">
                <a:solidFill>
                  <a:srgbClr val="C00000"/>
                </a:solidFill>
                <a:effectLst>
                  <a:outerShdw blurRad="38100" dist="38100" dir="2700000" algn="tl">
                    <a:srgbClr val="C0C0C0"/>
                  </a:outerShdw>
                </a:effectLst>
                <a:latin typeface="仿宋_GB2312" pitchFamily="49" charset="-122"/>
                <a:ea typeface="仿宋_GB2312" pitchFamily="49" charset="-122"/>
              </a:rPr>
              <a:t>1.E</a:t>
            </a:r>
            <a:r>
              <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rPr>
              <a:t>-R</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模型</a:t>
            </a:r>
            <a:endPar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endParaRPr>
          </a:p>
          <a:p>
            <a:pPr marL="800100" lvl="1" indent="-342900" algn="just">
              <a:lnSpc>
                <a:spcPct val="105000"/>
              </a:lnSpc>
              <a:spcAft>
                <a:spcPct val="40000"/>
              </a:spcAft>
              <a:buClr>
                <a:srgbClr val="0000FF"/>
              </a:buClr>
              <a:buFont typeface="Wingdings" pitchFamily="2" charset="2"/>
              <a:buChar char="Ø"/>
              <a:defRPr/>
            </a:pP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1976</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年，由美籍华裔计算机科学家陈品山</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(Peter Chen)</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发明，这种数据模型典型的用在信息系统设计的第一阶段。</a:t>
            </a:r>
          </a:p>
          <a:p>
            <a:pPr marL="800100" lvl="1" indent="-342900" algn="just">
              <a:lnSpc>
                <a:spcPct val="105000"/>
              </a:lnSpc>
              <a:spcAft>
                <a:spcPct val="40000"/>
              </a:spcAft>
              <a:buClr>
                <a:srgbClr val="0000FF"/>
              </a:buClr>
              <a:buFont typeface="Wingdings" pitchFamily="2" charset="2"/>
              <a:buChar char="Ø"/>
              <a:defRPr/>
            </a:pP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E-R</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模型是建立在语义基础上的，即语义制造模型，即与时间</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历史等有关。</a:t>
            </a:r>
            <a:endPar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endParaRPr>
          </a:p>
          <a:p>
            <a:pPr marL="800100" lvl="1" indent="-342900" algn="just">
              <a:lnSpc>
                <a:spcPct val="105000"/>
              </a:lnSpc>
              <a:spcAft>
                <a:spcPct val="40000"/>
              </a:spcAft>
              <a:buClr>
                <a:srgbClr val="0000FF"/>
              </a:buClr>
              <a:buFont typeface="Wingdings" pitchFamily="2" charset="2"/>
              <a:buChar char="Ø"/>
              <a:defRPr/>
            </a:pP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E-R</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模型的基本观点：世界是由一组称作实体的基本对象和这些对象之间的联系构成的。</a:t>
            </a:r>
            <a:endPar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endParaRPr>
          </a:p>
          <a:p>
            <a:pPr marL="800100" lvl="1" indent="-342900" algn="just">
              <a:lnSpc>
                <a:spcPct val="105000"/>
              </a:lnSpc>
              <a:spcAft>
                <a:spcPct val="40000"/>
              </a:spcAft>
              <a:buClr>
                <a:srgbClr val="0000FF"/>
              </a:buClr>
              <a:buFont typeface="Wingdings" pitchFamily="2" charset="2"/>
              <a:buChar char="Ø"/>
              <a:defRPr/>
            </a:pP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概念结构设计就是根据需求分析文档画出</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E-R</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图。</a:t>
            </a:r>
          </a:p>
        </p:txBody>
      </p:sp>
      <p:sp>
        <p:nvSpPr>
          <p:cNvPr id="7" name="TextBox 6">
            <a:extLst>
              <a:ext uri="{FF2B5EF4-FFF2-40B4-BE49-F238E27FC236}">
                <a16:creationId xmlns:a16="http://schemas.microsoft.com/office/drawing/2014/main" id="{CE36BD3C-5DF6-8ED8-49FA-18C1ABF1AB2E}"/>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概念模型</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8">
                                            <p:txEl>
                                              <p:pRg st="2" end="2"/>
                                            </p:txEl>
                                          </p:spTgt>
                                        </p:tgtEl>
                                        <p:attrNameLst>
                                          <p:attrName>style.visibility</p:attrName>
                                        </p:attrNameLst>
                                      </p:cBhvr>
                                      <p:to>
                                        <p:strVal val="visible"/>
                                      </p:to>
                                    </p:set>
                                    <p:animEffect transition="in" filter="fade">
                                      <p:cBhvr>
                                        <p:cTn id="7" dur="500"/>
                                        <p:tgtEl>
                                          <p:spTgt spid="28">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xEl>
                                              <p:pRg st="3" end="3"/>
                                            </p:txEl>
                                          </p:spTgt>
                                        </p:tgtEl>
                                        <p:attrNameLst>
                                          <p:attrName>style.visibility</p:attrName>
                                        </p:attrNameLst>
                                      </p:cBhvr>
                                      <p:to>
                                        <p:strVal val="visible"/>
                                      </p:to>
                                    </p:set>
                                    <p:animEffect transition="in" filter="fade">
                                      <p:cBhvr>
                                        <p:cTn id="12" dur="500"/>
                                        <p:tgtEl>
                                          <p:spTgt spid="28">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xEl>
                                              <p:pRg st="4" end="4"/>
                                            </p:txEl>
                                          </p:spTgt>
                                        </p:tgtEl>
                                        <p:attrNameLst>
                                          <p:attrName>style.visibility</p:attrName>
                                        </p:attrNameLst>
                                      </p:cBhvr>
                                      <p:to>
                                        <p:strVal val="visible"/>
                                      </p:to>
                                    </p:set>
                                    <p:animEffect transition="in" filter="fade">
                                      <p:cBhvr>
                                        <p:cTn id="17" dur="500"/>
                                        <p:tgtEl>
                                          <p:spTgt spid="2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E858607D-8400-8DED-95D1-342D307CAB61}"/>
              </a:ext>
            </a:extLst>
          </p:cNvPr>
          <p:cNvSpPr/>
          <p:nvPr/>
        </p:nvSpPr>
        <p:spPr>
          <a:xfrm>
            <a:off x="754063" y="1206500"/>
            <a:ext cx="10313987" cy="492125"/>
          </a:xfrm>
          <a:prstGeom prst="rect">
            <a:avLst/>
          </a:prstGeom>
        </p:spPr>
        <p:txBody>
          <a:bodyPr>
            <a:spAutoFit/>
          </a:bodyPr>
          <a:lstStyle/>
          <a:p>
            <a:pPr lvl="1" algn="just">
              <a:lnSpc>
                <a:spcPct val="105000"/>
              </a:lnSpc>
              <a:spcAft>
                <a:spcPct val="40000"/>
              </a:spcAft>
              <a:buClr>
                <a:srgbClr val="0000FF"/>
              </a:buClr>
              <a:buFont typeface="Arial" charset="0"/>
              <a:buNone/>
              <a:defRPr/>
            </a:pPr>
            <a:r>
              <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rPr>
              <a:t>2.E-R</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图中的符号约定</a:t>
            </a:r>
          </a:p>
        </p:txBody>
      </p:sp>
      <p:grpSp>
        <p:nvGrpSpPr>
          <p:cNvPr id="18435" name="组合 1">
            <a:extLst>
              <a:ext uri="{FF2B5EF4-FFF2-40B4-BE49-F238E27FC236}">
                <a16:creationId xmlns:a16="http://schemas.microsoft.com/office/drawing/2014/main" id="{9240EDF4-AEAA-EA68-836E-150593346214}"/>
              </a:ext>
            </a:extLst>
          </p:cNvPr>
          <p:cNvGrpSpPr>
            <a:grpSpLocks/>
          </p:cNvGrpSpPr>
          <p:nvPr/>
        </p:nvGrpSpPr>
        <p:grpSpPr bwMode="auto">
          <a:xfrm>
            <a:off x="633413" y="2036763"/>
            <a:ext cx="10793412" cy="3856037"/>
            <a:chOff x="1740417" y="1960563"/>
            <a:chExt cx="9915008" cy="2568418"/>
          </a:xfrm>
        </p:grpSpPr>
        <p:sp>
          <p:nvSpPr>
            <p:cNvPr id="18437" name="矩形 1">
              <a:extLst>
                <a:ext uri="{FF2B5EF4-FFF2-40B4-BE49-F238E27FC236}">
                  <a16:creationId xmlns:a16="http://schemas.microsoft.com/office/drawing/2014/main" id="{CE135C86-86AB-DB76-7AE7-AC1A72A26F4D}"/>
                </a:ext>
              </a:extLst>
            </p:cNvPr>
            <p:cNvSpPr>
              <a:spLocks noChangeArrowheads="1"/>
            </p:cNvSpPr>
            <p:nvPr/>
          </p:nvSpPr>
          <p:spPr bwMode="auto">
            <a:xfrm>
              <a:off x="4292600" y="2858634"/>
              <a:ext cx="169697" cy="332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10000"/>
                </a:lnSpc>
              </a:pPr>
              <a:endParaRPr lang="zh-CN" altLang="en-US" sz="2400">
                <a:latin typeface="黑体" panose="02010609060101010101" pitchFamily="49" charset="-122"/>
                <a:ea typeface="黑体" panose="02010609060101010101" pitchFamily="49" charset="-122"/>
              </a:endParaRPr>
            </a:p>
          </p:txBody>
        </p:sp>
        <p:sp>
          <p:nvSpPr>
            <p:cNvPr id="18438" name="Rectangle 3">
              <a:extLst>
                <a:ext uri="{FF2B5EF4-FFF2-40B4-BE49-F238E27FC236}">
                  <a16:creationId xmlns:a16="http://schemas.microsoft.com/office/drawing/2014/main" id="{4C3A63E6-1166-4890-7124-20543215A1A0}"/>
                </a:ext>
              </a:extLst>
            </p:cNvPr>
            <p:cNvSpPr>
              <a:spLocks noChangeArrowheads="1"/>
            </p:cNvSpPr>
            <p:nvPr/>
          </p:nvSpPr>
          <p:spPr bwMode="auto">
            <a:xfrm>
              <a:off x="2001511" y="1960563"/>
              <a:ext cx="1200158" cy="590073"/>
            </a:xfrm>
            <a:prstGeom prst="rect">
              <a:avLst/>
            </a:prstGeom>
            <a:noFill/>
            <a:ln w="28575">
              <a:solidFill>
                <a:srgbClr val="0070C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2400" b="1">
                  <a:solidFill>
                    <a:srgbClr val="002060"/>
                  </a:solidFill>
                </a:rPr>
                <a:t>实体名</a:t>
              </a:r>
            </a:p>
          </p:txBody>
        </p:sp>
        <p:sp>
          <p:nvSpPr>
            <p:cNvPr id="7" name="Text Box 7">
              <a:extLst>
                <a:ext uri="{FF2B5EF4-FFF2-40B4-BE49-F238E27FC236}">
                  <a16:creationId xmlns:a16="http://schemas.microsoft.com/office/drawing/2014/main" id="{9F1D7E91-2A46-CF41-EB90-DF090334BC40}"/>
                </a:ext>
              </a:extLst>
            </p:cNvPr>
            <p:cNvSpPr txBox="1">
              <a:spLocks noChangeArrowheads="1"/>
            </p:cNvSpPr>
            <p:nvPr/>
          </p:nvSpPr>
          <p:spPr bwMode="auto">
            <a:xfrm>
              <a:off x="3930790" y="2010260"/>
              <a:ext cx="169163" cy="307703"/>
            </a:xfrm>
            <a:prstGeom prst="rect">
              <a:avLst/>
            </a:prstGeom>
            <a:noFill/>
            <a:ln>
              <a:noFill/>
            </a:ln>
            <a:effectLst/>
          </p:spPr>
          <p:txBody>
            <a:bodyPr wrap="none">
              <a:spAutoFit/>
            </a:bodyPr>
            <a:lstStyle/>
            <a:p>
              <a:pPr>
                <a:buFont typeface="Arial" charset="0"/>
                <a:buNone/>
                <a:defRPr/>
              </a:pPr>
              <a:endParaRPr lang="zh-TW" altLang="en-US" sz="2400">
                <a:effectLst>
                  <a:outerShdw blurRad="38100" dist="38100" dir="2700000" algn="tl">
                    <a:srgbClr val="C0C0C0"/>
                  </a:outerShdw>
                </a:effectLst>
                <a:latin typeface="Arial" charset="0"/>
              </a:endParaRPr>
            </a:p>
          </p:txBody>
        </p:sp>
        <p:sp>
          <p:nvSpPr>
            <p:cNvPr id="8" name="Text Box 8">
              <a:extLst>
                <a:ext uri="{FF2B5EF4-FFF2-40B4-BE49-F238E27FC236}">
                  <a16:creationId xmlns:a16="http://schemas.microsoft.com/office/drawing/2014/main" id="{D06A9613-E8E4-E853-FBF7-99004D1070A8}"/>
                </a:ext>
              </a:extLst>
            </p:cNvPr>
            <p:cNvSpPr txBox="1">
              <a:spLocks noChangeArrowheads="1"/>
            </p:cNvSpPr>
            <p:nvPr/>
          </p:nvSpPr>
          <p:spPr bwMode="auto">
            <a:xfrm>
              <a:off x="3471423" y="2011318"/>
              <a:ext cx="5009274" cy="307702"/>
            </a:xfrm>
            <a:prstGeom prst="rect">
              <a:avLst/>
            </a:prstGeom>
            <a:noFill/>
            <a:ln>
              <a:noFill/>
            </a:ln>
            <a:effectLst/>
          </p:spPr>
          <p:txBody>
            <a:bodyPr>
              <a:spAutoFit/>
            </a:bodyPr>
            <a:lstStyle/>
            <a:p>
              <a:pPr>
                <a:buFont typeface="Arial" charset="0"/>
                <a:buNone/>
                <a:defRPr/>
              </a:pPr>
              <a:r>
                <a:rPr lang="zh-CN" altLang="en-US" sz="2400" b="1" dirty="0">
                  <a:solidFill>
                    <a:srgbClr val="C00000"/>
                  </a:solidFill>
                  <a:effectLst>
                    <a:outerShdw blurRad="38100" dist="38100" dir="2700000" algn="tl">
                      <a:srgbClr val="C0C0C0"/>
                    </a:outerShdw>
                  </a:effectLst>
                  <a:latin typeface="Arial" charset="0"/>
                </a:rPr>
                <a:t>长方形：</a:t>
              </a:r>
              <a:r>
                <a:rPr lang="zh-CN" altLang="en-US" sz="2400" b="1" dirty="0">
                  <a:effectLst>
                    <a:outerShdw blurRad="38100" dist="38100" dir="2700000" algn="tl">
                      <a:srgbClr val="C0C0C0"/>
                    </a:outerShdw>
                  </a:effectLst>
                  <a:latin typeface="Arial" charset="0"/>
                </a:rPr>
                <a:t>表示实体，内注实体名；</a:t>
              </a:r>
            </a:p>
          </p:txBody>
        </p:sp>
        <p:sp>
          <p:nvSpPr>
            <p:cNvPr id="18441" name="AutoShape 4">
              <a:extLst>
                <a:ext uri="{FF2B5EF4-FFF2-40B4-BE49-F238E27FC236}">
                  <a16:creationId xmlns:a16="http://schemas.microsoft.com/office/drawing/2014/main" id="{340CC016-58DC-4132-3E5A-1E7E70F7A3C0}"/>
                </a:ext>
              </a:extLst>
            </p:cNvPr>
            <p:cNvSpPr>
              <a:spLocks noChangeArrowheads="1"/>
            </p:cNvSpPr>
            <p:nvPr/>
          </p:nvSpPr>
          <p:spPr bwMode="auto">
            <a:xfrm>
              <a:off x="1740417" y="2672476"/>
              <a:ext cx="1524879" cy="647177"/>
            </a:xfrm>
            <a:prstGeom prst="flowChartDecision">
              <a:avLst/>
            </a:prstGeom>
            <a:noFill/>
            <a:ln w="28575">
              <a:solidFill>
                <a:srgbClr val="0070C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b="1">
                  <a:solidFill>
                    <a:srgbClr val="002060"/>
                  </a:solidFill>
                </a:rPr>
                <a:t>联系名</a:t>
              </a:r>
            </a:p>
          </p:txBody>
        </p:sp>
        <p:sp>
          <p:nvSpPr>
            <p:cNvPr id="18442" name="Oval 5">
              <a:extLst>
                <a:ext uri="{FF2B5EF4-FFF2-40B4-BE49-F238E27FC236}">
                  <a16:creationId xmlns:a16="http://schemas.microsoft.com/office/drawing/2014/main" id="{164973DF-0284-3AE8-6E3F-F64F89669D78}"/>
                </a:ext>
              </a:extLst>
            </p:cNvPr>
            <p:cNvSpPr>
              <a:spLocks noChangeArrowheads="1"/>
            </p:cNvSpPr>
            <p:nvPr/>
          </p:nvSpPr>
          <p:spPr bwMode="auto">
            <a:xfrm>
              <a:off x="1755775" y="3502367"/>
              <a:ext cx="1485387" cy="572096"/>
            </a:xfrm>
            <a:prstGeom prst="ellipse">
              <a:avLst/>
            </a:prstGeom>
            <a:noFill/>
            <a:ln w="28575">
              <a:solidFill>
                <a:srgbClr val="0070C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2400" b="1">
                  <a:solidFill>
                    <a:srgbClr val="002060"/>
                  </a:solidFill>
                </a:rPr>
                <a:t>属性名</a:t>
              </a:r>
            </a:p>
          </p:txBody>
        </p:sp>
        <p:sp>
          <p:nvSpPr>
            <p:cNvPr id="11" name="Line 6">
              <a:extLst>
                <a:ext uri="{FF2B5EF4-FFF2-40B4-BE49-F238E27FC236}">
                  <a16:creationId xmlns:a16="http://schemas.microsoft.com/office/drawing/2014/main" id="{3DB9A2A8-5461-E2D7-189E-BD52744C9F5E}"/>
                </a:ext>
              </a:extLst>
            </p:cNvPr>
            <p:cNvSpPr>
              <a:spLocks noChangeShapeType="1"/>
            </p:cNvSpPr>
            <p:nvPr/>
          </p:nvSpPr>
          <p:spPr bwMode="auto">
            <a:xfrm>
              <a:off x="1795833" y="4456021"/>
              <a:ext cx="1410179" cy="0"/>
            </a:xfrm>
            <a:prstGeom prst="line">
              <a:avLst/>
            </a:prstGeom>
            <a:noFill/>
            <a:ln w="28575">
              <a:solidFill>
                <a:srgbClr val="0070C0"/>
              </a:solidFill>
              <a:round/>
              <a:headEnd/>
              <a:tailEnd/>
            </a:ln>
            <a:effectLst/>
          </p:spPr>
          <p:txBody>
            <a:bodyPr/>
            <a:lstStyle/>
            <a:p>
              <a:pPr>
                <a:buFont typeface="Arial" charset="0"/>
                <a:buNone/>
                <a:defRPr/>
              </a:pPr>
              <a:endParaRPr lang="zh-CN" altLang="en-US" sz="2400">
                <a:effectLst>
                  <a:outerShdw blurRad="38100" dist="38100" dir="2700000" algn="tl">
                    <a:srgbClr val="000000">
                      <a:alpha val="43137"/>
                    </a:srgbClr>
                  </a:outerShdw>
                </a:effectLst>
                <a:latin typeface="Arial" charset="0"/>
              </a:endParaRPr>
            </a:p>
          </p:txBody>
        </p:sp>
        <p:sp>
          <p:nvSpPr>
            <p:cNvPr id="12" name="Text Box 10">
              <a:extLst>
                <a:ext uri="{FF2B5EF4-FFF2-40B4-BE49-F238E27FC236}">
                  <a16:creationId xmlns:a16="http://schemas.microsoft.com/office/drawing/2014/main" id="{28792D96-228E-CB71-76A6-B5B4041DD532}"/>
                </a:ext>
              </a:extLst>
            </p:cNvPr>
            <p:cNvSpPr txBox="1">
              <a:spLocks noChangeArrowheads="1"/>
            </p:cNvSpPr>
            <p:nvPr/>
          </p:nvSpPr>
          <p:spPr bwMode="auto">
            <a:xfrm>
              <a:off x="3340176" y="3502248"/>
              <a:ext cx="8315249" cy="307702"/>
            </a:xfrm>
            <a:prstGeom prst="rect">
              <a:avLst/>
            </a:prstGeom>
            <a:noFill/>
            <a:ln>
              <a:noFill/>
            </a:ln>
            <a:effectLst/>
          </p:spPr>
          <p:txBody>
            <a:bodyPr>
              <a:spAutoFit/>
            </a:bodyPr>
            <a:lstStyle/>
            <a:p>
              <a:pPr>
                <a:buFont typeface="Arial" charset="0"/>
                <a:buNone/>
                <a:defRPr/>
              </a:pPr>
              <a:r>
                <a:rPr lang="zh-CN" altLang="en-US" sz="2400" b="1" dirty="0">
                  <a:solidFill>
                    <a:srgbClr val="C00000"/>
                  </a:solidFill>
                  <a:effectLst>
                    <a:outerShdw blurRad="38100" dist="38100" dir="2700000" algn="tl">
                      <a:srgbClr val="C0C0C0"/>
                    </a:outerShdw>
                  </a:effectLst>
                  <a:latin typeface="Arial" charset="0"/>
                </a:rPr>
                <a:t>椭圆：</a:t>
              </a:r>
              <a:r>
                <a:rPr lang="zh-CN" altLang="en-US" sz="2400" b="1" dirty="0">
                  <a:effectLst>
                    <a:outerShdw blurRad="38100" dist="38100" dir="2700000" algn="tl">
                      <a:srgbClr val="C0C0C0"/>
                    </a:outerShdw>
                  </a:effectLst>
                  <a:latin typeface="Arial" charset="0"/>
                </a:rPr>
                <a:t>表示实体的属性，内注属性名，主</a:t>
              </a:r>
              <a:r>
                <a:rPr lang="zh-CN" altLang="en-US" sz="2400" b="1" dirty="0">
                  <a:effectLst>
                    <a:outerShdw blurRad="38100" dist="38100" dir="2700000" algn="tl">
                      <a:srgbClr val="C0C0C0"/>
                    </a:outerShdw>
                  </a:effectLst>
                  <a:latin typeface="Times New Roman" pitchFamily="18" charset="0"/>
                </a:rPr>
                <a:t>码属性加下划线；</a:t>
              </a:r>
              <a:r>
                <a:rPr lang="zh-CN" altLang="en-US" sz="2400" b="1" dirty="0">
                  <a:effectLst>
                    <a:outerShdw blurRad="38100" dist="38100" dir="2700000" algn="tl">
                      <a:srgbClr val="C0C0C0"/>
                    </a:outerShdw>
                  </a:effectLst>
                  <a:latin typeface="Arial" charset="0"/>
                </a:rPr>
                <a:t> </a:t>
              </a:r>
            </a:p>
          </p:txBody>
        </p:sp>
        <p:sp>
          <p:nvSpPr>
            <p:cNvPr id="13" name="Text Box 11">
              <a:extLst>
                <a:ext uri="{FF2B5EF4-FFF2-40B4-BE49-F238E27FC236}">
                  <a16:creationId xmlns:a16="http://schemas.microsoft.com/office/drawing/2014/main" id="{AFB08AFF-A953-1DD7-6032-E28ABC0CE0F4}"/>
                </a:ext>
              </a:extLst>
            </p:cNvPr>
            <p:cNvSpPr txBox="1">
              <a:spLocks noChangeArrowheads="1"/>
            </p:cNvSpPr>
            <p:nvPr/>
          </p:nvSpPr>
          <p:spPr bwMode="auto">
            <a:xfrm>
              <a:off x="3265803" y="4221279"/>
              <a:ext cx="7377559" cy="307702"/>
            </a:xfrm>
            <a:prstGeom prst="rect">
              <a:avLst/>
            </a:prstGeom>
            <a:noFill/>
            <a:ln>
              <a:noFill/>
            </a:ln>
            <a:effectLst/>
          </p:spPr>
          <p:txBody>
            <a:bodyPr>
              <a:spAutoFit/>
            </a:bodyPr>
            <a:lstStyle/>
            <a:p>
              <a:pPr>
                <a:buFont typeface="Arial" charset="0"/>
                <a:buNone/>
                <a:defRPr/>
              </a:pPr>
              <a:r>
                <a:rPr lang="zh-CN" altLang="en-US" sz="2400" b="1" dirty="0">
                  <a:solidFill>
                    <a:srgbClr val="C00000"/>
                  </a:solidFill>
                  <a:effectLst>
                    <a:outerShdw blurRad="38100" dist="38100" dir="2700000" algn="tl">
                      <a:srgbClr val="C0C0C0"/>
                    </a:outerShdw>
                  </a:effectLst>
                  <a:latin typeface="Arial" charset="0"/>
                </a:rPr>
                <a:t>无向边：</a:t>
              </a:r>
              <a:r>
                <a:rPr lang="zh-CN" altLang="en-US" sz="2400" b="1" dirty="0">
                  <a:effectLst>
                    <a:outerShdw blurRad="38100" dist="38100" dir="2700000" algn="tl">
                      <a:srgbClr val="C0C0C0"/>
                    </a:outerShdw>
                  </a:effectLst>
                  <a:latin typeface="Arial" charset="0"/>
                </a:rPr>
                <a:t>表示将实体与相关的属性和联系连接。</a:t>
              </a:r>
            </a:p>
          </p:txBody>
        </p:sp>
        <p:sp>
          <p:nvSpPr>
            <p:cNvPr id="14" name="Text Box 9">
              <a:extLst>
                <a:ext uri="{FF2B5EF4-FFF2-40B4-BE49-F238E27FC236}">
                  <a16:creationId xmlns:a16="http://schemas.microsoft.com/office/drawing/2014/main" id="{D1E522B4-7105-F0C6-92C7-7490709BA101}"/>
                </a:ext>
              </a:extLst>
            </p:cNvPr>
            <p:cNvSpPr txBox="1">
              <a:spLocks noChangeArrowheads="1"/>
            </p:cNvSpPr>
            <p:nvPr/>
          </p:nvSpPr>
          <p:spPr bwMode="auto">
            <a:xfrm>
              <a:off x="3420383" y="2635183"/>
              <a:ext cx="7905465" cy="307702"/>
            </a:xfrm>
            <a:prstGeom prst="rect">
              <a:avLst/>
            </a:prstGeom>
            <a:noFill/>
            <a:ln>
              <a:noFill/>
            </a:ln>
            <a:effectLst/>
          </p:spPr>
          <p:txBody>
            <a:bodyPr>
              <a:spAutoFit/>
            </a:bodyPr>
            <a:lstStyle/>
            <a:p>
              <a:pPr>
                <a:buFont typeface="Arial" charset="0"/>
                <a:buNone/>
                <a:defRPr/>
              </a:pPr>
              <a:r>
                <a:rPr lang="zh-CN" altLang="en-US" sz="2400" b="1" dirty="0">
                  <a:solidFill>
                    <a:srgbClr val="C00000"/>
                  </a:solidFill>
                  <a:effectLst>
                    <a:outerShdw blurRad="38100" dist="38100" dir="2700000" algn="tl">
                      <a:srgbClr val="C0C0C0"/>
                    </a:outerShdw>
                  </a:effectLst>
                  <a:latin typeface="Arial" charset="0"/>
                </a:rPr>
                <a:t>菱形：</a:t>
              </a:r>
              <a:r>
                <a:rPr lang="zh-CN" altLang="en-US" sz="2400" b="1" dirty="0">
                  <a:effectLst>
                    <a:outerShdw blurRad="38100" dist="38100" dir="2700000" algn="tl">
                      <a:srgbClr val="C0C0C0"/>
                    </a:outerShdw>
                  </a:effectLst>
                  <a:latin typeface="Arial" charset="0"/>
                </a:rPr>
                <a:t>表示实体间的联系，内注联系名，一般用为动词；</a:t>
              </a:r>
            </a:p>
          </p:txBody>
        </p:sp>
      </p:grpSp>
      <p:sp>
        <p:nvSpPr>
          <p:cNvPr id="15" name="TextBox 6">
            <a:extLst>
              <a:ext uri="{FF2B5EF4-FFF2-40B4-BE49-F238E27FC236}">
                <a16:creationId xmlns:a16="http://schemas.microsoft.com/office/drawing/2014/main" id="{CBCAD694-C2F3-E922-2D29-D0EBE064A918}"/>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概念模型</a:t>
            </a:r>
          </a:p>
        </p:txBody>
      </p:sp>
    </p:spTree>
  </p:cSld>
  <p:clrMapOvr>
    <a:masterClrMapping/>
  </p:clrMapOvr>
  <p:transition spd="slow">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矩形 1">
            <a:extLst>
              <a:ext uri="{FF2B5EF4-FFF2-40B4-BE49-F238E27FC236}">
                <a16:creationId xmlns:a16="http://schemas.microsoft.com/office/drawing/2014/main" id="{4EBE4C93-116C-AEDB-B4DA-FFE7EAB12250}"/>
              </a:ext>
            </a:extLst>
          </p:cNvPr>
          <p:cNvSpPr>
            <a:spLocks noChangeArrowheads="1"/>
          </p:cNvSpPr>
          <p:nvPr/>
        </p:nvSpPr>
        <p:spPr bwMode="auto">
          <a:xfrm>
            <a:off x="4333875" y="3230563"/>
            <a:ext cx="18415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10000"/>
              </a:lnSpc>
            </a:pPr>
            <a:endParaRPr lang="zh-CN" altLang="en-US">
              <a:latin typeface="黑体" panose="02010609060101010101" pitchFamily="49" charset="-122"/>
              <a:ea typeface="黑体" panose="02010609060101010101" pitchFamily="49" charset="-122"/>
            </a:endParaRPr>
          </a:p>
        </p:txBody>
      </p:sp>
      <p:sp>
        <p:nvSpPr>
          <p:cNvPr id="28" name="矩形 27">
            <a:extLst>
              <a:ext uri="{FF2B5EF4-FFF2-40B4-BE49-F238E27FC236}">
                <a16:creationId xmlns:a16="http://schemas.microsoft.com/office/drawing/2014/main" id="{EFAC74CE-A107-0BC3-318C-507B5972DBBC}"/>
              </a:ext>
            </a:extLst>
          </p:cNvPr>
          <p:cNvSpPr/>
          <p:nvPr/>
        </p:nvSpPr>
        <p:spPr>
          <a:xfrm>
            <a:off x="754063" y="1206500"/>
            <a:ext cx="10313987" cy="544513"/>
          </a:xfrm>
          <a:prstGeom prst="rect">
            <a:avLst/>
          </a:prstGeom>
        </p:spPr>
        <p:txBody>
          <a:bodyPr>
            <a:spAutoFit/>
          </a:bodyPr>
          <a:lstStyle/>
          <a:p>
            <a:pPr lvl="1" algn="just">
              <a:lnSpc>
                <a:spcPct val="105000"/>
              </a:lnSpc>
              <a:spcAft>
                <a:spcPct val="40000"/>
              </a:spcAft>
              <a:buClr>
                <a:srgbClr val="0000FF"/>
              </a:buClr>
              <a:buFont typeface="Arial" charset="0"/>
              <a:buNone/>
              <a:defRPr/>
            </a:pPr>
            <a:r>
              <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rPr>
              <a:t>3.</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实体间联系的类型</a:t>
            </a:r>
          </a:p>
        </p:txBody>
      </p:sp>
      <p:sp>
        <p:nvSpPr>
          <p:cNvPr id="5" name="Rectangle 2">
            <a:extLst>
              <a:ext uri="{FF2B5EF4-FFF2-40B4-BE49-F238E27FC236}">
                <a16:creationId xmlns:a16="http://schemas.microsoft.com/office/drawing/2014/main" id="{1B71F85D-0B45-D318-6391-CB349C58D4C8}"/>
              </a:ext>
            </a:extLst>
          </p:cNvPr>
          <p:cNvSpPr>
            <a:spLocks noChangeArrowheads="1"/>
          </p:cNvSpPr>
          <p:nvPr/>
        </p:nvSpPr>
        <p:spPr bwMode="auto">
          <a:xfrm>
            <a:off x="754063" y="2060575"/>
            <a:ext cx="10996612" cy="3884613"/>
          </a:xfrm>
          <a:prstGeom prst="rect">
            <a:avLst/>
          </a:prstGeom>
          <a:noFill/>
          <a:ln>
            <a:noFill/>
          </a:ln>
          <a:effectLst/>
        </p:spPr>
        <p:txBody>
          <a:bodyPr>
            <a:spAutoFit/>
          </a:bodyPr>
          <a:lstStyle/>
          <a:p>
            <a:pPr marL="1028700" lvl="1" indent="-571500">
              <a:lnSpc>
                <a:spcPct val="105000"/>
              </a:lnSpc>
              <a:spcBef>
                <a:spcPct val="50000"/>
              </a:spcBef>
              <a:buClr>
                <a:srgbClr val="0000FF"/>
              </a:buClr>
              <a:buFont typeface="Wingdings" pitchFamily="2" charset="2"/>
              <a:buChar char="Ø"/>
              <a:defRPr/>
            </a:pPr>
            <a:r>
              <a:rPr lang="zh-CN" altLang="en-US" sz="2800" b="1" dirty="0">
                <a:solidFill>
                  <a:schemeClr val="accent2"/>
                </a:solidFill>
                <a:effectLst>
                  <a:outerShdw blurRad="38100" dist="38100" dir="2700000" algn="tl">
                    <a:srgbClr val="C0C0C0"/>
                  </a:outerShdw>
                </a:effectLst>
                <a:latin typeface="仿宋_GB2312" pitchFamily="49" charset="-122"/>
                <a:ea typeface="仿宋_GB2312" pitchFamily="49" charset="-122"/>
              </a:rPr>
              <a:t>一元联系</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：同一实体集合内的实体间的联系</a:t>
            </a:r>
            <a:endPar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endParaRPr>
          </a:p>
          <a:p>
            <a:pPr lvl="1">
              <a:lnSpc>
                <a:spcPct val="105000"/>
              </a:lnSpc>
              <a:spcBef>
                <a:spcPct val="50000"/>
              </a:spcBef>
              <a:buClr>
                <a:srgbClr val="0000FF"/>
              </a:buClr>
              <a:buFont typeface="Arial" charset="0"/>
              <a:buNone/>
              <a:defRPr/>
            </a:pPr>
            <a:r>
              <a:rPr lang="zh-CN" altLang="en-US" sz="2800" b="1" dirty="0">
                <a:effectLst>
                  <a:outerShdw blurRad="38100" dist="38100" dir="2700000" algn="tl">
                    <a:srgbClr val="C0C0C0"/>
                  </a:outerShdw>
                </a:effectLst>
                <a:latin typeface="仿宋_GB2312" pitchFamily="49" charset="-122"/>
                <a:ea typeface="仿宋_GB2312" pitchFamily="49" charset="-122"/>
              </a:rPr>
              <a:t>如：班长管理</a:t>
            </a:r>
            <a:r>
              <a:rPr lang="zh-CN" altLang="en-US" sz="2800" b="1" dirty="0">
                <a:solidFill>
                  <a:srgbClr val="0070C0"/>
                </a:solidFill>
                <a:effectLst>
                  <a:outerShdw blurRad="38100" dist="38100" dir="2700000" algn="tl">
                    <a:srgbClr val="C0C0C0"/>
                  </a:outerShdw>
                </a:effectLst>
                <a:latin typeface="仿宋_GB2312" pitchFamily="49" charset="-122"/>
                <a:ea typeface="仿宋_GB2312" pitchFamily="49" charset="-122"/>
              </a:rPr>
              <a:t>学生</a:t>
            </a:r>
            <a:r>
              <a:rPr lang="zh-CN" altLang="en-US" sz="2800" b="1" dirty="0">
                <a:effectLst>
                  <a:outerShdw blurRad="38100" dist="38100" dir="2700000" algn="tl">
                    <a:srgbClr val="C0C0C0"/>
                  </a:outerShdw>
                </a:effectLst>
                <a:latin typeface="仿宋_GB2312" pitchFamily="49" charset="-122"/>
                <a:ea typeface="仿宋_GB2312" pitchFamily="49" charset="-122"/>
              </a:rPr>
              <a:t>；领导管理</a:t>
            </a:r>
            <a:r>
              <a:rPr lang="zh-CN" altLang="en-US" sz="2800" b="1" dirty="0">
                <a:solidFill>
                  <a:srgbClr val="0070C0"/>
                </a:solidFill>
                <a:effectLst>
                  <a:outerShdw blurRad="38100" dist="38100" dir="2700000" algn="tl">
                    <a:srgbClr val="C0C0C0"/>
                  </a:outerShdw>
                </a:effectLst>
                <a:latin typeface="仿宋_GB2312" pitchFamily="49" charset="-122"/>
                <a:ea typeface="仿宋_GB2312" pitchFamily="49" charset="-122"/>
              </a:rPr>
              <a:t>员工</a:t>
            </a:r>
            <a:r>
              <a:rPr lang="zh-CN" altLang="en-US" sz="2800" b="1" dirty="0">
                <a:effectLst>
                  <a:outerShdw blurRad="38100" dist="38100" dir="2700000" algn="tl">
                    <a:srgbClr val="C0C0C0"/>
                  </a:outerShdw>
                </a:effectLst>
                <a:latin typeface="仿宋_GB2312" pitchFamily="49" charset="-122"/>
                <a:ea typeface="仿宋_GB2312" pitchFamily="49" charset="-122"/>
              </a:rPr>
              <a:t>；一个零件由多个</a:t>
            </a:r>
            <a:r>
              <a:rPr lang="zh-CN" altLang="en-US" sz="2800" b="1" dirty="0">
                <a:solidFill>
                  <a:srgbClr val="0070C0"/>
                </a:solidFill>
                <a:effectLst>
                  <a:outerShdw blurRad="38100" dist="38100" dir="2700000" algn="tl">
                    <a:srgbClr val="C0C0C0"/>
                  </a:outerShdw>
                </a:effectLst>
                <a:latin typeface="仿宋_GB2312" pitchFamily="49" charset="-122"/>
                <a:ea typeface="仿宋_GB2312" pitchFamily="49" charset="-122"/>
              </a:rPr>
              <a:t>零件</a:t>
            </a:r>
            <a:r>
              <a:rPr lang="zh-CN" altLang="en-US" sz="2800" b="1" dirty="0">
                <a:effectLst>
                  <a:outerShdw blurRad="38100" dist="38100" dir="2700000" algn="tl">
                    <a:srgbClr val="C0C0C0"/>
                  </a:outerShdw>
                </a:effectLst>
                <a:latin typeface="仿宋_GB2312" pitchFamily="49" charset="-122"/>
                <a:ea typeface="仿宋_GB2312" pitchFamily="49" charset="-122"/>
              </a:rPr>
              <a:t>组成</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a:t>
            </a:r>
          </a:p>
          <a:p>
            <a:pPr marL="1028700" lvl="1" indent="-571500">
              <a:lnSpc>
                <a:spcPct val="105000"/>
              </a:lnSpc>
              <a:spcBef>
                <a:spcPct val="50000"/>
              </a:spcBef>
              <a:buClr>
                <a:srgbClr val="0000FF"/>
              </a:buClr>
              <a:buFont typeface="Wingdings" pitchFamily="2" charset="2"/>
              <a:buChar char="Ø"/>
              <a:defRPr/>
            </a:pPr>
            <a:r>
              <a:rPr lang="zh-CN" altLang="en-US" sz="2800" b="1" dirty="0">
                <a:solidFill>
                  <a:schemeClr val="accent2"/>
                </a:solidFill>
                <a:effectLst>
                  <a:outerShdw blurRad="38100" dist="38100" dir="2700000" algn="tl">
                    <a:srgbClr val="C0C0C0"/>
                  </a:outerShdw>
                </a:effectLst>
                <a:latin typeface="仿宋_GB2312" pitchFamily="49" charset="-122"/>
                <a:ea typeface="仿宋_GB2312" pitchFamily="49" charset="-122"/>
              </a:rPr>
              <a:t>二元联系</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：两个不同实体集合的实体间联系</a:t>
            </a:r>
            <a:endPar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endParaRPr>
          </a:p>
          <a:p>
            <a:pPr lvl="1">
              <a:lnSpc>
                <a:spcPct val="105000"/>
              </a:lnSpc>
              <a:spcBef>
                <a:spcPct val="50000"/>
              </a:spcBef>
              <a:buClr>
                <a:srgbClr val="0000FF"/>
              </a:buClr>
              <a:buFont typeface="Arial" charset="0"/>
              <a:buNone/>
              <a:defRPr/>
            </a:pPr>
            <a:r>
              <a:rPr lang="zh-CN" altLang="en-US" sz="2800" b="1" dirty="0">
                <a:effectLst>
                  <a:outerShdw blurRad="38100" dist="38100" dir="2700000" algn="tl">
                    <a:srgbClr val="C0C0C0"/>
                  </a:outerShdw>
                </a:effectLst>
                <a:latin typeface="仿宋_GB2312" pitchFamily="49" charset="-122"/>
                <a:ea typeface="仿宋_GB2312" pitchFamily="49" charset="-122"/>
              </a:rPr>
              <a:t>如：</a:t>
            </a:r>
            <a:r>
              <a:rPr lang="zh-CN" altLang="en-US" sz="2800" b="1" dirty="0">
                <a:solidFill>
                  <a:srgbClr val="0070C0"/>
                </a:solidFill>
                <a:effectLst>
                  <a:outerShdw blurRad="38100" dist="38100" dir="2700000" algn="tl">
                    <a:srgbClr val="C0C0C0"/>
                  </a:outerShdw>
                </a:effectLst>
                <a:latin typeface="仿宋_GB2312" pitchFamily="49" charset="-122"/>
                <a:ea typeface="仿宋_GB2312" pitchFamily="49" charset="-122"/>
              </a:rPr>
              <a:t>学生</a:t>
            </a:r>
            <a:r>
              <a:rPr lang="zh-CN" altLang="en-US" sz="2800" b="1" dirty="0">
                <a:effectLst>
                  <a:outerShdw blurRad="38100" dist="38100" dir="2700000" algn="tl">
                    <a:srgbClr val="C0C0C0"/>
                  </a:outerShdw>
                </a:effectLst>
                <a:latin typeface="仿宋_GB2312" pitchFamily="49" charset="-122"/>
                <a:ea typeface="仿宋_GB2312" pitchFamily="49" charset="-122"/>
              </a:rPr>
              <a:t>选修</a:t>
            </a:r>
            <a:r>
              <a:rPr lang="zh-CN" altLang="en-US" sz="2800" b="1" dirty="0">
                <a:solidFill>
                  <a:srgbClr val="0070C0"/>
                </a:solidFill>
                <a:effectLst>
                  <a:outerShdw blurRad="38100" dist="38100" dir="2700000" algn="tl">
                    <a:srgbClr val="C0C0C0"/>
                  </a:outerShdw>
                </a:effectLst>
                <a:latin typeface="仿宋_GB2312" pitchFamily="49" charset="-122"/>
                <a:ea typeface="仿宋_GB2312" pitchFamily="49" charset="-122"/>
              </a:rPr>
              <a:t>课程</a:t>
            </a:r>
            <a:r>
              <a:rPr lang="zh-CN" altLang="en-US" sz="2800" b="1" dirty="0">
                <a:effectLst>
                  <a:outerShdw blurRad="38100" dist="38100" dir="2700000" algn="tl">
                    <a:srgbClr val="C0C0C0"/>
                  </a:outerShdw>
                </a:effectLst>
                <a:latin typeface="仿宋_GB2312" pitchFamily="49" charset="-122"/>
                <a:ea typeface="仿宋_GB2312" pitchFamily="49" charset="-122"/>
              </a:rPr>
              <a:t>；</a:t>
            </a:r>
            <a:r>
              <a:rPr lang="zh-CN" altLang="en-US" sz="2800" b="1" dirty="0">
                <a:solidFill>
                  <a:srgbClr val="0070C0"/>
                </a:solidFill>
                <a:effectLst>
                  <a:outerShdw blurRad="38100" dist="38100" dir="2700000" algn="tl">
                    <a:srgbClr val="C0C0C0"/>
                  </a:outerShdw>
                </a:effectLst>
                <a:latin typeface="仿宋_GB2312" pitchFamily="49" charset="-122"/>
                <a:ea typeface="仿宋_GB2312" pitchFamily="49" charset="-122"/>
              </a:rPr>
              <a:t>学生</a:t>
            </a:r>
            <a:r>
              <a:rPr lang="zh-CN" altLang="en-US" sz="2800" b="1" dirty="0">
                <a:effectLst>
                  <a:outerShdw blurRad="38100" dist="38100" dir="2700000" algn="tl">
                    <a:srgbClr val="C0C0C0"/>
                  </a:outerShdw>
                </a:effectLst>
                <a:latin typeface="仿宋_GB2312" pitchFamily="49" charset="-122"/>
                <a:ea typeface="仿宋_GB2312" pitchFamily="49" charset="-122"/>
              </a:rPr>
              <a:t>借阅</a:t>
            </a:r>
            <a:r>
              <a:rPr lang="zh-CN" altLang="en-US" sz="2800" b="1" dirty="0">
                <a:solidFill>
                  <a:srgbClr val="0070C0"/>
                </a:solidFill>
                <a:effectLst>
                  <a:outerShdw blurRad="38100" dist="38100" dir="2700000" algn="tl">
                    <a:srgbClr val="C0C0C0"/>
                  </a:outerShdw>
                </a:effectLst>
                <a:latin typeface="仿宋_GB2312" pitchFamily="49" charset="-122"/>
                <a:ea typeface="仿宋_GB2312" pitchFamily="49" charset="-122"/>
              </a:rPr>
              <a:t>图书</a:t>
            </a:r>
            <a:r>
              <a:rPr lang="zh-CN" altLang="en-US" sz="2800" b="1" dirty="0">
                <a:effectLst>
                  <a:outerShdw blurRad="38100" dist="38100" dir="2700000" algn="tl">
                    <a:srgbClr val="C0C0C0"/>
                  </a:outerShdw>
                </a:effectLst>
                <a:latin typeface="仿宋_GB2312" pitchFamily="49" charset="-122"/>
                <a:ea typeface="仿宋_GB2312" pitchFamily="49" charset="-122"/>
              </a:rPr>
              <a:t>。</a:t>
            </a:r>
          </a:p>
          <a:p>
            <a:pPr marL="914400" lvl="1" indent="-457200">
              <a:lnSpc>
                <a:spcPct val="105000"/>
              </a:lnSpc>
              <a:spcBef>
                <a:spcPct val="50000"/>
              </a:spcBef>
              <a:buClr>
                <a:srgbClr val="0000FF"/>
              </a:buClr>
              <a:buFont typeface="Wingdings" pitchFamily="2" charset="2"/>
              <a:buChar char="Ø"/>
              <a:defRPr/>
            </a:pP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 </a:t>
            </a:r>
            <a:r>
              <a:rPr lang="zh-CN" altLang="en-US" sz="2800" b="1" dirty="0">
                <a:solidFill>
                  <a:schemeClr val="accent2"/>
                </a:solidFill>
                <a:effectLst>
                  <a:outerShdw blurRad="38100" dist="38100" dir="2700000" algn="tl">
                    <a:srgbClr val="C0C0C0"/>
                  </a:outerShdw>
                </a:effectLst>
                <a:latin typeface="仿宋_GB2312" pitchFamily="49" charset="-122"/>
                <a:ea typeface="仿宋_GB2312" pitchFamily="49" charset="-122"/>
              </a:rPr>
              <a:t>多元联系：</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两个以上不同实体集合的实体间的联系</a:t>
            </a:r>
            <a:endPar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endParaRPr>
          </a:p>
          <a:p>
            <a:pPr lvl="1">
              <a:lnSpc>
                <a:spcPct val="105000"/>
              </a:lnSpc>
              <a:spcBef>
                <a:spcPct val="50000"/>
              </a:spcBef>
              <a:buClr>
                <a:srgbClr val="0000FF"/>
              </a:buClr>
              <a:buFont typeface="Arial" charset="0"/>
              <a:buNone/>
              <a:defRPr/>
            </a:pPr>
            <a:r>
              <a:rPr lang="zh-CN" altLang="en-US" sz="2800" b="1" dirty="0">
                <a:effectLst>
                  <a:outerShdw blurRad="38100" dist="38100" dir="2700000" algn="tl">
                    <a:srgbClr val="C0C0C0"/>
                  </a:outerShdw>
                </a:effectLst>
                <a:latin typeface="仿宋_GB2312" pitchFamily="49" charset="-122"/>
                <a:ea typeface="仿宋_GB2312" pitchFamily="49" charset="-122"/>
              </a:rPr>
              <a:t>如：某</a:t>
            </a:r>
            <a:r>
              <a:rPr lang="zh-CN" altLang="en-US" sz="2800" b="1" dirty="0">
                <a:solidFill>
                  <a:srgbClr val="0070C0"/>
                </a:solidFill>
                <a:effectLst>
                  <a:outerShdw blurRad="38100" dist="38100" dir="2700000" algn="tl">
                    <a:srgbClr val="C0C0C0"/>
                  </a:outerShdw>
                </a:effectLst>
                <a:latin typeface="仿宋_GB2312" pitchFamily="49" charset="-122"/>
                <a:ea typeface="仿宋_GB2312" pitchFamily="49" charset="-122"/>
              </a:rPr>
              <a:t>工程项目</a:t>
            </a:r>
            <a:r>
              <a:rPr lang="zh-CN" altLang="en-US" sz="2800" b="1" dirty="0">
                <a:effectLst>
                  <a:outerShdw blurRad="38100" dist="38100" dir="2700000" algn="tl">
                    <a:srgbClr val="C0C0C0"/>
                  </a:outerShdw>
                </a:effectLst>
                <a:latin typeface="仿宋_GB2312" pitchFamily="49" charset="-122"/>
                <a:ea typeface="仿宋_GB2312" pitchFamily="49" charset="-122"/>
              </a:rPr>
              <a:t>需要多个</a:t>
            </a:r>
            <a:r>
              <a:rPr lang="zh-CN" altLang="en-US" sz="2800" b="1" dirty="0">
                <a:solidFill>
                  <a:srgbClr val="0070C0"/>
                </a:solidFill>
                <a:effectLst>
                  <a:outerShdw blurRad="38100" dist="38100" dir="2700000" algn="tl">
                    <a:srgbClr val="C0C0C0"/>
                  </a:outerShdw>
                </a:effectLst>
                <a:latin typeface="仿宋_GB2312" pitchFamily="49" charset="-122"/>
                <a:ea typeface="仿宋_GB2312" pitchFamily="49" charset="-122"/>
              </a:rPr>
              <a:t>供应商</a:t>
            </a:r>
            <a:r>
              <a:rPr lang="zh-CN" altLang="en-US" sz="2800" b="1" dirty="0">
                <a:effectLst>
                  <a:outerShdw blurRad="38100" dist="38100" dir="2700000" algn="tl">
                    <a:srgbClr val="C0C0C0"/>
                  </a:outerShdw>
                </a:effectLst>
                <a:latin typeface="仿宋_GB2312" pitchFamily="49" charset="-122"/>
                <a:ea typeface="仿宋_GB2312" pitchFamily="49" charset="-122"/>
              </a:rPr>
              <a:t>提供多种</a:t>
            </a:r>
            <a:r>
              <a:rPr lang="zh-CN" altLang="en-US" sz="2800" b="1" dirty="0">
                <a:solidFill>
                  <a:srgbClr val="0070C0"/>
                </a:solidFill>
                <a:effectLst>
                  <a:outerShdw blurRad="38100" dist="38100" dir="2700000" algn="tl">
                    <a:srgbClr val="C0C0C0"/>
                  </a:outerShdw>
                </a:effectLst>
                <a:latin typeface="仿宋_GB2312" pitchFamily="49" charset="-122"/>
                <a:ea typeface="仿宋_GB2312" pitchFamily="49" charset="-122"/>
              </a:rPr>
              <a:t>零件</a:t>
            </a:r>
          </a:p>
        </p:txBody>
      </p:sp>
      <p:sp>
        <p:nvSpPr>
          <p:cNvPr id="7" name="TextBox 6">
            <a:extLst>
              <a:ext uri="{FF2B5EF4-FFF2-40B4-BE49-F238E27FC236}">
                <a16:creationId xmlns:a16="http://schemas.microsoft.com/office/drawing/2014/main" id="{5566D594-719C-727D-7D77-B9672B3A0BC0}"/>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概念模型</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fade">
                                      <p:cBhvr>
                                        <p:cTn id="23" dur="500"/>
                                        <p:tgtEl>
                                          <p:spTgt spid="5">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animEffect transition="in" filter="fade">
                                      <p:cBhvr>
                                        <p:cTn id="26"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矩形 1">
            <a:extLst>
              <a:ext uri="{FF2B5EF4-FFF2-40B4-BE49-F238E27FC236}">
                <a16:creationId xmlns:a16="http://schemas.microsoft.com/office/drawing/2014/main" id="{8BD72BE0-3107-AA15-1BA9-1B3E29F8634D}"/>
              </a:ext>
            </a:extLst>
          </p:cNvPr>
          <p:cNvSpPr>
            <a:spLocks noChangeArrowheads="1"/>
          </p:cNvSpPr>
          <p:nvPr/>
        </p:nvSpPr>
        <p:spPr bwMode="auto">
          <a:xfrm>
            <a:off x="4333875" y="3230563"/>
            <a:ext cx="18415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10000"/>
              </a:lnSpc>
            </a:pPr>
            <a:endParaRPr lang="zh-CN" altLang="en-US">
              <a:latin typeface="黑体" panose="02010609060101010101" pitchFamily="49" charset="-122"/>
              <a:ea typeface="黑体" panose="02010609060101010101" pitchFamily="49" charset="-122"/>
            </a:endParaRPr>
          </a:p>
        </p:txBody>
      </p:sp>
      <p:sp>
        <p:nvSpPr>
          <p:cNvPr id="28" name="矩形 27">
            <a:extLst>
              <a:ext uri="{FF2B5EF4-FFF2-40B4-BE49-F238E27FC236}">
                <a16:creationId xmlns:a16="http://schemas.microsoft.com/office/drawing/2014/main" id="{4140323C-6DDC-676D-7643-345BD47DDCB7}"/>
              </a:ext>
            </a:extLst>
          </p:cNvPr>
          <p:cNvSpPr/>
          <p:nvPr/>
        </p:nvSpPr>
        <p:spPr>
          <a:xfrm>
            <a:off x="754063" y="1206500"/>
            <a:ext cx="10313987" cy="544513"/>
          </a:xfrm>
          <a:prstGeom prst="rect">
            <a:avLst/>
          </a:prstGeom>
        </p:spPr>
        <p:txBody>
          <a:bodyPr>
            <a:spAutoFit/>
          </a:bodyPr>
          <a:lstStyle/>
          <a:p>
            <a:pPr lvl="1" algn="just">
              <a:lnSpc>
                <a:spcPct val="105000"/>
              </a:lnSpc>
              <a:spcAft>
                <a:spcPct val="40000"/>
              </a:spcAft>
              <a:buClr>
                <a:srgbClr val="0000FF"/>
              </a:buClr>
              <a:buFont typeface="Arial" charset="0"/>
              <a:buNone/>
              <a:defRPr/>
            </a:pPr>
            <a:r>
              <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rPr>
              <a:t>4.</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实体间联系的基数</a:t>
            </a:r>
          </a:p>
        </p:txBody>
      </p:sp>
      <p:sp>
        <p:nvSpPr>
          <p:cNvPr id="20484" name="矩形 2">
            <a:extLst>
              <a:ext uri="{FF2B5EF4-FFF2-40B4-BE49-F238E27FC236}">
                <a16:creationId xmlns:a16="http://schemas.microsoft.com/office/drawing/2014/main" id="{F17A425F-F2BD-8FF0-15A5-212350FB2BB8}"/>
              </a:ext>
            </a:extLst>
          </p:cNvPr>
          <p:cNvSpPr>
            <a:spLocks noChangeArrowheads="1"/>
          </p:cNvSpPr>
          <p:nvPr/>
        </p:nvSpPr>
        <p:spPr bwMode="auto">
          <a:xfrm>
            <a:off x="411163" y="1901825"/>
            <a:ext cx="11304587"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nSpc>
                <a:spcPct val="105000"/>
              </a:lnSpc>
              <a:spcBef>
                <a:spcPct val="50000"/>
              </a:spcBef>
              <a:buClr>
                <a:srgbClr val="0000FF"/>
              </a:buClr>
            </a:pPr>
            <a:r>
              <a:rPr lang="zh-CN" altLang="en-US" sz="2400" b="1">
                <a:solidFill>
                  <a:srgbClr val="C00000"/>
                </a:solidFill>
                <a:latin typeface="仿宋_GB2312" pitchFamily="49" charset="-122"/>
                <a:ea typeface="仿宋_GB2312" pitchFamily="49" charset="-122"/>
              </a:rPr>
              <a:t>（</a:t>
            </a:r>
            <a:r>
              <a:rPr lang="en-US" altLang="zh-CN" sz="2400" b="1">
                <a:solidFill>
                  <a:srgbClr val="C00000"/>
                </a:solidFill>
                <a:latin typeface="仿宋_GB2312" pitchFamily="49" charset="-122"/>
                <a:ea typeface="仿宋_GB2312" pitchFamily="49" charset="-122"/>
              </a:rPr>
              <a:t>1</a:t>
            </a:r>
            <a:r>
              <a:rPr lang="zh-CN" altLang="en-US" sz="2400" b="1">
                <a:solidFill>
                  <a:srgbClr val="C00000"/>
                </a:solidFill>
                <a:latin typeface="仿宋_GB2312" pitchFamily="49" charset="-122"/>
                <a:ea typeface="仿宋_GB2312" pitchFamily="49" charset="-122"/>
              </a:rPr>
              <a:t>）</a:t>
            </a:r>
            <a:r>
              <a:rPr lang="en-US" altLang="zh-CN" sz="2400" b="1">
                <a:solidFill>
                  <a:srgbClr val="C00000"/>
                </a:solidFill>
                <a:latin typeface="仿宋_GB2312" pitchFamily="49" charset="-122"/>
                <a:ea typeface="仿宋_GB2312" pitchFamily="49" charset="-122"/>
              </a:rPr>
              <a:t>1:1 </a:t>
            </a:r>
            <a:r>
              <a:rPr lang="zh-CN" altLang="en-US" sz="2400" b="1">
                <a:solidFill>
                  <a:srgbClr val="C00000"/>
                </a:solidFill>
                <a:latin typeface="仿宋_GB2312" pitchFamily="49" charset="-122"/>
                <a:ea typeface="仿宋_GB2312" pitchFamily="49" charset="-122"/>
              </a:rPr>
              <a:t>联系： </a:t>
            </a:r>
            <a:r>
              <a:rPr lang="zh-CN" altLang="en-US" sz="2400" b="1">
                <a:solidFill>
                  <a:srgbClr val="003366"/>
                </a:solidFill>
              </a:rPr>
              <a:t>若对于实体集</a:t>
            </a:r>
            <a:r>
              <a:rPr lang="en-US" altLang="zh-CN" sz="2400" b="1">
                <a:solidFill>
                  <a:srgbClr val="003366"/>
                </a:solidFill>
              </a:rPr>
              <a:t>A</a:t>
            </a:r>
            <a:r>
              <a:rPr lang="zh-CN" altLang="en-US" sz="2400" b="1">
                <a:solidFill>
                  <a:srgbClr val="003366"/>
                </a:solidFill>
              </a:rPr>
              <a:t>中的每一个实体，实体集</a:t>
            </a:r>
            <a:r>
              <a:rPr lang="en-US" altLang="zh-CN" sz="2400" b="1">
                <a:solidFill>
                  <a:srgbClr val="003366"/>
                </a:solidFill>
              </a:rPr>
              <a:t>B</a:t>
            </a:r>
            <a:r>
              <a:rPr lang="zh-CN" altLang="en-US" sz="2400" b="1">
                <a:solidFill>
                  <a:srgbClr val="003366"/>
                </a:solidFill>
              </a:rPr>
              <a:t>中至多有一个实体与之联系，反之亦然，则称实体集</a:t>
            </a:r>
            <a:r>
              <a:rPr lang="en-US" altLang="zh-CN" sz="2400" b="1">
                <a:solidFill>
                  <a:srgbClr val="003366"/>
                </a:solidFill>
              </a:rPr>
              <a:t>A</a:t>
            </a:r>
            <a:r>
              <a:rPr lang="zh-CN" altLang="en-US" sz="2400" b="1">
                <a:solidFill>
                  <a:srgbClr val="003366"/>
                </a:solidFill>
              </a:rPr>
              <a:t>与实体集</a:t>
            </a:r>
            <a:r>
              <a:rPr lang="en-US" altLang="zh-CN" sz="2400" b="1">
                <a:solidFill>
                  <a:srgbClr val="003366"/>
                </a:solidFill>
              </a:rPr>
              <a:t>B</a:t>
            </a:r>
            <a:r>
              <a:rPr lang="zh-CN" altLang="en-US" sz="2400" b="1">
                <a:solidFill>
                  <a:srgbClr val="003366"/>
                </a:solidFill>
              </a:rPr>
              <a:t>具有一对一联系，记为</a:t>
            </a:r>
            <a:r>
              <a:rPr lang="en-US" altLang="zh-CN" sz="2400" b="1">
                <a:solidFill>
                  <a:srgbClr val="003366"/>
                </a:solidFill>
              </a:rPr>
              <a:t>1:1</a:t>
            </a:r>
            <a:r>
              <a:rPr lang="zh-CN" altLang="en-US" sz="2400" b="1">
                <a:solidFill>
                  <a:srgbClr val="003366"/>
                </a:solidFill>
              </a:rPr>
              <a:t>。</a:t>
            </a:r>
          </a:p>
        </p:txBody>
      </p:sp>
      <p:pic>
        <p:nvPicPr>
          <p:cNvPr id="13319" name="Picture 7">
            <a:extLst>
              <a:ext uri="{FF2B5EF4-FFF2-40B4-BE49-F238E27FC236}">
                <a16:creationId xmlns:a16="http://schemas.microsoft.com/office/drawing/2014/main" id="{A05E29CC-9FF0-FA4E-9552-2C855ACFF7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4625" y="3411538"/>
            <a:ext cx="5640388" cy="286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a:extLst>
              <a:ext uri="{FF2B5EF4-FFF2-40B4-BE49-F238E27FC236}">
                <a16:creationId xmlns:a16="http://schemas.microsoft.com/office/drawing/2014/main" id="{4BCF650C-F2D1-4275-8F1F-2F8CCDEA3895}"/>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概念模型</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319"/>
                                        </p:tgtEl>
                                        <p:attrNameLst>
                                          <p:attrName>style.visibility</p:attrName>
                                        </p:attrNameLst>
                                      </p:cBhvr>
                                      <p:to>
                                        <p:strVal val="visible"/>
                                      </p:to>
                                    </p:set>
                                    <p:anim calcmode="lin" valueType="num">
                                      <p:cBhvr additive="base">
                                        <p:cTn id="7" dur="500" fill="hold"/>
                                        <p:tgtEl>
                                          <p:spTgt spid="13319"/>
                                        </p:tgtEl>
                                        <p:attrNameLst>
                                          <p:attrName>ppt_x</p:attrName>
                                        </p:attrNameLst>
                                      </p:cBhvr>
                                      <p:tavLst>
                                        <p:tav tm="0">
                                          <p:val>
                                            <p:strVal val="#ppt_x"/>
                                          </p:val>
                                        </p:tav>
                                        <p:tav tm="100000">
                                          <p:val>
                                            <p:strVal val="#ppt_x"/>
                                          </p:val>
                                        </p:tav>
                                      </p:tavLst>
                                    </p:anim>
                                    <p:anim calcmode="lin" valueType="num">
                                      <p:cBhvr additive="base">
                                        <p:cTn id="8" dur="500" fill="hold"/>
                                        <p:tgtEl>
                                          <p:spTgt spid="133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矩形 1">
            <a:extLst>
              <a:ext uri="{FF2B5EF4-FFF2-40B4-BE49-F238E27FC236}">
                <a16:creationId xmlns:a16="http://schemas.microsoft.com/office/drawing/2014/main" id="{A2516E45-9647-3963-866A-AB30FD77CFC6}"/>
              </a:ext>
            </a:extLst>
          </p:cNvPr>
          <p:cNvSpPr>
            <a:spLocks noChangeArrowheads="1"/>
          </p:cNvSpPr>
          <p:nvPr/>
        </p:nvSpPr>
        <p:spPr bwMode="auto">
          <a:xfrm>
            <a:off x="4333875" y="3230563"/>
            <a:ext cx="18415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10000"/>
              </a:lnSpc>
            </a:pPr>
            <a:endParaRPr lang="zh-CN" altLang="en-US">
              <a:latin typeface="黑体" panose="02010609060101010101" pitchFamily="49" charset="-122"/>
              <a:ea typeface="黑体" panose="02010609060101010101" pitchFamily="49" charset="-122"/>
            </a:endParaRPr>
          </a:p>
        </p:txBody>
      </p:sp>
      <p:sp>
        <p:nvSpPr>
          <p:cNvPr id="21507" name="矩形 2">
            <a:extLst>
              <a:ext uri="{FF2B5EF4-FFF2-40B4-BE49-F238E27FC236}">
                <a16:creationId xmlns:a16="http://schemas.microsoft.com/office/drawing/2014/main" id="{A891ACD9-69E7-EE0C-4453-833309070DAD}"/>
              </a:ext>
            </a:extLst>
          </p:cNvPr>
          <p:cNvSpPr>
            <a:spLocks noChangeArrowheads="1"/>
          </p:cNvSpPr>
          <p:nvPr/>
        </p:nvSpPr>
        <p:spPr bwMode="auto">
          <a:xfrm>
            <a:off x="411163" y="1341438"/>
            <a:ext cx="11233150" cy="125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nSpc>
                <a:spcPct val="105000"/>
              </a:lnSpc>
              <a:spcBef>
                <a:spcPct val="50000"/>
              </a:spcBef>
              <a:buClr>
                <a:srgbClr val="0000FF"/>
              </a:buClr>
            </a:pPr>
            <a:r>
              <a:rPr lang="zh-CN" altLang="en-US" sz="2400" b="1">
                <a:solidFill>
                  <a:srgbClr val="C00000"/>
                </a:solidFill>
                <a:latin typeface="仿宋_GB2312" pitchFamily="49" charset="-122"/>
                <a:ea typeface="仿宋_GB2312" pitchFamily="49" charset="-122"/>
              </a:rPr>
              <a:t>（</a:t>
            </a:r>
            <a:r>
              <a:rPr lang="en-US" altLang="zh-CN" sz="2400" b="1">
                <a:solidFill>
                  <a:srgbClr val="C00000"/>
                </a:solidFill>
                <a:latin typeface="仿宋_GB2312" pitchFamily="49" charset="-122"/>
                <a:ea typeface="仿宋_GB2312" pitchFamily="49" charset="-122"/>
              </a:rPr>
              <a:t>2</a:t>
            </a:r>
            <a:r>
              <a:rPr lang="zh-CN" altLang="en-US" sz="2400" b="1">
                <a:solidFill>
                  <a:srgbClr val="C00000"/>
                </a:solidFill>
                <a:latin typeface="仿宋_GB2312" pitchFamily="49" charset="-122"/>
                <a:ea typeface="仿宋_GB2312" pitchFamily="49" charset="-122"/>
              </a:rPr>
              <a:t>）</a:t>
            </a:r>
            <a:r>
              <a:rPr lang="en-US" altLang="zh-CN" sz="2400" b="1">
                <a:solidFill>
                  <a:srgbClr val="C00000"/>
                </a:solidFill>
                <a:latin typeface="仿宋_GB2312" pitchFamily="49" charset="-122"/>
                <a:ea typeface="仿宋_GB2312" pitchFamily="49" charset="-122"/>
              </a:rPr>
              <a:t>1:n </a:t>
            </a:r>
            <a:r>
              <a:rPr lang="zh-CN" altLang="en-US" sz="2400" b="1">
                <a:solidFill>
                  <a:srgbClr val="C00000"/>
                </a:solidFill>
                <a:latin typeface="仿宋_GB2312" pitchFamily="49" charset="-122"/>
                <a:ea typeface="仿宋_GB2312" pitchFamily="49" charset="-122"/>
              </a:rPr>
              <a:t>联系：</a:t>
            </a:r>
            <a:r>
              <a:rPr lang="zh-CN" altLang="en-US" sz="2400" b="1">
                <a:solidFill>
                  <a:srgbClr val="002060"/>
                </a:solidFill>
                <a:latin typeface="仿宋_GB2312" pitchFamily="49" charset="-122"/>
                <a:ea typeface="仿宋_GB2312" pitchFamily="49" charset="-122"/>
              </a:rPr>
              <a:t>若对于实体集</a:t>
            </a:r>
            <a:r>
              <a:rPr lang="en-US" altLang="zh-CN" sz="2400" b="1">
                <a:solidFill>
                  <a:srgbClr val="002060"/>
                </a:solidFill>
                <a:latin typeface="仿宋_GB2312" pitchFamily="49" charset="-122"/>
                <a:ea typeface="仿宋_GB2312" pitchFamily="49" charset="-122"/>
              </a:rPr>
              <a:t>A</a:t>
            </a:r>
            <a:r>
              <a:rPr lang="zh-CN" altLang="en-US" sz="2400" b="1">
                <a:solidFill>
                  <a:srgbClr val="002060"/>
                </a:solidFill>
                <a:latin typeface="仿宋_GB2312" pitchFamily="49" charset="-122"/>
                <a:ea typeface="仿宋_GB2312" pitchFamily="49" charset="-122"/>
              </a:rPr>
              <a:t>中的每一个实体，实体集</a:t>
            </a:r>
            <a:r>
              <a:rPr lang="en-US" altLang="zh-CN" sz="2400" b="1">
                <a:solidFill>
                  <a:srgbClr val="002060"/>
                </a:solidFill>
                <a:latin typeface="仿宋_GB2312" pitchFamily="49" charset="-122"/>
                <a:ea typeface="仿宋_GB2312" pitchFamily="49" charset="-122"/>
              </a:rPr>
              <a:t>B</a:t>
            </a:r>
            <a:r>
              <a:rPr lang="zh-CN" altLang="en-US" sz="2400" b="1">
                <a:solidFill>
                  <a:srgbClr val="002060"/>
                </a:solidFill>
                <a:latin typeface="仿宋_GB2312" pitchFamily="49" charset="-122"/>
                <a:ea typeface="仿宋_GB2312" pitchFamily="49" charset="-122"/>
              </a:rPr>
              <a:t>中有</a:t>
            </a:r>
            <a:r>
              <a:rPr lang="en-US" altLang="zh-CN" sz="2400" b="1">
                <a:solidFill>
                  <a:srgbClr val="002060"/>
                </a:solidFill>
                <a:latin typeface="仿宋_GB2312" pitchFamily="49" charset="-122"/>
                <a:ea typeface="仿宋_GB2312" pitchFamily="49" charset="-122"/>
              </a:rPr>
              <a:t>n</a:t>
            </a:r>
            <a:r>
              <a:rPr lang="zh-CN" altLang="en-US" sz="2400" b="1">
                <a:solidFill>
                  <a:srgbClr val="002060"/>
                </a:solidFill>
                <a:latin typeface="仿宋_GB2312" pitchFamily="49" charset="-122"/>
                <a:ea typeface="仿宋_GB2312" pitchFamily="49" charset="-122"/>
              </a:rPr>
              <a:t>个实体与之联系，反之，对于实体集</a:t>
            </a:r>
            <a:r>
              <a:rPr lang="en-US" altLang="zh-CN" sz="2400" b="1">
                <a:solidFill>
                  <a:srgbClr val="002060"/>
                </a:solidFill>
                <a:latin typeface="仿宋_GB2312" pitchFamily="49" charset="-122"/>
                <a:ea typeface="仿宋_GB2312" pitchFamily="49" charset="-122"/>
              </a:rPr>
              <a:t>B</a:t>
            </a:r>
            <a:r>
              <a:rPr lang="zh-CN" altLang="en-US" sz="2400" b="1">
                <a:solidFill>
                  <a:srgbClr val="002060"/>
                </a:solidFill>
                <a:latin typeface="仿宋_GB2312" pitchFamily="49" charset="-122"/>
                <a:ea typeface="仿宋_GB2312" pitchFamily="49" charset="-122"/>
              </a:rPr>
              <a:t>中的每一个实体，实体集</a:t>
            </a:r>
            <a:r>
              <a:rPr lang="en-US" altLang="zh-CN" sz="2400" b="1">
                <a:solidFill>
                  <a:srgbClr val="002060"/>
                </a:solidFill>
                <a:latin typeface="仿宋_GB2312" pitchFamily="49" charset="-122"/>
                <a:ea typeface="仿宋_GB2312" pitchFamily="49" charset="-122"/>
              </a:rPr>
              <a:t>A</a:t>
            </a:r>
            <a:r>
              <a:rPr lang="zh-CN" altLang="en-US" sz="2400" b="1">
                <a:solidFill>
                  <a:srgbClr val="002060"/>
                </a:solidFill>
                <a:latin typeface="仿宋_GB2312" pitchFamily="49" charset="-122"/>
                <a:ea typeface="仿宋_GB2312" pitchFamily="49" charset="-122"/>
              </a:rPr>
              <a:t>中至多只有一个实体与之联系，则称实体集</a:t>
            </a:r>
            <a:r>
              <a:rPr lang="en-US" altLang="zh-CN" sz="2400" b="1">
                <a:solidFill>
                  <a:srgbClr val="002060"/>
                </a:solidFill>
                <a:latin typeface="仿宋_GB2312" pitchFamily="49" charset="-122"/>
                <a:ea typeface="仿宋_GB2312" pitchFamily="49" charset="-122"/>
              </a:rPr>
              <a:t>A</a:t>
            </a:r>
            <a:r>
              <a:rPr lang="zh-CN" altLang="en-US" sz="2400" b="1">
                <a:solidFill>
                  <a:srgbClr val="002060"/>
                </a:solidFill>
                <a:latin typeface="仿宋_GB2312" pitchFamily="49" charset="-122"/>
                <a:ea typeface="仿宋_GB2312" pitchFamily="49" charset="-122"/>
              </a:rPr>
              <a:t>与实体集</a:t>
            </a:r>
            <a:r>
              <a:rPr lang="en-US" altLang="zh-CN" sz="2400" b="1">
                <a:solidFill>
                  <a:srgbClr val="002060"/>
                </a:solidFill>
                <a:latin typeface="仿宋_GB2312" pitchFamily="49" charset="-122"/>
                <a:ea typeface="仿宋_GB2312" pitchFamily="49" charset="-122"/>
              </a:rPr>
              <a:t>B</a:t>
            </a:r>
            <a:r>
              <a:rPr lang="zh-CN" altLang="en-US" sz="2400" b="1">
                <a:solidFill>
                  <a:srgbClr val="002060"/>
                </a:solidFill>
                <a:latin typeface="仿宋_GB2312" pitchFamily="49" charset="-122"/>
                <a:ea typeface="仿宋_GB2312" pitchFamily="49" charset="-122"/>
              </a:rPr>
              <a:t>具有一对多的联系，记为</a:t>
            </a:r>
            <a:r>
              <a:rPr lang="en-US" altLang="zh-CN" sz="2400" b="1">
                <a:solidFill>
                  <a:srgbClr val="002060"/>
                </a:solidFill>
                <a:latin typeface="仿宋_GB2312" pitchFamily="49" charset="-122"/>
                <a:ea typeface="仿宋_GB2312" pitchFamily="49" charset="-122"/>
              </a:rPr>
              <a:t>1:n</a:t>
            </a:r>
            <a:r>
              <a:rPr lang="zh-CN" altLang="en-US" sz="2400" b="1">
                <a:solidFill>
                  <a:srgbClr val="002060"/>
                </a:solidFill>
                <a:latin typeface="仿宋_GB2312" pitchFamily="49" charset="-122"/>
                <a:ea typeface="仿宋_GB2312" pitchFamily="49" charset="-122"/>
              </a:rPr>
              <a:t>。</a:t>
            </a:r>
            <a:endParaRPr lang="zh-CN" altLang="en-US" sz="2400" b="1">
              <a:solidFill>
                <a:srgbClr val="003366"/>
              </a:solidFill>
            </a:endParaRPr>
          </a:p>
        </p:txBody>
      </p:sp>
      <p:pic>
        <p:nvPicPr>
          <p:cNvPr id="20482" name="Picture 2">
            <a:extLst>
              <a:ext uri="{FF2B5EF4-FFF2-40B4-BE49-F238E27FC236}">
                <a16:creationId xmlns:a16="http://schemas.microsoft.com/office/drawing/2014/main" id="{970BE224-487A-DD10-5BDA-49AABBB93B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963" y="2852738"/>
            <a:ext cx="5413375" cy="288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2" name="Picture 6">
            <a:extLst>
              <a:ext uri="{FF2B5EF4-FFF2-40B4-BE49-F238E27FC236}">
                <a16:creationId xmlns:a16="http://schemas.microsoft.com/office/drawing/2014/main" id="{18263A25-A89B-78FD-D80B-08100915B7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0600" y="2852738"/>
            <a:ext cx="3511550" cy="269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2">
            <a:extLst>
              <a:ext uri="{FF2B5EF4-FFF2-40B4-BE49-F238E27FC236}">
                <a16:creationId xmlns:a16="http://schemas.microsoft.com/office/drawing/2014/main" id="{C4C8E954-BCE7-35C7-F763-0CCD92437902}"/>
              </a:ext>
            </a:extLst>
          </p:cNvPr>
          <p:cNvSpPr>
            <a:spLocks noChangeArrowheads="1"/>
          </p:cNvSpPr>
          <p:nvPr/>
        </p:nvSpPr>
        <p:spPr bwMode="auto">
          <a:xfrm>
            <a:off x="1635125" y="5826125"/>
            <a:ext cx="352742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nSpc>
                <a:spcPct val="105000"/>
              </a:lnSpc>
              <a:spcBef>
                <a:spcPct val="50000"/>
              </a:spcBef>
              <a:buClr>
                <a:srgbClr val="0000FF"/>
              </a:buClr>
            </a:pPr>
            <a:r>
              <a:rPr lang="zh-CN" altLang="en-US" sz="2400" b="1">
                <a:solidFill>
                  <a:srgbClr val="003366"/>
                </a:solidFill>
              </a:rPr>
              <a:t>二元实现间</a:t>
            </a:r>
            <a:r>
              <a:rPr lang="en-US" altLang="zh-CN" sz="2400" b="1">
                <a:solidFill>
                  <a:srgbClr val="003366"/>
                </a:solidFill>
              </a:rPr>
              <a:t>1:n</a:t>
            </a:r>
            <a:r>
              <a:rPr lang="zh-CN" altLang="en-US" sz="2400" b="1">
                <a:solidFill>
                  <a:srgbClr val="003366"/>
                </a:solidFill>
              </a:rPr>
              <a:t>联系</a:t>
            </a:r>
          </a:p>
        </p:txBody>
      </p:sp>
      <p:sp>
        <p:nvSpPr>
          <p:cNvPr id="8" name="矩形 2">
            <a:extLst>
              <a:ext uri="{FF2B5EF4-FFF2-40B4-BE49-F238E27FC236}">
                <a16:creationId xmlns:a16="http://schemas.microsoft.com/office/drawing/2014/main" id="{3DE56B87-46DA-E2F8-37BC-03FD5002C97E}"/>
              </a:ext>
            </a:extLst>
          </p:cNvPr>
          <p:cNvSpPr>
            <a:spLocks noChangeArrowheads="1"/>
          </p:cNvSpPr>
          <p:nvPr/>
        </p:nvSpPr>
        <p:spPr bwMode="auto">
          <a:xfrm>
            <a:off x="7178675" y="5741988"/>
            <a:ext cx="352901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nSpc>
                <a:spcPct val="105000"/>
              </a:lnSpc>
              <a:spcBef>
                <a:spcPct val="50000"/>
              </a:spcBef>
              <a:buClr>
                <a:srgbClr val="0000FF"/>
              </a:buClr>
            </a:pPr>
            <a:r>
              <a:rPr lang="zh-CN" altLang="en-US" sz="2400" b="1">
                <a:solidFill>
                  <a:srgbClr val="003366"/>
                </a:solidFill>
              </a:rPr>
              <a:t>一元实现间</a:t>
            </a:r>
            <a:r>
              <a:rPr lang="en-US" altLang="zh-CN" sz="2400" b="1">
                <a:solidFill>
                  <a:srgbClr val="003366"/>
                </a:solidFill>
              </a:rPr>
              <a:t>1:n</a:t>
            </a:r>
            <a:r>
              <a:rPr lang="zh-CN" altLang="en-US" sz="2400" b="1">
                <a:solidFill>
                  <a:srgbClr val="003366"/>
                </a:solidFill>
              </a:rPr>
              <a:t>联系</a:t>
            </a:r>
          </a:p>
        </p:txBody>
      </p:sp>
      <p:sp>
        <p:nvSpPr>
          <p:cNvPr id="9" name="TextBox 6">
            <a:extLst>
              <a:ext uri="{FF2B5EF4-FFF2-40B4-BE49-F238E27FC236}">
                <a16:creationId xmlns:a16="http://schemas.microsoft.com/office/drawing/2014/main" id="{F44275CC-FDAE-A08B-1215-530BDE89C844}"/>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概念模型</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fade">
                                      <p:cBhvr>
                                        <p:cTn id="7" dur="500"/>
                                        <p:tgtEl>
                                          <p:spTgt spid="2048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14342"/>
                                        </p:tgtEl>
                                        <p:attrNameLst>
                                          <p:attrName>style.visibility</p:attrName>
                                        </p:attrNameLst>
                                      </p:cBhvr>
                                      <p:to>
                                        <p:strVal val="visible"/>
                                      </p:to>
                                    </p:set>
                                    <p:animEffect transition="in" filter="fade">
                                      <p:cBhvr>
                                        <p:cTn id="15" dur="500"/>
                                        <p:tgtEl>
                                          <p:spTgt spid="1434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矩形 1">
            <a:extLst>
              <a:ext uri="{FF2B5EF4-FFF2-40B4-BE49-F238E27FC236}">
                <a16:creationId xmlns:a16="http://schemas.microsoft.com/office/drawing/2014/main" id="{601B0836-A29E-F7B2-E717-3FE83DF2BE4A}"/>
              </a:ext>
            </a:extLst>
          </p:cNvPr>
          <p:cNvSpPr>
            <a:spLocks noChangeArrowheads="1"/>
          </p:cNvSpPr>
          <p:nvPr/>
        </p:nvSpPr>
        <p:spPr bwMode="auto">
          <a:xfrm>
            <a:off x="4333875" y="3230563"/>
            <a:ext cx="18415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10000"/>
              </a:lnSpc>
            </a:pPr>
            <a:endParaRPr lang="zh-CN" altLang="en-US">
              <a:latin typeface="黑体" panose="02010609060101010101" pitchFamily="49" charset="-122"/>
              <a:ea typeface="黑体" panose="02010609060101010101" pitchFamily="49" charset="-122"/>
            </a:endParaRPr>
          </a:p>
        </p:txBody>
      </p:sp>
      <p:sp>
        <p:nvSpPr>
          <p:cNvPr id="22531" name="矩形 2">
            <a:extLst>
              <a:ext uri="{FF2B5EF4-FFF2-40B4-BE49-F238E27FC236}">
                <a16:creationId xmlns:a16="http://schemas.microsoft.com/office/drawing/2014/main" id="{A08B0B78-C5D3-91E1-450C-A05EC5995666}"/>
              </a:ext>
            </a:extLst>
          </p:cNvPr>
          <p:cNvSpPr>
            <a:spLocks noChangeArrowheads="1"/>
          </p:cNvSpPr>
          <p:nvPr/>
        </p:nvSpPr>
        <p:spPr bwMode="auto">
          <a:xfrm>
            <a:off x="454025" y="1174750"/>
            <a:ext cx="11190288"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nSpc>
                <a:spcPct val="105000"/>
              </a:lnSpc>
              <a:spcBef>
                <a:spcPct val="50000"/>
              </a:spcBef>
              <a:buClr>
                <a:srgbClr val="0000FF"/>
              </a:buClr>
            </a:pPr>
            <a:r>
              <a:rPr lang="zh-CN" altLang="en-US" sz="2400" b="1">
                <a:solidFill>
                  <a:schemeClr val="accent2"/>
                </a:solidFill>
                <a:latin typeface="仿宋_GB2312" pitchFamily="49" charset="-122"/>
                <a:ea typeface="仿宋_GB2312" pitchFamily="49" charset="-122"/>
              </a:rPr>
              <a:t>（</a:t>
            </a:r>
            <a:r>
              <a:rPr lang="en-US" altLang="zh-CN" sz="2400" b="1">
                <a:solidFill>
                  <a:schemeClr val="accent2"/>
                </a:solidFill>
                <a:latin typeface="仿宋_GB2312" pitchFamily="49" charset="-122"/>
                <a:ea typeface="仿宋_GB2312" pitchFamily="49" charset="-122"/>
              </a:rPr>
              <a:t>3</a:t>
            </a:r>
            <a:r>
              <a:rPr lang="zh-CN" altLang="en-US" sz="2400" b="1">
                <a:solidFill>
                  <a:schemeClr val="accent2"/>
                </a:solidFill>
                <a:latin typeface="仿宋_GB2312" pitchFamily="49" charset="-122"/>
                <a:ea typeface="仿宋_GB2312" pitchFamily="49" charset="-122"/>
              </a:rPr>
              <a:t>）</a:t>
            </a:r>
            <a:r>
              <a:rPr lang="en-US" altLang="zh-CN" sz="2400" b="1">
                <a:solidFill>
                  <a:schemeClr val="accent2"/>
                </a:solidFill>
                <a:latin typeface="仿宋_GB2312" pitchFamily="49" charset="-122"/>
                <a:ea typeface="仿宋_GB2312" pitchFamily="49" charset="-122"/>
              </a:rPr>
              <a:t>m:n </a:t>
            </a:r>
            <a:r>
              <a:rPr lang="zh-CN" altLang="en-US" sz="2400" b="1">
                <a:solidFill>
                  <a:schemeClr val="accent2"/>
                </a:solidFill>
                <a:latin typeface="仿宋_GB2312" pitchFamily="49" charset="-122"/>
                <a:ea typeface="仿宋_GB2312" pitchFamily="49" charset="-122"/>
              </a:rPr>
              <a:t>联系：</a:t>
            </a:r>
            <a:r>
              <a:rPr lang="zh-CN" altLang="en-US" sz="2400" b="1">
                <a:solidFill>
                  <a:srgbClr val="002060"/>
                </a:solidFill>
                <a:latin typeface="仿宋_GB2312" pitchFamily="49" charset="-122"/>
                <a:ea typeface="仿宋_GB2312" pitchFamily="49" charset="-122"/>
              </a:rPr>
              <a:t>若对于实体集</a:t>
            </a:r>
            <a:r>
              <a:rPr lang="en-US" altLang="zh-CN" sz="2400" b="1">
                <a:solidFill>
                  <a:srgbClr val="002060"/>
                </a:solidFill>
                <a:latin typeface="仿宋_GB2312" pitchFamily="49" charset="-122"/>
                <a:ea typeface="仿宋_GB2312" pitchFamily="49" charset="-122"/>
              </a:rPr>
              <a:t>A</a:t>
            </a:r>
            <a:r>
              <a:rPr lang="zh-CN" altLang="en-US" sz="2400" b="1">
                <a:solidFill>
                  <a:srgbClr val="002060"/>
                </a:solidFill>
                <a:latin typeface="仿宋_GB2312" pitchFamily="49" charset="-122"/>
                <a:ea typeface="仿宋_GB2312" pitchFamily="49" charset="-122"/>
              </a:rPr>
              <a:t>中的每一个实体，实体集</a:t>
            </a:r>
            <a:r>
              <a:rPr lang="en-US" altLang="zh-CN" sz="2400" b="1">
                <a:solidFill>
                  <a:srgbClr val="002060"/>
                </a:solidFill>
                <a:latin typeface="仿宋_GB2312" pitchFamily="49" charset="-122"/>
                <a:ea typeface="仿宋_GB2312" pitchFamily="49" charset="-122"/>
              </a:rPr>
              <a:t>B</a:t>
            </a:r>
            <a:r>
              <a:rPr lang="zh-CN" altLang="en-US" sz="2400" b="1">
                <a:solidFill>
                  <a:srgbClr val="002060"/>
                </a:solidFill>
                <a:latin typeface="仿宋_GB2312" pitchFamily="49" charset="-122"/>
                <a:ea typeface="仿宋_GB2312" pitchFamily="49" charset="-122"/>
              </a:rPr>
              <a:t>中有</a:t>
            </a:r>
            <a:r>
              <a:rPr lang="en-US" altLang="zh-CN" sz="2400" b="1">
                <a:solidFill>
                  <a:srgbClr val="002060"/>
                </a:solidFill>
                <a:latin typeface="仿宋_GB2312" pitchFamily="49" charset="-122"/>
                <a:ea typeface="仿宋_GB2312" pitchFamily="49" charset="-122"/>
              </a:rPr>
              <a:t>n</a:t>
            </a:r>
            <a:r>
              <a:rPr lang="zh-CN" altLang="en-US" sz="2400" b="1">
                <a:solidFill>
                  <a:srgbClr val="002060"/>
                </a:solidFill>
                <a:latin typeface="仿宋_GB2312" pitchFamily="49" charset="-122"/>
                <a:ea typeface="仿宋_GB2312" pitchFamily="49" charset="-122"/>
              </a:rPr>
              <a:t>个实体与之联系，反之亦然，则称实体集</a:t>
            </a:r>
            <a:r>
              <a:rPr lang="en-US" altLang="zh-CN" sz="2400" b="1">
                <a:solidFill>
                  <a:srgbClr val="002060"/>
                </a:solidFill>
                <a:latin typeface="仿宋_GB2312" pitchFamily="49" charset="-122"/>
                <a:ea typeface="仿宋_GB2312" pitchFamily="49" charset="-122"/>
              </a:rPr>
              <a:t>A</a:t>
            </a:r>
            <a:r>
              <a:rPr lang="zh-CN" altLang="en-US" sz="2400" b="1">
                <a:solidFill>
                  <a:srgbClr val="002060"/>
                </a:solidFill>
                <a:latin typeface="仿宋_GB2312" pitchFamily="49" charset="-122"/>
                <a:ea typeface="仿宋_GB2312" pitchFamily="49" charset="-122"/>
              </a:rPr>
              <a:t>与实体集</a:t>
            </a:r>
            <a:r>
              <a:rPr lang="en-US" altLang="zh-CN" sz="2400" b="1">
                <a:solidFill>
                  <a:srgbClr val="002060"/>
                </a:solidFill>
                <a:latin typeface="仿宋_GB2312" pitchFamily="49" charset="-122"/>
                <a:ea typeface="仿宋_GB2312" pitchFamily="49" charset="-122"/>
              </a:rPr>
              <a:t>B</a:t>
            </a:r>
            <a:r>
              <a:rPr lang="zh-CN" altLang="en-US" sz="2400" b="1">
                <a:solidFill>
                  <a:srgbClr val="002060"/>
                </a:solidFill>
                <a:latin typeface="仿宋_GB2312" pitchFamily="49" charset="-122"/>
                <a:ea typeface="仿宋_GB2312" pitchFamily="49" charset="-122"/>
              </a:rPr>
              <a:t>具有多对多的联系，记为</a:t>
            </a:r>
            <a:r>
              <a:rPr lang="en-US" altLang="zh-CN" sz="2400" b="1">
                <a:solidFill>
                  <a:srgbClr val="002060"/>
                </a:solidFill>
                <a:latin typeface="仿宋_GB2312" pitchFamily="49" charset="-122"/>
                <a:ea typeface="仿宋_GB2312" pitchFamily="49" charset="-122"/>
              </a:rPr>
              <a:t>m:n</a:t>
            </a:r>
            <a:r>
              <a:rPr lang="zh-CN" altLang="en-US" sz="2400" b="1">
                <a:solidFill>
                  <a:srgbClr val="002060"/>
                </a:solidFill>
                <a:latin typeface="仿宋_GB2312" pitchFamily="49" charset="-122"/>
                <a:ea typeface="仿宋_GB2312" pitchFamily="49" charset="-122"/>
              </a:rPr>
              <a:t>。</a:t>
            </a:r>
            <a:endParaRPr lang="zh-CN" altLang="en-US" sz="2400" b="1">
              <a:solidFill>
                <a:srgbClr val="002060"/>
              </a:solidFill>
            </a:endParaRPr>
          </a:p>
        </p:txBody>
      </p:sp>
      <p:pic>
        <p:nvPicPr>
          <p:cNvPr id="21506" name="Picture 2">
            <a:extLst>
              <a:ext uri="{FF2B5EF4-FFF2-40B4-BE49-F238E27FC236}">
                <a16:creationId xmlns:a16="http://schemas.microsoft.com/office/drawing/2014/main" id="{51D9CC66-2CDE-301D-D75E-9A7C301794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638" y="2771775"/>
            <a:ext cx="5432425" cy="288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6" name="Picture 6">
            <a:extLst>
              <a:ext uri="{FF2B5EF4-FFF2-40B4-BE49-F238E27FC236}">
                <a16:creationId xmlns:a16="http://schemas.microsoft.com/office/drawing/2014/main" id="{578D9DF9-06CB-2806-7832-A59C1F0FC7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7238" y="2276475"/>
            <a:ext cx="4219575" cy="373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2">
            <a:extLst>
              <a:ext uri="{FF2B5EF4-FFF2-40B4-BE49-F238E27FC236}">
                <a16:creationId xmlns:a16="http://schemas.microsoft.com/office/drawing/2014/main" id="{DF75393A-A202-5336-CE72-38CE3428296D}"/>
              </a:ext>
            </a:extLst>
          </p:cNvPr>
          <p:cNvSpPr>
            <a:spLocks noChangeArrowheads="1"/>
          </p:cNvSpPr>
          <p:nvPr/>
        </p:nvSpPr>
        <p:spPr bwMode="auto">
          <a:xfrm>
            <a:off x="1635125" y="6116638"/>
            <a:ext cx="352742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nSpc>
                <a:spcPct val="105000"/>
              </a:lnSpc>
              <a:spcBef>
                <a:spcPct val="50000"/>
              </a:spcBef>
              <a:buClr>
                <a:srgbClr val="0000FF"/>
              </a:buClr>
            </a:pPr>
            <a:r>
              <a:rPr lang="zh-CN" altLang="en-US" sz="2400" b="1">
                <a:solidFill>
                  <a:srgbClr val="003366"/>
                </a:solidFill>
              </a:rPr>
              <a:t>二元实现间</a:t>
            </a:r>
            <a:r>
              <a:rPr lang="en-US" altLang="zh-CN" sz="2400" b="1">
                <a:solidFill>
                  <a:srgbClr val="003366"/>
                </a:solidFill>
              </a:rPr>
              <a:t>m:n</a:t>
            </a:r>
            <a:r>
              <a:rPr lang="zh-CN" altLang="en-US" sz="2400" b="1">
                <a:solidFill>
                  <a:srgbClr val="003366"/>
                </a:solidFill>
              </a:rPr>
              <a:t>联系</a:t>
            </a:r>
          </a:p>
        </p:txBody>
      </p:sp>
      <p:sp>
        <p:nvSpPr>
          <p:cNvPr id="8" name="矩形 2">
            <a:extLst>
              <a:ext uri="{FF2B5EF4-FFF2-40B4-BE49-F238E27FC236}">
                <a16:creationId xmlns:a16="http://schemas.microsoft.com/office/drawing/2014/main" id="{82655B70-E3A7-2B39-BAD4-A8CD8FA83AB9}"/>
              </a:ext>
            </a:extLst>
          </p:cNvPr>
          <p:cNvSpPr>
            <a:spLocks noChangeArrowheads="1"/>
          </p:cNvSpPr>
          <p:nvPr/>
        </p:nvSpPr>
        <p:spPr bwMode="auto">
          <a:xfrm>
            <a:off x="7178675" y="6034088"/>
            <a:ext cx="3529013"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nSpc>
                <a:spcPct val="105000"/>
              </a:lnSpc>
              <a:spcBef>
                <a:spcPct val="50000"/>
              </a:spcBef>
              <a:buClr>
                <a:srgbClr val="0000FF"/>
              </a:buClr>
            </a:pPr>
            <a:r>
              <a:rPr lang="zh-CN" altLang="en-US" sz="2400" b="1">
                <a:solidFill>
                  <a:srgbClr val="003366"/>
                </a:solidFill>
              </a:rPr>
              <a:t>多元实现间</a:t>
            </a:r>
            <a:r>
              <a:rPr lang="en-US" altLang="zh-CN" sz="2400" b="1">
                <a:solidFill>
                  <a:srgbClr val="003366"/>
                </a:solidFill>
              </a:rPr>
              <a:t>m:n</a:t>
            </a:r>
            <a:r>
              <a:rPr lang="zh-CN" altLang="en-US" sz="2400" b="1">
                <a:solidFill>
                  <a:srgbClr val="003366"/>
                </a:solidFill>
              </a:rPr>
              <a:t>联系</a:t>
            </a:r>
          </a:p>
        </p:txBody>
      </p:sp>
      <p:sp>
        <p:nvSpPr>
          <p:cNvPr id="9" name="TextBox 6">
            <a:extLst>
              <a:ext uri="{FF2B5EF4-FFF2-40B4-BE49-F238E27FC236}">
                <a16:creationId xmlns:a16="http://schemas.microsoft.com/office/drawing/2014/main" id="{5339724A-A5D9-64E9-88C8-BD60D6849BBE}"/>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概念模型</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anim calcmode="lin" valueType="num">
                                      <p:cBhvr additive="base">
                                        <p:cTn id="7" dur="500" fill="hold"/>
                                        <p:tgtEl>
                                          <p:spTgt spid="21506"/>
                                        </p:tgtEl>
                                        <p:attrNameLst>
                                          <p:attrName>ppt_x</p:attrName>
                                        </p:attrNameLst>
                                      </p:cBhvr>
                                      <p:tavLst>
                                        <p:tav tm="0">
                                          <p:val>
                                            <p:strVal val="#ppt_x"/>
                                          </p:val>
                                        </p:tav>
                                        <p:tav tm="100000">
                                          <p:val>
                                            <p:strVal val="#ppt_x"/>
                                          </p:val>
                                        </p:tav>
                                      </p:tavLst>
                                    </p:anim>
                                    <p:anim calcmode="lin" valueType="num">
                                      <p:cBhvr additive="base">
                                        <p:cTn id="8" dur="500" fill="hold"/>
                                        <p:tgtEl>
                                          <p:spTgt spid="2150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4" fill="hold" nodeType="clickEffect">
                                  <p:stCondLst>
                                    <p:cond delay="0"/>
                                  </p:stCondLst>
                                  <p:childTnLst>
                                    <p:set>
                                      <p:cBhvr>
                                        <p:cTn id="15" dur="1" fill="hold">
                                          <p:stCondLst>
                                            <p:cond delay="0"/>
                                          </p:stCondLst>
                                        </p:cTn>
                                        <p:tgtEl>
                                          <p:spTgt spid="15366"/>
                                        </p:tgtEl>
                                        <p:attrNameLst>
                                          <p:attrName>style.visibility</p:attrName>
                                        </p:attrNameLst>
                                      </p:cBhvr>
                                      <p:to>
                                        <p:strVal val="visible"/>
                                      </p:to>
                                    </p:set>
                                    <p:anim calcmode="lin" valueType="num">
                                      <p:cBhvr additive="base">
                                        <p:cTn id="16" dur="500" fill="hold"/>
                                        <p:tgtEl>
                                          <p:spTgt spid="15366"/>
                                        </p:tgtEl>
                                        <p:attrNameLst>
                                          <p:attrName>ppt_x</p:attrName>
                                        </p:attrNameLst>
                                      </p:cBhvr>
                                      <p:tavLst>
                                        <p:tav tm="0">
                                          <p:val>
                                            <p:strVal val="#ppt_x"/>
                                          </p:val>
                                        </p:tav>
                                        <p:tav tm="100000">
                                          <p:val>
                                            <p:strVal val="#ppt_x"/>
                                          </p:val>
                                        </p:tav>
                                      </p:tavLst>
                                    </p:anim>
                                    <p:anim calcmode="lin" valueType="num">
                                      <p:cBhvr additive="base">
                                        <p:cTn id="17" dur="500" fill="hold"/>
                                        <p:tgtEl>
                                          <p:spTgt spid="15366"/>
                                        </p:tgtEl>
                                        <p:attrNameLst>
                                          <p:attrName>ppt_y</p:attrName>
                                        </p:attrNameLst>
                                      </p:cBhvr>
                                      <p:tavLst>
                                        <p:tav tm="0">
                                          <p:val>
                                            <p:strVal val="1+#ppt_h/2"/>
                                          </p:val>
                                        </p:tav>
                                        <p:tav tm="100000">
                                          <p:val>
                                            <p:strVal val="#ppt_y"/>
                                          </p:val>
                                        </p:tav>
                                      </p:tavLst>
                                    </p:anim>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1">
            <a:extLst>
              <a:ext uri="{FF2B5EF4-FFF2-40B4-BE49-F238E27FC236}">
                <a16:creationId xmlns:a16="http://schemas.microsoft.com/office/drawing/2014/main" id="{765905FC-22FF-89FF-E7A9-464CB3F2A023}"/>
              </a:ext>
            </a:extLst>
          </p:cNvPr>
          <p:cNvSpPr>
            <a:spLocks noChangeArrowheads="1"/>
          </p:cNvSpPr>
          <p:nvPr/>
        </p:nvSpPr>
        <p:spPr bwMode="auto">
          <a:xfrm>
            <a:off x="4333875" y="3230563"/>
            <a:ext cx="18415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10000"/>
              </a:lnSpc>
            </a:pPr>
            <a:endParaRPr lang="zh-CN" altLang="en-US">
              <a:latin typeface="黑体" panose="02010609060101010101" pitchFamily="49" charset="-122"/>
              <a:ea typeface="黑体" panose="02010609060101010101" pitchFamily="49" charset="-122"/>
            </a:endParaRPr>
          </a:p>
        </p:txBody>
      </p:sp>
      <p:sp>
        <p:nvSpPr>
          <p:cNvPr id="23555" name="矩形 2">
            <a:extLst>
              <a:ext uri="{FF2B5EF4-FFF2-40B4-BE49-F238E27FC236}">
                <a16:creationId xmlns:a16="http://schemas.microsoft.com/office/drawing/2014/main" id="{A8B4E988-FD3E-AD35-4A31-ED69DBD7CA9B}"/>
              </a:ext>
            </a:extLst>
          </p:cNvPr>
          <p:cNvSpPr>
            <a:spLocks noChangeArrowheads="1"/>
          </p:cNvSpPr>
          <p:nvPr/>
        </p:nvSpPr>
        <p:spPr bwMode="auto">
          <a:xfrm>
            <a:off x="425450" y="1700213"/>
            <a:ext cx="11506200"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nSpc>
                <a:spcPct val="105000"/>
              </a:lnSpc>
              <a:spcBef>
                <a:spcPct val="50000"/>
              </a:spcBef>
              <a:buClr>
                <a:srgbClr val="0000FF"/>
              </a:buClr>
            </a:pPr>
            <a:r>
              <a:rPr lang="zh-CN" altLang="en-US" sz="2400" b="1">
                <a:solidFill>
                  <a:srgbClr val="002060"/>
                </a:solidFill>
                <a:latin typeface="仿宋_GB2312" pitchFamily="49" charset="-122"/>
                <a:ea typeface="仿宋_GB2312" pitchFamily="49" charset="-122"/>
              </a:rPr>
              <a:t>实体间发生联系时往往会产生中间属性，中间属性属于联系，不属于任何实体。</a:t>
            </a:r>
            <a:endParaRPr lang="zh-CN" altLang="en-US" sz="2400" b="1">
              <a:solidFill>
                <a:srgbClr val="002060"/>
              </a:solidFill>
            </a:endParaRPr>
          </a:p>
        </p:txBody>
      </p:sp>
      <p:sp>
        <p:nvSpPr>
          <p:cNvPr id="7" name="矩形 6">
            <a:extLst>
              <a:ext uri="{FF2B5EF4-FFF2-40B4-BE49-F238E27FC236}">
                <a16:creationId xmlns:a16="http://schemas.microsoft.com/office/drawing/2014/main" id="{5C3C1D5C-4190-D4CD-7673-AD12BE343FC3}"/>
              </a:ext>
            </a:extLst>
          </p:cNvPr>
          <p:cNvSpPr/>
          <p:nvPr/>
        </p:nvSpPr>
        <p:spPr>
          <a:xfrm>
            <a:off x="987425" y="1066800"/>
            <a:ext cx="10313988" cy="544513"/>
          </a:xfrm>
          <a:prstGeom prst="rect">
            <a:avLst/>
          </a:prstGeom>
        </p:spPr>
        <p:txBody>
          <a:bodyPr>
            <a:spAutoFit/>
          </a:bodyPr>
          <a:lstStyle/>
          <a:p>
            <a:pPr lvl="1" algn="just">
              <a:lnSpc>
                <a:spcPct val="105000"/>
              </a:lnSpc>
              <a:spcAft>
                <a:spcPct val="40000"/>
              </a:spcAft>
              <a:buClr>
                <a:srgbClr val="0000FF"/>
              </a:buClr>
              <a:buFont typeface="Arial" charset="0"/>
              <a:buNone/>
              <a:defRPr/>
            </a:pPr>
            <a:r>
              <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rPr>
              <a:t>5.</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联系的属性</a:t>
            </a:r>
          </a:p>
        </p:txBody>
      </p:sp>
      <p:pic>
        <p:nvPicPr>
          <p:cNvPr id="22530" name="Picture 2">
            <a:extLst>
              <a:ext uri="{FF2B5EF4-FFF2-40B4-BE49-F238E27FC236}">
                <a16:creationId xmlns:a16="http://schemas.microsoft.com/office/drawing/2014/main" id="{63F5A776-0B94-89D5-52EF-B3EDCB8563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8675" y="2919413"/>
            <a:ext cx="3168650" cy="280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1" name="Picture 3">
            <a:extLst>
              <a:ext uri="{FF2B5EF4-FFF2-40B4-BE49-F238E27FC236}">
                <a16:creationId xmlns:a16="http://schemas.microsoft.com/office/drawing/2014/main" id="{98A35DDC-D3BD-6B5B-5862-ECFB5066AA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2825" y="2852738"/>
            <a:ext cx="2841625" cy="285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6">
            <a:extLst>
              <a:ext uri="{FF2B5EF4-FFF2-40B4-BE49-F238E27FC236}">
                <a16:creationId xmlns:a16="http://schemas.microsoft.com/office/drawing/2014/main" id="{AB37BE73-A0F3-8D0B-85BA-7A52F5F61556}"/>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概念模型</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2531"/>
                                        </p:tgtEl>
                                        <p:attrNameLst>
                                          <p:attrName>style.visibility</p:attrName>
                                        </p:attrNameLst>
                                      </p:cBhvr>
                                      <p:to>
                                        <p:strVal val="visible"/>
                                      </p:to>
                                    </p:set>
                                    <p:anim calcmode="lin" valueType="num">
                                      <p:cBhvr additive="base">
                                        <p:cTn id="7" dur="500" fill="hold"/>
                                        <p:tgtEl>
                                          <p:spTgt spid="22531"/>
                                        </p:tgtEl>
                                        <p:attrNameLst>
                                          <p:attrName>ppt_x</p:attrName>
                                        </p:attrNameLst>
                                      </p:cBhvr>
                                      <p:tavLst>
                                        <p:tav tm="0">
                                          <p:val>
                                            <p:strVal val="#ppt_x"/>
                                          </p:val>
                                        </p:tav>
                                        <p:tav tm="100000">
                                          <p:val>
                                            <p:strVal val="#ppt_x"/>
                                          </p:val>
                                        </p:tav>
                                      </p:tavLst>
                                    </p:anim>
                                    <p:anim calcmode="lin" valueType="num">
                                      <p:cBhvr additive="base">
                                        <p:cTn id="8" dur="500" fill="hold"/>
                                        <p:tgtEl>
                                          <p:spTgt spid="2253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2530"/>
                                        </p:tgtEl>
                                        <p:attrNameLst>
                                          <p:attrName>style.visibility</p:attrName>
                                        </p:attrNameLst>
                                      </p:cBhvr>
                                      <p:to>
                                        <p:strVal val="visible"/>
                                      </p:to>
                                    </p:set>
                                    <p:anim calcmode="lin" valueType="num">
                                      <p:cBhvr additive="base">
                                        <p:cTn id="13" dur="500" fill="hold"/>
                                        <p:tgtEl>
                                          <p:spTgt spid="22530"/>
                                        </p:tgtEl>
                                        <p:attrNameLst>
                                          <p:attrName>ppt_x</p:attrName>
                                        </p:attrNameLst>
                                      </p:cBhvr>
                                      <p:tavLst>
                                        <p:tav tm="0">
                                          <p:val>
                                            <p:strVal val="#ppt_x"/>
                                          </p:val>
                                        </p:tav>
                                        <p:tav tm="100000">
                                          <p:val>
                                            <p:strVal val="#ppt_x"/>
                                          </p:val>
                                        </p:tav>
                                      </p:tavLst>
                                    </p:anim>
                                    <p:anim calcmode="lin" valueType="num">
                                      <p:cBhvr additive="base">
                                        <p:cTn id="14" dur="500" fill="hold"/>
                                        <p:tgtEl>
                                          <p:spTgt spid="225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EBBAE44E-C36B-48D9-DBDF-928EC91E0EF2}"/>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概念结构设计</a:t>
            </a:r>
          </a:p>
        </p:txBody>
      </p:sp>
      <p:sp>
        <p:nvSpPr>
          <p:cNvPr id="24579" name="矩形 1">
            <a:extLst>
              <a:ext uri="{FF2B5EF4-FFF2-40B4-BE49-F238E27FC236}">
                <a16:creationId xmlns:a16="http://schemas.microsoft.com/office/drawing/2014/main" id="{F9146273-FC1D-7381-D21D-E795563A1E35}"/>
              </a:ext>
            </a:extLst>
          </p:cNvPr>
          <p:cNvSpPr>
            <a:spLocks noChangeArrowheads="1"/>
          </p:cNvSpPr>
          <p:nvPr/>
        </p:nvSpPr>
        <p:spPr bwMode="auto">
          <a:xfrm>
            <a:off x="4333875" y="3230563"/>
            <a:ext cx="18415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10000"/>
              </a:lnSpc>
            </a:pPr>
            <a:endParaRPr lang="zh-CN" altLang="en-US">
              <a:latin typeface="黑体" panose="02010609060101010101" pitchFamily="49" charset="-122"/>
              <a:ea typeface="黑体" panose="02010609060101010101" pitchFamily="49" charset="-122"/>
            </a:endParaRPr>
          </a:p>
        </p:txBody>
      </p:sp>
      <p:sp>
        <p:nvSpPr>
          <p:cNvPr id="24580" name="矩形 1">
            <a:extLst>
              <a:ext uri="{FF2B5EF4-FFF2-40B4-BE49-F238E27FC236}">
                <a16:creationId xmlns:a16="http://schemas.microsoft.com/office/drawing/2014/main" id="{2D06F61E-E9F7-37C8-D116-8980B1A34017}"/>
              </a:ext>
            </a:extLst>
          </p:cNvPr>
          <p:cNvSpPr>
            <a:spLocks noChangeArrowheads="1"/>
          </p:cNvSpPr>
          <p:nvPr/>
        </p:nvSpPr>
        <p:spPr bwMode="auto">
          <a:xfrm>
            <a:off x="347663" y="1079500"/>
            <a:ext cx="11788775" cy="522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nSpc>
                <a:spcPts val="3500"/>
              </a:lnSpc>
              <a:spcBef>
                <a:spcPct val="25000"/>
              </a:spcBef>
              <a:buClr>
                <a:schemeClr val="accent2"/>
              </a:buClr>
            </a:pPr>
            <a:r>
              <a:rPr lang="en-US" altLang="zh-CN" sz="2400" b="1">
                <a:latin typeface="Times New Roman" panose="02020603050405020304" pitchFamily="18" charset="0"/>
              </a:rPr>
              <a:t>【</a:t>
            </a:r>
            <a:r>
              <a:rPr lang="zh-CN" altLang="en-US" sz="2400" b="1">
                <a:latin typeface="Times New Roman" panose="02020603050405020304" pitchFamily="18" charset="0"/>
              </a:rPr>
              <a:t>例</a:t>
            </a:r>
            <a:r>
              <a:rPr lang="en-US" altLang="zh-CN" sz="2400" b="1">
                <a:latin typeface="Times New Roman" panose="02020603050405020304" pitchFamily="18" charset="0"/>
              </a:rPr>
              <a:t>9.1】</a:t>
            </a:r>
            <a:r>
              <a:rPr lang="zh-CN" altLang="en-US" sz="2400" b="1">
                <a:latin typeface="Times New Roman" panose="02020603050405020304" pitchFamily="18" charset="0"/>
              </a:rPr>
              <a:t>：以下是某数据库系统与数据库设计相关的语义，请根据语义进行概念结构设计，画出</a:t>
            </a:r>
            <a:r>
              <a:rPr lang="en-US" altLang="zh-CN" sz="2400" b="1">
                <a:latin typeface="Times New Roman" panose="02020603050405020304" pitchFamily="18" charset="0"/>
              </a:rPr>
              <a:t>E-R</a:t>
            </a:r>
            <a:r>
              <a:rPr lang="zh-CN" altLang="en-US" sz="2400" b="1">
                <a:latin typeface="Times New Roman" panose="02020603050405020304" pitchFamily="18" charset="0"/>
              </a:rPr>
              <a:t>图。</a:t>
            </a:r>
            <a:endParaRPr lang="en-US" altLang="zh-CN" sz="2400" b="1">
              <a:latin typeface="Times New Roman" panose="02020603050405020304" pitchFamily="18" charset="0"/>
            </a:endParaRPr>
          </a:p>
          <a:p>
            <a:pPr lvl="1">
              <a:lnSpc>
                <a:spcPts val="3500"/>
              </a:lnSpc>
              <a:spcBef>
                <a:spcPct val="25000"/>
              </a:spcBef>
              <a:buClr>
                <a:schemeClr val="accent2"/>
              </a:buClr>
            </a:pPr>
            <a:r>
              <a:rPr lang="zh-CN" altLang="en-US" sz="2400" b="1">
                <a:solidFill>
                  <a:srgbClr val="002060"/>
                </a:solidFill>
                <a:latin typeface="Times New Roman" panose="02020603050405020304" pitchFamily="18" charset="0"/>
              </a:rPr>
              <a:t>（</a:t>
            </a:r>
            <a:r>
              <a:rPr lang="en-US" altLang="zh-CN" sz="2400" b="1">
                <a:solidFill>
                  <a:srgbClr val="002060"/>
                </a:solidFill>
                <a:latin typeface="Times New Roman" panose="02020603050405020304" pitchFamily="18" charset="0"/>
              </a:rPr>
              <a:t>1</a:t>
            </a:r>
            <a:r>
              <a:rPr lang="zh-CN" altLang="en-US" sz="2400" b="1">
                <a:solidFill>
                  <a:srgbClr val="002060"/>
                </a:solidFill>
                <a:latin typeface="Times New Roman" panose="02020603050405020304" pitchFamily="18" charset="0"/>
              </a:rPr>
              <a:t>）一个仓库可以存放多种零件，一种零件可以存放在多个仓库中；</a:t>
            </a:r>
            <a:r>
              <a:rPr lang="en-US" altLang="zh-CN" sz="2400" b="1">
                <a:solidFill>
                  <a:srgbClr val="002060"/>
                </a:solidFill>
                <a:latin typeface="Times New Roman" panose="02020603050405020304" pitchFamily="18" charset="0"/>
              </a:rPr>
              <a:t>  </a:t>
            </a:r>
            <a:r>
              <a:rPr lang="zh-CN" altLang="en-US" sz="2400" b="1">
                <a:solidFill>
                  <a:srgbClr val="002060"/>
                </a:solidFill>
                <a:latin typeface="Times New Roman" panose="02020603050405020304" pitchFamily="18" charset="0"/>
              </a:rPr>
              <a:t>仓库有仓库号、仓库类型和面积，零件有零件号、名称、</a:t>
            </a:r>
            <a:r>
              <a:rPr lang="en-US" altLang="zh-CN" sz="2400" b="1">
                <a:solidFill>
                  <a:srgbClr val="002060"/>
                </a:solidFill>
                <a:latin typeface="Times New Roman" panose="02020603050405020304" pitchFamily="18" charset="0"/>
              </a:rPr>
              <a:t> </a:t>
            </a:r>
            <a:r>
              <a:rPr lang="zh-CN" altLang="en-US" sz="2400" b="1">
                <a:solidFill>
                  <a:srgbClr val="002060"/>
                </a:solidFill>
                <a:latin typeface="Times New Roman" panose="02020603050405020304" pitchFamily="18" charset="0"/>
              </a:rPr>
              <a:t>规格、单价、描述等属性。</a:t>
            </a:r>
            <a:endParaRPr lang="en-US" altLang="zh-CN" sz="2400" b="1">
              <a:solidFill>
                <a:srgbClr val="002060"/>
              </a:solidFill>
              <a:latin typeface="Times New Roman" panose="02020603050405020304" pitchFamily="18" charset="0"/>
            </a:endParaRPr>
          </a:p>
          <a:p>
            <a:pPr lvl="1">
              <a:lnSpc>
                <a:spcPts val="3500"/>
              </a:lnSpc>
              <a:spcBef>
                <a:spcPct val="25000"/>
              </a:spcBef>
              <a:buClr>
                <a:schemeClr val="accent2"/>
              </a:buClr>
            </a:pPr>
            <a:r>
              <a:rPr lang="zh-CN" altLang="en-US" sz="2400" b="1">
                <a:solidFill>
                  <a:srgbClr val="002060"/>
                </a:solidFill>
                <a:latin typeface="Times New Roman" panose="02020603050405020304" pitchFamily="18" charset="0"/>
              </a:rPr>
              <a:t>（</a:t>
            </a:r>
            <a:r>
              <a:rPr lang="en-US" altLang="zh-CN" sz="2400" b="1">
                <a:solidFill>
                  <a:srgbClr val="002060"/>
                </a:solidFill>
                <a:latin typeface="Times New Roman" panose="02020603050405020304" pitchFamily="18" charset="0"/>
              </a:rPr>
              <a:t>2</a:t>
            </a:r>
            <a:r>
              <a:rPr lang="zh-CN" altLang="en-US" sz="2400" b="1">
                <a:solidFill>
                  <a:srgbClr val="002060"/>
                </a:solidFill>
                <a:latin typeface="Times New Roman" panose="02020603050405020304" pitchFamily="18" charset="0"/>
              </a:rPr>
              <a:t>）一个职工只能在一个仓库工作，一个仓库有多个职工当保管员；</a:t>
            </a:r>
            <a:endParaRPr lang="en-US" altLang="zh-CN" sz="2400" b="1">
              <a:solidFill>
                <a:srgbClr val="002060"/>
              </a:solidFill>
              <a:latin typeface="Times New Roman" panose="02020603050405020304" pitchFamily="18" charset="0"/>
            </a:endParaRPr>
          </a:p>
          <a:p>
            <a:pPr lvl="1">
              <a:lnSpc>
                <a:spcPts val="3500"/>
              </a:lnSpc>
              <a:spcBef>
                <a:spcPct val="25000"/>
              </a:spcBef>
              <a:buClr>
                <a:schemeClr val="accent2"/>
              </a:buClr>
            </a:pPr>
            <a:r>
              <a:rPr lang="en-US" altLang="zh-CN" sz="2400" b="1">
                <a:solidFill>
                  <a:srgbClr val="002060"/>
                </a:solidFill>
                <a:latin typeface="Times New Roman" panose="02020603050405020304" pitchFamily="18" charset="0"/>
              </a:rPr>
              <a:t>        </a:t>
            </a:r>
            <a:r>
              <a:rPr lang="zh-CN" altLang="en-US" sz="2400" b="1">
                <a:solidFill>
                  <a:srgbClr val="002060"/>
                </a:solidFill>
                <a:latin typeface="Times New Roman" panose="02020603050405020304" pitchFamily="18" charset="0"/>
              </a:rPr>
              <a:t>职工有职工号、姓名、性别、职务、出生年月属性。</a:t>
            </a:r>
          </a:p>
          <a:p>
            <a:pPr lvl="1">
              <a:lnSpc>
                <a:spcPts val="3500"/>
              </a:lnSpc>
              <a:spcBef>
                <a:spcPct val="25000"/>
              </a:spcBef>
              <a:buClr>
                <a:schemeClr val="accent2"/>
              </a:buClr>
            </a:pPr>
            <a:r>
              <a:rPr lang="zh-CN" altLang="en-US" sz="2400" b="1">
                <a:solidFill>
                  <a:srgbClr val="002060"/>
                </a:solidFill>
                <a:latin typeface="Times New Roman" panose="02020603050405020304" pitchFamily="18" charset="0"/>
              </a:rPr>
              <a:t>（</a:t>
            </a:r>
            <a:r>
              <a:rPr lang="en-US" altLang="zh-CN" sz="2400" b="1">
                <a:solidFill>
                  <a:srgbClr val="002060"/>
                </a:solidFill>
                <a:latin typeface="Times New Roman" panose="02020603050405020304" pitchFamily="18" charset="0"/>
              </a:rPr>
              <a:t>3</a:t>
            </a:r>
            <a:r>
              <a:rPr lang="zh-CN" altLang="en-US" sz="2400" b="1">
                <a:solidFill>
                  <a:srgbClr val="002060"/>
                </a:solidFill>
                <a:latin typeface="Times New Roman" panose="02020603050405020304" pitchFamily="18" charset="0"/>
              </a:rPr>
              <a:t>）职工之间有领导与被领导关系，仓库主任领导若干保管员；</a:t>
            </a:r>
            <a:endParaRPr lang="en-US" altLang="zh-CN" sz="2400" b="1">
              <a:solidFill>
                <a:srgbClr val="002060"/>
              </a:solidFill>
              <a:latin typeface="Times New Roman" panose="02020603050405020304" pitchFamily="18" charset="0"/>
            </a:endParaRPr>
          </a:p>
          <a:p>
            <a:pPr lvl="1">
              <a:lnSpc>
                <a:spcPts val="3500"/>
              </a:lnSpc>
              <a:spcBef>
                <a:spcPct val="50000"/>
              </a:spcBef>
              <a:buClr>
                <a:srgbClr val="0000FF"/>
              </a:buClr>
            </a:pPr>
            <a:r>
              <a:rPr lang="zh-CN" altLang="en-US" sz="2400" b="1">
                <a:solidFill>
                  <a:srgbClr val="002060"/>
                </a:solidFill>
              </a:rPr>
              <a:t>（</a:t>
            </a:r>
            <a:r>
              <a:rPr lang="en-US" altLang="zh-CN" sz="2400" b="1">
                <a:solidFill>
                  <a:srgbClr val="002060"/>
                </a:solidFill>
              </a:rPr>
              <a:t>4</a:t>
            </a:r>
            <a:r>
              <a:rPr lang="zh-CN" altLang="en-US" sz="2400" b="1">
                <a:solidFill>
                  <a:srgbClr val="002060"/>
                </a:solidFill>
              </a:rPr>
              <a:t>）一个供应商可以供应若干项目多种零件；而一个项目可以使用不同供应商供应的多种零件；一种零件可由不同供应商供给多个工程项目。</a:t>
            </a:r>
            <a:r>
              <a:rPr lang="zh-CN" altLang="en-US" sz="2400" b="1">
                <a:solidFill>
                  <a:srgbClr val="002060"/>
                </a:solidFill>
                <a:latin typeface="Times New Roman" panose="02020603050405020304" pitchFamily="18" charset="0"/>
              </a:rPr>
              <a:t>供应商有供应商号、姓名、住址、电话、帐号，项目有项目号、预算、开工日期等属性。</a:t>
            </a:r>
          </a:p>
        </p:txBody>
      </p:sp>
    </p:spTree>
  </p:cSld>
  <p:clrMapOvr>
    <a:masterClrMapping/>
  </p:clrMapOvr>
  <p:transition spd="slow">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1">
            <a:extLst>
              <a:ext uri="{FF2B5EF4-FFF2-40B4-BE49-F238E27FC236}">
                <a16:creationId xmlns:a16="http://schemas.microsoft.com/office/drawing/2014/main" id="{7036D7BA-C495-E598-E2EA-825693ABBAED}"/>
              </a:ext>
            </a:extLst>
          </p:cNvPr>
          <p:cNvSpPr>
            <a:spLocks noChangeArrowheads="1"/>
          </p:cNvSpPr>
          <p:nvPr/>
        </p:nvSpPr>
        <p:spPr bwMode="auto">
          <a:xfrm>
            <a:off x="4333875" y="3230563"/>
            <a:ext cx="18415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10000"/>
              </a:lnSpc>
            </a:pPr>
            <a:endParaRPr lang="zh-CN" altLang="en-US">
              <a:latin typeface="黑体" panose="02010609060101010101" pitchFamily="49" charset="-122"/>
              <a:ea typeface="黑体" panose="02010609060101010101" pitchFamily="49" charset="-122"/>
            </a:endParaRPr>
          </a:p>
        </p:txBody>
      </p:sp>
      <p:sp>
        <p:nvSpPr>
          <p:cNvPr id="4" name="矩形 3">
            <a:extLst>
              <a:ext uri="{FF2B5EF4-FFF2-40B4-BE49-F238E27FC236}">
                <a16:creationId xmlns:a16="http://schemas.microsoft.com/office/drawing/2014/main" id="{24A60846-E628-2A8F-7DEF-632FA2645433}"/>
              </a:ext>
            </a:extLst>
          </p:cNvPr>
          <p:cNvSpPr/>
          <p:nvPr/>
        </p:nvSpPr>
        <p:spPr>
          <a:xfrm>
            <a:off x="987425" y="1236663"/>
            <a:ext cx="10313988" cy="492125"/>
          </a:xfrm>
          <a:prstGeom prst="rect">
            <a:avLst/>
          </a:prstGeom>
        </p:spPr>
        <p:txBody>
          <a:bodyPr>
            <a:spAutoFit/>
          </a:bodyPr>
          <a:lstStyle/>
          <a:p>
            <a:pPr lvl="1" algn="just">
              <a:lnSpc>
                <a:spcPct val="105000"/>
              </a:lnSpc>
              <a:spcAft>
                <a:spcPct val="40000"/>
              </a:spcAft>
              <a:buClr>
                <a:srgbClr val="0000FF"/>
              </a:buClr>
              <a:buFont typeface="Arial" charset="0"/>
              <a:buNone/>
              <a:defRPr/>
            </a:pP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a:t>
            </a:r>
            <a:r>
              <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rPr>
              <a:t>1</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）确定实体：</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实体往往是需求说明书中的名词</a:t>
            </a:r>
          </a:p>
        </p:txBody>
      </p:sp>
      <p:pic>
        <p:nvPicPr>
          <p:cNvPr id="25604" name="Picture 2">
            <a:extLst>
              <a:ext uri="{FF2B5EF4-FFF2-40B4-BE49-F238E27FC236}">
                <a16:creationId xmlns:a16="http://schemas.microsoft.com/office/drawing/2014/main" id="{109EC993-9FD2-E9B8-26D2-4A70C2EA22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9250" y="2060575"/>
            <a:ext cx="6413500"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a:extLst>
              <a:ext uri="{FF2B5EF4-FFF2-40B4-BE49-F238E27FC236}">
                <a16:creationId xmlns:a16="http://schemas.microsoft.com/office/drawing/2014/main" id="{20CAE065-4CB9-DEEF-6FCC-DCA4F0D7A859}"/>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概念结构设计</a:t>
            </a:r>
          </a:p>
        </p:txBody>
      </p:sp>
    </p:spTree>
  </p:cSld>
  <p:clrMapOvr>
    <a:masterClrMapping/>
  </p:clrMapOvr>
  <p:transition spd="slow">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矩形 1">
            <a:extLst>
              <a:ext uri="{FF2B5EF4-FFF2-40B4-BE49-F238E27FC236}">
                <a16:creationId xmlns:a16="http://schemas.microsoft.com/office/drawing/2014/main" id="{51B6DD71-27D0-B142-3266-33E615C0CD89}"/>
              </a:ext>
            </a:extLst>
          </p:cNvPr>
          <p:cNvSpPr>
            <a:spLocks noChangeArrowheads="1"/>
          </p:cNvSpPr>
          <p:nvPr/>
        </p:nvSpPr>
        <p:spPr bwMode="auto">
          <a:xfrm>
            <a:off x="4333875" y="3230563"/>
            <a:ext cx="18415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10000"/>
              </a:lnSpc>
            </a:pPr>
            <a:endParaRPr lang="zh-CN" altLang="en-US">
              <a:latin typeface="黑体" panose="02010609060101010101" pitchFamily="49" charset="-122"/>
              <a:ea typeface="黑体" panose="02010609060101010101" pitchFamily="49" charset="-122"/>
            </a:endParaRPr>
          </a:p>
        </p:txBody>
      </p:sp>
      <p:pic>
        <p:nvPicPr>
          <p:cNvPr id="26627" name="Picture 3">
            <a:extLst>
              <a:ext uri="{FF2B5EF4-FFF2-40B4-BE49-F238E27FC236}">
                <a16:creationId xmlns:a16="http://schemas.microsoft.com/office/drawing/2014/main" id="{56015F42-56C2-8D99-2730-5DCFDB2981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6975" y="1844675"/>
            <a:ext cx="3321050" cy="2287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28" name="Picture 4">
            <a:extLst>
              <a:ext uri="{FF2B5EF4-FFF2-40B4-BE49-F238E27FC236}">
                <a16:creationId xmlns:a16="http://schemas.microsoft.com/office/drawing/2014/main" id="{4A6902FC-3E9C-B961-FCF4-CFEAFEAF94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00" y="4376738"/>
            <a:ext cx="3352800" cy="227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29" name="Picture 5">
            <a:extLst>
              <a:ext uri="{FF2B5EF4-FFF2-40B4-BE49-F238E27FC236}">
                <a16:creationId xmlns:a16="http://schemas.microsoft.com/office/drawing/2014/main" id="{73B35DA6-FFAC-AEB0-326D-AF20DB1F98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7488" y="4449763"/>
            <a:ext cx="2292350" cy="2408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30" name="Picture 6">
            <a:extLst>
              <a:ext uri="{FF2B5EF4-FFF2-40B4-BE49-F238E27FC236}">
                <a16:creationId xmlns:a16="http://schemas.microsoft.com/office/drawing/2014/main" id="{AB20AD19-6F33-615B-F9A2-41547D3870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99400" y="1766888"/>
            <a:ext cx="3240088" cy="209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31" name="Picture 7">
            <a:extLst>
              <a:ext uri="{FF2B5EF4-FFF2-40B4-BE49-F238E27FC236}">
                <a16:creationId xmlns:a16="http://schemas.microsoft.com/office/drawing/2014/main" id="{73759A5B-BE81-76A0-3DD5-D2CFB26D2F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75250" y="1874838"/>
            <a:ext cx="2292350"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矩形 9">
            <a:extLst>
              <a:ext uri="{FF2B5EF4-FFF2-40B4-BE49-F238E27FC236}">
                <a16:creationId xmlns:a16="http://schemas.microsoft.com/office/drawing/2014/main" id="{01A38485-551A-1B40-83D9-A61F04EB7FD0}"/>
              </a:ext>
            </a:extLst>
          </p:cNvPr>
          <p:cNvSpPr/>
          <p:nvPr/>
        </p:nvSpPr>
        <p:spPr>
          <a:xfrm>
            <a:off x="987425" y="1236663"/>
            <a:ext cx="10313988" cy="492125"/>
          </a:xfrm>
          <a:prstGeom prst="rect">
            <a:avLst/>
          </a:prstGeom>
        </p:spPr>
        <p:txBody>
          <a:bodyPr>
            <a:spAutoFit/>
          </a:bodyPr>
          <a:lstStyle/>
          <a:p>
            <a:pPr lvl="1" algn="just">
              <a:lnSpc>
                <a:spcPct val="105000"/>
              </a:lnSpc>
              <a:spcAft>
                <a:spcPct val="40000"/>
              </a:spcAft>
              <a:buClr>
                <a:srgbClr val="0000FF"/>
              </a:buClr>
              <a:buFont typeface="Arial" charset="0"/>
              <a:buNone/>
              <a:defRPr/>
            </a:pP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a:t>
            </a:r>
            <a:r>
              <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rPr>
              <a:t>2</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）确定实体的属性及键（主属性）</a:t>
            </a:r>
          </a:p>
        </p:txBody>
      </p:sp>
      <p:sp>
        <p:nvSpPr>
          <p:cNvPr id="11" name="TextBox 6">
            <a:extLst>
              <a:ext uri="{FF2B5EF4-FFF2-40B4-BE49-F238E27FC236}">
                <a16:creationId xmlns:a16="http://schemas.microsoft.com/office/drawing/2014/main" id="{A23B0CFC-090E-1D49-A87E-B9B18506AC51}"/>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概念结构设计</a:t>
            </a:r>
          </a:p>
        </p:txBody>
      </p:sp>
    </p:spTree>
  </p:cSld>
  <p:clrMapOvr>
    <a:masterClrMapping/>
  </p:clrMapOvr>
  <p:transition spd="slow">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矩形 1">
            <a:extLst>
              <a:ext uri="{FF2B5EF4-FFF2-40B4-BE49-F238E27FC236}">
                <a16:creationId xmlns:a16="http://schemas.microsoft.com/office/drawing/2014/main" id="{80C07ECA-F7C1-9D16-433B-1D5363EC2A0C}"/>
              </a:ext>
            </a:extLst>
          </p:cNvPr>
          <p:cNvSpPr>
            <a:spLocks noChangeArrowheads="1"/>
          </p:cNvSpPr>
          <p:nvPr/>
        </p:nvSpPr>
        <p:spPr bwMode="auto">
          <a:xfrm>
            <a:off x="4333875" y="3230563"/>
            <a:ext cx="18415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10000"/>
              </a:lnSpc>
            </a:pPr>
            <a:endParaRPr lang="zh-CN" altLang="en-US">
              <a:latin typeface="黑体" panose="02010609060101010101" pitchFamily="49" charset="-122"/>
              <a:ea typeface="黑体" panose="02010609060101010101" pitchFamily="49" charset="-122"/>
            </a:endParaRPr>
          </a:p>
        </p:txBody>
      </p:sp>
      <p:pic>
        <p:nvPicPr>
          <p:cNvPr id="27651" name="Picture 2">
            <a:extLst>
              <a:ext uri="{FF2B5EF4-FFF2-40B4-BE49-F238E27FC236}">
                <a16:creationId xmlns:a16="http://schemas.microsoft.com/office/drawing/2014/main" id="{1A12EC21-FA89-1B97-AB2B-82133888E1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0675" y="2060575"/>
            <a:ext cx="6565900"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a:extLst>
              <a:ext uri="{FF2B5EF4-FFF2-40B4-BE49-F238E27FC236}">
                <a16:creationId xmlns:a16="http://schemas.microsoft.com/office/drawing/2014/main" id="{13E9EFFE-ADD0-EB11-1E89-9CB02AD2410B}"/>
              </a:ext>
            </a:extLst>
          </p:cNvPr>
          <p:cNvSpPr/>
          <p:nvPr/>
        </p:nvSpPr>
        <p:spPr>
          <a:xfrm>
            <a:off x="987425" y="1236663"/>
            <a:ext cx="10313988" cy="492125"/>
          </a:xfrm>
          <a:prstGeom prst="rect">
            <a:avLst/>
          </a:prstGeom>
        </p:spPr>
        <p:txBody>
          <a:bodyPr>
            <a:spAutoFit/>
          </a:bodyPr>
          <a:lstStyle/>
          <a:p>
            <a:pPr lvl="1" algn="just">
              <a:lnSpc>
                <a:spcPct val="105000"/>
              </a:lnSpc>
              <a:spcAft>
                <a:spcPct val="40000"/>
              </a:spcAft>
              <a:buClr>
                <a:srgbClr val="0000FF"/>
              </a:buClr>
              <a:buFont typeface="Arial" charset="0"/>
              <a:buNone/>
              <a:defRPr/>
            </a:pP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a:t>
            </a:r>
            <a:r>
              <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rPr>
              <a:t>3</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）确定实体的联系</a:t>
            </a:r>
          </a:p>
        </p:txBody>
      </p:sp>
      <p:sp>
        <p:nvSpPr>
          <p:cNvPr id="7" name="TextBox 6">
            <a:extLst>
              <a:ext uri="{FF2B5EF4-FFF2-40B4-BE49-F238E27FC236}">
                <a16:creationId xmlns:a16="http://schemas.microsoft.com/office/drawing/2014/main" id="{7F15A47A-041D-593C-CBF6-EF2B2BBDA562}"/>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概念结构设计</a:t>
            </a:r>
          </a:p>
        </p:txBody>
      </p:sp>
    </p:spTree>
  </p:cSld>
  <p:clrMapOvr>
    <a:masterClrMapping/>
  </p:clrMapOvr>
  <p:transition spd="slow">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矩形 1">
            <a:extLst>
              <a:ext uri="{FF2B5EF4-FFF2-40B4-BE49-F238E27FC236}">
                <a16:creationId xmlns:a16="http://schemas.microsoft.com/office/drawing/2014/main" id="{D3614BED-07D6-4521-233A-E4B75D19E74F}"/>
              </a:ext>
            </a:extLst>
          </p:cNvPr>
          <p:cNvSpPr>
            <a:spLocks noChangeArrowheads="1"/>
          </p:cNvSpPr>
          <p:nvPr/>
        </p:nvSpPr>
        <p:spPr bwMode="auto">
          <a:xfrm>
            <a:off x="4333875" y="3230563"/>
            <a:ext cx="18415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10000"/>
              </a:lnSpc>
            </a:pPr>
            <a:endParaRPr lang="zh-CN" altLang="en-US">
              <a:latin typeface="黑体" panose="02010609060101010101" pitchFamily="49" charset="-122"/>
              <a:ea typeface="黑体" panose="02010609060101010101" pitchFamily="49" charset="-122"/>
            </a:endParaRPr>
          </a:p>
        </p:txBody>
      </p:sp>
      <p:pic>
        <p:nvPicPr>
          <p:cNvPr id="28675" name="Picture 2">
            <a:extLst>
              <a:ext uri="{FF2B5EF4-FFF2-40B4-BE49-F238E27FC236}">
                <a16:creationId xmlns:a16="http://schemas.microsoft.com/office/drawing/2014/main" id="{68CE45D5-9E72-F8D1-BF18-7E79EAC5A6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538" y="1844675"/>
            <a:ext cx="7608887" cy="395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a:extLst>
              <a:ext uri="{FF2B5EF4-FFF2-40B4-BE49-F238E27FC236}">
                <a16:creationId xmlns:a16="http://schemas.microsoft.com/office/drawing/2014/main" id="{DF6698CB-05CB-B649-D0A2-646D4E23431C}"/>
              </a:ext>
            </a:extLst>
          </p:cNvPr>
          <p:cNvSpPr/>
          <p:nvPr/>
        </p:nvSpPr>
        <p:spPr>
          <a:xfrm>
            <a:off x="987425" y="1236663"/>
            <a:ext cx="10313988" cy="492125"/>
          </a:xfrm>
          <a:prstGeom prst="rect">
            <a:avLst/>
          </a:prstGeom>
        </p:spPr>
        <p:txBody>
          <a:bodyPr>
            <a:spAutoFit/>
          </a:bodyPr>
          <a:lstStyle/>
          <a:p>
            <a:pPr lvl="1" algn="just">
              <a:lnSpc>
                <a:spcPct val="105000"/>
              </a:lnSpc>
              <a:spcAft>
                <a:spcPct val="40000"/>
              </a:spcAft>
              <a:buClr>
                <a:srgbClr val="0000FF"/>
              </a:buClr>
              <a:buFont typeface="Arial" charset="0"/>
              <a:buNone/>
              <a:defRPr/>
            </a:pP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a:t>
            </a:r>
            <a:r>
              <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rPr>
              <a:t>4</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）确定联系的基数和属性</a:t>
            </a:r>
          </a:p>
        </p:txBody>
      </p:sp>
      <p:sp>
        <p:nvSpPr>
          <p:cNvPr id="7" name="TextBox 6">
            <a:extLst>
              <a:ext uri="{FF2B5EF4-FFF2-40B4-BE49-F238E27FC236}">
                <a16:creationId xmlns:a16="http://schemas.microsoft.com/office/drawing/2014/main" id="{0D100319-75BC-C0E0-9B00-BC6E4B1051E1}"/>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概念结构设计</a:t>
            </a:r>
          </a:p>
        </p:txBody>
      </p:sp>
    </p:spTree>
  </p:cSld>
  <p:clrMapOvr>
    <a:masterClrMapping/>
  </p:clrMapOvr>
  <p:transition spd="slow">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C27C488B-6FC3-00B7-49BF-9CB94FE3B2BE}"/>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逻辑结构设计</a:t>
            </a:r>
          </a:p>
        </p:txBody>
      </p:sp>
      <p:sp>
        <p:nvSpPr>
          <p:cNvPr id="12291" name="Text Box 2">
            <a:extLst>
              <a:ext uri="{FF2B5EF4-FFF2-40B4-BE49-F238E27FC236}">
                <a16:creationId xmlns:a16="http://schemas.microsoft.com/office/drawing/2014/main" id="{6BE2FFF0-0A05-0779-7F32-F0B554EF9028}"/>
              </a:ext>
            </a:extLst>
          </p:cNvPr>
          <p:cNvSpPr txBox="1">
            <a:spLocks noChangeArrowheads="1"/>
          </p:cNvSpPr>
          <p:nvPr/>
        </p:nvSpPr>
        <p:spPr bwMode="auto">
          <a:xfrm>
            <a:off x="771525" y="1833563"/>
            <a:ext cx="10544175" cy="1062037"/>
          </a:xfrm>
          <a:prstGeom prst="rect">
            <a:avLst/>
          </a:prstGeom>
          <a:noFill/>
          <a:ln>
            <a:noFill/>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nSpc>
                <a:spcPct val="105000"/>
              </a:lnSpc>
              <a:spcBef>
                <a:spcPct val="30000"/>
              </a:spcBef>
              <a:buClr>
                <a:srgbClr val="FF0000"/>
              </a:buClr>
              <a:buFont typeface="Wingdings" pitchFamily="2" charset="2"/>
              <a:buNone/>
              <a:defRPr/>
            </a:pP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逻辑结构设计的任务是把概念结构设计阶段得到的</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E-R</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图转换为关系模式。</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a:t>
            </a:r>
            <a:endPar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4" name="矩形 3">
            <a:extLst>
              <a:ext uri="{FF2B5EF4-FFF2-40B4-BE49-F238E27FC236}">
                <a16:creationId xmlns:a16="http://schemas.microsoft.com/office/drawing/2014/main" id="{04E8B027-C8D6-7C2D-ECB1-560F3194288F}"/>
              </a:ext>
            </a:extLst>
          </p:cNvPr>
          <p:cNvSpPr/>
          <p:nvPr/>
        </p:nvSpPr>
        <p:spPr>
          <a:xfrm>
            <a:off x="771525" y="1196975"/>
            <a:ext cx="6696075" cy="609600"/>
          </a:xfrm>
          <a:prstGeom prst="rect">
            <a:avLst/>
          </a:prstGeom>
        </p:spPr>
        <p:txBody>
          <a:bodyPr>
            <a:spAutoFit/>
          </a:bodyPr>
          <a:lstStyle/>
          <a:p>
            <a:pPr lvl="1" algn="just">
              <a:lnSpc>
                <a:spcPct val="105000"/>
              </a:lnSpc>
              <a:spcAft>
                <a:spcPct val="35000"/>
              </a:spcAft>
              <a:buClr>
                <a:srgbClr val="0000FF"/>
              </a:buClr>
              <a:buFont typeface="Arial" charset="0"/>
              <a:buNone/>
              <a:defRPr/>
            </a:pPr>
            <a:r>
              <a:rPr lang="en-US" altLang="zh-CN" sz="3200" b="1" dirty="0">
                <a:solidFill>
                  <a:srgbClr val="C00000"/>
                </a:solidFill>
                <a:effectLst>
                  <a:outerShdw blurRad="38100" dist="38100" dir="2700000" algn="tl">
                    <a:srgbClr val="C0C0C0"/>
                  </a:outerShdw>
                </a:effectLst>
                <a:latin typeface="仿宋_GB2312" pitchFamily="49" charset="-122"/>
                <a:ea typeface="仿宋_GB2312" pitchFamily="49" charset="-122"/>
              </a:rPr>
              <a:t>1.</a:t>
            </a:r>
            <a:r>
              <a:rPr lang="zh-CN" altLang="en-US" sz="3200" b="1" dirty="0">
                <a:solidFill>
                  <a:srgbClr val="C00000"/>
                </a:solidFill>
                <a:effectLst>
                  <a:outerShdw blurRad="38100" dist="38100" dir="2700000" algn="tl">
                    <a:srgbClr val="C0C0C0"/>
                  </a:outerShdw>
                </a:effectLst>
                <a:latin typeface="仿宋_GB2312" pitchFamily="49" charset="-122"/>
                <a:ea typeface="仿宋_GB2312" pitchFamily="49" charset="-122"/>
              </a:rPr>
              <a:t>逻辑结构设计的目标和任务</a:t>
            </a:r>
          </a:p>
        </p:txBody>
      </p:sp>
      <p:sp>
        <p:nvSpPr>
          <p:cNvPr id="5" name="Text Box 2">
            <a:extLst>
              <a:ext uri="{FF2B5EF4-FFF2-40B4-BE49-F238E27FC236}">
                <a16:creationId xmlns:a16="http://schemas.microsoft.com/office/drawing/2014/main" id="{C07ADB87-929F-6A00-C5D8-058A8C0B9256}"/>
              </a:ext>
            </a:extLst>
          </p:cNvPr>
          <p:cNvSpPr txBox="1">
            <a:spLocks noChangeArrowheads="1"/>
          </p:cNvSpPr>
          <p:nvPr/>
        </p:nvSpPr>
        <p:spPr bwMode="auto">
          <a:xfrm>
            <a:off x="877888" y="3860800"/>
            <a:ext cx="10872787" cy="1127125"/>
          </a:xfrm>
          <a:prstGeom prst="rect">
            <a:avLst/>
          </a:prstGeom>
          <a:noFill/>
          <a:ln>
            <a:noFill/>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nSpc>
                <a:spcPct val="105000"/>
              </a:lnSpc>
              <a:spcBef>
                <a:spcPct val="30000"/>
              </a:spcBef>
              <a:buClr>
                <a:srgbClr val="FF0000"/>
              </a:buClr>
              <a:buFont typeface="Wingdings" pitchFamily="2" charset="2"/>
              <a:buNone/>
              <a:defRPr/>
            </a:pP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1</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）实体到关系模式的转换</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a:lnSpc>
                <a:spcPct val="105000"/>
              </a:lnSpc>
              <a:spcBef>
                <a:spcPct val="30000"/>
              </a:spcBef>
              <a:buClr>
                <a:srgbClr val="FF0000"/>
              </a:buClr>
              <a:buFont typeface="Wingdings" pitchFamily="2" charset="2"/>
              <a:buNone/>
              <a:defRPr/>
            </a:pP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2</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）联系到关系模式的转换。</a:t>
            </a:r>
          </a:p>
        </p:txBody>
      </p:sp>
      <p:sp>
        <p:nvSpPr>
          <p:cNvPr id="7" name="矩形 6">
            <a:extLst>
              <a:ext uri="{FF2B5EF4-FFF2-40B4-BE49-F238E27FC236}">
                <a16:creationId xmlns:a16="http://schemas.microsoft.com/office/drawing/2014/main" id="{25210BF7-8A00-7E22-B0C7-52DB14E48431}"/>
              </a:ext>
            </a:extLst>
          </p:cNvPr>
          <p:cNvSpPr/>
          <p:nvPr/>
        </p:nvSpPr>
        <p:spPr>
          <a:xfrm>
            <a:off x="877888" y="3108325"/>
            <a:ext cx="6300787" cy="609600"/>
          </a:xfrm>
          <a:prstGeom prst="rect">
            <a:avLst/>
          </a:prstGeom>
        </p:spPr>
        <p:txBody>
          <a:bodyPr>
            <a:spAutoFit/>
          </a:bodyPr>
          <a:lstStyle/>
          <a:p>
            <a:pPr lvl="1" algn="just">
              <a:lnSpc>
                <a:spcPct val="105000"/>
              </a:lnSpc>
              <a:spcAft>
                <a:spcPct val="35000"/>
              </a:spcAft>
              <a:buClr>
                <a:srgbClr val="0000FF"/>
              </a:buClr>
              <a:buFont typeface="Arial" charset="0"/>
              <a:buNone/>
              <a:defRPr/>
            </a:pPr>
            <a:r>
              <a:rPr lang="en-US" altLang="zh-CN" sz="3200" b="1" dirty="0">
                <a:solidFill>
                  <a:srgbClr val="C00000"/>
                </a:solidFill>
                <a:effectLst>
                  <a:outerShdw blurRad="38100" dist="38100" dir="2700000" algn="tl">
                    <a:srgbClr val="C0C0C0"/>
                  </a:outerShdw>
                </a:effectLst>
                <a:latin typeface="仿宋_GB2312" pitchFamily="49" charset="-122"/>
                <a:ea typeface="仿宋_GB2312" pitchFamily="49" charset="-122"/>
              </a:rPr>
              <a:t>2.</a:t>
            </a:r>
            <a:r>
              <a:rPr lang="zh-CN" altLang="en-US" sz="3200" b="1" dirty="0">
                <a:solidFill>
                  <a:srgbClr val="C00000"/>
                </a:solidFill>
                <a:effectLst>
                  <a:outerShdw blurRad="38100" dist="38100" dir="2700000" algn="tl">
                    <a:srgbClr val="C0C0C0"/>
                  </a:outerShdw>
                </a:effectLst>
                <a:latin typeface="仿宋_GB2312" pitchFamily="49" charset="-122"/>
                <a:ea typeface="仿宋_GB2312" pitchFamily="49" charset="-122"/>
              </a:rPr>
              <a:t> 设计方法，分两步完成</a:t>
            </a:r>
          </a:p>
        </p:txBody>
      </p:sp>
    </p:spTree>
  </p:cSld>
  <p:clrMapOvr>
    <a:masterClrMapping/>
  </p:clrMapOvr>
  <p:transition spd="slow">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2">
            <a:extLst>
              <a:ext uri="{FF2B5EF4-FFF2-40B4-BE49-F238E27FC236}">
                <a16:creationId xmlns:a16="http://schemas.microsoft.com/office/drawing/2014/main" id="{D4AE0944-4280-444E-44F0-8232A7A2B859}"/>
              </a:ext>
            </a:extLst>
          </p:cNvPr>
          <p:cNvSpPr txBox="1">
            <a:spLocks noChangeArrowheads="1"/>
          </p:cNvSpPr>
          <p:nvPr/>
        </p:nvSpPr>
        <p:spPr bwMode="auto">
          <a:xfrm>
            <a:off x="771525" y="1833563"/>
            <a:ext cx="10872788" cy="944562"/>
          </a:xfrm>
          <a:prstGeom prst="rect">
            <a:avLst/>
          </a:prstGeom>
          <a:noFill/>
          <a:ln>
            <a:noFill/>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nSpc>
                <a:spcPct val="105000"/>
              </a:lnSpc>
              <a:spcBef>
                <a:spcPct val="30000"/>
              </a:spcBef>
              <a:buClr>
                <a:srgbClr val="FF0000"/>
              </a:buClr>
              <a:buFont typeface="Arial" charset="0"/>
              <a:buNone/>
              <a:defRPr/>
            </a:pP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实体的名和属性就是关系的名和属性，实体的码就是关系的码。关系的名和属性也可以不同，但意义要相同。</a:t>
            </a:r>
          </a:p>
        </p:txBody>
      </p:sp>
      <p:sp>
        <p:nvSpPr>
          <p:cNvPr id="4" name="矩形 3">
            <a:extLst>
              <a:ext uri="{FF2B5EF4-FFF2-40B4-BE49-F238E27FC236}">
                <a16:creationId xmlns:a16="http://schemas.microsoft.com/office/drawing/2014/main" id="{0AD00344-8BAF-A845-95A5-237AF4E3F434}"/>
              </a:ext>
            </a:extLst>
          </p:cNvPr>
          <p:cNvSpPr/>
          <p:nvPr/>
        </p:nvSpPr>
        <p:spPr>
          <a:xfrm>
            <a:off x="771525" y="1196975"/>
            <a:ext cx="7272338" cy="549275"/>
          </a:xfrm>
          <a:prstGeom prst="rect">
            <a:avLst/>
          </a:prstGeom>
        </p:spPr>
        <p:txBody>
          <a:bodyPr>
            <a:spAutoFit/>
          </a:bodyPr>
          <a:lstStyle/>
          <a:p>
            <a:pPr lvl="1" algn="just">
              <a:lnSpc>
                <a:spcPct val="105000"/>
              </a:lnSpc>
              <a:spcAft>
                <a:spcPct val="35000"/>
              </a:spcAft>
              <a:buClr>
                <a:srgbClr val="0000FF"/>
              </a:buClr>
              <a:buFont typeface="Arial" charset="0"/>
              <a:buNone/>
              <a:defRPr/>
            </a:pPr>
            <a:r>
              <a:rPr lang="zh-CN" altLang="en-US" sz="3200" b="1" dirty="0">
                <a:solidFill>
                  <a:srgbClr val="C00000"/>
                </a:solidFill>
                <a:effectLst>
                  <a:outerShdw blurRad="38100" dist="38100" dir="2700000" algn="tl">
                    <a:srgbClr val="C0C0C0"/>
                  </a:outerShdw>
                </a:effectLst>
                <a:latin typeface="仿宋_GB2312" pitchFamily="49" charset="-122"/>
                <a:ea typeface="仿宋_GB2312" pitchFamily="49" charset="-122"/>
              </a:rPr>
              <a:t>（</a:t>
            </a:r>
            <a:r>
              <a:rPr lang="en-US" altLang="zh-CN" sz="3200" b="1" dirty="0">
                <a:solidFill>
                  <a:srgbClr val="C00000"/>
                </a:solidFill>
                <a:effectLst>
                  <a:outerShdw blurRad="38100" dist="38100" dir="2700000" algn="tl">
                    <a:srgbClr val="C0C0C0"/>
                  </a:outerShdw>
                </a:effectLst>
                <a:latin typeface="仿宋_GB2312" pitchFamily="49" charset="-122"/>
                <a:ea typeface="仿宋_GB2312" pitchFamily="49" charset="-122"/>
              </a:rPr>
              <a:t>1</a:t>
            </a:r>
            <a:r>
              <a:rPr lang="zh-CN" altLang="en-US" sz="3200" b="1" dirty="0">
                <a:solidFill>
                  <a:srgbClr val="C00000"/>
                </a:solidFill>
                <a:effectLst>
                  <a:outerShdw blurRad="38100" dist="38100" dir="2700000" algn="tl">
                    <a:srgbClr val="C0C0C0"/>
                  </a:outerShdw>
                </a:effectLst>
                <a:latin typeface="仿宋_GB2312" pitchFamily="49" charset="-122"/>
                <a:ea typeface="仿宋_GB2312" pitchFamily="49" charset="-122"/>
              </a:rPr>
              <a:t>）实体到关系模式的转换</a:t>
            </a:r>
          </a:p>
        </p:txBody>
      </p:sp>
      <p:sp>
        <p:nvSpPr>
          <p:cNvPr id="2" name="矩形 1">
            <a:extLst>
              <a:ext uri="{FF2B5EF4-FFF2-40B4-BE49-F238E27FC236}">
                <a16:creationId xmlns:a16="http://schemas.microsoft.com/office/drawing/2014/main" id="{4E0B6022-E3DB-7224-2AE1-2FC2EF8D9829}"/>
              </a:ext>
            </a:extLst>
          </p:cNvPr>
          <p:cNvSpPr/>
          <p:nvPr/>
        </p:nvSpPr>
        <p:spPr>
          <a:xfrm>
            <a:off x="5662613" y="3933825"/>
            <a:ext cx="5981700" cy="522288"/>
          </a:xfrm>
          <a:prstGeom prst="rect">
            <a:avLst/>
          </a:prstGeom>
        </p:spPr>
        <p:txBody>
          <a:bodyPr wrap="none">
            <a:spAutoFit/>
          </a:bodyPr>
          <a:lstStyle/>
          <a:p>
            <a:pPr>
              <a:buFont typeface="Arial" charset="0"/>
              <a:buNone/>
              <a:defRPr/>
            </a:pP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student(</a:t>
            </a:r>
            <a:r>
              <a:rPr lang="en-US" altLang="zh-CN" sz="2800" b="1" u="sng" dirty="0" err="1">
                <a:solidFill>
                  <a:srgbClr val="002060"/>
                </a:solidFill>
                <a:effectLst>
                  <a:outerShdw blurRad="38100" dist="38100" dir="2700000" algn="tl">
                    <a:srgbClr val="C0C0C0"/>
                  </a:outerShdw>
                </a:effectLst>
                <a:latin typeface="楷体_GB2312" pitchFamily="49" charset="-122"/>
                <a:ea typeface="楷体_GB2312" pitchFamily="49" charset="-122"/>
              </a:rPr>
              <a:t>sno</a:t>
            </a:r>
            <a:r>
              <a:rPr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,sname,sex,age,sdept</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lang="zh-CN"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3" name="右箭头 2">
            <a:extLst>
              <a:ext uri="{FF2B5EF4-FFF2-40B4-BE49-F238E27FC236}">
                <a16:creationId xmlns:a16="http://schemas.microsoft.com/office/drawing/2014/main" id="{D36CDAD1-A13A-0CFB-585C-D1DB6EC6AF3F}"/>
              </a:ext>
            </a:extLst>
          </p:cNvPr>
          <p:cNvSpPr>
            <a:spLocks noChangeArrowheads="1"/>
          </p:cNvSpPr>
          <p:nvPr/>
        </p:nvSpPr>
        <p:spPr bwMode="auto">
          <a:xfrm>
            <a:off x="4730750" y="4197350"/>
            <a:ext cx="823913" cy="173038"/>
          </a:xfrm>
          <a:prstGeom prst="rightArrow">
            <a:avLst>
              <a:gd name="adj1" fmla="val 50000"/>
              <a:gd name="adj2" fmla="val 49929"/>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30726" name="TextBox 33">
            <a:extLst>
              <a:ext uri="{FF2B5EF4-FFF2-40B4-BE49-F238E27FC236}">
                <a16:creationId xmlns:a16="http://schemas.microsoft.com/office/drawing/2014/main" id="{3D019880-6B09-8D8D-91C3-2EE99CB1D4AD}"/>
              </a:ext>
            </a:extLst>
          </p:cNvPr>
          <p:cNvSpPr txBox="1">
            <a:spLocks noChangeArrowheads="1"/>
          </p:cNvSpPr>
          <p:nvPr/>
        </p:nvSpPr>
        <p:spPr bwMode="auto">
          <a:xfrm>
            <a:off x="6224588" y="6543675"/>
            <a:ext cx="3571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002060"/>
                </a:solidFill>
              </a:rPr>
              <a:t>1</a:t>
            </a:r>
            <a:endParaRPr lang="zh-CN" altLang="en-US" b="1">
              <a:solidFill>
                <a:srgbClr val="002060"/>
              </a:solidFill>
            </a:endParaRPr>
          </a:p>
        </p:txBody>
      </p:sp>
      <p:grpSp>
        <p:nvGrpSpPr>
          <p:cNvPr id="30727" name="组合 25600">
            <a:extLst>
              <a:ext uri="{FF2B5EF4-FFF2-40B4-BE49-F238E27FC236}">
                <a16:creationId xmlns:a16="http://schemas.microsoft.com/office/drawing/2014/main" id="{2DFE50F5-EFEB-0670-D27F-A3524F3004BD}"/>
              </a:ext>
            </a:extLst>
          </p:cNvPr>
          <p:cNvGrpSpPr>
            <a:grpSpLocks/>
          </p:cNvGrpSpPr>
          <p:nvPr/>
        </p:nvGrpSpPr>
        <p:grpSpPr bwMode="auto">
          <a:xfrm>
            <a:off x="882650" y="3197225"/>
            <a:ext cx="3816350" cy="2301875"/>
            <a:chOff x="842810" y="3111891"/>
            <a:chExt cx="3816265" cy="2301553"/>
          </a:xfrm>
        </p:grpSpPr>
        <p:grpSp>
          <p:nvGrpSpPr>
            <p:cNvPr id="30729" name="组合 35">
              <a:extLst>
                <a:ext uri="{FF2B5EF4-FFF2-40B4-BE49-F238E27FC236}">
                  <a16:creationId xmlns:a16="http://schemas.microsoft.com/office/drawing/2014/main" id="{236F5DFF-A5C8-E5B8-9015-D546E2EE8044}"/>
                </a:ext>
              </a:extLst>
            </p:cNvPr>
            <p:cNvGrpSpPr>
              <a:grpSpLocks/>
            </p:cNvGrpSpPr>
            <p:nvPr/>
          </p:nvGrpSpPr>
          <p:grpSpPr bwMode="auto">
            <a:xfrm>
              <a:off x="2204862" y="3927393"/>
              <a:ext cx="1230128" cy="472686"/>
              <a:chOff x="2303832" y="3264663"/>
              <a:chExt cx="1230128" cy="472686"/>
            </a:xfrm>
          </p:grpSpPr>
          <p:sp>
            <p:nvSpPr>
              <p:cNvPr id="30750" name="矩形 42">
                <a:extLst>
                  <a:ext uri="{FF2B5EF4-FFF2-40B4-BE49-F238E27FC236}">
                    <a16:creationId xmlns:a16="http://schemas.microsoft.com/office/drawing/2014/main" id="{4E97BAA4-B602-940A-B9F5-D49C83A2D631}"/>
                  </a:ext>
                </a:extLst>
              </p:cNvPr>
              <p:cNvSpPr>
                <a:spLocks noChangeArrowheads="1"/>
              </p:cNvSpPr>
              <p:nvPr/>
            </p:nvSpPr>
            <p:spPr bwMode="auto">
              <a:xfrm>
                <a:off x="2303832" y="3264663"/>
                <a:ext cx="1230128" cy="472686"/>
              </a:xfrm>
              <a:prstGeom prst="rect">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30751" name="TextBox 43">
                <a:extLst>
                  <a:ext uri="{FF2B5EF4-FFF2-40B4-BE49-F238E27FC236}">
                    <a16:creationId xmlns:a16="http://schemas.microsoft.com/office/drawing/2014/main" id="{3792444F-FAC8-EA56-E468-D137BC5D7E4E}"/>
                  </a:ext>
                </a:extLst>
              </p:cNvPr>
              <p:cNvSpPr txBox="1">
                <a:spLocks noChangeArrowheads="1"/>
              </p:cNvSpPr>
              <p:nvPr/>
            </p:nvSpPr>
            <p:spPr bwMode="auto">
              <a:xfrm>
                <a:off x="2492907" y="3316340"/>
                <a:ext cx="9360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b="1">
                    <a:solidFill>
                      <a:srgbClr val="002060"/>
                    </a:solidFill>
                  </a:rPr>
                  <a:t>学    生</a:t>
                </a:r>
              </a:p>
            </p:txBody>
          </p:sp>
        </p:grpSp>
        <p:cxnSp>
          <p:nvCxnSpPr>
            <p:cNvPr id="30730" name="直接连接符 38">
              <a:extLst>
                <a:ext uri="{FF2B5EF4-FFF2-40B4-BE49-F238E27FC236}">
                  <a16:creationId xmlns:a16="http://schemas.microsoft.com/office/drawing/2014/main" id="{F513207B-2F99-CC9C-A7E6-61D5CBBA96E1}"/>
                </a:ext>
              </a:extLst>
            </p:cNvPr>
            <p:cNvCxnSpPr>
              <a:cxnSpLocks noChangeShapeType="1"/>
              <a:stCxn id="30749" idx="4"/>
            </p:cNvCxnSpPr>
            <p:nvPr/>
          </p:nvCxnSpPr>
          <p:spPr bwMode="auto">
            <a:xfrm>
              <a:off x="1454853" y="3634851"/>
              <a:ext cx="714199" cy="292542"/>
            </a:xfrm>
            <a:prstGeom prst="line">
              <a:avLst/>
            </a:prstGeom>
            <a:noFill/>
            <a:ln w="28575"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31" name="直接连接符 39">
              <a:extLst>
                <a:ext uri="{FF2B5EF4-FFF2-40B4-BE49-F238E27FC236}">
                  <a16:creationId xmlns:a16="http://schemas.microsoft.com/office/drawing/2014/main" id="{F2D1D01C-D9C3-05D1-FECE-91ACF0E3127C}"/>
                </a:ext>
              </a:extLst>
            </p:cNvPr>
            <p:cNvCxnSpPr>
              <a:cxnSpLocks noChangeShapeType="1"/>
              <a:endCxn id="30741" idx="0"/>
            </p:cNvCxnSpPr>
            <p:nvPr/>
          </p:nvCxnSpPr>
          <p:spPr bwMode="auto">
            <a:xfrm>
              <a:off x="3434990" y="4380236"/>
              <a:ext cx="591121" cy="510248"/>
            </a:xfrm>
            <a:prstGeom prst="line">
              <a:avLst/>
            </a:prstGeom>
            <a:noFill/>
            <a:ln w="28575"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0732" name="组合 29">
              <a:extLst>
                <a:ext uri="{FF2B5EF4-FFF2-40B4-BE49-F238E27FC236}">
                  <a16:creationId xmlns:a16="http://schemas.microsoft.com/office/drawing/2014/main" id="{0B54D622-639B-8EA6-F8C3-0D6FC73B8C0F}"/>
                </a:ext>
              </a:extLst>
            </p:cNvPr>
            <p:cNvGrpSpPr>
              <a:grpSpLocks/>
            </p:cNvGrpSpPr>
            <p:nvPr/>
          </p:nvGrpSpPr>
          <p:grpSpPr bwMode="auto">
            <a:xfrm>
              <a:off x="842810" y="3111891"/>
              <a:ext cx="1224085" cy="522960"/>
              <a:chOff x="878620" y="3111891"/>
              <a:chExt cx="1224085" cy="522960"/>
            </a:xfrm>
          </p:grpSpPr>
          <p:sp>
            <p:nvSpPr>
              <p:cNvPr id="30748" name="TextBox 32">
                <a:extLst>
                  <a:ext uri="{FF2B5EF4-FFF2-40B4-BE49-F238E27FC236}">
                    <a16:creationId xmlns:a16="http://schemas.microsoft.com/office/drawing/2014/main" id="{F2C9BB57-5338-DDDC-6E2E-EDFC8ED6C487}"/>
                  </a:ext>
                </a:extLst>
              </p:cNvPr>
              <p:cNvSpPr txBox="1">
                <a:spLocks noChangeArrowheads="1"/>
              </p:cNvSpPr>
              <p:nvPr/>
            </p:nvSpPr>
            <p:spPr bwMode="auto">
              <a:xfrm>
                <a:off x="1133657" y="3188705"/>
                <a:ext cx="7892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b="1" u="sng">
                    <a:solidFill>
                      <a:srgbClr val="002060"/>
                    </a:solidFill>
                  </a:rPr>
                  <a:t>学号</a:t>
                </a:r>
              </a:p>
            </p:txBody>
          </p:sp>
          <p:sp>
            <p:nvSpPr>
              <p:cNvPr id="30749" name="椭圆 28">
                <a:extLst>
                  <a:ext uri="{FF2B5EF4-FFF2-40B4-BE49-F238E27FC236}">
                    <a16:creationId xmlns:a16="http://schemas.microsoft.com/office/drawing/2014/main" id="{82A06960-583B-4A37-3E88-D4D94B362CC9}"/>
                  </a:ext>
                </a:extLst>
              </p:cNvPr>
              <p:cNvSpPr>
                <a:spLocks noChangeArrowheads="1"/>
              </p:cNvSpPr>
              <p:nvPr/>
            </p:nvSpPr>
            <p:spPr bwMode="auto">
              <a:xfrm>
                <a:off x="878620" y="3111891"/>
                <a:ext cx="1224085" cy="522960"/>
              </a:xfrm>
              <a:prstGeom prst="ellipse">
                <a:avLst/>
              </a:prstGeom>
              <a:noFill/>
              <a:ln w="28575">
                <a:solidFill>
                  <a:srgbClr val="0070C0"/>
                </a:solidFill>
                <a:round/>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grpSp>
        <p:grpSp>
          <p:nvGrpSpPr>
            <p:cNvPr id="30733" name="组合 47">
              <a:extLst>
                <a:ext uri="{FF2B5EF4-FFF2-40B4-BE49-F238E27FC236}">
                  <a16:creationId xmlns:a16="http://schemas.microsoft.com/office/drawing/2014/main" id="{0D173838-1151-D879-D6AF-D68B14E6B29E}"/>
                </a:ext>
              </a:extLst>
            </p:cNvPr>
            <p:cNvGrpSpPr>
              <a:grpSpLocks/>
            </p:cNvGrpSpPr>
            <p:nvPr/>
          </p:nvGrpSpPr>
          <p:grpSpPr bwMode="auto">
            <a:xfrm>
              <a:off x="2138900" y="3111891"/>
              <a:ext cx="1224085" cy="522960"/>
              <a:chOff x="878620" y="3111891"/>
              <a:chExt cx="1224085" cy="522960"/>
            </a:xfrm>
          </p:grpSpPr>
          <p:sp>
            <p:nvSpPr>
              <p:cNvPr id="30746" name="TextBox 48">
                <a:extLst>
                  <a:ext uri="{FF2B5EF4-FFF2-40B4-BE49-F238E27FC236}">
                    <a16:creationId xmlns:a16="http://schemas.microsoft.com/office/drawing/2014/main" id="{F54BB033-5E40-8FDE-C940-DBDD448652F7}"/>
                  </a:ext>
                </a:extLst>
              </p:cNvPr>
              <p:cNvSpPr txBox="1">
                <a:spLocks noChangeArrowheads="1"/>
              </p:cNvSpPr>
              <p:nvPr/>
            </p:nvSpPr>
            <p:spPr bwMode="auto">
              <a:xfrm>
                <a:off x="1133657" y="3188705"/>
                <a:ext cx="7892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b="1">
                    <a:solidFill>
                      <a:srgbClr val="002060"/>
                    </a:solidFill>
                  </a:rPr>
                  <a:t>姓名</a:t>
                </a:r>
              </a:p>
            </p:txBody>
          </p:sp>
          <p:sp>
            <p:nvSpPr>
              <p:cNvPr id="30747" name="椭圆 49">
                <a:extLst>
                  <a:ext uri="{FF2B5EF4-FFF2-40B4-BE49-F238E27FC236}">
                    <a16:creationId xmlns:a16="http://schemas.microsoft.com/office/drawing/2014/main" id="{1434CA0A-F0C1-9515-401B-9FEC46484431}"/>
                  </a:ext>
                </a:extLst>
              </p:cNvPr>
              <p:cNvSpPr>
                <a:spLocks noChangeArrowheads="1"/>
              </p:cNvSpPr>
              <p:nvPr/>
            </p:nvSpPr>
            <p:spPr bwMode="auto">
              <a:xfrm>
                <a:off x="878620" y="3111891"/>
                <a:ext cx="1224085" cy="522960"/>
              </a:xfrm>
              <a:prstGeom prst="ellipse">
                <a:avLst/>
              </a:prstGeom>
              <a:noFill/>
              <a:ln w="28575">
                <a:solidFill>
                  <a:srgbClr val="0070C0"/>
                </a:solidFill>
                <a:round/>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grpSp>
        <p:grpSp>
          <p:nvGrpSpPr>
            <p:cNvPr id="30734" name="组合 50">
              <a:extLst>
                <a:ext uri="{FF2B5EF4-FFF2-40B4-BE49-F238E27FC236}">
                  <a16:creationId xmlns:a16="http://schemas.microsoft.com/office/drawing/2014/main" id="{FDA2C309-C0B0-A9CE-E75F-19FB34FA5E21}"/>
                </a:ext>
              </a:extLst>
            </p:cNvPr>
            <p:cNvGrpSpPr>
              <a:grpSpLocks/>
            </p:cNvGrpSpPr>
            <p:nvPr/>
          </p:nvGrpSpPr>
          <p:grpSpPr bwMode="auto">
            <a:xfrm>
              <a:off x="3434990" y="3111891"/>
              <a:ext cx="1224085" cy="522960"/>
              <a:chOff x="878620" y="3111891"/>
              <a:chExt cx="1224085" cy="522960"/>
            </a:xfrm>
          </p:grpSpPr>
          <p:sp>
            <p:nvSpPr>
              <p:cNvPr id="30744" name="TextBox 51">
                <a:extLst>
                  <a:ext uri="{FF2B5EF4-FFF2-40B4-BE49-F238E27FC236}">
                    <a16:creationId xmlns:a16="http://schemas.microsoft.com/office/drawing/2014/main" id="{19C33083-B7BC-0934-0AC3-E575205FB086}"/>
                  </a:ext>
                </a:extLst>
              </p:cNvPr>
              <p:cNvSpPr txBox="1">
                <a:spLocks noChangeArrowheads="1"/>
              </p:cNvSpPr>
              <p:nvPr/>
            </p:nvSpPr>
            <p:spPr bwMode="auto">
              <a:xfrm>
                <a:off x="1133657" y="3188705"/>
                <a:ext cx="7892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b="1">
                    <a:solidFill>
                      <a:srgbClr val="002060"/>
                    </a:solidFill>
                  </a:rPr>
                  <a:t>性别</a:t>
                </a:r>
              </a:p>
            </p:txBody>
          </p:sp>
          <p:sp>
            <p:nvSpPr>
              <p:cNvPr id="30745" name="椭圆 52">
                <a:extLst>
                  <a:ext uri="{FF2B5EF4-FFF2-40B4-BE49-F238E27FC236}">
                    <a16:creationId xmlns:a16="http://schemas.microsoft.com/office/drawing/2014/main" id="{CFDC7E28-D8BD-64A9-D5F6-5370CE44F7E1}"/>
                  </a:ext>
                </a:extLst>
              </p:cNvPr>
              <p:cNvSpPr>
                <a:spLocks noChangeArrowheads="1"/>
              </p:cNvSpPr>
              <p:nvPr/>
            </p:nvSpPr>
            <p:spPr bwMode="auto">
              <a:xfrm>
                <a:off x="878620" y="3111891"/>
                <a:ext cx="1224085" cy="522960"/>
              </a:xfrm>
              <a:prstGeom prst="ellipse">
                <a:avLst/>
              </a:prstGeom>
              <a:noFill/>
              <a:ln w="28575">
                <a:solidFill>
                  <a:srgbClr val="0070C0"/>
                </a:solidFill>
                <a:round/>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grpSp>
        <p:grpSp>
          <p:nvGrpSpPr>
            <p:cNvPr id="30735" name="组合 53">
              <a:extLst>
                <a:ext uri="{FF2B5EF4-FFF2-40B4-BE49-F238E27FC236}">
                  <a16:creationId xmlns:a16="http://schemas.microsoft.com/office/drawing/2014/main" id="{BC701B9B-9CDD-4821-1440-F4763E3A70B5}"/>
                </a:ext>
              </a:extLst>
            </p:cNvPr>
            <p:cNvGrpSpPr>
              <a:grpSpLocks/>
            </p:cNvGrpSpPr>
            <p:nvPr/>
          </p:nvGrpSpPr>
          <p:grpSpPr bwMode="auto">
            <a:xfrm>
              <a:off x="916227" y="4838807"/>
              <a:ext cx="1224085" cy="522960"/>
              <a:chOff x="878620" y="3111891"/>
              <a:chExt cx="1224085" cy="522960"/>
            </a:xfrm>
          </p:grpSpPr>
          <p:sp>
            <p:nvSpPr>
              <p:cNvPr id="30742" name="TextBox 54">
                <a:extLst>
                  <a:ext uri="{FF2B5EF4-FFF2-40B4-BE49-F238E27FC236}">
                    <a16:creationId xmlns:a16="http://schemas.microsoft.com/office/drawing/2014/main" id="{52E0C74A-011A-D7D1-755C-BFFC5B5B66C3}"/>
                  </a:ext>
                </a:extLst>
              </p:cNvPr>
              <p:cNvSpPr txBox="1">
                <a:spLocks noChangeArrowheads="1"/>
              </p:cNvSpPr>
              <p:nvPr/>
            </p:nvSpPr>
            <p:spPr bwMode="auto">
              <a:xfrm>
                <a:off x="1133657" y="3188705"/>
                <a:ext cx="7892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b="1">
                    <a:solidFill>
                      <a:srgbClr val="002060"/>
                    </a:solidFill>
                  </a:rPr>
                  <a:t>年龄</a:t>
                </a:r>
              </a:p>
            </p:txBody>
          </p:sp>
          <p:sp>
            <p:nvSpPr>
              <p:cNvPr id="30743" name="椭圆 55">
                <a:extLst>
                  <a:ext uri="{FF2B5EF4-FFF2-40B4-BE49-F238E27FC236}">
                    <a16:creationId xmlns:a16="http://schemas.microsoft.com/office/drawing/2014/main" id="{D8EF9424-E9B2-401C-8D6F-9F4E26FFF421}"/>
                  </a:ext>
                </a:extLst>
              </p:cNvPr>
              <p:cNvSpPr>
                <a:spLocks noChangeArrowheads="1"/>
              </p:cNvSpPr>
              <p:nvPr/>
            </p:nvSpPr>
            <p:spPr bwMode="auto">
              <a:xfrm>
                <a:off x="878620" y="3111891"/>
                <a:ext cx="1224085" cy="522960"/>
              </a:xfrm>
              <a:prstGeom prst="ellipse">
                <a:avLst/>
              </a:prstGeom>
              <a:noFill/>
              <a:ln w="28575">
                <a:solidFill>
                  <a:srgbClr val="0070C0"/>
                </a:solidFill>
                <a:round/>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grpSp>
        <p:grpSp>
          <p:nvGrpSpPr>
            <p:cNvPr id="30736" name="组合 56">
              <a:extLst>
                <a:ext uri="{FF2B5EF4-FFF2-40B4-BE49-F238E27FC236}">
                  <a16:creationId xmlns:a16="http://schemas.microsoft.com/office/drawing/2014/main" id="{D4F08560-0D87-09F9-BFCD-5E61ED6F9078}"/>
                </a:ext>
              </a:extLst>
            </p:cNvPr>
            <p:cNvGrpSpPr>
              <a:grpSpLocks/>
            </p:cNvGrpSpPr>
            <p:nvPr/>
          </p:nvGrpSpPr>
          <p:grpSpPr bwMode="auto">
            <a:xfrm>
              <a:off x="3414068" y="4890484"/>
              <a:ext cx="1224085" cy="522960"/>
              <a:chOff x="878620" y="3111891"/>
              <a:chExt cx="1224085" cy="522960"/>
            </a:xfrm>
          </p:grpSpPr>
          <p:sp>
            <p:nvSpPr>
              <p:cNvPr id="30740" name="TextBox 57">
                <a:extLst>
                  <a:ext uri="{FF2B5EF4-FFF2-40B4-BE49-F238E27FC236}">
                    <a16:creationId xmlns:a16="http://schemas.microsoft.com/office/drawing/2014/main" id="{D8C4D69D-8DC3-C371-07C1-36D4C8919E2B}"/>
                  </a:ext>
                </a:extLst>
              </p:cNvPr>
              <p:cNvSpPr txBox="1">
                <a:spLocks noChangeArrowheads="1"/>
              </p:cNvSpPr>
              <p:nvPr/>
            </p:nvSpPr>
            <p:spPr bwMode="auto">
              <a:xfrm>
                <a:off x="1133657" y="3188705"/>
                <a:ext cx="7892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b="1">
                    <a:solidFill>
                      <a:srgbClr val="002060"/>
                    </a:solidFill>
                  </a:rPr>
                  <a:t>专业</a:t>
                </a:r>
              </a:p>
            </p:txBody>
          </p:sp>
          <p:sp>
            <p:nvSpPr>
              <p:cNvPr id="30741" name="椭圆 58">
                <a:extLst>
                  <a:ext uri="{FF2B5EF4-FFF2-40B4-BE49-F238E27FC236}">
                    <a16:creationId xmlns:a16="http://schemas.microsoft.com/office/drawing/2014/main" id="{133A57EC-4B0B-5068-5A93-10B4354CEEF2}"/>
                  </a:ext>
                </a:extLst>
              </p:cNvPr>
              <p:cNvSpPr>
                <a:spLocks noChangeArrowheads="1"/>
              </p:cNvSpPr>
              <p:nvPr/>
            </p:nvSpPr>
            <p:spPr bwMode="auto">
              <a:xfrm>
                <a:off x="878620" y="3111891"/>
                <a:ext cx="1224085" cy="522960"/>
              </a:xfrm>
              <a:prstGeom prst="ellipse">
                <a:avLst/>
              </a:prstGeom>
              <a:noFill/>
              <a:ln w="28575">
                <a:solidFill>
                  <a:srgbClr val="0070C0"/>
                </a:solidFill>
                <a:round/>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grpSp>
        <p:cxnSp>
          <p:nvCxnSpPr>
            <p:cNvPr id="30737" name="直接连接符 60">
              <a:extLst>
                <a:ext uri="{FF2B5EF4-FFF2-40B4-BE49-F238E27FC236}">
                  <a16:creationId xmlns:a16="http://schemas.microsoft.com/office/drawing/2014/main" id="{AD9D32AB-D1F8-E5A4-8633-E2AE06BF3050}"/>
                </a:ext>
              </a:extLst>
            </p:cNvPr>
            <p:cNvCxnSpPr>
              <a:cxnSpLocks noChangeShapeType="1"/>
            </p:cNvCxnSpPr>
            <p:nvPr/>
          </p:nvCxnSpPr>
          <p:spPr bwMode="auto">
            <a:xfrm>
              <a:off x="2790343" y="3620359"/>
              <a:ext cx="0" cy="321526"/>
            </a:xfrm>
            <a:prstGeom prst="line">
              <a:avLst/>
            </a:prstGeom>
            <a:noFill/>
            <a:ln w="28575"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38" name="直接连接符 62">
              <a:extLst>
                <a:ext uri="{FF2B5EF4-FFF2-40B4-BE49-F238E27FC236}">
                  <a16:creationId xmlns:a16="http://schemas.microsoft.com/office/drawing/2014/main" id="{EF4A88A8-AB00-5A84-BBB5-48E9B7DF148A}"/>
                </a:ext>
              </a:extLst>
            </p:cNvPr>
            <p:cNvCxnSpPr>
              <a:cxnSpLocks noChangeShapeType="1"/>
              <a:endCxn id="30743" idx="0"/>
            </p:cNvCxnSpPr>
            <p:nvPr/>
          </p:nvCxnSpPr>
          <p:spPr bwMode="auto">
            <a:xfrm flipH="1">
              <a:off x="1528270" y="4382627"/>
              <a:ext cx="676592" cy="456180"/>
            </a:xfrm>
            <a:prstGeom prst="line">
              <a:avLst/>
            </a:prstGeom>
            <a:noFill/>
            <a:ln w="28575"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39" name="直接连接符 63">
              <a:extLst>
                <a:ext uri="{FF2B5EF4-FFF2-40B4-BE49-F238E27FC236}">
                  <a16:creationId xmlns:a16="http://schemas.microsoft.com/office/drawing/2014/main" id="{2E82C224-38D8-A3DE-E379-3734662F0826}"/>
                </a:ext>
              </a:extLst>
            </p:cNvPr>
            <p:cNvCxnSpPr>
              <a:cxnSpLocks noChangeShapeType="1"/>
              <a:stCxn id="30745" idx="4"/>
            </p:cNvCxnSpPr>
            <p:nvPr/>
          </p:nvCxnSpPr>
          <p:spPr bwMode="auto">
            <a:xfrm flipH="1">
              <a:off x="3434990" y="3634851"/>
              <a:ext cx="612043" cy="292542"/>
            </a:xfrm>
            <a:prstGeom prst="line">
              <a:avLst/>
            </a:prstGeom>
            <a:noFill/>
            <a:ln w="28575"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2" name="TextBox 6">
            <a:extLst>
              <a:ext uri="{FF2B5EF4-FFF2-40B4-BE49-F238E27FC236}">
                <a16:creationId xmlns:a16="http://schemas.microsoft.com/office/drawing/2014/main" id="{FD6B62F0-2E9E-0AE0-EFC2-6FFC467BBE8E}"/>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逻辑结构设计</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2">
            <a:extLst>
              <a:ext uri="{FF2B5EF4-FFF2-40B4-BE49-F238E27FC236}">
                <a16:creationId xmlns:a16="http://schemas.microsoft.com/office/drawing/2014/main" id="{11EBACAD-D2B4-79D7-9248-BCC033A9BAD6}"/>
              </a:ext>
            </a:extLst>
          </p:cNvPr>
          <p:cNvSpPr txBox="1">
            <a:spLocks noChangeArrowheads="1"/>
          </p:cNvSpPr>
          <p:nvPr/>
        </p:nvSpPr>
        <p:spPr bwMode="auto">
          <a:xfrm>
            <a:off x="771525" y="1833563"/>
            <a:ext cx="11231563" cy="996950"/>
          </a:xfrm>
          <a:prstGeom prst="rect">
            <a:avLst/>
          </a:prstGeom>
          <a:noFill/>
          <a:ln>
            <a:noFill/>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nSpc>
                <a:spcPct val="105000"/>
              </a:lnSpc>
              <a:spcBef>
                <a:spcPct val="30000"/>
              </a:spcBef>
              <a:buClr>
                <a:srgbClr val="FF0000"/>
              </a:buClr>
              <a:buFont typeface="Wingdings" pitchFamily="2" charset="2"/>
              <a:buNone/>
              <a:defRPr/>
            </a:pPr>
            <a:r>
              <a:rPr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1∶1</a:t>
            </a: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联系：</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由于两个实体的地位是平等的，可以将任意一端对应的关系模式合并，方法为在一个关系模式中加入另一个关系模式的码。</a:t>
            </a:r>
          </a:p>
        </p:txBody>
      </p:sp>
      <p:sp>
        <p:nvSpPr>
          <p:cNvPr id="4" name="矩形 3">
            <a:extLst>
              <a:ext uri="{FF2B5EF4-FFF2-40B4-BE49-F238E27FC236}">
                <a16:creationId xmlns:a16="http://schemas.microsoft.com/office/drawing/2014/main" id="{B23F87E4-C400-6C1E-180A-D34F57B25C22}"/>
              </a:ext>
            </a:extLst>
          </p:cNvPr>
          <p:cNvSpPr/>
          <p:nvPr/>
        </p:nvSpPr>
        <p:spPr>
          <a:xfrm>
            <a:off x="771525" y="1196975"/>
            <a:ext cx="7272338" cy="549275"/>
          </a:xfrm>
          <a:prstGeom prst="rect">
            <a:avLst/>
          </a:prstGeom>
        </p:spPr>
        <p:txBody>
          <a:bodyPr>
            <a:spAutoFit/>
          </a:bodyPr>
          <a:lstStyle/>
          <a:p>
            <a:pPr lvl="1" algn="just">
              <a:lnSpc>
                <a:spcPct val="105000"/>
              </a:lnSpc>
              <a:spcAft>
                <a:spcPct val="35000"/>
              </a:spcAft>
              <a:buClr>
                <a:srgbClr val="0000FF"/>
              </a:buClr>
              <a:buFont typeface="Arial" charset="0"/>
              <a:buNone/>
              <a:defRPr/>
            </a:pPr>
            <a:r>
              <a:rPr lang="zh-CN" altLang="en-US" sz="3200" b="1" dirty="0">
                <a:solidFill>
                  <a:srgbClr val="C00000"/>
                </a:solidFill>
                <a:effectLst>
                  <a:outerShdw blurRad="38100" dist="38100" dir="2700000" algn="tl">
                    <a:srgbClr val="C0C0C0"/>
                  </a:outerShdw>
                </a:effectLst>
                <a:latin typeface="仿宋_GB2312" pitchFamily="49" charset="-122"/>
                <a:ea typeface="仿宋_GB2312" pitchFamily="49" charset="-122"/>
              </a:rPr>
              <a:t>（</a:t>
            </a:r>
            <a:r>
              <a:rPr lang="en-US" altLang="zh-CN" sz="3200" b="1" dirty="0">
                <a:solidFill>
                  <a:srgbClr val="C00000"/>
                </a:solidFill>
                <a:effectLst>
                  <a:outerShdw blurRad="38100" dist="38100" dir="2700000" algn="tl">
                    <a:srgbClr val="C0C0C0"/>
                  </a:outerShdw>
                </a:effectLst>
                <a:latin typeface="仿宋_GB2312" pitchFamily="49" charset="-122"/>
                <a:ea typeface="仿宋_GB2312" pitchFamily="49" charset="-122"/>
              </a:rPr>
              <a:t>2</a:t>
            </a:r>
            <a:r>
              <a:rPr lang="zh-CN" altLang="en-US" sz="3200" b="1" dirty="0">
                <a:solidFill>
                  <a:srgbClr val="C00000"/>
                </a:solidFill>
                <a:effectLst>
                  <a:outerShdw blurRad="38100" dist="38100" dir="2700000" algn="tl">
                    <a:srgbClr val="C0C0C0"/>
                  </a:outerShdw>
                </a:effectLst>
                <a:latin typeface="仿宋_GB2312" pitchFamily="49" charset="-122"/>
                <a:ea typeface="仿宋_GB2312" pitchFamily="49" charset="-122"/>
              </a:rPr>
              <a:t>）联系到关系模式的转换</a:t>
            </a:r>
          </a:p>
        </p:txBody>
      </p:sp>
      <p:sp>
        <p:nvSpPr>
          <p:cNvPr id="28680" name="Rectangle 2">
            <a:extLst>
              <a:ext uri="{FF2B5EF4-FFF2-40B4-BE49-F238E27FC236}">
                <a16:creationId xmlns:a16="http://schemas.microsoft.com/office/drawing/2014/main" id="{1EC6E438-5FC2-9AF0-000E-273ED5D54B34}"/>
              </a:ext>
            </a:extLst>
          </p:cNvPr>
          <p:cNvSpPr>
            <a:spLocks noChangeArrowheads="1"/>
          </p:cNvSpPr>
          <p:nvPr/>
        </p:nvSpPr>
        <p:spPr bwMode="blackWhite">
          <a:xfrm>
            <a:off x="5883275" y="3419475"/>
            <a:ext cx="5019675" cy="1017588"/>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nSpc>
                <a:spcPct val="105000"/>
              </a:lnSpc>
              <a:spcBef>
                <a:spcPct val="50000"/>
              </a:spcBef>
              <a:buClr>
                <a:srgbClr val="0000FF"/>
              </a:buClr>
            </a:pPr>
            <a:r>
              <a:rPr lang="zh-CN" altLang="en-US" sz="2000" b="1">
                <a:solidFill>
                  <a:srgbClr val="0070C0"/>
                </a:solidFill>
                <a:latin typeface="仿宋_GB2312" pitchFamily="49" charset="-122"/>
                <a:ea typeface="仿宋_GB2312" pitchFamily="49" charset="-122"/>
              </a:rPr>
              <a:t>工资卡（卡</a:t>
            </a:r>
            <a:r>
              <a:rPr lang="zh-CN" altLang="en-US" sz="2000" b="1" u="sng">
                <a:solidFill>
                  <a:srgbClr val="0070C0"/>
                </a:solidFill>
                <a:latin typeface="仿宋_GB2312" pitchFamily="49" charset="-122"/>
                <a:ea typeface="仿宋_GB2312" pitchFamily="49" charset="-122"/>
              </a:rPr>
              <a:t>号</a:t>
            </a:r>
            <a:r>
              <a:rPr lang="zh-CN" altLang="en-US" sz="2000" b="1">
                <a:solidFill>
                  <a:srgbClr val="0070C0"/>
                </a:solidFill>
                <a:latin typeface="仿宋_GB2312" pitchFamily="49" charset="-122"/>
                <a:ea typeface="仿宋_GB2312" pitchFamily="49" charset="-122"/>
              </a:rPr>
              <a:t>，</a:t>
            </a:r>
            <a:r>
              <a:rPr lang="en-US" altLang="zh-CN" sz="2000" b="1">
                <a:solidFill>
                  <a:srgbClr val="0070C0"/>
                </a:solidFill>
                <a:latin typeface="仿宋_GB2312" pitchFamily="49" charset="-122"/>
                <a:ea typeface="仿宋_GB2312" pitchFamily="49" charset="-122"/>
              </a:rPr>
              <a:t>……</a:t>
            </a:r>
            <a:r>
              <a:rPr lang="zh-CN" altLang="en-US" sz="2000" b="1">
                <a:solidFill>
                  <a:srgbClr val="0070C0"/>
                </a:solidFill>
                <a:latin typeface="仿宋_GB2312" pitchFamily="49" charset="-122"/>
                <a:ea typeface="仿宋_GB2312" pitchFamily="49" charset="-122"/>
              </a:rPr>
              <a:t>）</a:t>
            </a:r>
            <a:endParaRPr lang="en-US" altLang="zh-CN" sz="2000" b="1">
              <a:solidFill>
                <a:srgbClr val="0070C0"/>
              </a:solidFill>
              <a:latin typeface="仿宋_GB2312" pitchFamily="49" charset="-122"/>
              <a:ea typeface="仿宋_GB2312" pitchFamily="49" charset="-122"/>
            </a:endParaRPr>
          </a:p>
          <a:p>
            <a:pPr lvl="1">
              <a:lnSpc>
                <a:spcPct val="105000"/>
              </a:lnSpc>
              <a:spcBef>
                <a:spcPct val="50000"/>
              </a:spcBef>
              <a:buClr>
                <a:srgbClr val="0000FF"/>
              </a:buClr>
            </a:pPr>
            <a:r>
              <a:rPr lang="zh-CN" altLang="en-US" sz="2000" b="1">
                <a:solidFill>
                  <a:srgbClr val="0070C0"/>
                </a:solidFill>
                <a:latin typeface="仿宋_GB2312" pitchFamily="49" charset="-122"/>
                <a:ea typeface="仿宋_GB2312" pitchFamily="49" charset="-122"/>
              </a:rPr>
              <a:t>员工（</a:t>
            </a:r>
            <a:r>
              <a:rPr lang="zh-CN" altLang="en-US" sz="2000" b="1" u="sng">
                <a:solidFill>
                  <a:srgbClr val="0070C0"/>
                </a:solidFill>
                <a:latin typeface="仿宋_GB2312" pitchFamily="49" charset="-122"/>
                <a:ea typeface="仿宋_GB2312" pitchFamily="49" charset="-122"/>
              </a:rPr>
              <a:t>员工号</a:t>
            </a:r>
            <a:r>
              <a:rPr lang="zh-CN" altLang="en-US" sz="2000" b="1">
                <a:solidFill>
                  <a:srgbClr val="0070C0"/>
                </a:solidFill>
                <a:latin typeface="仿宋_GB2312" pitchFamily="49" charset="-122"/>
                <a:ea typeface="仿宋_GB2312" pitchFamily="49" charset="-122"/>
              </a:rPr>
              <a:t>，</a:t>
            </a:r>
            <a:r>
              <a:rPr lang="en-US" altLang="zh-CN" sz="2000" b="1">
                <a:solidFill>
                  <a:srgbClr val="0070C0"/>
                </a:solidFill>
                <a:latin typeface="仿宋_GB2312" pitchFamily="49" charset="-122"/>
                <a:ea typeface="仿宋_GB2312" pitchFamily="49" charset="-122"/>
              </a:rPr>
              <a:t>……</a:t>
            </a:r>
            <a:r>
              <a:rPr lang="zh-CN" altLang="en-US" sz="2000" b="1">
                <a:solidFill>
                  <a:srgbClr val="0070C0"/>
                </a:solidFill>
                <a:latin typeface="仿宋_GB2312" pitchFamily="49" charset="-122"/>
                <a:ea typeface="仿宋_GB2312" pitchFamily="49" charset="-122"/>
              </a:rPr>
              <a:t>，</a:t>
            </a:r>
            <a:r>
              <a:rPr lang="zh-CN" altLang="en-US" sz="2000" b="1">
                <a:solidFill>
                  <a:srgbClr val="C00000"/>
                </a:solidFill>
                <a:latin typeface="仿宋_GB2312" pitchFamily="49" charset="-122"/>
                <a:ea typeface="仿宋_GB2312" pitchFamily="49" charset="-122"/>
              </a:rPr>
              <a:t>工资卡号</a:t>
            </a:r>
            <a:r>
              <a:rPr lang="zh-CN" altLang="en-US" sz="2000" b="1">
                <a:solidFill>
                  <a:srgbClr val="0070C0"/>
                </a:solidFill>
                <a:latin typeface="仿宋_GB2312" pitchFamily="49" charset="-122"/>
                <a:ea typeface="仿宋_GB2312" pitchFamily="49" charset="-122"/>
              </a:rPr>
              <a:t>）</a:t>
            </a:r>
            <a:endParaRPr lang="en-US" altLang="zh-CN" sz="2000" b="1">
              <a:solidFill>
                <a:srgbClr val="0070C0"/>
              </a:solidFill>
              <a:latin typeface="仿宋_GB2312" pitchFamily="49" charset="-122"/>
              <a:ea typeface="仿宋_GB2312" pitchFamily="49" charset="-122"/>
            </a:endParaRPr>
          </a:p>
        </p:txBody>
      </p:sp>
      <p:grpSp>
        <p:nvGrpSpPr>
          <p:cNvPr id="31749" name="组合 32">
            <a:extLst>
              <a:ext uri="{FF2B5EF4-FFF2-40B4-BE49-F238E27FC236}">
                <a16:creationId xmlns:a16="http://schemas.microsoft.com/office/drawing/2014/main" id="{A83062DA-CDC6-D8A8-3B8D-81A5BDFA067E}"/>
              </a:ext>
            </a:extLst>
          </p:cNvPr>
          <p:cNvGrpSpPr>
            <a:grpSpLocks/>
          </p:cNvGrpSpPr>
          <p:nvPr/>
        </p:nvGrpSpPr>
        <p:grpSpPr bwMode="auto">
          <a:xfrm>
            <a:off x="2928938" y="3357563"/>
            <a:ext cx="1270000" cy="2386012"/>
            <a:chOff x="2929545" y="3357673"/>
            <a:chExt cx="1269152" cy="2385472"/>
          </a:xfrm>
        </p:grpSpPr>
        <p:grpSp>
          <p:nvGrpSpPr>
            <p:cNvPr id="31752" name="组合 30">
              <a:extLst>
                <a:ext uri="{FF2B5EF4-FFF2-40B4-BE49-F238E27FC236}">
                  <a16:creationId xmlns:a16="http://schemas.microsoft.com/office/drawing/2014/main" id="{951D54C2-8444-37B5-9934-3836417F8E35}"/>
                </a:ext>
              </a:extLst>
            </p:cNvPr>
            <p:cNvGrpSpPr>
              <a:grpSpLocks/>
            </p:cNvGrpSpPr>
            <p:nvPr/>
          </p:nvGrpSpPr>
          <p:grpSpPr bwMode="auto">
            <a:xfrm>
              <a:off x="2929545" y="3357673"/>
              <a:ext cx="1269152" cy="2385472"/>
              <a:chOff x="2405998" y="3419015"/>
              <a:chExt cx="1269152" cy="2385472"/>
            </a:xfrm>
          </p:grpSpPr>
          <p:sp>
            <p:nvSpPr>
              <p:cNvPr id="31755" name="菱形 2">
                <a:extLst>
                  <a:ext uri="{FF2B5EF4-FFF2-40B4-BE49-F238E27FC236}">
                    <a16:creationId xmlns:a16="http://schemas.microsoft.com/office/drawing/2014/main" id="{C3B14040-098E-4915-0947-F5E887B20EB3}"/>
                  </a:ext>
                </a:extLst>
              </p:cNvPr>
              <p:cNvSpPr>
                <a:spLocks noChangeArrowheads="1"/>
              </p:cNvSpPr>
              <p:nvPr/>
            </p:nvSpPr>
            <p:spPr bwMode="auto">
              <a:xfrm>
                <a:off x="2556051" y="4213227"/>
                <a:ext cx="1008070" cy="797047"/>
              </a:xfrm>
              <a:prstGeom prst="diamond">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grpSp>
            <p:nvGrpSpPr>
              <p:cNvPr id="31756" name="组合 6">
                <a:extLst>
                  <a:ext uri="{FF2B5EF4-FFF2-40B4-BE49-F238E27FC236}">
                    <a16:creationId xmlns:a16="http://schemas.microsoft.com/office/drawing/2014/main" id="{7FC21440-CBED-0616-5EBB-B1F6AFD769FC}"/>
                  </a:ext>
                </a:extLst>
              </p:cNvPr>
              <p:cNvGrpSpPr>
                <a:grpSpLocks/>
              </p:cNvGrpSpPr>
              <p:nvPr/>
            </p:nvGrpSpPr>
            <p:grpSpPr bwMode="auto">
              <a:xfrm>
                <a:off x="2445022" y="3419015"/>
                <a:ext cx="1230128" cy="472686"/>
                <a:chOff x="2021855" y="3264663"/>
                <a:chExt cx="1230128" cy="472686"/>
              </a:xfrm>
            </p:grpSpPr>
            <p:sp>
              <p:nvSpPr>
                <p:cNvPr id="31763" name="矩形 1">
                  <a:extLst>
                    <a:ext uri="{FF2B5EF4-FFF2-40B4-BE49-F238E27FC236}">
                      <a16:creationId xmlns:a16="http://schemas.microsoft.com/office/drawing/2014/main" id="{C074908A-6943-3938-862E-55F074D1625E}"/>
                    </a:ext>
                  </a:extLst>
                </p:cNvPr>
                <p:cNvSpPr>
                  <a:spLocks noChangeArrowheads="1"/>
                </p:cNvSpPr>
                <p:nvPr/>
              </p:nvSpPr>
              <p:spPr bwMode="auto">
                <a:xfrm>
                  <a:off x="2021855" y="3264663"/>
                  <a:ext cx="1230128" cy="472686"/>
                </a:xfrm>
                <a:prstGeom prst="rect">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31764" name="TextBox 4">
                  <a:extLst>
                    <a:ext uri="{FF2B5EF4-FFF2-40B4-BE49-F238E27FC236}">
                      <a16:creationId xmlns:a16="http://schemas.microsoft.com/office/drawing/2014/main" id="{1638B5B9-0444-E598-76DE-ADDDD97605C4}"/>
                    </a:ext>
                  </a:extLst>
                </p:cNvPr>
                <p:cNvSpPr txBox="1">
                  <a:spLocks noChangeArrowheads="1"/>
                </p:cNvSpPr>
                <p:nvPr/>
              </p:nvSpPr>
              <p:spPr bwMode="auto">
                <a:xfrm>
                  <a:off x="2288953" y="3316340"/>
                  <a:ext cx="9360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b="1">
                      <a:solidFill>
                        <a:srgbClr val="002060"/>
                      </a:solidFill>
                    </a:rPr>
                    <a:t>员工</a:t>
                  </a:r>
                </a:p>
              </p:txBody>
            </p:sp>
          </p:grpSp>
          <p:sp>
            <p:nvSpPr>
              <p:cNvPr id="31757" name="TextBox 36">
                <a:extLst>
                  <a:ext uri="{FF2B5EF4-FFF2-40B4-BE49-F238E27FC236}">
                    <a16:creationId xmlns:a16="http://schemas.microsoft.com/office/drawing/2014/main" id="{4F20695D-F89D-BF8C-EC10-5243DE71C030}"/>
                  </a:ext>
                </a:extLst>
              </p:cNvPr>
              <p:cNvSpPr txBox="1">
                <a:spLocks noChangeArrowheads="1"/>
              </p:cNvSpPr>
              <p:nvPr/>
            </p:nvSpPr>
            <p:spPr bwMode="auto">
              <a:xfrm>
                <a:off x="2758876" y="4427084"/>
                <a:ext cx="6551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b="1">
                    <a:solidFill>
                      <a:srgbClr val="002060"/>
                    </a:solidFill>
                  </a:rPr>
                  <a:t>持有</a:t>
                </a:r>
              </a:p>
            </p:txBody>
          </p:sp>
          <p:grpSp>
            <p:nvGrpSpPr>
              <p:cNvPr id="31758" name="组合 38">
                <a:extLst>
                  <a:ext uri="{FF2B5EF4-FFF2-40B4-BE49-F238E27FC236}">
                    <a16:creationId xmlns:a16="http://schemas.microsoft.com/office/drawing/2014/main" id="{CD54D8A4-9CAC-4BEB-315E-A18026781904}"/>
                  </a:ext>
                </a:extLst>
              </p:cNvPr>
              <p:cNvGrpSpPr>
                <a:grpSpLocks/>
              </p:cNvGrpSpPr>
              <p:nvPr/>
            </p:nvGrpSpPr>
            <p:grpSpPr bwMode="auto">
              <a:xfrm>
                <a:off x="2405998" y="5331801"/>
                <a:ext cx="1230128" cy="472686"/>
                <a:chOff x="2021855" y="3264663"/>
                <a:chExt cx="1230128" cy="472686"/>
              </a:xfrm>
            </p:grpSpPr>
            <p:sp>
              <p:nvSpPr>
                <p:cNvPr id="31761" name="矩形 39">
                  <a:extLst>
                    <a:ext uri="{FF2B5EF4-FFF2-40B4-BE49-F238E27FC236}">
                      <a16:creationId xmlns:a16="http://schemas.microsoft.com/office/drawing/2014/main" id="{8F8EBCFE-5578-E7E7-737C-C5280F3A6EBE}"/>
                    </a:ext>
                  </a:extLst>
                </p:cNvPr>
                <p:cNvSpPr>
                  <a:spLocks noChangeArrowheads="1"/>
                </p:cNvSpPr>
                <p:nvPr/>
              </p:nvSpPr>
              <p:spPr bwMode="auto">
                <a:xfrm>
                  <a:off x="2021855" y="3264663"/>
                  <a:ext cx="1230128" cy="472686"/>
                </a:xfrm>
                <a:prstGeom prst="rect">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31762" name="TextBox 40">
                  <a:extLst>
                    <a:ext uri="{FF2B5EF4-FFF2-40B4-BE49-F238E27FC236}">
                      <a16:creationId xmlns:a16="http://schemas.microsoft.com/office/drawing/2014/main" id="{45DB2BDE-7B1D-19A2-6C91-F8B036581185}"/>
                    </a:ext>
                  </a:extLst>
                </p:cNvPr>
                <p:cNvSpPr txBox="1">
                  <a:spLocks noChangeArrowheads="1"/>
                </p:cNvSpPr>
                <p:nvPr/>
              </p:nvSpPr>
              <p:spPr bwMode="auto">
                <a:xfrm>
                  <a:off x="2120433" y="3316340"/>
                  <a:ext cx="9360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b="1">
                      <a:solidFill>
                        <a:srgbClr val="002060"/>
                      </a:solidFill>
                    </a:rPr>
                    <a:t>工资卡</a:t>
                  </a:r>
                </a:p>
              </p:txBody>
            </p:sp>
          </p:grpSp>
          <p:cxnSp>
            <p:nvCxnSpPr>
              <p:cNvPr id="31759" name="直接连接符 19">
                <a:extLst>
                  <a:ext uri="{FF2B5EF4-FFF2-40B4-BE49-F238E27FC236}">
                    <a16:creationId xmlns:a16="http://schemas.microsoft.com/office/drawing/2014/main" id="{9A36A03C-D0F5-8E05-98F1-2998C91281F6}"/>
                  </a:ext>
                </a:extLst>
              </p:cNvPr>
              <p:cNvCxnSpPr>
                <a:cxnSpLocks noChangeShapeType="1"/>
                <a:stCxn id="31763" idx="2"/>
                <a:endCxn id="31755" idx="0"/>
              </p:cNvCxnSpPr>
              <p:nvPr/>
            </p:nvCxnSpPr>
            <p:spPr bwMode="auto">
              <a:xfrm>
                <a:off x="3060086" y="3891701"/>
                <a:ext cx="0" cy="321526"/>
              </a:xfrm>
              <a:prstGeom prst="line">
                <a:avLst/>
              </a:prstGeom>
              <a:noFill/>
              <a:ln w="28575"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60" name="直接连接符 43">
                <a:extLst>
                  <a:ext uri="{FF2B5EF4-FFF2-40B4-BE49-F238E27FC236}">
                    <a16:creationId xmlns:a16="http://schemas.microsoft.com/office/drawing/2014/main" id="{6198C3C1-F919-B1AD-AD46-C7DD287E3636}"/>
                  </a:ext>
                </a:extLst>
              </p:cNvPr>
              <p:cNvCxnSpPr>
                <a:cxnSpLocks noChangeShapeType="1"/>
              </p:cNvCxnSpPr>
              <p:nvPr/>
            </p:nvCxnSpPr>
            <p:spPr bwMode="auto">
              <a:xfrm>
                <a:off x="3054043" y="5010275"/>
                <a:ext cx="0" cy="321526"/>
              </a:xfrm>
              <a:prstGeom prst="line">
                <a:avLst/>
              </a:prstGeom>
              <a:noFill/>
              <a:ln w="28575"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1753" name="TextBox 45">
              <a:extLst>
                <a:ext uri="{FF2B5EF4-FFF2-40B4-BE49-F238E27FC236}">
                  <a16:creationId xmlns:a16="http://schemas.microsoft.com/office/drawing/2014/main" id="{A6B26E6E-BEAD-7E46-E103-AA0256B4F8C2}"/>
                </a:ext>
              </a:extLst>
            </p:cNvPr>
            <p:cNvSpPr txBox="1">
              <a:spLocks noChangeArrowheads="1"/>
            </p:cNvSpPr>
            <p:nvPr/>
          </p:nvSpPr>
          <p:spPr bwMode="auto">
            <a:xfrm>
              <a:off x="3610019" y="3830359"/>
              <a:ext cx="3570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002060"/>
                  </a:solidFill>
                </a:rPr>
                <a:t>1</a:t>
              </a:r>
              <a:endParaRPr lang="zh-CN" altLang="en-US" b="1">
                <a:solidFill>
                  <a:srgbClr val="002060"/>
                </a:solidFill>
              </a:endParaRPr>
            </a:p>
          </p:txBody>
        </p:sp>
        <p:sp>
          <p:nvSpPr>
            <p:cNvPr id="31754" name="TextBox 46">
              <a:extLst>
                <a:ext uri="{FF2B5EF4-FFF2-40B4-BE49-F238E27FC236}">
                  <a16:creationId xmlns:a16="http://schemas.microsoft.com/office/drawing/2014/main" id="{AEA005B4-FF9E-2FDC-CC1A-87D01459C635}"/>
                </a:ext>
              </a:extLst>
            </p:cNvPr>
            <p:cNvSpPr txBox="1">
              <a:spLocks noChangeArrowheads="1"/>
            </p:cNvSpPr>
            <p:nvPr/>
          </p:nvSpPr>
          <p:spPr bwMode="auto">
            <a:xfrm>
              <a:off x="3610019" y="4884362"/>
              <a:ext cx="3570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002060"/>
                  </a:solidFill>
                </a:rPr>
                <a:t>1</a:t>
              </a:r>
              <a:endParaRPr lang="zh-CN" altLang="en-US" b="1">
                <a:solidFill>
                  <a:srgbClr val="002060"/>
                </a:solidFill>
              </a:endParaRPr>
            </a:p>
          </p:txBody>
        </p:sp>
      </p:grpSp>
      <p:sp>
        <p:nvSpPr>
          <p:cNvPr id="49" name="Rectangle 2">
            <a:extLst>
              <a:ext uri="{FF2B5EF4-FFF2-40B4-BE49-F238E27FC236}">
                <a16:creationId xmlns:a16="http://schemas.microsoft.com/office/drawing/2014/main" id="{B533B35F-7A10-A127-BDB1-84B6D6532EF3}"/>
              </a:ext>
            </a:extLst>
          </p:cNvPr>
          <p:cNvSpPr>
            <a:spLocks noChangeArrowheads="1"/>
          </p:cNvSpPr>
          <p:nvPr/>
        </p:nvSpPr>
        <p:spPr bwMode="blackWhite">
          <a:xfrm>
            <a:off x="5951538" y="4724400"/>
            <a:ext cx="4951412" cy="1019175"/>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nSpc>
                <a:spcPct val="105000"/>
              </a:lnSpc>
              <a:spcBef>
                <a:spcPct val="50000"/>
              </a:spcBef>
              <a:buClr>
                <a:srgbClr val="0000FF"/>
              </a:buClr>
            </a:pPr>
            <a:r>
              <a:rPr lang="zh-CN" altLang="en-US" sz="2000" b="1">
                <a:solidFill>
                  <a:srgbClr val="0070C0"/>
                </a:solidFill>
                <a:latin typeface="仿宋_GB2312" pitchFamily="49" charset="-122"/>
                <a:ea typeface="仿宋_GB2312" pitchFamily="49" charset="-122"/>
              </a:rPr>
              <a:t>工资卡（</a:t>
            </a:r>
            <a:r>
              <a:rPr lang="zh-CN" altLang="en-US" sz="2000" b="1" u="sng">
                <a:solidFill>
                  <a:srgbClr val="0070C0"/>
                </a:solidFill>
                <a:latin typeface="仿宋_GB2312" pitchFamily="49" charset="-122"/>
                <a:ea typeface="仿宋_GB2312" pitchFamily="49" charset="-122"/>
              </a:rPr>
              <a:t>卡号</a:t>
            </a:r>
            <a:r>
              <a:rPr lang="zh-CN" altLang="en-US" sz="2000" b="1">
                <a:solidFill>
                  <a:srgbClr val="0070C0"/>
                </a:solidFill>
                <a:latin typeface="仿宋_GB2312" pitchFamily="49" charset="-122"/>
                <a:ea typeface="仿宋_GB2312" pitchFamily="49" charset="-122"/>
              </a:rPr>
              <a:t>，</a:t>
            </a:r>
            <a:r>
              <a:rPr lang="en-US" altLang="zh-CN" sz="2000" b="1">
                <a:solidFill>
                  <a:srgbClr val="0070C0"/>
                </a:solidFill>
                <a:latin typeface="仿宋_GB2312" pitchFamily="49" charset="-122"/>
                <a:ea typeface="仿宋_GB2312" pitchFamily="49" charset="-122"/>
              </a:rPr>
              <a:t>……</a:t>
            </a:r>
            <a:r>
              <a:rPr lang="zh-CN" altLang="en-US" sz="2000" b="1">
                <a:solidFill>
                  <a:srgbClr val="0070C0"/>
                </a:solidFill>
                <a:latin typeface="仿宋_GB2312" pitchFamily="49" charset="-122"/>
                <a:ea typeface="仿宋_GB2312" pitchFamily="49" charset="-122"/>
              </a:rPr>
              <a:t>，</a:t>
            </a:r>
            <a:r>
              <a:rPr lang="zh-CN" altLang="en-US" sz="2000" b="1">
                <a:solidFill>
                  <a:srgbClr val="C00000"/>
                </a:solidFill>
                <a:latin typeface="仿宋_GB2312" pitchFamily="49" charset="-122"/>
                <a:ea typeface="仿宋_GB2312" pitchFamily="49" charset="-122"/>
              </a:rPr>
              <a:t>员工号</a:t>
            </a:r>
            <a:r>
              <a:rPr lang="zh-CN" altLang="en-US" sz="2000" b="1">
                <a:solidFill>
                  <a:srgbClr val="0070C0"/>
                </a:solidFill>
                <a:latin typeface="仿宋_GB2312" pitchFamily="49" charset="-122"/>
                <a:ea typeface="仿宋_GB2312" pitchFamily="49" charset="-122"/>
              </a:rPr>
              <a:t>）</a:t>
            </a:r>
            <a:endParaRPr lang="en-US" altLang="zh-CN" sz="2000" b="1">
              <a:solidFill>
                <a:srgbClr val="0070C0"/>
              </a:solidFill>
              <a:latin typeface="仿宋_GB2312" pitchFamily="49" charset="-122"/>
              <a:ea typeface="仿宋_GB2312" pitchFamily="49" charset="-122"/>
            </a:endParaRPr>
          </a:p>
          <a:p>
            <a:pPr lvl="1">
              <a:lnSpc>
                <a:spcPct val="105000"/>
              </a:lnSpc>
              <a:spcBef>
                <a:spcPct val="50000"/>
              </a:spcBef>
              <a:buClr>
                <a:srgbClr val="0000FF"/>
              </a:buClr>
            </a:pPr>
            <a:r>
              <a:rPr lang="zh-CN" altLang="en-US" sz="2000" b="1">
                <a:solidFill>
                  <a:srgbClr val="0070C0"/>
                </a:solidFill>
                <a:latin typeface="仿宋_GB2312" pitchFamily="49" charset="-122"/>
                <a:ea typeface="仿宋_GB2312" pitchFamily="49" charset="-122"/>
              </a:rPr>
              <a:t>员工（</a:t>
            </a:r>
            <a:r>
              <a:rPr lang="zh-CN" altLang="en-US" sz="2000" b="1" u="sng">
                <a:solidFill>
                  <a:srgbClr val="0070C0"/>
                </a:solidFill>
                <a:latin typeface="仿宋_GB2312" pitchFamily="49" charset="-122"/>
                <a:ea typeface="仿宋_GB2312" pitchFamily="49" charset="-122"/>
              </a:rPr>
              <a:t>员工号</a:t>
            </a:r>
            <a:r>
              <a:rPr lang="zh-CN" altLang="en-US" sz="2000" b="1">
                <a:solidFill>
                  <a:srgbClr val="0070C0"/>
                </a:solidFill>
                <a:latin typeface="仿宋_GB2312" pitchFamily="49" charset="-122"/>
                <a:ea typeface="仿宋_GB2312" pitchFamily="49" charset="-122"/>
              </a:rPr>
              <a:t>，</a:t>
            </a:r>
            <a:r>
              <a:rPr lang="en-US" altLang="zh-CN" sz="2000" b="1">
                <a:solidFill>
                  <a:srgbClr val="0070C0"/>
                </a:solidFill>
                <a:latin typeface="仿宋_GB2312" pitchFamily="49" charset="-122"/>
                <a:ea typeface="仿宋_GB2312" pitchFamily="49" charset="-122"/>
              </a:rPr>
              <a:t>……</a:t>
            </a:r>
            <a:r>
              <a:rPr lang="zh-CN" altLang="en-US" sz="2000" b="1">
                <a:solidFill>
                  <a:srgbClr val="0070C0"/>
                </a:solidFill>
                <a:latin typeface="仿宋_GB2312" pitchFamily="49" charset="-122"/>
                <a:ea typeface="仿宋_GB2312" pitchFamily="49" charset="-122"/>
              </a:rPr>
              <a:t>）</a:t>
            </a:r>
            <a:endParaRPr lang="en-US" altLang="zh-CN" sz="2000" b="1">
              <a:solidFill>
                <a:srgbClr val="0070C0"/>
              </a:solidFill>
              <a:latin typeface="仿宋_GB2312" pitchFamily="49" charset="-122"/>
              <a:ea typeface="仿宋_GB2312" pitchFamily="49" charset="-122"/>
            </a:endParaRPr>
          </a:p>
        </p:txBody>
      </p:sp>
      <p:sp>
        <p:nvSpPr>
          <p:cNvPr id="50" name="TextBox 6">
            <a:extLst>
              <a:ext uri="{FF2B5EF4-FFF2-40B4-BE49-F238E27FC236}">
                <a16:creationId xmlns:a16="http://schemas.microsoft.com/office/drawing/2014/main" id="{9BB736BE-07FF-C536-B113-415B7FB9A401}"/>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逻辑结构设计</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680"/>
                                        </p:tgtEl>
                                        <p:attrNameLst>
                                          <p:attrName>style.visibility</p:attrName>
                                        </p:attrNameLst>
                                      </p:cBhvr>
                                      <p:to>
                                        <p:strVal val="visible"/>
                                      </p:to>
                                    </p:set>
                                    <p:animEffect transition="in" filter="fade">
                                      <p:cBhvr>
                                        <p:cTn id="7" dur="500"/>
                                        <p:tgtEl>
                                          <p:spTgt spid="286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fade">
                                      <p:cBhvr>
                                        <p:cTn id="12"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0" grpId="0" animBg="1"/>
      <p:bldP spid="4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2">
            <a:extLst>
              <a:ext uri="{FF2B5EF4-FFF2-40B4-BE49-F238E27FC236}">
                <a16:creationId xmlns:a16="http://schemas.microsoft.com/office/drawing/2014/main" id="{1AAF62BE-3A8E-E7BB-806A-2169BF840EC4}"/>
              </a:ext>
            </a:extLst>
          </p:cNvPr>
          <p:cNvSpPr txBox="1">
            <a:spLocks noChangeArrowheads="1"/>
          </p:cNvSpPr>
          <p:nvPr/>
        </p:nvSpPr>
        <p:spPr bwMode="auto">
          <a:xfrm>
            <a:off x="771525" y="1273175"/>
            <a:ext cx="10728325" cy="996950"/>
          </a:xfrm>
          <a:prstGeom prst="rect">
            <a:avLst/>
          </a:prstGeom>
          <a:noFill/>
          <a:ln>
            <a:noFill/>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nSpc>
                <a:spcPct val="105000"/>
              </a:lnSpc>
              <a:spcBef>
                <a:spcPct val="30000"/>
              </a:spcBef>
              <a:buClr>
                <a:srgbClr val="FF0000"/>
              </a:buClr>
              <a:buFont typeface="Wingdings" pitchFamily="2" charset="2"/>
              <a:buNone/>
              <a:defRPr/>
            </a:pPr>
            <a:r>
              <a:rPr lang="en-US" altLang="zh-CN" sz="2800" b="1" dirty="0" err="1">
                <a:solidFill>
                  <a:srgbClr val="C00000"/>
                </a:solidFill>
                <a:effectLst>
                  <a:outerShdw blurRad="38100" dist="38100" dir="2700000" algn="tl">
                    <a:srgbClr val="C0C0C0"/>
                  </a:outerShdw>
                </a:effectLst>
                <a:latin typeface="楷体_GB2312" pitchFamily="49" charset="-122"/>
                <a:ea typeface="楷体_GB2312" pitchFamily="49" charset="-122"/>
              </a:rPr>
              <a:t>1∶n</a:t>
            </a: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联系：</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一般将</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1</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端实体的码和联系本身的属性与</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n</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端的关系模式合并。 </a:t>
            </a:r>
          </a:p>
        </p:txBody>
      </p:sp>
      <p:sp>
        <p:nvSpPr>
          <p:cNvPr id="29702" name="Rectangle 2">
            <a:extLst>
              <a:ext uri="{FF2B5EF4-FFF2-40B4-BE49-F238E27FC236}">
                <a16:creationId xmlns:a16="http://schemas.microsoft.com/office/drawing/2014/main" id="{CF6B78F8-FB8C-05F1-58F2-CC054B0264AB}"/>
              </a:ext>
            </a:extLst>
          </p:cNvPr>
          <p:cNvSpPr>
            <a:spLocks noChangeArrowheads="1"/>
          </p:cNvSpPr>
          <p:nvPr/>
        </p:nvSpPr>
        <p:spPr bwMode="blackWhite">
          <a:xfrm>
            <a:off x="4514850" y="3429000"/>
            <a:ext cx="6264275" cy="1255713"/>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nSpc>
                <a:spcPct val="105000"/>
              </a:lnSpc>
              <a:spcBef>
                <a:spcPct val="50000"/>
              </a:spcBef>
              <a:buClr>
                <a:srgbClr val="0000FF"/>
              </a:buClr>
            </a:pPr>
            <a:r>
              <a:rPr lang="zh-CN" altLang="en-US" sz="2000" b="1">
                <a:solidFill>
                  <a:srgbClr val="0070C0"/>
                </a:solidFill>
                <a:latin typeface="仿宋_GB2312" pitchFamily="49" charset="-122"/>
                <a:ea typeface="仿宋_GB2312" pitchFamily="49" charset="-122"/>
              </a:rPr>
              <a:t>部门（</a:t>
            </a:r>
            <a:r>
              <a:rPr lang="zh-CN" altLang="en-US" sz="2000" b="1" u="sng">
                <a:solidFill>
                  <a:srgbClr val="0070C0"/>
                </a:solidFill>
                <a:latin typeface="仿宋_GB2312" pitchFamily="49" charset="-122"/>
                <a:ea typeface="仿宋_GB2312" pitchFamily="49" charset="-122"/>
              </a:rPr>
              <a:t>部门号</a:t>
            </a:r>
            <a:r>
              <a:rPr lang="zh-CN" altLang="en-US" sz="2000" b="1">
                <a:solidFill>
                  <a:srgbClr val="0070C0"/>
                </a:solidFill>
                <a:latin typeface="仿宋_GB2312" pitchFamily="49" charset="-122"/>
                <a:ea typeface="仿宋_GB2312" pitchFamily="49" charset="-122"/>
              </a:rPr>
              <a:t>，</a:t>
            </a:r>
            <a:r>
              <a:rPr lang="en-US" altLang="zh-CN" sz="2000" b="1">
                <a:solidFill>
                  <a:srgbClr val="0070C0"/>
                </a:solidFill>
                <a:latin typeface="仿宋_GB2312" pitchFamily="49" charset="-122"/>
                <a:ea typeface="仿宋_GB2312" pitchFamily="49" charset="-122"/>
              </a:rPr>
              <a:t>……</a:t>
            </a:r>
            <a:r>
              <a:rPr lang="zh-CN" altLang="en-US" sz="2000" b="1">
                <a:solidFill>
                  <a:srgbClr val="0070C0"/>
                </a:solidFill>
                <a:latin typeface="仿宋_GB2312" pitchFamily="49" charset="-122"/>
                <a:ea typeface="仿宋_GB2312" pitchFamily="49" charset="-122"/>
              </a:rPr>
              <a:t>）</a:t>
            </a:r>
            <a:endParaRPr lang="en-US" altLang="zh-CN" sz="2000" b="1">
              <a:solidFill>
                <a:srgbClr val="0070C0"/>
              </a:solidFill>
              <a:latin typeface="仿宋_GB2312" pitchFamily="49" charset="-122"/>
              <a:ea typeface="仿宋_GB2312" pitchFamily="49" charset="-122"/>
            </a:endParaRPr>
          </a:p>
          <a:p>
            <a:pPr lvl="1">
              <a:lnSpc>
                <a:spcPct val="105000"/>
              </a:lnSpc>
              <a:spcBef>
                <a:spcPct val="50000"/>
              </a:spcBef>
              <a:buClr>
                <a:srgbClr val="0000FF"/>
              </a:buClr>
            </a:pPr>
            <a:r>
              <a:rPr lang="zh-CN" altLang="en-US" sz="2000" b="1">
                <a:solidFill>
                  <a:srgbClr val="0070C0"/>
                </a:solidFill>
                <a:latin typeface="仿宋_GB2312" pitchFamily="49" charset="-122"/>
                <a:ea typeface="仿宋_GB2312" pitchFamily="49" charset="-122"/>
              </a:rPr>
              <a:t>职工（</a:t>
            </a:r>
            <a:r>
              <a:rPr lang="zh-CN" altLang="en-US" sz="2000" b="1" u="sng">
                <a:solidFill>
                  <a:srgbClr val="0070C0"/>
                </a:solidFill>
                <a:latin typeface="仿宋_GB2312" pitchFamily="49" charset="-122"/>
                <a:ea typeface="仿宋_GB2312" pitchFamily="49" charset="-122"/>
              </a:rPr>
              <a:t>职工号</a:t>
            </a:r>
            <a:r>
              <a:rPr lang="zh-CN" altLang="en-US" sz="2000" b="1">
                <a:solidFill>
                  <a:srgbClr val="0070C0"/>
                </a:solidFill>
                <a:latin typeface="仿宋_GB2312" pitchFamily="49" charset="-122"/>
                <a:ea typeface="仿宋_GB2312" pitchFamily="49" charset="-122"/>
              </a:rPr>
              <a:t>，</a:t>
            </a:r>
            <a:r>
              <a:rPr lang="en-US" altLang="zh-CN" sz="2000" b="1">
                <a:solidFill>
                  <a:srgbClr val="0070C0"/>
                </a:solidFill>
                <a:latin typeface="仿宋_GB2312" pitchFamily="49" charset="-122"/>
                <a:ea typeface="仿宋_GB2312" pitchFamily="49" charset="-122"/>
              </a:rPr>
              <a:t>……</a:t>
            </a:r>
            <a:r>
              <a:rPr lang="zh-CN" altLang="en-US" sz="2000" b="1">
                <a:solidFill>
                  <a:srgbClr val="0070C0"/>
                </a:solidFill>
                <a:latin typeface="仿宋_GB2312" pitchFamily="49" charset="-122"/>
                <a:ea typeface="仿宋_GB2312" pitchFamily="49" charset="-122"/>
              </a:rPr>
              <a:t>，</a:t>
            </a:r>
            <a:r>
              <a:rPr lang="zh-CN" altLang="en-US" sz="2000" b="1">
                <a:solidFill>
                  <a:srgbClr val="C00000"/>
                </a:solidFill>
                <a:latin typeface="仿宋_GB2312" pitchFamily="49" charset="-122"/>
                <a:ea typeface="仿宋_GB2312" pitchFamily="49" charset="-122"/>
              </a:rPr>
              <a:t>部门号</a:t>
            </a:r>
            <a:r>
              <a:rPr lang="zh-CN" altLang="en-US" sz="2000" b="1">
                <a:solidFill>
                  <a:srgbClr val="0070C0"/>
                </a:solidFill>
                <a:latin typeface="仿宋_GB2312" pitchFamily="49" charset="-122"/>
                <a:ea typeface="仿宋_GB2312" pitchFamily="49" charset="-122"/>
              </a:rPr>
              <a:t>）</a:t>
            </a:r>
            <a:endParaRPr lang="en-US" altLang="zh-CN" sz="2000" b="1">
              <a:solidFill>
                <a:srgbClr val="0070C0"/>
              </a:solidFill>
              <a:latin typeface="仿宋_GB2312" pitchFamily="49" charset="-122"/>
              <a:ea typeface="仿宋_GB2312" pitchFamily="49" charset="-122"/>
            </a:endParaRPr>
          </a:p>
        </p:txBody>
      </p:sp>
      <p:grpSp>
        <p:nvGrpSpPr>
          <p:cNvPr id="32772" name="组合 7">
            <a:extLst>
              <a:ext uri="{FF2B5EF4-FFF2-40B4-BE49-F238E27FC236}">
                <a16:creationId xmlns:a16="http://schemas.microsoft.com/office/drawing/2014/main" id="{658230C4-EB5D-8ECE-3A5E-3B8D7F2B789B}"/>
              </a:ext>
            </a:extLst>
          </p:cNvPr>
          <p:cNvGrpSpPr>
            <a:grpSpLocks/>
          </p:cNvGrpSpPr>
          <p:nvPr/>
        </p:nvGrpSpPr>
        <p:grpSpPr bwMode="auto">
          <a:xfrm>
            <a:off x="1758950" y="2798763"/>
            <a:ext cx="1268413" cy="2384425"/>
            <a:chOff x="2929545" y="3357673"/>
            <a:chExt cx="1269152" cy="2385472"/>
          </a:xfrm>
        </p:grpSpPr>
        <p:grpSp>
          <p:nvGrpSpPr>
            <p:cNvPr id="32774" name="组合 8">
              <a:extLst>
                <a:ext uri="{FF2B5EF4-FFF2-40B4-BE49-F238E27FC236}">
                  <a16:creationId xmlns:a16="http://schemas.microsoft.com/office/drawing/2014/main" id="{E15BCF51-6ADA-8B98-41E4-E130C5761D7E}"/>
                </a:ext>
              </a:extLst>
            </p:cNvPr>
            <p:cNvGrpSpPr>
              <a:grpSpLocks/>
            </p:cNvGrpSpPr>
            <p:nvPr/>
          </p:nvGrpSpPr>
          <p:grpSpPr bwMode="auto">
            <a:xfrm>
              <a:off x="2929545" y="3357673"/>
              <a:ext cx="1269152" cy="2385472"/>
              <a:chOff x="2405998" y="3419015"/>
              <a:chExt cx="1269152" cy="2385472"/>
            </a:xfrm>
          </p:grpSpPr>
          <p:sp>
            <p:nvSpPr>
              <p:cNvPr id="32777" name="菱形 11">
                <a:extLst>
                  <a:ext uri="{FF2B5EF4-FFF2-40B4-BE49-F238E27FC236}">
                    <a16:creationId xmlns:a16="http://schemas.microsoft.com/office/drawing/2014/main" id="{415E8D1D-6340-3B4A-E1AB-B00C45AA98F2}"/>
                  </a:ext>
                </a:extLst>
              </p:cNvPr>
              <p:cNvSpPr>
                <a:spLocks noChangeArrowheads="1"/>
              </p:cNvSpPr>
              <p:nvPr/>
            </p:nvSpPr>
            <p:spPr bwMode="auto">
              <a:xfrm>
                <a:off x="2556051" y="4213227"/>
                <a:ext cx="1008070" cy="797047"/>
              </a:xfrm>
              <a:prstGeom prst="diamond">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grpSp>
            <p:nvGrpSpPr>
              <p:cNvPr id="32778" name="组合 12">
                <a:extLst>
                  <a:ext uri="{FF2B5EF4-FFF2-40B4-BE49-F238E27FC236}">
                    <a16:creationId xmlns:a16="http://schemas.microsoft.com/office/drawing/2014/main" id="{02D2902D-1040-863E-C6A5-641122B63435}"/>
                  </a:ext>
                </a:extLst>
              </p:cNvPr>
              <p:cNvGrpSpPr>
                <a:grpSpLocks/>
              </p:cNvGrpSpPr>
              <p:nvPr/>
            </p:nvGrpSpPr>
            <p:grpSpPr bwMode="auto">
              <a:xfrm>
                <a:off x="2445022" y="3419015"/>
                <a:ext cx="1230128" cy="472686"/>
                <a:chOff x="2021855" y="3264663"/>
                <a:chExt cx="1230128" cy="472686"/>
              </a:xfrm>
            </p:grpSpPr>
            <p:sp>
              <p:nvSpPr>
                <p:cNvPr id="32785" name="矩形 19">
                  <a:extLst>
                    <a:ext uri="{FF2B5EF4-FFF2-40B4-BE49-F238E27FC236}">
                      <a16:creationId xmlns:a16="http://schemas.microsoft.com/office/drawing/2014/main" id="{8D9D740F-796E-40A3-BD3A-EC7E8A4AE487}"/>
                    </a:ext>
                  </a:extLst>
                </p:cNvPr>
                <p:cNvSpPr>
                  <a:spLocks noChangeArrowheads="1"/>
                </p:cNvSpPr>
                <p:nvPr/>
              </p:nvSpPr>
              <p:spPr bwMode="auto">
                <a:xfrm>
                  <a:off x="2021855" y="3264663"/>
                  <a:ext cx="1230128" cy="472686"/>
                </a:xfrm>
                <a:prstGeom prst="rect">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32786" name="TextBox 20">
                  <a:extLst>
                    <a:ext uri="{FF2B5EF4-FFF2-40B4-BE49-F238E27FC236}">
                      <a16:creationId xmlns:a16="http://schemas.microsoft.com/office/drawing/2014/main" id="{F0A934CD-1954-27A3-1795-DC1A270712F1}"/>
                    </a:ext>
                  </a:extLst>
                </p:cNvPr>
                <p:cNvSpPr txBox="1">
                  <a:spLocks noChangeArrowheads="1"/>
                </p:cNvSpPr>
                <p:nvPr/>
              </p:nvSpPr>
              <p:spPr bwMode="auto">
                <a:xfrm>
                  <a:off x="2288953" y="3316340"/>
                  <a:ext cx="9360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b="1">
                      <a:solidFill>
                        <a:srgbClr val="002060"/>
                      </a:solidFill>
                    </a:rPr>
                    <a:t>部门</a:t>
                  </a:r>
                </a:p>
              </p:txBody>
            </p:sp>
          </p:grpSp>
          <p:sp>
            <p:nvSpPr>
              <p:cNvPr id="32779" name="TextBox 13">
                <a:extLst>
                  <a:ext uri="{FF2B5EF4-FFF2-40B4-BE49-F238E27FC236}">
                    <a16:creationId xmlns:a16="http://schemas.microsoft.com/office/drawing/2014/main" id="{863A6955-8466-58B3-96D9-D118FC8BCF9F}"/>
                  </a:ext>
                </a:extLst>
              </p:cNvPr>
              <p:cNvSpPr txBox="1">
                <a:spLocks noChangeArrowheads="1"/>
              </p:cNvSpPr>
              <p:nvPr/>
            </p:nvSpPr>
            <p:spPr bwMode="auto">
              <a:xfrm>
                <a:off x="2758876" y="4427084"/>
                <a:ext cx="6551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2060"/>
                    </a:solidFill>
                  </a:rPr>
                  <a:t>有</a:t>
                </a:r>
              </a:p>
            </p:txBody>
          </p:sp>
          <p:grpSp>
            <p:nvGrpSpPr>
              <p:cNvPr id="32780" name="组合 14">
                <a:extLst>
                  <a:ext uri="{FF2B5EF4-FFF2-40B4-BE49-F238E27FC236}">
                    <a16:creationId xmlns:a16="http://schemas.microsoft.com/office/drawing/2014/main" id="{A936EA6C-FC32-E2DF-03A9-959B2D4F89D2}"/>
                  </a:ext>
                </a:extLst>
              </p:cNvPr>
              <p:cNvGrpSpPr>
                <a:grpSpLocks/>
              </p:cNvGrpSpPr>
              <p:nvPr/>
            </p:nvGrpSpPr>
            <p:grpSpPr bwMode="auto">
              <a:xfrm>
                <a:off x="2405998" y="5331801"/>
                <a:ext cx="1230128" cy="472686"/>
                <a:chOff x="2021855" y="3264663"/>
                <a:chExt cx="1230128" cy="472686"/>
              </a:xfrm>
            </p:grpSpPr>
            <p:sp>
              <p:nvSpPr>
                <p:cNvPr id="32783" name="矩形 17">
                  <a:extLst>
                    <a:ext uri="{FF2B5EF4-FFF2-40B4-BE49-F238E27FC236}">
                      <a16:creationId xmlns:a16="http://schemas.microsoft.com/office/drawing/2014/main" id="{EC35DCC4-F02A-800B-6C10-8EF6625AE86C}"/>
                    </a:ext>
                  </a:extLst>
                </p:cNvPr>
                <p:cNvSpPr>
                  <a:spLocks noChangeArrowheads="1"/>
                </p:cNvSpPr>
                <p:nvPr/>
              </p:nvSpPr>
              <p:spPr bwMode="auto">
                <a:xfrm>
                  <a:off x="2021855" y="3264663"/>
                  <a:ext cx="1230128" cy="472686"/>
                </a:xfrm>
                <a:prstGeom prst="rect">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32784" name="TextBox 18">
                  <a:extLst>
                    <a:ext uri="{FF2B5EF4-FFF2-40B4-BE49-F238E27FC236}">
                      <a16:creationId xmlns:a16="http://schemas.microsoft.com/office/drawing/2014/main" id="{AE6EA585-079C-A68D-325F-D047A4DEFF73}"/>
                    </a:ext>
                  </a:extLst>
                </p:cNvPr>
                <p:cNvSpPr txBox="1">
                  <a:spLocks noChangeArrowheads="1"/>
                </p:cNvSpPr>
                <p:nvPr/>
              </p:nvSpPr>
              <p:spPr bwMode="auto">
                <a:xfrm>
                  <a:off x="2120433" y="3316340"/>
                  <a:ext cx="9360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2060"/>
                      </a:solidFill>
                    </a:rPr>
                    <a:t>职工</a:t>
                  </a:r>
                </a:p>
              </p:txBody>
            </p:sp>
          </p:grpSp>
          <p:cxnSp>
            <p:nvCxnSpPr>
              <p:cNvPr id="32781" name="直接连接符 15">
                <a:extLst>
                  <a:ext uri="{FF2B5EF4-FFF2-40B4-BE49-F238E27FC236}">
                    <a16:creationId xmlns:a16="http://schemas.microsoft.com/office/drawing/2014/main" id="{D9F93505-72E0-A61D-D139-2B00269DDD92}"/>
                  </a:ext>
                </a:extLst>
              </p:cNvPr>
              <p:cNvCxnSpPr>
                <a:cxnSpLocks noChangeShapeType="1"/>
                <a:stCxn id="32785" idx="2"/>
                <a:endCxn id="32777" idx="0"/>
              </p:cNvCxnSpPr>
              <p:nvPr/>
            </p:nvCxnSpPr>
            <p:spPr bwMode="auto">
              <a:xfrm>
                <a:off x="3060086" y="3891701"/>
                <a:ext cx="0" cy="321526"/>
              </a:xfrm>
              <a:prstGeom prst="line">
                <a:avLst/>
              </a:prstGeom>
              <a:noFill/>
              <a:ln w="28575"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82" name="直接连接符 16">
                <a:extLst>
                  <a:ext uri="{FF2B5EF4-FFF2-40B4-BE49-F238E27FC236}">
                    <a16:creationId xmlns:a16="http://schemas.microsoft.com/office/drawing/2014/main" id="{6132E576-548F-0F85-01E5-201AED3EAB7F}"/>
                  </a:ext>
                </a:extLst>
              </p:cNvPr>
              <p:cNvCxnSpPr>
                <a:cxnSpLocks noChangeShapeType="1"/>
              </p:cNvCxnSpPr>
              <p:nvPr/>
            </p:nvCxnSpPr>
            <p:spPr bwMode="auto">
              <a:xfrm>
                <a:off x="3054043" y="5010275"/>
                <a:ext cx="0" cy="321526"/>
              </a:xfrm>
              <a:prstGeom prst="line">
                <a:avLst/>
              </a:prstGeom>
              <a:noFill/>
              <a:ln w="28575"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2775" name="TextBox 9">
              <a:extLst>
                <a:ext uri="{FF2B5EF4-FFF2-40B4-BE49-F238E27FC236}">
                  <a16:creationId xmlns:a16="http://schemas.microsoft.com/office/drawing/2014/main" id="{93D2F537-2B8E-2A08-21E3-818561244E8C}"/>
                </a:ext>
              </a:extLst>
            </p:cNvPr>
            <p:cNvSpPr txBox="1">
              <a:spLocks noChangeArrowheads="1"/>
            </p:cNvSpPr>
            <p:nvPr/>
          </p:nvSpPr>
          <p:spPr bwMode="auto">
            <a:xfrm>
              <a:off x="3610019" y="3830359"/>
              <a:ext cx="3570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002060"/>
                  </a:solidFill>
                </a:rPr>
                <a:t>1</a:t>
              </a:r>
              <a:endParaRPr lang="zh-CN" altLang="en-US" b="1">
                <a:solidFill>
                  <a:srgbClr val="002060"/>
                </a:solidFill>
              </a:endParaRPr>
            </a:p>
          </p:txBody>
        </p:sp>
        <p:sp>
          <p:nvSpPr>
            <p:cNvPr id="32776" name="TextBox 10">
              <a:extLst>
                <a:ext uri="{FF2B5EF4-FFF2-40B4-BE49-F238E27FC236}">
                  <a16:creationId xmlns:a16="http://schemas.microsoft.com/office/drawing/2014/main" id="{A18B78F0-E84F-DD47-DD9D-8032C49641C3}"/>
                </a:ext>
              </a:extLst>
            </p:cNvPr>
            <p:cNvSpPr txBox="1">
              <a:spLocks noChangeArrowheads="1"/>
            </p:cNvSpPr>
            <p:nvPr/>
          </p:nvSpPr>
          <p:spPr bwMode="auto">
            <a:xfrm>
              <a:off x="3610019" y="4884362"/>
              <a:ext cx="3570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002060"/>
                  </a:solidFill>
                </a:rPr>
                <a:t>n</a:t>
              </a:r>
              <a:endParaRPr lang="zh-CN" altLang="en-US" b="1">
                <a:solidFill>
                  <a:srgbClr val="002060"/>
                </a:solidFill>
              </a:endParaRPr>
            </a:p>
          </p:txBody>
        </p:sp>
      </p:grpSp>
      <p:sp>
        <p:nvSpPr>
          <p:cNvPr id="22" name="TextBox 6">
            <a:extLst>
              <a:ext uri="{FF2B5EF4-FFF2-40B4-BE49-F238E27FC236}">
                <a16:creationId xmlns:a16="http://schemas.microsoft.com/office/drawing/2014/main" id="{8CFF8772-076B-4B4B-39A0-B706459C83FC}"/>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逻辑结构设计</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702"/>
                                        </p:tgtEl>
                                        <p:attrNameLst>
                                          <p:attrName>style.visibility</p:attrName>
                                        </p:attrNameLst>
                                      </p:cBhvr>
                                      <p:to>
                                        <p:strVal val="visible"/>
                                      </p:to>
                                    </p:set>
                                    <p:animEffect transition="in" filter="fade">
                                      <p:cBhvr>
                                        <p:cTn id="7" dur="500"/>
                                        <p:tgtEl>
                                          <p:spTgt spid="29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组合 1">
            <a:extLst>
              <a:ext uri="{FF2B5EF4-FFF2-40B4-BE49-F238E27FC236}">
                <a16:creationId xmlns:a16="http://schemas.microsoft.com/office/drawing/2014/main" id="{1240E828-0E32-A267-E3FD-10118EB46270}"/>
              </a:ext>
            </a:extLst>
          </p:cNvPr>
          <p:cNvGrpSpPr>
            <a:grpSpLocks/>
          </p:cNvGrpSpPr>
          <p:nvPr/>
        </p:nvGrpSpPr>
        <p:grpSpPr bwMode="auto">
          <a:xfrm>
            <a:off x="1779588" y="2432050"/>
            <a:ext cx="9236075" cy="3346450"/>
            <a:chOff x="2247900" y="1988900"/>
            <a:chExt cx="9236075" cy="3346450"/>
          </a:xfrm>
        </p:grpSpPr>
        <p:pic>
          <p:nvPicPr>
            <p:cNvPr id="33797" name="Picture 2">
              <a:extLst>
                <a:ext uri="{FF2B5EF4-FFF2-40B4-BE49-F238E27FC236}">
                  <a16:creationId xmlns:a16="http://schemas.microsoft.com/office/drawing/2014/main" id="{853CE32D-33DF-B4A6-F149-92BCE95EE2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1988900"/>
              <a:ext cx="2411413" cy="334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798" name="Rectangle 2">
              <a:extLst>
                <a:ext uri="{FF2B5EF4-FFF2-40B4-BE49-F238E27FC236}">
                  <a16:creationId xmlns:a16="http://schemas.microsoft.com/office/drawing/2014/main" id="{07608AC5-42BF-0251-DF7C-07DE4A73FA21}"/>
                </a:ext>
              </a:extLst>
            </p:cNvPr>
            <p:cNvSpPr>
              <a:spLocks noChangeArrowheads="1"/>
            </p:cNvSpPr>
            <p:nvPr/>
          </p:nvSpPr>
          <p:spPr bwMode="blackWhite">
            <a:xfrm>
              <a:off x="4803775" y="3030538"/>
              <a:ext cx="6680200" cy="1074737"/>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nSpc>
                  <a:spcPct val="105000"/>
                </a:lnSpc>
                <a:spcBef>
                  <a:spcPct val="50000"/>
                </a:spcBef>
                <a:buClr>
                  <a:srgbClr val="0000FF"/>
                </a:buClr>
              </a:pPr>
              <a:r>
                <a:rPr lang="zh-CN" altLang="en-US" sz="2400" b="1">
                  <a:solidFill>
                    <a:srgbClr val="0070C0"/>
                  </a:solidFill>
                  <a:latin typeface="仿宋_GB2312" pitchFamily="49" charset="-122"/>
                  <a:ea typeface="仿宋_GB2312" pitchFamily="49" charset="-122"/>
                </a:rPr>
                <a:t>职工（</a:t>
              </a:r>
              <a:r>
                <a:rPr lang="zh-CN" altLang="en-US" sz="2400" b="1" u="sng">
                  <a:solidFill>
                    <a:srgbClr val="0070C0"/>
                  </a:solidFill>
                  <a:latin typeface="仿宋_GB2312" pitchFamily="49" charset="-122"/>
                  <a:ea typeface="仿宋_GB2312" pitchFamily="49" charset="-122"/>
                </a:rPr>
                <a:t>职工号</a:t>
              </a:r>
              <a:r>
                <a:rPr lang="zh-CN" altLang="en-US" sz="2400" b="1">
                  <a:solidFill>
                    <a:srgbClr val="0070C0"/>
                  </a:solidFill>
                  <a:latin typeface="仿宋_GB2312" pitchFamily="49" charset="-122"/>
                  <a:ea typeface="仿宋_GB2312" pitchFamily="49" charset="-122"/>
                </a:rPr>
                <a:t>，姓名，性别，</a:t>
              </a:r>
              <a:r>
                <a:rPr lang="zh-CN" altLang="en-US" sz="2400" b="1">
                  <a:solidFill>
                    <a:srgbClr val="C00000"/>
                  </a:solidFill>
                  <a:latin typeface="仿宋_GB2312" pitchFamily="49" charset="-122"/>
                  <a:ea typeface="仿宋_GB2312" pitchFamily="49" charset="-122"/>
                </a:rPr>
                <a:t>领导</a:t>
              </a:r>
              <a:r>
                <a:rPr lang="zh-CN" altLang="en-US" sz="2400" b="1">
                  <a:solidFill>
                    <a:srgbClr val="0070C0"/>
                  </a:solidFill>
                  <a:latin typeface="仿宋_GB2312" pitchFamily="49" charset="-122"/>
                  <a:ea typeface="仿宋_GB2312" pitchFamily="49" charset="-122"/>
                </a:rPr>
                <a:t>）</a:t>
              </a:r>
              <a:endParaRPr lang="en-US" altLang="zh-CN" sz="2400" b="1">
                <a:solidFill>
                  <a:srgbClr val="0070C0"/>
                </a:solidFill>
                <a:latin typeface="仿宋_GB2312" pitchFamily="49" charset="-122"/>
                <a:ea typeface="仿宋_GB2312" pitchFamily="49" charset="-122"/>
              </a:endParaRPr>
            </a:p>
          </p:txBody>
        </p:sp>
      </p:grpSp>
      <p:sp>
        <p:nvSpPr>
          <p:cNvPr id="7" name="Text Box 2">
            <a:extLst>
              <a:ext uri="{FF2B5EF4-FFF2-40B4-BE49-F238E27FC236}">
                <a16:creationId xmlns:a16="http://schemas.microsoft.com/office/drawing/2014/main" id="{A6CA8801-AE83-020C-6AF1-60BB5275FDB6}"/>
              </a:ext>
            </a:extLst>
          </p:cNvPr>
          <p:cNvSpPr txBox="1">
            <a:spLocks noChangeArrowheads="1"/>
          </p:cNvSpPr>
          <p:nvPr/>
        </p:nvSpPr>
        <p:spPr bwMode="auto">
          <a:xfrm>
            <a:off x="771525" y="1273175"/>
            <a:ext cx="10728325" cy="944563"/>
          </a:xfrm>
          <a:prstGeom prst="rect">
            <a:avLst/>
          </a:prstGeom>
          <a:noFill/>
          <a:ln>
            <a:noFill/>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nSpc>
                <a:spcPct val="105000"/>
              </a:lnSpc>
              <a:spcBef>
                <a:spcPct val="30000"/>
              </a:spcBef>
              <a:buClr>
                <a:srgbClr val="FF0000"/>
              </a:buClr>
              <a:buFont typeface="Wingdings" pitchFamily="2" charset="2"/>
              <a:buNone/>
              <a:defRPr/>
            </a:pPr>
            <a:r>
              <a:rPr lang="en-US" altLang="zh-CN" sz="2800" b="1" dirty="0" err="1">
                <a:solidFill>
                  <a:srgbClr val="C00000"/>
                </a:solidFill>
                <a:effectLst>
                  <a:outerShdw blurRad="38100" dist="38100" dir="2700000" algn="tl">
                    <a:srgbClr val="C0C0C0"/>
                  </a:outerShdw>
                </a:effectLst>
                <a:latin typeface="楷体_GB2312" pitchFamily="49" charset="-122"/>
                <a:ea typeface="楷体_GB2312" pitchFamily="49" charset="-122"/>
              </a:rPr>
              <a:t>1∶n</a:t>
            </a: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联系：</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只有一个实体的</a:t>
            </a:r>
            <a:r>
              <a:rPr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1∶n</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联系，该联系在转换过程中需要在实体关系模式的属性中加入另一个属性。 </a:t>
            </a:r>
          </a:p>
        </p:txBody>
      </p:sp>
      <p:sp>
        <p:nvSpPr>
          <p:cNvPr id="8" name="TextBox 6">
            <a:extLst>
              <a:ext uri="{FF2B5EF4-FFF2-40B4-BE49-F238E27FC236}">
                <a16:creationId xmlns:a16="http://schemas.microsoft.com/office/drawing/2014/main" id="{140643AC-00C0-5356-2838-07BD012801D7}"/>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逻辑结构设计</a:t>
            </a:r>
          </a:p>
        </p:txBody>
      </p:sp>
    </p:spTree>
  </p:cSld>
  <p:clrMapOvr>
    <a:masterClrMapping/>
  </p:clrMapOvr>
  <p:transition spd="slow">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66731357-6D48-2915-E371-48BA2D0AC816}"/>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逻辑设计</a:t>
            </a:r>
          </a:p>
        </p:txBody>
      </p:sp>
      <p:sp>
        <p:nvSpPr>
          <p:cNvPr id="31750" name="Rectangle 2">
            <a:extLst>
              <a:ext uri="{FF2B5EF4-FFF2-40B4-BE49-F238E27FC236}">
                <a16:creationId xmlns:a16="http://schemas.microsoft.com/office/drawing/2014/main" id="{CB619D9E-0DFF-7756-E9E0-2F1623A6CB9E}"/>
              </a:ext>
            </a:extLst>
          </p:cNvPr>
          <p:cNvSpPr>
            <a:spLocks noChangeArrowheads="1"/>
          </p:cNvSpPr>
          <p:nvPr/>
        </p:nvSpPr>
        <p:spPr bwMode="blackWhite">
          <a:xfrm>
            <a:off x="4291013" y="2730500"/>
            <a:ext cx="7424737" cy="1808163"/>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nSpc>
                <a:spcPct val="105000"/>
              </a:lnSpc>
              <a:spcBef>
                <a:spcPct val="50000"/>
              </a:spcBef>
              <a:buClr>
                <a:srgbClr val="0000FF"/>
              </a:buClr>
            </a:pPr>
            <a:r>
              <a:rPr lang="zh-CN" altLang="en-US" sz="2400" b="1">
                <a:solidFill>
                  <a:srgbClr val="0070C0"/>
                </a:solidFill>
                <a:latin typeface="仿宋_GB2312" pitchFamily="49" charset="-122"/>
                <a:ea typeface="仿宋_GB2312" pitchFamily="49" charset="-122"/>
              </a:rPr>
              <a:t>项目（</a:t>
            </a:r>
            <a:r>
              <a:rPr lang="zh-CN" altLang="en-US" sz="2400" b="1" u="sng">
                <a:solidFill>
                  <a:srgbClr val="0070C0"/>
                </a:solidFill>
                <a:latin typeface="仿宋_GB2312" pitchFamily="49" charset="-122"/>
                <a:ea typeface="仿宋_GB2312" pitchFamily="49" charset="-122"/>
              </a:rPr>
              <a:t>项目编号</a:t>
            </a:r>
            <a:r>
              <a:rPr lang="zh-CN" altLang="en-US" sz="2400" b="1">
                <a:solidFill>
                  <a:srgbClr val="0070C0"/>
                </a:solidFill>
                <a:latin typeface="仿宋_GB2312" pitchFamily="49" charset="-122"/>
                <a:ea typeface="仿宋_GB2312" pitchFamily="49" charset="-122"/>
              </a:rPr>
              <a:t>，</a:t>
            </a:r>
            <a:r>
              <a:rPr lang="en-US" altLang="zh-CN" sz="2400" b="1">
                <a:solidFill>
                  <a:srgbClr val="0070C0"/>
                </a:solidFill>
                <a:latin typeface="仿宋_GB2312" pitchFamily="49" charset="-122"/>
                <a:ea typeface="仿宋_GB2312" pitchFamily="49" charset="-122"/>
              </a:rPr>
              <a:t>……</a:t>
            </a:r>
            <a:r>
              <a:rPr lang="zh-CN" altLang="en-US" sz="2400" b="1">
                <a:solidFill>
                  <a:srgbClr val="0070C0"/>
                </a:solidFill>
                <a:latin typeface="仿宋_GB2312" pitchFamily="49" charset="-122"/>
                <a:ea typeface="仿宋_GB2312" pitchFamily="49" charset="-122"/>
              </a:rPr>
              <a:t>）</a:t>
            </a:r>
            <a:endParaRPr lang="en-US" altLang="zh-CN" sz="2400" b="1">
              <a:solidFill>
                <a:srgbClr val="0070C0"/>
              </a:solidFill>
              <a:latin typeface="仿宋_GB2312" pitchFamily="49" charset="-122"/>
              <a:ea typeface="仿宋_GB2312" pitchFamily="49" charset="-122"/>
            </a:endParaRPr>
          </a:p>
          <a:p>
            <a:pPr lvl="1">
              <a:lnSpc>
                <a:spcPct val="105000"/>
              </a:lnSpc>
              <a:spcBef>
                <a:spcPct val="50000"/>
              </a:spcBef>
              <a:buClr>
                <a:srgbClr val="0000FF"/>
              </a:buClr>
            </a:pPr>
            <a:r>
              <a:rPr lang="zh-CN" altLang="en-US" sz="2400" b="1">
                <a:solidFill>
                  <a:srgbClr val="0070C0"/>
                </a:solidFill>
                <a:latin typeface="仿宋_GB2312" pitchFamily="49" charset="-122"/>
                <a:ea typeface="仿宋_GB2312" pitchFamily="49" charset="-122"/>
              </a:rPr>
              <a:t>职工（</a:t>
            </a:r>
            <a:r>
              <a:rPr lang="zh-CN" altLang="en-US" sz="2400" b="1" u="sng">
                <a:solidFill>
                  <a:srgbClr val="0070C0"/>
                </a:solidFill>
                <a:latin typeface="仿宋_GB2312" pitchFamily="49" charset="-122"/>
                <a:ea typeface="仿宋_GB2312" pitchFamily="49" charset="-122"/>
              </a:rPr>
              <a:t>职工号</a:t>
            </a:r>
            <a:r>
              <a:rPr lang="zh-CN" altLang="en-US" sz="2400" b="1">
                <a:solidFill>
                  <a:srgbClr val="0070C0"/>
                </a:solidFill>
                <a:latin typeface="仿宋_GB2312" pitchFamily="49" charset="-122"/>
                <a:ea typeface="仿宋_GB2312" pitchFamily="49" charset="-122"/>
              </a:rPr>
              <a:t>，</a:t>
            </a:r>
            <a:r>
              <a:rPr lang="en-US" altLang="zh-CN" sz="2400" b="1">
                <a:solidFill>
                  <a:srgbClr val="0070C0"/>
                </a:solidFill>
                <a:latin typeface="仿宋_GB2312" pitchFamily="49" charset="-122"/>
                <a:ea typeface="仿宋_GB2312" pitchFamily="49" charset="-122"/>
              </a:rPr>
              <a:t>……</a:t>
            </a:r>
            <a:r>
              <a:rPr lang="zh-CN" altLang="en-US" sz="2400" b="1">
                <a:solidFill>
                  <a:srgbClr val="0070C0"/>
                </a:solidFill>
                <a:latin typeface="仿宋_GB2312" pitchFamily="49" charset="-122"/>
                <a:ea typeface="仿宋_GB2312" pitchFamily="49" charset="-122"/>
              </a:rPr>
              <a:t>）</a:t>
            </a:r>
            <a:endParaRPr lang="en-US" altLang="zh-CN" sz="2400" b="1">
              <a:solidFill>
                <a:srgbClr val="0070C0"/>
              </a:solidFill>
              <a:latin typeface="仿宋_GB2312" pitchFamily="49" charset="-122"/>
              <a:ea typeface="仿宋_GB2312" pitchFamily="49" charset="-122"/>
            </a:endParaRPr>
          </a:p>
          <a:p>
            <a:pPr lvl="1">
              <a:lnSpc>
                <a:spcPct val="105000"/>
              </a:lnSpc>
              <a:spcBef>
                <a:spcPct val="50000"/>
              </a:spcBef>
              <a:buClr>
                <a:srgbClr val="0000FF"/>
              </a:buClr>
            </a:pPr>
            <a:r>
              <a:rPr lang="zh-CN" altLang="en-US" sz="2400" b="1">
                <a:solidFill>
                  <a:srgbClr val="C00000"/>
                </a:solidFill>
                <a:latin typeface="仿宋_GB2312" pitchFamily="49" charset="-122"/>
                <a:ea typeface="仿宋_GB2312" pitchFamily="49" charset="-122"/>
              </a:rPr>
              <a:t>参加（</a:t>
            </a:r>
            <a:r>
              <a:rPr lang="zh-CN" altLang="en-US" sz="2400" b="1" u="sng">
                <a:solidFill>
                  <a:srgbClr val="C00000"/>
                </a:solidFill>
                <a:latin typeface="仿宋_GB2312" pitchFamily="49" charset="-122"/>
                <a:ea typeface="仿宋_GB2312" pitchFamily="49" charset="-122"/>
              </a:rPr>
              <a:t>项目编号，职工号，参与时间</a:t>
            </a:r>
            <a:r>
              <a:rPr lang="zh-CN" altLang="en-US" sz="2400" b="1">
                <a:solidFill>
                  <a:srgbClr val="C00000"/>
                </a:solidFill>
                <a:latin typeface="仿宋_GB2312" pitchFamily="49" charset="-122"/>
                <a:ea typeface="仿宋_GB2312" pitchFamily="49" charset="-122"/>
              </a:rPr>
              <a:t>，</a:t>
            </a:r>
            <a:r>
              <a:rPr lang="en-US" altLang="zh-CN" sz="2400" b="1">
                <a:solidFill>
                  <a:srgbClr val="C00000"/>
                </a:solidFill>
                <a:latin typeface="仿宋_GB2312" pitchFamily="49" charset="-122"/>
                <a:ea typeface="仿宋_GB2312" pitchFamily="49" charset="-122"/>
              </a:rPr>
              <a:t>……</a:t>
            </a:r>
            <a:r>
              <a:rPr lang="zh-CN" altLang="en-US" sz="2400" b="1">
                <a:solidFill>
                  <a:srgbClr val="C00000"/>
                </a:solidFill>
                <a:latin typeface="仿宋_GB2312" pitchFamily="49" charset="-122"/>
                <a:ea typeface="仿宋_GB2312" pitchFamily="49" charset="-122"/>
              </a:rPr>
              <a:t>）</a:t>
            </a:r>
            <a:endParaRPr lang="en-US" altLang="zh-CN" sz="2400" b="1">
              <a:solidFill>
                <a:srgbClr val="C00000"/>
              </a:solidFill>
              <a:latin typeface="仿宋_GB2312" pitchFamily="49" charset="-122"/>
              <a:ea typeface="仿宋_GB2312" pitchFamily="49" charset="-122"/>
            </a:endParaRPr>
          </a:p>
        </p:txBody>
      </p:sp>
      <p:sp>
        <p:nvSpPr>
          <p:cNvPr id="7" name="Text Box 2">
            <a:extLst>
              <a:ext uri="{FF2B5EF4-FFF2-40B4-BE49-F238E27FC236}">
                <a16:creationId xmlns:a16="http://schemas.microsoft.com/office/drawing/2014/main" id="{C432A309-1423-0638-0CA7-2E3F57DC8248}"/>
              </a:ext>
            </a:extLst>
          </p:cNvPr>
          <p:cNvSpPr txBox="1">
            <a:spLocks noChangeArrowheads="1"/>
          </p:cNvSpPr>
          <p:nvPr/>
        </p:nvSpPr>
        <p:spPr bwMode="auto">
          <a:xfrm>
            <a:off x="771525" y="1273175"/>
            <a:ext cx="10728325" cy="1449388"/>
          </a:xfrm>
          <a:prstGeom prst="rect">
            <a:avLst/>
          </a:prstGeom>
          <a:noFill/>
          <a:ln>
            <a:noFill/>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nSpc>
                <a:spcPct val="105000"/>
              </a:lnSpc>
              <a:spcBef>
                <a:spcPct val="30000"/>
              </a:spcBef>
              <a:buClr>
                <a:srgbClr val="FF0000"/>
              </a:buClr>
              <a:buFont typeface="Wingdings" pitchFamily="2" charset="2"/>
              <a:buNone/>
              <a:defRPr/>
            </a:pPr>
            <a:r>
              <a:rPr lang="en-US" altLang="zh-CN" sz="2800" b="1" dirty="0" err="1">
                <a:solidFill>
                  <a:srgbClr val="C00000"/>
                </a:solidFill>
                <a:effectLst>
                  <a:outerShdw blurRad="38100" dist="38100" dir="2700000" algn="tl">
                    <a:srgbClr val="C0C0C0"/>
                  </a:outerShdw>
                </a:effectLst>
                <a:latin typeface="楷体_GB2312" pitchFamily="49" charset="-122"/>
                <a:ea typeface="楷体_GB2312" pitchFamily="49" charset="-122"/>
              </a:rPr>
              <a:t>m∶n</a:t>
            </a: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联系：</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与该联系相连的各实体的码以及联系本身的属性均转换为关系的属性</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各实体码组成关系的码或关系码的一部分</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或定义一个自增型的逻辑主键。</a:t>
            </a:r>
          </a:p>
        </p:txBody>
      </p:sp>
      <p:grpSp>
        <p:nvGrpSpPr>
          <p:cNvPr id="4" name="组合 3">
            <a:extLst>
              <a:ext uri="{FF2B5EF4-FFF2-40B4-BE49-F238E27FC236}">
                <a16:creationId xmlns:a16="http://schemas.microsoft.com/office/drawing/2014/main" id="{1E8AEF13-1F03-D2A4-1A13-32D79D62000D}"/>
              </a:ext>
            </a:extLst>
          </p:cNvPr>
          <p:cNvGrpSpPr>
            <a:grpSpLocks/>
          </p:cNvGrpSpPr>
          <p:nvPr/>
        </p:nvGrpSpPr>
        <p:grpSpPr bwMode="auto">
          <a:xfrm>
            <a:off x="1247775" y="3133725"/>
            <a:ext cx="2776538" cy="2386013"/>
            <a:chOff x="1247093" y="3134309"/>
            <a:chExt cx="2777833" cy="2385472"/>
          </a:xfrm>
        </p:grpSpPr>
        <p:grpSp>
          <p:nvGrpSpPr>
            <p:cNvPr id="34823" name="组合 8">
              <a:extLst>
                <a:ext uri="{FF2B5EF4-FFF2-40B4-BE49-F238E27FC236}">
                  <a16:creationId xmlns:a16="http://schemas.microsoft.com/office/drawing/2014/main" id="{50C7008D-1D96-1E22-6E7B-A02DB8EEAA1F}"/>
                </a:ext>
              </a:extLst>
            </p:cNvPr>
            <p:cNvGrpSpPr>
              <a:grpSpLocks/>
            </p:cNvGrpSpPr>
            <p:nvPr/>
          </p:nvGrpSpPr>
          <p:grpSpPr bwMode="auto">
            <a:xfrm>
              <a:off x="1247093" y="3134309"/>
              <a:ext cx="1269152" cy="2385472"/>
              <a:chOff x="2929545" y="3357673"/>
              <a:chExt cx="1269152" cy="2385472"/>
            </a:xfrm>
          </p:grpSpPr>
          <p:grpSp>
            <p:nvGrpSpPr>
              <p:cNvPr id="34827" name="组合 9">
                <a:extLst>
                  <a:ext uri="{FF2B5EF4-FFF2-40B4-BE49-F238E27FC236}">
                    <a16:creationId xmlns:a16="http://schemas.microsoft.com/office/drawing/2014/main" id="{73196C52-8911-DA63-A272-837757BBF767}"/>
                  </a:ext>
                </a:extLst>
              </p:cNvPr>
              <p:cNvGrpSpPr>
                <a:grpSpLocks/>
              </p:cNvGrpSpPr>
              <p:nvPr/>
            </p:nvGrpSpPr>
            <p:grpSpPr bwMode="auto">
              <a:xfrm>
                <a:off x="2929545" y="3357673"/>
                <a:ext cx="1269152" cy="2385472"/>
                <a:chOff x="2405998" y="3419015"/>
                <a:chExt cx="1269152" cy="2385472"/>
              </a:xfrm>
            </p:grpSpPr>
            <p:sp>
              <p:nvSpPr>
                <p:cNvPr id="34830" name="菱形 12">
                  <a:extLst>
                    <a:ext uri="{FF2B5EF4-FFF2-40B4-BE49-F238E27FC236}">
                      <a16:creationId xmlns:a16="http://schemas.microsoft.com/office/drawing/2014/main" id="{2B69B6D6-20D6-6B5D-B07E-9598D7D84C71}"/>
                    </a:ext>
                  </a:extLst>
                </p:cNvPr>
                <p:cNvSpPr>
                  <a:spLocks noChangeArrowheads="1"/>
                </p:cNvSpPr>
                <p:nvPr/>
              </p:nvSpPr>
              <p:spPr bwMode="auto">
                <a:xfrm>
                  <a:off x="2556051" y="4213227"/>
                  <a:ext cx="1008070" cy="797047"/>
                </a:xfrm>
                <a:prstGeom prst="diamond">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grpSp>
              <p:nvGrpSpPr>
                <p:cNvPr id="34831" name="组合 13">
                  <a:extLst>
                    <a:ext uri="{FF2B5EF4-FFF2-40B4-BE49-F238E27FC236}">
                      <a16:creationId xmlns:a16="http://schemas.microsoft.com/office/drawing/2014/main" id="{F14C8C60-3A0F-A690-39DD-7951669B00AE}"/>
                    </a:ext>
                  </a:extLst>
                </p:cNvPr>
                <p:cNvGrpSpPr>
                  <a:grpSpLocks/>
                </p:cNvGrpSpPr>
                <p:nvPr/>
              </p:nvGrpSpPr>
              <p:grpSpPr bwMode="auto">
                <a:xfrm>
                  <a:off x="2445022" y="3419015"/>
                  <a:ext cx="1230128" cy="472686"/>
                  <a:chOff x="2021855" y="3264663"/>
                  <a:chExt cx="1230128" cy="472686"/>
                </a:xfrm>
              </p:grpSpPr>
              <p:sp>
                <p:nvSpPr>
                  <p:cNvPr id="34838" name="矩形 20">
                    <a:extLst>
                      <a:ext uri="{FF2B5EF4-FFF2-40B4-BE49-F238E27FC236}">
                        <a16:creationId xmlns:a16="http://schemas.microsoft.com/office/drawing/2014/main" id="{4081D4B7-DE83-B685-6D8B-8A4F84CC97FB}"/>
                      </a:ext>
                    </a:extLst>
                  </p:cNvPr>
                  <p:cNvSpPr>
                    <a:spLocks noChangeArrowheads="1"/>
                  </p:cNvSpPr>
                  <p:nvPr/>
                </p:nvSpPr>
                <p:spPr bwMode="auto">
                  <a:xfrm>
                    <a:off x="2021855" y="3264663"/>
                    <a:ext cx="1230128" cy="472686"/>
                  </a:xfrm>
                  <a:prstGeom prst="rect">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34839" name="TextBox 21">
                    <a:extLst>
                      <a:ext uri="{FF2B5EF4-FFF2-40B4-BE49-F238E27FC236}">
                        <a16:creationId xmlns:a16="http://schemas.microsoft.com/office/drawing/2014/main" id="{A594E938-AA93-1B80-2027-913C3BDD641F}"/>
                      </a:ext>
                    </a:extLst>
                  </p:cNvPr>
                  <p:cNvSpPr txBox="1">
                    <a:spLocks noChangeArrowheads="1"/>
                  </p:cNvSpPr>
                  <p:nvPr/>
                </p:nvSpPr>
                <p:spPr bwMode="auto">
                  <a:xfrm>
                    <a:off x="2288953" y="3316340"/>
                    <a:ext cx="9360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b="1">
                        <a:solidFill>
                          <a:srgbClr val="002060"/>
                        </a:solidFill>
                      </a:rPr>
                      <a:t>项目</a:t>
                    </a:r>
                  </a:p>
                </p:txBody>
              </p:sp>
            </p:grpSp>
            <p:sp>
              <p:nvSpPr>
                <p:cNvPr id="34832" name="TextBox 14">
                  <a:extLst>
                    <a:ext uri="{FF2B5EF4-FFF2-40B4-BE49-F238E27FC236}">
                      <a16:creationId xmlns:a16="http://schemas.microsoft.com/office/drawing/2014/main" id="{AD6A94F9-5969-0F46-3CE0-BA4258CEAA58}"/>
                    </a:ext>
                  </a:extLst>
                </p:cNvPr>
                <p:cNvSpPr txBox="1">
                  <a:spLocks noChangeArrowheads="1"/>
                </p:cNvSpPr>
                <p:nvPr/>
              </p:nvSpPr>
              <p:spPr bwMode="auto">
                <a:xfrm>
                  <a:off x="2758876" y="4427084"/>
                  <a:ext cx="6551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2060"/>
                      </a:solidFill>
                    </a:rPr>
                    <a:t>参与</a:t>
                  </a:r>
                </a:p>
              </p:txBody>
            </p:sp>
            <p:grpSp>
              <p:nvGrpSpPr>
                <p:cNvPr id="34833" name="组合 15">
                  <a:extLst>
                    <a:ext uri="{FF2B5EF4-FFF2-40B4-BE49-F238E27FC236}">
                      <a16:creationId xmlns:a16="http://schemas.microsoft.com/office/drawing/2014/main" id="{00FA8580-57F1-2ED6-7140-66C2F71BEC37}"/>
                    </a:ext>
                  </a:extLst>
                </p:cNvPr>
                <p:cNvGrpSpPr>
                  <a:grpSpLocks/>
                </p:cNvGrpSpPr>
                <p:nvPr/>
              </p:nvGrpSpPr>
              <p:grpSpPr bwMode="auto">
                <a:xfrm>
                  <a:off x="2405998" y="5331801"/>
                  <a:ext cx="1230128" cy="472686"/>
                  <a:chOff x="2021855" y="3264663"/>
                  <a:chExt cx="1230128" cy="472686"/>
                </a:xfrm>
              </p:grpSpPr>
              <p:sp>
                <p:nvSpPr>
                  <p:cNvPr id="34836" name="矩形 18">
                    <a:extLst>
                      <a:ext uri="{FF2B5EF4-FFF2-40B4-BE49-F238E27FC236}">
                        <a16:creationId xmlns:a16="http://schemas.microsoft.com/office/drawing/2014/main" id="{94B12DFE-AD25-3D51-ADB6-099F942EA3DB}"/>
                      </a:ext>
                    </a:extLst>
                  </p:cNvPr>
                  <p:cNvSpPr>
                    <a:spLocks noChangeArrowheads="1"/>
                  </p:cNvSpPr>
                  <p:nvPr/>
                </p:nvSpPr>
                <p:spPr bwMode="auto">
                  <a:xfrm>
                    <a:off x="2021855" y="3264663"/>
                    <a:ext cx="1230128" cy="472686"/>
                  </a:xfrm>
                  <a:prstGeom prst="rect">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34837" name="TextBox 19">
                    <a:extLst>
                      <a:ext uri="{FF2B5EF4-FFF2-40B4-BE49-F238E27FC236}">
                        <a16:creationId xmlns:a16="http://schemas.microsoft.com/office/drawing/2014/main" id="{D5624134-F439-2DFD-B2BD-7302911F6926}"/>
                      </a:ext>
                    </a:extLst>
                  </p:cNvPr>
                  <p:cNvSpPr txBox="1">
                    <a:spLocks noChangeArrowheads="1"/>
                  </p:cNvSpPr>
                  <p:nvPr/>
                </p:nvSpPr>
                <p:spPr bwMode="auto">
                  <a:xfrm>
                    <a:off x="2120433" y="3316340"/>
                    <a:ext cx="9360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2060"/>
                        </a:solidFill>
                      </a:rPr>
                      <a:t>职工</a:t>
                    </a:r>
                  </a:p>
                </p:txBody>
              </p:sp>
            </p:grpSp>
            <p:cxnSp>
              <p:nvCxnSpPr>
                <p:cNvPr id="34834" name="直接连接符 16">
                  <a:extLst>
                    <a:ext uri="{FF2B5EF4-FFF2-40B4-BE49-F238E27FC236}">
                      <a16:creationId xmlns:a16="http://schemas.microsoft.com/office/drawing/2014/main" id="{5D957565-217E-F79C-384D-E2A3B62E1D66}"/>
                    </a:ext>
                  </a:extLst>
                </p:cNvPr>
                <p:cNvCxnSpPr>
                  <a:cxnSpLocks noChangeShapeType="1"/>
                  <a:stCxn id="34838" idx="2"/>
                  <a:endCxn id="34830" idx="0"/>
                </p:cNvCxnSpPr>
                <p:nvPr/>
              </p:nvCxnSpPr>
              <p:spPr bwMode="auto">
                <a:xfrm>
                  <a:off x="3060086" y="3891701"/>
                  <a:ext cx="0" cy="321526"/>
                </a:xfrm>
                <a:prstGeom prst="line">
                  <a:avLst/>
                </a:prstGeom>
                <a:noFill/>
                <a:ln w="28575"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35" name="直接连接符 17">
                  <a:extLst>
                    <a:ext uri="{FF2B5EF4-FFF2-40B4-BE49-F238E27FC236}">
                      <a16:creationId xmlns:a16="http://schemas.microsoft.com/office/drawing/2014/main" id="{59D8A0D4-3C7D-BE62-139B-CB9E56563DC4}"/>
                    </a:ext>
                  </a:extLst>
                </p:cNvPr>
                <p:cNvCxnSpPr>
                  <a:cxnSpLocks noChangeShapeType="1"/>
                </p:cNvCxnSpPr>
                <p:nvPr/>
              </p:nvCxnSpPr>
              <p:spPr bwMode="auto">
                <a:xfrm>
                  <a:off x="3054043" y="5010275"/>
                  <a:ext cx="0" cy="321526"/>
                </a:xfrm>
                <a:prstGeom prst="line">
                  <a:avLst/>
                </a:prstGeom>
                <a:noFill/>
                <a:ln w="28575"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4828" name="TextBox 10">
                <a:extLst>
                  <a:ext uri="{FF2B5EF4-FFF2-40B4-BE49-F238E27FC236}">
                    <a16:creationId xmlns:a16="http://schemas.microsoft.com/office/drawing/2014/main" id="{77F64928-45E8-E4C4-CC10-8A5EEC776919}"/>
                  </a:ext>
                </a:extLst>
              </p:cNvPr>
              <p:cNvSpPr txBox="1">
                <a:spLocks noChangeArrowheads="1"/>
              </p:cNvSpPr>
              <p:nvPr/>
            </p:nvSpPr>
            <p:spPr bwMode="auto">
              <a:xfrm>
                <a:off x="3610019" y="3830359"/>
                <a:ext cx="3570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002060"/>
                    </a:solidFill>
                  </a:rPr>
                  <a:t>m</a:t>
                </a:r>
                <a:endParaRPr lang="zh-CN" altLang="en-US" b="1">
                  <a:solidFill>
                    <a:srgbClr val="002060"/>
                  </a:solidFill>
                </a:endParaRPr>
              </a:p>
            </p:txBody>
          </p:sp>
          <p:sp>
            <p:nvSpPr>
              <p:cNvPr id="34829" name="TextBox 11">
                <a:extLst>
                  <a:ext uri="{FF2B5EF4-FFF2-40B4-BE49-F238E27FC236}">
                    <a16:creationId xmlns:a16="http://schemas.microsoft.com/office/drawing/2014/main" id="{846AC7F0-6971-4BEE-BE6F-7623228919E4}"/>
                  </a:ext>
                </a:extLst>
              </p:cNvPr>
              <p:cNvSpPr txBox="1">
                <a:spLocks noChangeArrowheads="1"/>
              </p:cNvSpPr>
              <p:nvPr/>
            </p:nvSpPr>
            <p:spPr bwMode="auto">
              <a:xfrm>
                <a:off x="3610019" y="4884362"/>
                <a:ext cx="3570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002060"/>
                    </a:solidFill>
                  </a:rPr>
                  <a:t>n</a:t>
                </a:r>
                <a:endParaRPr lang="zh-CN" altLang="en-US" b="1">
                  <a:solidFill>
                    <a:srgbClr val="002060"/>
                  </a:solidFill>
                </a:endParaRPr>
              </a:p>
            </p:txBody>
          </p:sp>
        </p:grpSp>
        <p:sp>
          <p:nvSpPr>
            <p:cNvPr id="34824" name="椭圆 22">
              <a:extLst>
                <a:ext uri="{FF2B5EF4-FFF2-40B4-BE49-F238E27FC236}">
                  <a16:creationId xmlns:a16="http://schemas.microsoft.com/office/drawing/2014/main" id="{B12D7202-3FFA-3FA2-CBFE-63AA4F1848D6}"/>
                </a:ext>
              </a:extLst>
            </p:cNvPr>
            <p:cNvSpPr>
              <a:spLocks noChangeArrowheads="1"/>
            </p:cNvSpPr>
            <p:nvPr/>
          </p:nvSpPr>
          <p:spPr bwMode="auto">
            <a:xfrm>
              <a:off x="2800841" y="4077045"/>
              <a:ext cx="1224085" cy="522960"/>
            </a:xfrm>
            <a:prstGeom prst="ellipse">
              <a:avLst/>
            </a:prstGeom>
            <a:noFill/>
            <a:ln w="28575">
              <a:solidFill>
                <a:srgbClr val="0070C0"/>
              </a:solidFill>
              <a:round/>
              <a:headEnd/>
              <a:tailEnd/>
            </a:ln>
            <a:extLst>
              <a:ext uri="{909E8E84-426E-40DD-AFC4-6F175D3DCCD1}">
                <a14:hiddenFill xmlns:a14="http://schemas.microsoft.com/office/drawing/2010/main">
                  <a:solidFill>
                    <a:srgbClr val="FFFFFF"/>
                  </a:solidFill>
                </a14:hiddenFill>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34825" name="TextBox 23">
              <a:extLst>
                <a:ext uri="{FF2B5EF4-FFF2-40B4-BE49-F238E27FC236}">
                  <a16:creationId xmlns:a16="http://schemas.microsoft.com/office/drawing/2014/main" id="{4D347820-9CD4-1EB3-1384-612C65BDA57B}"/>
                </a:ext>
              </a:extLst>
            </p:cNvPr>
            <p:cNvSpPr txBox="1">
              <a:spLocks noChangeArrowheads="1"/>
            </p:cNvSpPr>
            <p:nvPr/>
          </p:nvSpPr>
          <p:spPr bwMode="auto">
            <a:xfrm>
              <a:off x="2930955" y="4159627"/>
              <a:ext cx="100807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1600" b="1">
                  <a:solidFill>
                    <a:srgbClr val="002060"/>
                  </a:solidFill>
                </a:rPr>
                <a:t>参与时间</a:t>
              </a:r>
            </a:p>
          </p:txBody>
        </p:sp>
        <p:cxnSp>
          <p:nvCxnSpPr>
            <p:cNvPr id="34826" name="直接连接符 2">
              <a:extLst>
                <a:ext uri="{FF2B5EF4-FFF2-40B4-BE49-F238E27FC236}">
                  <a16:creationId xmlns:a16="http://schemas.microsoft.com/office/drawing/2014/main" id="{BBBEE887-9832-6BF8-26FB-CE8A4CE1304F}"/>
                </a:ext>
              </a:extLst>
            </p:cNvPr>
            <p:cNvCxnSpPr>
              <a:cxnSpLocks noChangeShapeType="1"/>
              <a:stCxn id="34830" idx="3"/>
            </p:cNvCxnSpPr>
            <p:nvPr/>
          </p:nvCxnSpPr>
          <p:spPr bwMode="auto">
            <a:xfrm flipV="1">
              <a:off x="2405216" y="4327044"/>
              <a:ext cx="395625" cy="1"/>
            </a:xfrm>
            <a:prstGeom prst="line">
              <a:avLst/>
            </a:prstGeom>
            <a:noFill/>
            <a:ln w="28575"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7" name="Rectangle 2">
            <a:extLst>
              <a:ext uri="{FF2B5EF4-FFF2-40B4-BE49-F238E27FC236}">
                <a16:creationId xmlns:a16="http://schemas.microsoft.com/office/drawing/2014/main" id="{0B683791-20C0-2376-BD73-D7E3A2408261}"/>
              </a:ext>
            </a:extLst>
          </p:cNvPr>
          <p:cNvSpPr>
            <a:spLocks noChangeArrowheads="1"/>
          </p:cNvSpPr>
          <p:nvPr/>
        </p:nvSpPr>
        <p:spPr bwMode="blackWhite">
          <a:xfrm>
            <a:off x="4291013" y="4667250"/>
            <a:ext cx="7424737" cy="1808163"/>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nSpc>
                <a:spcPct val="105000"/>
              </a:lnSpc>
              <a:spcBef>
                <a:spcPct val="50000"/>
              </a:spcBef>
              <a:buClr>
                <a:srgbClr val="0000FF"/>
              </a:buClr>
            </a:pPr>
            <a:r>
              <a:rPr lang="zh-CN" altLang="en-US" sz="2400" b="1">
                <a:solidFill>
                  <a:srgbClr val="0070C0"/>
                </a:solidFill>
                <a:latin typeface="仿宋_GB2312" pitchFamily="49" charset="-122"/>
                <a:ea typeface="仿宋_GB2312" pitchFamily="49" charset="-122"/>
              </a:rPr>
              <a:t>项目（</a:t>
            </a:r>
            <a:r>
              <a:rPr lang="zh-CN" altLang="en-US" sz="2400" b="1" u="sng">
                <a:solidFill>
                  <a:srgbClr val="0070C0"/>
                </a:solidFill>
                <a:latin typeface="仿宋_GB2312" pitchFamily="49" charset="-122"/>
                <a:ea typeface="仿宋_GB2312" pitchFamily="49" charset="-122"/>
              </a:rPr>
              <a:t>项目编号</a:t>
            </a:r>
            <a:r>
              <a:rPr lang="zh-CN" altLang="en-US" sz="2400" b="1">
                <a:solidFill>
                  <a:srgbClr val="0070C0"/>
                </a:solidFill>
                <a:latin typeface="仿宋_GB2312" pitchFamily="49" charset="-122"/>
                <a:ea typeface="仿宋_GB2312" pitchFamily="49" charset="-122"/>
              </a:rPr>
              <a:t>，</a:t>
            </a:r>
            <a:r>
              <a:rPr lang="en-US" altLang="zh-CN" sz="2400" b="1">
                <a:solidFill>
                  <a:srgbClr val="0070C0"/>
                </a:solidFill>
                <a:latin typeface="仿宋_GB2312" pitchFamily="49" charset="-122"/>
                <a:ea typeface="仿宋_GB2312" pitchFamily="49" charset="-122"/>
              </a:rPr>
              <a:t>……</a:t>
            </a:r>
            <a:r>
              <a:rPr lang="zh-CN" altLang="en-US" sz="2400" b="1">
                <a:solidFill>
                  <a:srgbClr val="0070C0"/>
                </a:solidFill>
                <a:latin typeface="仿宋_GB2312" pitchFamily="49" charset="-122"/>
                <a:ea typeface="仿宋_GB2312" pitchFamily="49" charset="-122"/>
              </a:rPr>
              <a:t>）</a:t>
            </a:r>
            <a:endParaRPr lang="en-US" altLang="zh-CN" sz="2400" b="1">
              <a:solidFill>
                <a:srgbClr val="0070C0"/>
              </a:solidFill>
              <a:latin typeface="仿宋_GB2312" pitchFamily="49" charset="-122"/>
              <a:ea typeface="仿宋_GB2312" pitchFamily="49" charset="-122"/>
            </a:endParaRPr>
          </a:p>
          <a:p>
            <a:pPr lvl="1">
              <a:lnSpc>
                <a:spcPct val="105000"/>
              </a:lnSpc>
              <a:spcBef>
                <a:spcPct val="50000"/>
              </a:spcBef>
              <a:buClr>
                <a:srgbClr val="0000FF"/>
              </a:buClr>
            </a:pPr>
            <a:r>
              <a:rPr lang="zh-CN" altLang="en-US" sz="2400" b="1">
                <a:solidFill>
                  <a:srgbClr val="0070C0"/>
                </a:solidFill>
                <a:latin typeface="仿宋_GB2312" pitchFamily="49" charset="-122"/>
                <a:ea typeface="仿宋_GB2312" pitchFamily="49" charset="-122"/>
              </a:rPr>
              <a:t>职工（</a:t>
            </a:r>
            <a:r>
              <a:rPr lang="zh-CN" altLang="en-US" sz="2400" b="1" u="sng">
                <a:solidFill>
                  <a:srgbClr val="0070C0"/>
                </a:solidFill>
                <a:latin typeface="仿宋_GB2312" pitchFamily="49" charset="-122"/>
                <a:ea typeface="仿宋_GB2312" pitchFamily="49" charset="-122"/>
              </a:rPr>
              <a:t>职工号</a:t>
            </a:r>
            <a:r>
              <a:rPr lang="zh-CN" altLang="en-US" sz="2400" b="1">
                <a:solidFill>
                  <a:srgbClr val="0070C0"/>
                </a:solidFill>
                <a:latin typeface="仿宋_GB2312" pitchFamily="49" charset="-122"/>
                <a:ea typeface="仿宋_GB2312" pitchFamily="49" charset="-122"/>
              </a:rPr>
              <a:t>，</a:t>
            </a:r>
            <a:r>
              <a:rPr lang="en-US" altLang="zh-CN" sz="2400" b="1">
                <a:solidFill>
                  <a:srgbClr val="0070C0"/>
                </a:solidFill>
                <a:latin typeface="仿宋_GB2312" pitchFamily="49" charset="-122"/>
                <a:ea typeface="仿宋_GB2312" pitchFamily="49" charset="-122"/>
              </a:rPr>
              <a:t>……</a:t>
            </a:r>
            <a:r>
              <a:rPr lang="zh-CN" altLang="en-US" sz="2400" b="1">
                <a:solidFill>
                  <a:srgbClr val="0070C0"/>
                </a:solidFill>
                <a:latin typeface="仿宋_GB2312" pitchFamily="49" charset="-122"/>
                <a:ea typeface="仿宋_GB2312" pitchFamily="49" charset="-122"/>
              </a:rPr>
              <a:t>）</a:t>
            </a:r>
            <a:endParaRPr lang="en-US" altLang="zh-CN" sz="2400" b="1">
              <a:solidFill>
                <a:srgbClr val="0070C0"/>
              </a:solidFill>
              <a:latin typeface="仿宋_GB2312" pitchFamily="49" charset="-122"/>
              <a:ea typeface="仿宋_GB2312" pitchFamily="49" charset="-122"/>
            </a:endParaRPr>
          </a:p>
          <a:p>
            <a:pPr lvl="1">
              <a:lnSpc>
                <a:spcPct val="105000"/>
              </a:lnSpc>
              <a:spcBef>
                <a:spcPct val="50000"/>
              </a:spcBef>
              <a:buClr>
                <a:srgbClr val="0000FF"/>
              </a:buClr>
            </a:pPr>
            <a:r>
              <a:rPr lang="zh-CN" altLang="en-US" sz="2400" b="1">
                <a:solidFill>
                  <a:srgbClr val="C00000"/>
                </a:solidFill>
                <a:latin typeface="仿宋_GB2312" pitchFamily="49" charset="-122"/>
                <a:ea typeface="仿宋_GB2312" pitchFamily="49" charset="-122"/>
              </a:rPr>
              <a:t>参加（</a:t>
            </a:r>
            <a:r>
              <a:rPr lang="en-US" altLang="zh-CN" sz="2400" b="1" u="sng">
                <a:solidFill>
                  <a:srgbClr val="C00000"/>
                </a:solidFill>
                <a:latin typeface="仿宋_GB2312" pitchFamily="49" charset="-122"/>
                <a:ea typeface="仿宋_GB2312" pitchFamily="49" charset="-122"/>
              </a:rPr>
              <a:t>id</a:t>
            </a:r>
            <a:r>
              <a:rPr lang="en-US" altLang="zh-CN" sz="2400" b="1">
                <a:solidFill>
                  <a:srgbClr val="C00000"/>
                </a:solidFill>
                <a:latin typeface="仿宋_GB2312" pitchFamily="49" charset="-122"/>
                <a:ea typeface="仿宋_GB2312" pitchFamily="49" charset="-122"/>
              </a:rPr>
              <a:t>,</a:t>
            </a:r>
            <a:r>
              <a:rPr lang="zh-CN" altLang="en-US" sz="2400" b="1">
                <a:solidFill>
                  <a:srgbClr val="C00000"/>
                </a:solidFill>
                <a:latin typeface="仿宋_GB2312" pitchFamily="49" charset="-122"/>
                <a:ea typeface="仿宋_GB2312" pitchFamily="49" charset="-122"/>
              </a:rPr>
              <a:t>项目编号，职工号，参与时间，</a:t>
            </a:r>
            <a:r>
              <a:rPr lang="en-US" altLang="zh-CN" sz="2400" b="1">
                <a:solidFill>
                  <a:srgbClr val="C00000"/>
                </a:solidFill>
                <a:latin typeface="仿宋_GB2312" pitchFamily="49" charset="-122"/>
                <a:ea typeface="仿宋_GB2312" pitchFamily="49" charset="-122"/>
              </a:rPr>
              <a:t>……</a:t>
            </a:r>
            <a:r>
              <a:rPr lang="zh-CN" altLang="en-US" sz="2400" b="1">
                <a:solidFill>
                  <a:srgbClr val="C00000"/>
                </a:solidFill>
                <a:latin typeface="仿宋_GB2312" pitchFamily="49" charset="-122"/>
                <a:ea typeface="仿宋_GB2312" pitchFamily="49" charset="-122"/>
              </a:rPr>
              <a:t>）</a:t>
            </a:r>
            <a:endParaRPr lang="en-US" altLang="zh-CN" sz="2400" b="1">
              <a:solidFill>
                <a:srgbClr val="C00000"/>
              </a:solidFill>
              <a:latin typeface="仿宋_GB2312" pitchFamily="49" charset="-122"/>
              <a:ea typeface="仿宋_GB2312" pitchFamily="49"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750"/>
                                        </p:tgtEl>
                                        <p:attrNameLst>
                                          <p:attrName>style.visibility</p:attrName>
                                        </p:attrNameLst>
                                      </p:cBhvr>
                                      <p:to>
                                        <p:strVal val="visible"/>
                                      </p:to>
                                    </p:set>
                                    <p:animEffect transition="in" filter="fade">
                                      <p:cBhvr>
                                        <p:cTn id="12" dur="500"/>
                                        <p:tgtEl>
                                          <p:spTgt spid="317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0" grpId="0" animBg="1"/>
      <p:bldP spid="2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2">
            <a:extLst>
              <a:ext uri="{FF2B5EF4-FFF2-40B4-BE49-F238E27FC236}">
                <a16:creationId xmlns:a16="http://schemas.microsoft.com/office/drawing/2014/main" id="{F7CB89F4-E67B-8AB0-0397-31415F08EFE5}"/>
              </a:ext>
            </a:extLst>
          </p:cNvPr>
          <p:cNvSpPr txBox="1">
            <a:spLocks noChangeArrowheads="1"/>
          </p:cNvSpPr>
          <p:nvPr/>
        </p:nvSpPr>
        <p:spPr bwMode="auto">
          <a:xfrm>
            <a:off x="771525" y="1273175"/>
            <a:ext cx="3887788" cy="608013"/>
          </a:xfrm>
          <a:prstGeom prst="rect">
            <a:avLst/>
          </a:prstGeom>
          <a:noFill/>
          <a:ln>
            <a:noFill/>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nSpc>
                <a:spcPct val="105000"/>
              </a:lnSpc>
              <a:spcBef>
                <a:spcPct val="30000"/>
              </a:spcBef>
              <a:buClr>
                <a:srgbClr val="FF0000"/>
              </a:buClr>
              <a:buFont typeface="Wingdings" pitchFamily="2" charset="2"/>
              <a:buNone/>
              <a:defRPr/>
            </a:pPr>
            <a:r>
              <a:rPr lang="en-US" altLang="zh-CN" sz="3200" dirty="0">
                <a:solidFill>
                  <a:srgbClr val="993366"/>
                </a:solidFill>
                <a:effectLst>
                  <a:outerShdw blurRad="38100" dist="38100" dir="2700000" algn="tl">
                    <a:srgbClr val="C0C0C0"/>
                  </a:outerShdw>
                </a:effectLst>
              </a:rPr>
              <a:t> </a:t>
            </a:r>
            <a:r>
              <a:rPr lang="en-US" altLang="zh-CN" sz="3200" b="1" dirty="0" err="1">
                <a:solidFill>
                  <a:srgbClr val="002060"/>
                </a:solidFill>
                <a:effectLst>
                  <a:outerShdw blurRad="38100" dist="38100" dir="2700000" algn="tl">
                    <a:srgbClr val="C0C0C0"/>
                  </a:outerShdw>
                </a:effectLst>
                <a:latin typeface="楷体_GB2312" pitchFamily="49" charset="-122"/>
                <a:ea typeface="楷体_GB2312" pitchFamily="49" charset="-122"/>
              </a:rPr>
              <a:t>m∶n</a:t>
            </a: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联系 </a:t>
            </a:r>
          </a:p>
        </p:txBody>
      </p:sp>
      <p:sp>
        <p:nvSpPr>
          <p:cNvPr id="32774" name="Rectangle 2">
            <a:extLst>
              <a:ext uri="{FF2B5EF4-FFF2-40B4-BE49-F238E27FC236}">
                <a16:creationId xmlns:a16="http://schemas.microsoft.com/office/drawing/2014/main" id="{3986F984-1D9C-E4CA-32FD-5394A095BE49}"/>
              </a:ext>
            </a:extLst>
          </p:cNvPr>
          <p:cNvSpPr>
            <a:spLocks noChangeArrowheads="1"/>
          </p:cNvSpPr>
          <p:nvPr/>
        </p:nvSpPr>
        <p:spPr bwMode="blackWhite">
          <a:xfrm>
            <a:off x="4875213" y="1339850"/>
            <a:ext cx="6926262" cy="2376488"/>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nSpc>
                <a:spcPct val="105000"/>
              </a:lnSpc>
              <a:spcBef>
                <a:spcPct val="50000"/>
              </a:spcBef>
              <a:buClr>
                <a:srgbClr val="0000FF"/>
              </a:buClr>
            </a:pPr>
            <a:r>
              <a:rPr lang="zh-CN" altLang="en-US" sz="2400" b="1">
                <a:solidFill>
                  <a:srgbClr val="0070C0"/>
                </a:solidFill>
                <a:latin typeface="仿宋_GB2312" pitchFamily="49" charset="-122"/>
                <a:ea typeface="仿宋_GB2312" pitchFamily="49" charset="-122"/>
              </a:rPr>
              <a:t>供应商（</a:t>
            </a:r>
            <a:r>
              <a:rPr lang="zh-CN" altLang="en-US" sz="2400" b="1" u="sng">
                <a:solidFill>
                  <a:srgbClr val="0070C0"/>
                </a:solidFill>
                <a:latin typeface="仿宋_GB2312" pitchFamily="49" charset="-122"/>
                <a:ea typeface="仿宋_GB2312" pitchFamily="49" charset="-122"/>
              </a:rPr>
              <a:t>供应商号</a:t>
            </a:r>
            <a:r>
              <a:rPr lang="zh-CN" altLang="en-US" sz="2400" b="1">
                <a:solidFill>
                  <a:srgbClr val="0070C0"/>
                </a:solidFill>
                <a:latin typeface="仿宋_GB2312" pitchFamily="49" charset="-122"/>
                <a:ea typeface="仿宋_GB2312" pitchFamily="49" charset="-122"/>
              </a:rPr>
              <a:t>，</a:t>
            </a:r>
            <a:r>
              <a:rPr lang="en-US" altLang="zh-CN" sz="2400" b="1">
                <a:solidFill>
                  <a:srgbClr val="0070C0"/>
                </a:solidFill>
                <a:latin typeface="仿宋_GB2312" pitchFamily="49" charset="-122"/>
                <a:ea typeface="仿宋_GB2312" pitchFamily="49" charset="-122"/>
              </a:rPr>
              <a:t>……</a:t>
            </a:r>
            <a:r>
              <a:rPr lang="zh-CN" altLang="en-US" sz="2400" b="1">
                <a:solidFill>
                  <a:srgbClr val="0070C0"/>
                </a:solidFill>
                <a:latin typeface="仿宋_GB2312" pitchFamily="49" charset="-122"/>
                <a:ea typeface="仿宋_GB2312" pitchFamily="49" charset="-122"/>
              </a:rPr>
              <a:t>）</a:t>
            </a:r>
            <a:endParaRPr lang="en-US" altLang="zh-CN" sz="2400" b="1">
              <a:solidFill>
                <a:srgbClr val="0070C0"/>
              </a:solidFill>
              <a:latin typeface="仿宋_GB2312" pitchFamily="49" charset="-122"/>
              <a:ea typeface="仿宋_GB2312" pitchFamily="49" charset="-122"/>
            </a:endParaRPr>
          </a:p>
          <a:p>
            <a:pPr lvl="1">
              <a:lnSpc>
                <a:spcPct val="105000"/>
              </a:lnSpc>
              <a:spcBef>
                <a:spcPct val="50000"/>
              </a:spcBef>
              <a:buClr>
                <a:srgbClr val="0000FF"/>
              </a:buClr>
            </a:pPr>
            <a:r>
              <a:rPr lang="zh-CN" altLang="en-US" sz="2400" b="1">
                <a:solidFill>
                  <a:srgbClr val="0070C0"/>
                </a:solidFill>
                <a:latin typeface="仿宋_GB2312" pitchFamily="49" charset="-122"/>
                <a:ea typeface="仿宋_GB2312" pitchFamily="49" charset="-122"/>
              </a:rPr>
              <a:t>项目（</a:t>
            </a:r>
            <a:r>
              <a:rPr lang="zh-CN" altLang="en-US" sz="2400" b="1" u="sng">
                <a:solidFill>
                  <a:srgbClr val="0070C0"/>
                </a:solidFill>
                <a:latin typeface="仿宋_GB2312" pitchFamily="49" charset="-122"/>
                <a:ea typeface="仿宋_GB2312" pitchFamily="49" charset="-122"/>
              </a:rPr>
              <a:t>项目号</a:t>
            </a:r>
            <a:r>
              <a:rPr lang="zh-CN" altLang="en-US" sz="2400" b="1">
                <a:solidFill>
                  <a:srgbClr val="0070C0"/>
                </a:solidFill>
                <a:latin typeface="仿宋_GB2312" pitchFamily="49" charset="-122"/>
                <a:ea typeface="仿宋_GB2312" pitchFamily="49" charset="-122"/>
              </a:rPr>
              <a:t>，</a:t>
            </a:r>
            <a:r>
              <a:rPr lang="en-US" altLang="zh-CN" sz="2400" b="1">
                <a:solidFill>
                  <a:srgbClr val="0070C0"/>
                </a:solidFill>
                <a:latin typeface="仿宋_GB2312" pitchFamily="49" charset="-122"/>
                <a:ea typeface="仿宋_GB2312" pitchFamily="49" charset="-122"/>
              </a:rPr>
              <a:t>……</a:t>
            </a:r>
            <a:r>
              <a:rPr lang="zh-CN" altLang="en-US" sz="2400" b="1">
                <a:solidFill>
                  <a:srgbClr val="0070C0"/>
                </a:solidFill>
                <a:latin typeface="仿宋_GB2312" pitchFamily="49" charset="-122"/>
                <a:ea typeface="仿宋_GB2312" pitchFamily="49" charset="-122"/>
              </a:rPr>
              <a:t>）</a:t>
            </a:r>
            <a:endParaRPr lang="en-US" altLang="zh-CN" sz="2400" b="1">
              <a:solidFill>
                <a:srgbClr val="0070C0"/>
              </a:solidFill>
              <a:latin typeface="仿宋_GB2312" pitchFamily="49" charset="-122"/>
              <a:ea typeface="仿宋_GB2312" pitchFamily="49" charset="-122"/>
            </a:endParaRPr>
          </a:p>
          <a:p>
            <a:pPr lvl="1">
              <a:lnSpc>
                <a:spcPct val="105000"/>
              </a:lnSpc>
              <a:spcBef>
                <a:spcPct val="50000"/>
              </a:spcBef>
              <a:buClr>
                <a:srgbClr val="0000FF"/>
              </a:buClr>
            </a:pPr>
            <a:r>
              <a:rPr lang="zh-CN" altLang="en-US" sz="2400" b="1">
                <a:solidFill>
                  <a:srgbClr val="0070C0"/>
                </a:solidFill>
                <a:latin typeface="仿宋_GB2312" pitchFamily="49" charset="-122"/>
                <a:ea typeface="仿宋_GB2312" pitchFamily="49" charset="-122"/>
              </a:rPr>
              <a:t>零件（</a:t>
            </a:r>
            <a:r>
              <a:rPr lang="zh-CN" altLang="en-US" sz="2400" b="1" u="sng">
                <a:solidFill>
                  <a:srgbClr val="0070C0"/>
                </a:solidFill>
                <a:latin typeface="仿宋_GB2312" pitchFamily="49" charset="-122"/>
                <a:ea typeface="仿宋_GB2312" pitchFamily="49" charset="-122"/>
              </a:rPr>
              <a:t>零件号</a:t>
            </a:r>
            <a:r>
              <a:rPr lang="zh-CN" altLang="en-US" sz="2400" b="1">
                <a:solidFill>
                  <a:srgbClr val="0070C0"/>
                </a:solidFill>
                <a:latin typeface="仿宋_GB2312" pitchFamily="49" charset="-122"/>
                <a:ea typeface="仿宋_GB2312" pitchFamily="49" charset="-122"/>
              </a:rPr>
              <a:t>，</a:t>
            </a:r>
            <a:r>
              <a:rPr lang="en-US" altLang="zh-CN" sz="2400" b="1">
                <a:solidFill>
                  <a:srgbClr val="0070C0"/>
                </a:solidFill>
                <a:latin typeface="仿宋_GB2312" pitchFamily="49" charset="-122"/>
                <a:ea typeface="仿宋_GB2312" pitchFamily="49" charset="-122"/>
              </a:rPr>
              <a:t>……</a:t>
            </a:r>
            <a:r>
              <a:rPr lang="zh-CN" altLang="en-US" sz="2400" b="1">
                <a:solidFill>
                  <a:srgbClr val="0070C0"/>
                </a:solidFill>
                <a:latin typeface="仿宋_GB2312" pitchFamily="49" charset="-122"/>
                <a:ea typeface="仿宋_GB2312" pitchFamily="49" charset="-122"/>
              </a:rPr>
              <a:t>）</a:t>
            </a:r>
            <a:endParaRPr lang="en-US" altLang="zh-CN" sz="2400" b="1">
              <a:solidFill>
                <a:srgbClr val="0070C0"/>
              </a:solidFill>
              <a:latin typeface="仿宋_GB2312" pitchFamily="49" charset="-122"/>
              <a:ea typeface="仿宋_GB2312" pitchFamily="49" charset="-122"/>
            </a:endParaRPr>
          </a:p>
          <a:p>
            <a:pPr lvl="1">
              <a:lnSpc>
                <a:spcPct val="105000"/>
              </a:lnSpc>
              <a:spcBef>
                <a:spcPct val="50000"/>
              </a:spcBef>
              <a:buClr>
                <a:srgbClr val="0000FF"/>
              </a:buClr>
            </a:pPr>
            <a:r>
              <a:rPr lang="zh-CN" altLang="en-US" sz="2400" b="1">
                <a:solidFill>
                  <a:srgbClr val="C00000"/>
                </a:solidFill>
                <a:latin typeface="仿宋_GB2312" pitchFamily="49" charset="-122"/>
                <a:ea typeface="仿宋_GB2312" pitchFamily="49" charset="-122"/>
              </a:rPr>
              <a:t>订单（</a:t>
            </a:r>
            <a:r>
              <a:rPr lang="zh-CN" altLang="en-US" sz="2400" b="1" u="sng">
                <a:solidFill>
                  <a:srgbClr val="C00000"/>
                </a:solidFill>
                <a:latin typeface="仿宋_GB2312" pitchFamily="49" charset="-122"/>
                <a:ea typeface="仿宋_GB2312" pitchFamily="49" charset="-122"/>
              </a:rPr>
              <a:t>供应商号，项目号，零件号</a:t>
            </a:r>
            <a:r>
              <a:rPr lang="zh-CN" altLang="en-US" sz="2400" b="1">
                <a:solidFill>
                  <a:srgbClr val="C00000"/>
                </a:solidFill>
                <a:latin typeface="仿宋_GB2312" pitchFamily="49" charset="-122"/>
                <a:ea typeface="仿宋_GB2312" pitchFamily="49" charset="-122"/>
              </a:rPr>
              <a:t>，数量）</a:t>
            </a:r>
            <a:endParaRPr lang="en-US" altLang="zh-CN" sz="2400" b="1">
              <a:solidFill>
                <a:srgbClr val="C00000"/>
              </a:solidFill>
              <a:latin typeface="仿宋_GB2312" pitchFamily="49" charset="-122"/>
              <a:ea typeface="仿宋_GB2312" pitchFamily="49" charset="-122"/>
            </a:endParaRPr>
          </a:p>
        </p:txBody>
      </p:sp>
      <p:pic>
        <p:nvPicPr>
          <p:cNvPr id="35844" name="Picture 2">
            <a:extLst>
              <a:ext uri="{FF2B5EF4-FFF2-40B4-BE49-F238E27FC236}">
                <a16:creationId xmlns:a16="http://schemas.microsoft.com/office/drawing/2014/main" id="{D7E86251-66DA-C285-09A2-1077FA39E1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19350"/>
            <a:ext cx="4537075" cy="341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2">
            <a:extLst>
              <a:ext uri="{FF2B5EF4-FFF2-40B4-BE49-F238E27FC236}">
                <a16:creationId xmlns:a16="http://schemas.microsoft.com/office/drawing/2014/main" id="{F770AED9-B02F-1911-2A14-F3C4823E1FBB}"/>
              </a:ext>
            </a:extLst>
          </p:cNvPr>
          <p:cNvSpPr>
            <a:spLocks noChangeArrowheads="1"/>
          </p:cNvSpPr>
          <p:nvPr/>
        </p:nvSpPr>
        <p:spPr bwMode="blackWhite">
          <a:xfrm>
            <a:off x="4875213" y="4049713"/>
            <a:ext cx="6926262" cy="2403475"/>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nSpc>
                <a:spcPct val="105000"/>
              </a:lnSpc>
              <a:spcBef>
                <a:spcPct val="50000"/>
              </a:spcBef>
              <a:buClr>
                <a:srgbClr val="0000FF"/>
              </a:buClr>
            </a:pPr>
            <a:r>
              <a:rPr lang="zh-CN" altLang="en-US" sz="2400" b="1">
                <a:solidFill>
                  <a:srgbClr val="0070C0"/>
                </a:solidFill>
                <a:latin typeface="仿宋_GB2312" pitchFamily="49" charset="-122"/>
                <a:ea typeface="仿宋_GB2312" pitchFamily="49" charset="-122"/>
              </a:rPr>
              <a:t>供应商（</a:t>
            </a:r>
            <a:r>
              <a:rPr lang="zh-CN" altLang="en-US" sz="2400" b="1" u="sng">
                <a:solidFill>
                  <a:srgbClr val="0070C0"/>
                </a:solidFill>
                <a:latin typeface="仿宋_GB2312" pitchFamily="49" charset="-122"/>
                <a:ea typeface="仿宋_GB2312" pitchFamily="49" charset="-122"/>
              </a:rPr>
              <a:t>供应商号</a:t>
            </a:r>
            <a:r>
              <a:rPr lang="zh-CN" altLang="en-US" sz="2400" b="1">
                <a:solidFill>
                  <a:srgbClr val="0070C0"/>
                </a:solidFill>
                <a:latin typeface="仿宋_GB2312" pitchFamily="49" charset="-122"/>
                <a:ea typeface="仿宋_GB2312" pitchFamily="49" charset="-122"/>
              </a:rPr>
              <a:t>，</a:t>
            </a:r>
            <a:r>
              <a:rPr lang="en-US" altLang="zh-CN" sz="2400" b="1">
                <a:solidFill>
                  <a:srgbClr val="0070C0"/>
                </a:solidFill>
                <a:latin typeface="仿宋_GB2312" pitchFamily="49" charset="-122"/>
                <a:ea typeface="仿宋_GB2312" pitchFamily="49" charset="-122"/>
              </a:rPr>
              <a:t>……</a:t>
            </a:r>
            <a:r>
              <a:rPr lang="zh-CN" altLang="en-US" sz="2400" b="1">
                <a:solidFill>
                  <a:srgbClr val="0070C0"/>
                </a:solidFill>
                <a:latin typeface="仿宋_GB2312" pitchFamily="49" charset="-122"/>
                <a:ea typeface="仿宋_GB2312" pitchFamily="49" charset="-122"/>
              </a:rPr>
              <a:t>）</a:t>
            </a:r>
            <a:endParaRPr lang="en-US" altLang="zh-CN" sz="2400" b="1">
              <a:solidFill>
                <a:srgbClr val="0070C0"/>
              </a:solidFill>
              <a:latin typeface="仿宋_GB2312" pitchFamily="49" charset="-122"/>
              <a:ea typeface="仿宋_GB2312" pitchFamily="49" charset="-122"/>
            </a:endParaRPr>
          </a:p>
          <a:p>
            <a:pPr lvl="1">
              <a:lnSpc>
                <a:spcPct val="105000"/>
              </a:lnSpc>
              <a:spcBef>
                <a:spcPct val="50000"/>
              </a:spcBef>
              <a:buClr>
                <a:srgbClr val="0000FF"/>
              </a:buClr>
            </a:pPr>
            <a:r>
              <a:rPr lang="zh-CN" altLang="en-US" sz="2400" b="1">
                <a:solidFill>
                  <a:srgbClr val="0070C0"/>
                </a:solidFill>
                <a:latin typeface="仿宋_GB2312" pitchFamily="49" charset="-122"/>
                <a:ea typeface="仿宋_GB2312" pitchFamily="49" charset="-122"/>
              </a:rPr>
              <a:t>项目（</a:t>
            </a:r>
            <a:r>
              <a:rPr lang="zh-CN" altLang="en-US" sz="2400" b="1" u="sng">
                <a:solidFill>
                  <a:srgbClr val="0070C0"/>
                </a:solidFill>
                <a:latin typeface="仿宋_GB2312" pitchFamily="49" charset="-122"/>
                <a:ea typeface="仿宋_GB2312" pitchFamily="49" charset="-122"/>
              </a:rPr>
              <a:t>项目号</a:t>
            </a:r>
            <a:r>
              <a:rPr lang="zh-CN" altLang="en-US" sz="2400" b="1">
                <a:solidFill>
                  <a:srgbClr val="0070C0"/>
                </a:solidFill>
                <a:latin typeface="仿宋_GB2312" pitchFamily="49" charset="-122"/>
                <a:ea typeface="仿宋_GB2312" pitchFamily="49" charset="-122"/>
              </a:rPr>
              <a:t>，</a:t>
            </a:r>
            <a:r>
              <a:rPr lang="en-US" altLang="zh-CN" sz="2400" b="1">
                <a:solidFill>
                  <a:srgbClr val="0070C0"/>
                </a:solidFill>
                <a:latin typeface="仿宋_GB2312" pitchFamily="49" charset="-122"/>
                <a:ea typeface="仿宋_GB2312" pitchFamily="49" charset="-122"/>
              </a:rPr>
              <a:t>……</a:t>
            </a:r>
            <a:r>
              <a:rPr lang="zh-CN" altLang="en-US" sz="2400" b="1">
                <a:solidFill>
                  <a:srgbClr val="0070C0"/>
                </a:solidFill>
                <a:latin typeface="仿宋_GB2312" pitchFamily="49" charset="-122"/>
                <a:ea typeface="仿宋_GB2312" pitchFamily="49" charset="-122"/>
              </a:rPr>
              <a:t>）</a:t>
            </a:r>
            <a:endParaRPr lang="en-US" altLang="zh-CN" sz="2400" b="1">
              <a:solidFill>
                <a:srgbClr val="0070C0"/>
              </a:solidFill>
              <a:latin typeface="仿宋_GB2312" pitchFamily="49" charset="-122"/>
              <a:ea typeface="仿宋_GB2312" pitchFamily="49" charset="-122"/>
            </a:endParaRPr>
          </a:p>
          <a:p>
            <a:pPr lvl="1">
              <a:lnSpc>
                <a:spcPct val="105000"/>
              </a:lnSpc>
              <a:spcBef>
                <a:spcPct val="50000"/>
              </a:spcBef>
              <a:buClr>
                <a:srgbClr val="0000FF"/>
              </a:buClr>
            </a:pPr>
            <a:r>
              <a:rPr lang="zh-CN" altLang="en-US" sz="2400" b="1">
                <a:solidFill>
                  <a:srgbClr val="0070C0"/>
                </a:solidFill>
                <a:latin typeface="仿宋_GB2312" pitchFamily="49" charset="-122"/>
                <a:ea typeface="仿宋_GB2312" pitchFamily="49" charset="-122"/>
              </a:rPr>
              <a:t>零件（</a:t>
            </a:r>
            <a:r>
              <a:rPr lang="zh-CN" altLang="en-US" sz="2400" b="1" u="sng">
                <a:solidFill>
                  <a:srgbClr val="0070C0"/>
                </a:solidFill>
                <a:latin typeface="仿宋_GB2312" pitchFamily="49" charset="-122"/>
                <a:ea typeface="仿宋_GB2312" pitchFamily="49" charset="-122"/>
              </a:rPr>
              <a:t>零件号</a:t>
            </a:r>
            <a:r>
              <a:rPr lang="zh-CN" altLang="en-US" sz="2400" b="1">
                <a:solidFill>
                  <a:srgbClr val="0070C0"/>
                </a:solidFill>
                <a:latin typeface="仿宋_GB2312" pitchFamily="49" charset="-122"/>
                <a:ea typeface="仿宋_GB2312" pitchFamily="49" charset="-122"/>
              </a:rPr>
              <a:t>，</a:t>
            </a:r>
            <a:r>
              <a:rPr lang="en-US" altLang="zh-CN" sz="2400" b="1">
                <a:solidFill>
                  <a:srgbClr val="0070C0"/>
                </a:solidFill>
                <a:latin typeface="仿宋_GB2312" pitchFamily="49" charset="-122"/>
                <a:ea typeface="仿宋_GB2312" pitchFamily="49" charset="-122"/>
              </a:rPr>
              <a:t>……</a:t>
            </a:r>
            <a:r>
              <a:rPr lang="zh-CN" altLang="en-US" sz="2400" b="1">
                <a:solidFill>
                  <a:srgbClr val="0070C0"/>
                </a:solidFill>
                <a:latin typeface="仿宋_GB2312" pitchFamily="49" charset="-122"/>
                <a:ea typeface="仿宋_GB2312" pitchFamily="49" charset="-122"/>
              </a:rPr>
              <a:t>）</a:t>
            </a:r>
            <a:endParaRPr lang="en-US" altLang="zh-CN" sz="2400" b="1">
              <a:solidFill>
                <a:srgbClr val="0070C0"/>
              </a:solidFill>
              <a:latin typeface="仿宋_GB2312" pitchFamily="49" charset="-122"/>
              <a:ea typeface="仿宋_GB2312" pitchFamily="49" charset="-122"/>
            </a:endParaRPr>
          </a:p>
          <a:p>
            <a:pPr lvl="1">
              <a:lnSpc>
                <a:spcPct val="105000"/>
              </a:lnSpc>
              <a:spcBef>
                <a:spcPct val="50000"/>
              </a:spcBef>
              <a:buClr>
                <a:srgbClr val="0000FF"/>
              </a:buClr>
            </a:pPr>
            <a:r>
              <a:rPr lang="zh-CN" altLang="en-US" sz="2400" b="1">
                <a:solidFill>
                  <a:srgbClr val="C00000"/>
                </a:solidFill>
                <a:latin typeface="仿宋_GB2312" pitchFamily="49" charset="-122"/>
                <a:ea typeface="仿宋_GB2312" pitchFamily="49" charset="-122"/>
              </a:rPr>
              <a:t>订单（</a:t>
            </a:r>
            <a:r>
              <a:rPr lang="en-US" altLang="zh-CN" sz="2400" b="1" u="sng">
                <a:solidFill>
                  <a:srgbClr val="C00000"/>
                </a:solidFill>
                <a:latin typeface="仿宋_GB2312" pitchFamily="49" charset="-122"/>
                <a:ea typeface="仿宋_GB2312" pitchFamily="49" charset="-122"/>
              </a:rPr>
              <a:t>id</a:t>
            </a:r>
            <a:r>
              <a:rPr lang="en-US" altLang="zh-CN" sz="2400" b="1">
                <a:solidFill>
                  <a:srgbClr val="C00000"/>
                </a:solidFill>
                <a:latin typeface="仿宋_GB2312" pitchFamily="49" charset="-122"/>
                <a:ea typeface="仿宋_GB2312" pitchFamily="49" charset="-122"/>
              </a:rPr>
              <a:t>,</a:t>
            </a:r>
            <a:r>
              <a:rPr lang="zh-CN" altLang="en-US" sz="2400" b="1">
                <a:solidFill>
                  <a:srgbClr val="C00000"/>
                </a:solidFill>
                <a:latin typeface="仿宋_GB2312" pitchFamily="49" charset="-122"/>
                <a:ea typeface="仿宋_GB2312" pitchFamily="49" charset="-122"/>
              </a:rPr>
              <a:t>供应商号，项目号，零件号，数量）</a:t>
            </a:r>
            <a:endParaRPr lang="en-US" altLang="zh-CN" sz="2400" b="1">
              <a:solidFill>
                <a:srgbClr val="C00000"/>
              </a:solidFill>
              <a:latin typeface="仿宋_GB2312" pitchFamily="49" charset="-122"/>
              <a:ea typeface="仿宋_GB2312" pitchFamily="49" charset="-122"/>
            </a:endParaRPr>
          </a:p>
        </p:txBody>
      </p:sp>
      <p:sp>
        <p:nvSpPr>
          <p:cNvPr id="10" name="TextBox 6">
            <a:extLst>
              <a:ext uri="{FF2B5EF4-FFF2-40B4-BE49-F238E27FC236}">
                <a16:creationId xmlns:a16="http://schemas.microsoft.com/office/drawing/2014/main" id="{5B41BC33-4754-3B52-C7B0-B29D50525FD2}"/>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逻辑结构设计</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774"/>
                                        </p:tgtEl>
                                        <p:attrNameLst>
                                          <p:attrName>style.visibility</p:attrName>
                                        </p:attrNameLst>
                                      </p:cBhvr>
                                      <p:to>
                                        <p:strVal val="visible"/>
                                      </p:to>
                                    </p:set>
                                    <p:animEffect transition="in" filter="fade">
                                      <p:cBhvr>
                                        <p:cTn id="7" dur="500"/>
                                        <p:tgtEl>
                                          <p:spTgt spid="327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4" grpId="0" animBg="1"/>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8510165-2327-C476-B655-12E04129630C}"/>
              </a:ext>
            </a:extLst>
          </p:cNvPr>
          <p:cNvSpPr/>
          <p:nvPr/>
        </p:nvSpPr>
        <p:spPr>
          <a:xfrm>
            <a:off x="0" y="1196975"/>
            <a:ext cx="12003088" cy="449263"/>
          </a:xfrm>
          <a:prstGeom prst="rect">
            <a:avLst/>
          </a:prstGeom>
        </p:spPr>
        <p:txBody>
          <a:bodyPr>
            <a:spAutoFit/>
          </a:bodyPr>
          <a:lstStyle/>
          <a:p>
            <a:pPr lvl="1" algn="just">
              <a:lnSpc>
                <a:spcPct val="105000"/>
              </a:lnSpc>
              <a:spcAft>
                <a:spcPct val="35000"/>
              </a:spcAft>
              <a:buClr>
                <a:srgbClr val="0000FF"/>
              </a:buClr>
              <a:buFont typeface="Arial" charset="0"/>
              <a:buNone/>
              <a:defRPr/>
            </a:pPr>
            <a:r>
              <a:rPr lang="en-US" altLang="zh-CN" sz="2500" b="1" dirty="0">
                <a:effectLst>
                  <a:outerShdw blurRad="38100" dist="38100" dir="2700000" algn="tl">
                    <a:srgbClr val="C0C0C0"/>
                  </a:outerShdw>
                </a:effectLst>
                <a:latin typeface="仿宋_GB2312" pitchFamily="49" charset="-122"/>
                <a:ea typeface="仿宋_GB2312" pitchFamily="49" charset="-122"/>
              </a:rPr>
              <a:t>【</a:t>
            </a:r>
            <a:r>
              <a:rPr lang="zh-CN" altLang="en-US" sz="2500" b="1" dirty="0">
                <a:effectLst>
                  <a:outerShdw blurRad="38100" dist="38100" dir="2700000" algn="tl">
                    <a:srgbClr val="C0C0C0"/>
                  </a:outerShdw>
                </a:effectLst>
                <a:latin typeface="仿宋_GB2312" pitchFamily="49" charset="-122"/>
                <a:ea typeface="仿宋_GB2312" pitchFamily="49" charset="-122"/>
              </a:rPr>
              <a:t>例</a:t>
            </a:r>
            <a:r>
              <a:rPr lang="en-US" altLang="zh-CN" sz="2500" b="1" dirty="0">
                <a:effectLst>
                  <a:outerShdw blurRad="38100" dist="38100" dir="2700000" algn="tl">
                    <a:srgbClr val="C0C0C0"/>
                  </a:outerShdw>
                </a:effectLst>
                <a:latin typeface="仿宋_GB2312" pitchFamily="49" charset="-122"/>
                <a:ea typeface="仿宋_GB2312" pitchFamily="49" charset="-122"/>
              </a:rPr>
              <a:t>9.3】 </a:t>
            </a:r>
            <a:r>
              <a:rPr lang="zh-CN" altLang="en-US" sz="2500" b="1" dirty="0">
                <a:effectLst>
                  <a:outerShdw blurRad="38100" dist="38100" dir="2700000" algn="tl">
                    <a:srgbClr val="C0C0C0"/>
                  </a:outerShdw>
                </a:effectLst>
                <a:latin typeface="仿宋_GB2312" pitchFamily="49" charset="-122"/>
                <a:ea typeface="仿宋_GB2312" pitchFamily="49" charset="-122"/>
              </a:rPr>
              <a:t>将例</a:t>
            </a:r>
            <a:r>
              <a:rPr lang="en-US" altLang="zh-CN" sz="2500" b="1" dirty="0">
                <a:effectLst>
                  <a:outerShdw blurRad="38100" dist="38100" dir="2700000" algn="tl">
                    <a:srgbClr val="C0C0C0"/>
                  </a:outerShdw>
                </a:effectLst>
                <a:latin typeface="仿宋_GB2312" pitchFamily="49" charset="-122"/>
                <a:ea typeface="仿宋_GB2312" pitchFamily="49" charset="-122"/>
              </a:rPr>
              <a:t>9.1</a:t>
            </a:r>
            <a:r>
              <a:rPr lang="zh-CN" altLang="en-US" sz="2500" b="1" dirty="0">
                <a:effectLst>
                  <a:outerShdw blurRad="38100" dist="38100" dir="2700000" algn="tl">
                    <a:srgbClr val="C0C0C0"/>
                  </a:outerShdw>
                </a:effectLst>
                <a:latin typeface="仿宋_GB2312" pitchFamily="49" charset="-122"/>
                <a:ea typeface="仿宋_GB2312" pitchFamily="49" charset="-122"/>
              </a:rPr>
              <a:t>数据库系统设计所得到的</a:t>
            </a:r>
            <a:r>
              <a:rPr lang="en-US" altLang="zh-CN" sz="2500" b="1" dirty="0">
                <a:effectLst>
                  <a:outerShdw blurRad="38100" dist="38100" dir="2700000" algn="tl">
                    <a:srgbClr val="C0C0C0"/>
                  </a:outerShdw>
                </a:effectLst>
                <a:latin typeface="仿宋_GB2312" pitchFamily="49" charset="-122"/>
                <a:ea typeface="仿宋_GB2312" pitchFamily="49" charset="-122"/>
              </a:rPr>
              <a:t>E-R</a:t>
            </a:r>
            <a:r>
              <a:rPr lang="zh-CN" altLang="en-US" sz="2500" b="1" dirty="0">
                <a:effectLst>
                  <a:outerShdw blurRad="38100" dist="38100" dir="2700000" algn="tl">
                    <a:srgbClr val="C0C0C0"/>
                  </a:outerShdw>
                </a:effectLst>
                <a:latin typeface="仿宋_GB2312" pitchFamily="49" charset="-122"/>
                <a:ea typeface="仿宋_GB2312" pitchFamily="49" charset="-122"/>
              </a:rPr>
              <a:t>图转换为相应的关系模式。</a:t>
            </a:r>
          </a:p>
        </p:txBody>
      </p:sp>
      <p:pic>
        <p:nvPicPr>
          <p:cNvPr id="36867" name="Picture 3">
            <a:extLst>
              <a:ext uri="{FF2B5EF4-FFF2-40B4-BE49-F238E27FC236}">
                <a16:creationId xmlns:a16="http://schemas.microsoft.com/office/drawing/2014/main" id="{5040CD4E-B9AA-66DD-93B0-5244E3EB40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463" y="1916113"/>
            <a:ext cx="2736850" cy="188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868" name="Picture 4">
            <a:extLst>
              <a:ext uri="{FF2B5EF4-FFF2-40B4-BE49-F238E27FC236}">
                <a16:creationId xmlns:a16="http://schemas.microsoft.com/office/drawing/2014/main" id="{6D3C1D3B-801D-6E92-25E2-E3D4F39FD5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4088" y="1987550"/>
            <a:ext cx="2813050" cy="190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869" name="Picture 5">
            <a:extLst>
              <a:ext uri="{FF2B5EF4-FFF2-40B4-BE49-F238E27FC236}">
                <a16:creationId xmlns:a16="http://schemas.microsoft.com/office/drawing/2014/main" id="{03828A9B-AF32-1BC9-0935-8B8B042694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3050" y="1835150"/>
            <a:ext cx="1951038" cy="204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870" name="Picture 6">
            <a:extLst>
              <a:ext uri="{FF2B5EF4-FFF2-40B4-BE49-F238E27FC236}">
                <a16:creationId xmlns:a16="http://schemas.microsoft.com/office/drawing/2014/main" id="{A637ACC0-1EAB-977C-C548-EB0F57AB5A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54938" y="1916113"/>
            <a:ext cx="2459037" cy="172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871" name="Picture 7">
            <a:extLst>
              <a:ext uri="{FF2B5EF4-FFF2-40B4-BE49-F238E27FC236}">
                <a16:creationId xmlns:a16="http://schemas.microsoft.com/office/drawing/2014/main" id="{F1872A23-3B6A-409D-C3CA-4B5C7521ED8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33013" y="1976438"/>
            <a:ext cx="2043112" cy="182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872" name="Picture 2">
            <a:extLst>
              <a:ext uri="{FF2B5EF4-FFF2-40B4-BE49-F238E27FC236}">
                <a16:creationId xmlns:a16="http://schemas.microsoft.com/office/drawing/2014/main" id="{E4C6755B-C54C-47E0-1C8F-02FCB782020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35350" y="3884613"/>
            <a:ext cx="5946775" cy="309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6">
            <a:extLst>
              <a:ext uri="{FF2B5EF4-FFF2-40B4-BE49-F238E27FC236}">
                <a16:creationId xmlns:a16="http://schemas.microsoft.com/office/drawing/2014/main" id="{ADCF2C69-5CFF-EFFD-BF2F-A25CC9979F47}"/>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逻辑结构设计</a:t>
            </a:r>
          </a:p>
        </p:txBody>
      </p:sp>
    </p:spTree>
  </p:cSld>
  <p:clrMapOvr>
    <a:masterClrMapping/>
  </p:clrMapOvr>
  <p:transition spd="slow">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78AC2D98-7092-E988-8C77-1B9527B7BC80}"/>
              </a:ext>
            </a:extLst>
          </p:cNvPr>
          <p:cNvSpPr/>
          <p:nvPr/>
        </p:nvSpPr>
        <p:spPr>
          <a:xfrm>
            <a:off x="276225" y="1052513"/>
            <a:ext cx="10728325" cy="492125"/>
          </a:xfrm>
          <a:prstGeom prst="rect">
            <a:avLst/>
          </a:prstGeom>
        </p:spPr>
        <p:txBody>
          <a:bodyPr>
            <a:spAutoFit/>
          </a:bodyPr>
          <a:lstStyle/>
          <a:p>
            <a:pPr lvl="1" algn="just">
              <a:lnSpc>
                <a:spcPct val="105000"/>
              </a:lnSpc>
              <a:spcAft>
                <a:spcPct val="35000"/>
              </a:spcAft>
              <a:buClr>
                <a:srgbClr val="0000FF"/>
              </a:buClr>
              <a:buFont typeface="Arial" charset="0"/>
              <a:buNone/>
              <a:defRPr/>
            </a:pP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a:t>
            </a:r>
            <a:r>
              <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rPr>
              <a:t>1</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）将实体转换为关系模式</a:t>
            </a:r>
          </a:p>
        </p:txBody>
      </p:sp>
      <p:pic>
        <p:nvPicPr>
          <p:cNvPr id="37891" name="Picture 3">
            <a:extLst>
              <a:ext uri="{FF2B5EF4-FFF2-40B4-BE49-F238E27FC236}">
                <a16:creationId xmlns:a16="http://schemas.microsoft.com/office/drawing/2014/main" id="{C9FB2D31-14BF-90BE-7607-5F436307E2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263" y="1911350"/>
            <a:ext cx="2735262" cy="188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892" name="Picture 4">
            <a:extLst>
              <a:ext uri="{FF2B5EF4-FFF2-40B4-BE49-F238E27FC236}">
                <a16:creationId xmlns:a16="http://schemas.microsoft.com/office/drawing/2014/main" id="{37EBF8F9-D862-CAC2-4041-5D951C7A6E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6650" y="1898650"/>
            <a:ext cx="2814638" cy="190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893" name="Picture 5">
            <a:extLst>
              <a:ext uri="{FF2B5EF4-FFF2-40B4-BE49-F238E27FC236}">
                <a16:creationId xmlns:a16="http://schemas.microsoft.com/office/drawing/2014/main" id="{3D08F705-9D09-4476-6889-E65E67B525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2463" y="1844675"/>
            <a:ext cx="1951037" cy="204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894" name="Picture 6">
            <a:extLst>
              <a:ext uri="{FF2B5EF4-FFF2-40B4-BE49-F238E27FC236}">
                <a16:creationId xmlns:a16="http://schemas.microsoft.com/office/drawing/2014/main" id="{0D676E0F-F45E-6071-4838-C1E5491941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89863" y="1989138"/>
            <a:ext cx="2459037" cy="172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895" name="Picture 7">
            <a:extLst>
              <a:ext uri="{FF2B5EF4-FFF2-40B4-BE49-F238E27FC236}">
                <a16:creationId xmlns:a16="http://schemas.microsoft.com/office/drawing/2014/main" id="{CE621178-9AC3-19B4-0EF0-FC90B06140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0" y="1989138"/>
            <a:ext cx="2292350"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le 2">
            <a:extLst>
              <a:ext uri="{FF2B5EF4-FFF2-40B4-BE49-F238E27FC236}">
                <a16:creationId xmlns:a16="http://schemas.microsoft.com/office/drawing/2014/main" id="{F6DF6B02-9C15-E0C3-401C-26464E0D7610}"/>
              </a:ext>
            </a:extLst>
          </p:cNvPr>
          <p:cNvSpPr>
            <a:spLocks noChangeArrowheads="1"/>
          </p:cNvSpPr>
          <p:nvPr/>
        </p:nvSpPr>
        <p:spPr bwMode="blackWhite">
          <a:xfrm>
            <a:off x="698500" y="4049713"/>
            <a:ext cx="10153650" cy="2808287"/>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nSpc>
                <a:spcPct val="105000"/>
              </a:lnSpc>
              <a:spcBef>
                <a:spcPct val="50000"/>
              </a:spcBef>
              <a:buClr>
                <a:srgbClr val="0000FF"/>
              </a:buClr>
            </a:pPr>
            <a:r>
              <a:rPr lang="zh-CN" altLang="en-US" sz="2400" b="1">
                <a:solidFill>
                  <a:srgbClr val="0070C0"/>
                </a:solidFill>
                <a:latin typeface="仿宋_GB2312" pitchFamily="49" charset="-122"/>
                <a:ea typeface="仿宋_GB2312" pitchFamily="49" charset="-122"/>
              </a:rPr>
              <a:t>供应商（</a:t>
            </a:r>
            <a:r>
              <a:rPr lang="zh-CN" altLang="en-US" sz="2400" b="1" u="sng">
                <a:solidFill>
                  <a:srgbClr val="0070C0"/>
                </a:solidFill>
                <a:latin typeface="仿宋_GB2312" pitchFamily="49" charset="-122"/>
                <a:ea typeface="仿宋_GB2312" pitchFamily="49" charset="-122"/>
              </a:rPr>
              <a:t>供应商号</a:t>
            </a:r>
            <a:r>
              <a:rPr lang="zh-CN" altLang="en-US" sz="2400" b="1">
                <a:solidFill>
                  <a:srgbClr val="0070C0"/>
                </a:solidFill>
                <a:latin typeface="仿宋_GB2312" pitchFamily="49" charset="-122"/>
                <a:ea typeface="仿宋_GB2312" pitchFamily="49" charset="-122"/>
              </a:rPr>
              <a:t>，姓名，帐号，地址，电话）</a:t>
            </a:r>
            <a:endParaRPr lang="en-US" altLang="zh-CN" sz="2400" b="1">
              <a:solidFill>
                <a:srgbClr val="0070C0"/>
              </a:solidFill>
              <a:latin typeface="仿宋_GB2312" pitchFamily="49" charset="-122"/>
              <a:ea typeface="仿宋_GB2312" pitchFamily="49" charset="-122"/>
            </a:endParaRPr>
          </a:p>
          <a:p>
            <a:pPr lvl="1">
              <a:lnSpc>
                <a:spcPct val="105000"/>
              </a:lnSpc>
              <a:spcBef>
                <a:spcPct val="50000"/>
              </a:spcBef>
              <a:buClr>
                <a:srgbClr val="0000FF"/>
              </a:buClr>
            </a:pPr>
            <a:r>
              <a:rPr lang="zh-CN" altLang="en-US" sz="2400" b="1">
                <a:solidFill>
                  <a:srgbClr val="0070C0"/>
                </a:solidFill>
                <a:latin typeface="仿宋_GB2312" pitchFamily="49" charset="-122"/>
                <a:ea typeface="仿宋_GB2312" pitchFamily="49" charset="-122"/>
              </a:rPr>
              <a:t>项目（</a:t>
            </a:r>
            <a:r>
              <a:rPr lang="zh-CN" altLang="en-US" sz="2400" b="1" u="sng">
                <a:solidFill>
                  <a:srgbClr val="0070C0"/>
                </a:solidFill>
                <a:latin typeface="仿宋_GB2312" pitchFamily="49" charset="-122"/>
                <a:ea typeface="仿宋_GB2312" pitchFamily="49" charset="-122"/>
              </a:rPr>
              <a:t>项目号</a:t>
            </a:r>
            <a:r>
              <a:rPr lang="zh-CN" altLang="en-US" sz="2400" b="1">
                <a:solidFill>
                  <a:srgbClr val="0070C0"/>
                </a:solidFill>
                <a:latin typeface="仿宋_GB2312" pitchFamily="49" charset="-122"/>
                <a:ea typeface="仿宋_GB2312" pitchFamily="49" charset="-122"/>
              </a:rPr>
              <a:t>，预算，开工日期）</a:t>
            </a:r>
            <a:endParaRPr lang="en-US" altLang="zh-CN" sz="2400" b="1">
              <a:solidFill>
                <a:srgbClr val="0070C0"/>
              </a:solidFill>
              <a:latin typeface="仿宋_GB2312" pitchFamily="49" charset="-122"/>
              <a:ea typeface="仿宋_GB2312" pitchFamily="49" charset="-122"/>
            </a:endParaRPr>
          </a:p>
          <a:p>
            <a:pPr lvl="1">
              <a:lnSpc>
                <a:spcPct val="105000"/>
              </a:lnSpc>
              <a:spcBef>
                <a:spcPct val="50000"/>
              </a:spcBef>
              <a:buClr>
                <a:srgbClr val="0000FF"/>
              </a:buClr>
            </a:pPr>
            <a:r>
              <a:rPr lang="zh-CN" altLang="en-US" sz="2400" b="1">
                <a:solidFill>
                  <a:srgbClr val="0070C0"/>
                </a:solidFill>
                <a:latin typeface="仿宋_GB2312" pitchFamily="49" charset="-122"/>
                <a:ea typeface="仿宋_GB2312" pitchFamily="49" charset="-122"/>
              </a:rPr>
              <a:t>零件（</a:t>
            </a:r>
            <a:r>
              <a:rPr lang="zh-CN" altLang="en-US" sz="2400" b="1" u="sng">
                <a:solidFill>
                  <a:srgbClr val="0070C0"/>
                </a:solidFill>
                <a:latin typeface="仿宋_GB2312" pitchFamily="49" charset="-122"/>
                <a:ea typeface="仿宋_GB2312" pitchFamily="49" charset="-122"/>
              </a:rPr>
              <a:t>零件号</a:t>
            </a:r>
            <a:r>
              <a:rPr lang="zh-CN" altLang="en-US" sz="2400" b="1">
                <a:solidFill>
                  <a:srgbClr val="0070C0"/>
                </a:solidFill>
                <a:latin typeface="仿宋_GB2312" pitchFamily="49" charset="-122"/>
                <a:ea typeface="仿宋_GB2312" pitchFamily="49" charset="-122"/>
              </a:rPr>
              <a:t>，名称，规格，单价，描述）</a:t>
            </a:r>
            <a:endParaRPr lang="en-US" altLang="zh-CN" sz="2400" b="1">
              <a:solidFill>
                <a:srgbClr val="0070C0"/>
              </a:solidFill>
              <a:latin typeface="仿宋_GB2312" pitchFamily="49" charset="-122"/>
              <a:ea typeface="仿宋_GB2312" pitchFamily="49" charset="-122"/>
            </a:endParaRPr>
          </a:p>
          <a:p>
            <a:pPr lvl="1">
              <a:lnSpc>
                <a:spcPct val="105000"/>
              </a:lnSpc>
              <a:spcBef>
                <a:spcPct val="50000"/>
              </a:spcBef>
              <a:buClr>
                <a:srgbClr val="0000FF"/>
              </a:buClr>
            </a:pPr>
            <a:r>
              <a:rPr lang="zh-CN" altLang="en-US" sz="2400" b="1">
                <a:solidFill>
                  <a:srgbClr val="0070C0"/>
                </a:solidFill>
                <a:latin typeface="仿宋_GB2312" pitchFamily="49" charset="-122"/>
                <a:ea typeface="仿宋_GB2312" pitchFamily="49" charset="-122"/>
              </a:rPr>
              <a:t>职工（</a:t>
            </a:r>
            <a:r>
              <a:rPr lang="zh-CN" altLang="en-US" sz="2400" b="1" u="sng">
                <a:solidFill>
                  <a:srgbClr val="0070C0"/>
                </a:solidFill>
                <a:latin typeface="仿宋_GB2312" pitchFamily="49" charset="-122"/>
                <a:ea typeface="仿宋_GB2312" pitchFamily="49" charset="-122"/>
              </a:rPr>
              <a:t>职工号</a:t>
            </a:r>
            <a:r>
              <a:rPr lang="zh-CN" altLang="en-US" sz="2400" b="1">
                <a:solidFill>
                  <a:srgbClr val="0070C0"/>
                </a:solidFill>
                <a:latin typeface="仿宋_GB2312" pitchFamily="49" charset="-122"/>
                <a:ea typeface="仿宋_GB2312" pitchFamily="49" charset="-122"/>
              </a:rPr>
              <a:t>，姓名，性别，职务，出生年月）</a:t>
            </a:r>
            <a:endParaRPr lang="en-US" altLang="zh-CN" sz="2400" b="1">
              <a:solidFill>
                <a:srgbClr val="0070C0"/>
              </a:solidFill>
              <a:latin typeface="仿宋_GB2312" pitchFamily="49" charset="-122"/>
              <a:ea typeface="仿宋_GB2312" pitchFamily="49" charset="-122"/>
            </a:endParaRPr>
          </a:p>
          <a:p>
            <a:pPr lvl="1">
              <a:lnSpc>
                <a:spcPct val="105000"/>
              </a:lnSpc>
              <a:spcBef>
                <a:spcPct val="50000"/>
              </a:spcBef>
              <a:buClr>
                <a:srgbClr val="0000FF"/>
              </a:buClr>
            </a:pPr>
            <a:r>
              <a:rPr lang="zh-CN" altLang="en-US" sz="2400" b="1">
                <a:solidFill>
                  <a:srgbClr val="0070C0"/>
                </a:solidFill>
                <a:latin typeface="仿宋_GB2312" pitchFamily="49" charset="-122"/>
                <a:ea typeface="仿宋_GB2312" pitchFamily="49" charset="-122"/>
              </a:rPr>
              <a:t>仓库（</a:t>
            </a:r>
            <a:r>
              <a:rPr lang="zh-CN" altLang="en-US" sz="2400" b="1" u="sng">
                <a:solidFill>
                  <a:srgbClr val="0070C0"/>
                </a:solidFill>
                <a:latin typeface="仿宋_GB2312" pitchFamily="49" charset="-122"/>
                <a:ea typeface="仿宋_GB2312" pitchFamily="49" charset="-122"/>
              </a:rPr>
              <a:t>仓库号</a:t>
            </a:r>
            <a:r>
              <a:rPr lang="zh-CN" altLang="en-US" sz="2400" b="1">
                <a:solidFill>
                  <a:srgbClr val="0070C0"/>
                </a:solidFill>
                <a:latin typeface="仿宋_GB2312" pitchFamily="49" charset="-122"/>
                <a:ea typeface="仿宋_GB2312" pitchFamily="49" charset="-122"/>
              </a:rPr>
              <a:t>，仓库类型，仓库面积）</a:t>
            </a:r>
            <a:endParaRPr lang="en-US" altLang="zh-CN" sz="2400" b="1">
              <a:solidFill>
                <a:srgbClr val="0070C0"/>
              </a:solidFill>
              <a:latin typeface="仿宋_GB2312" pitchFamily="49" charset="-122"/>
              <a:ea typeface="仿宋_GB2312" pitchFamily="49" charset="-122"/>
            </a:endParaRPr>
          </a:p>
        </p:txBody>
      </p:sp>
      <p:sp>
        <p:nvSpPr>
          <p:cNvPr id="10" name="TextBox 6">
            <a:extLst>
              <a:ext uri="{FF2B5EF4-FFF2-40B4-BE49-F238E27FC236}">
                <a16:creationId xmlns:a16="http://schemas.microsoft.com/office/drawing/2014/main" id="{15B8D585-64AC-BF9A-BD83-FCB5F9D02580}"/>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逻辑结构设计</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049031CD-F2C2-306A-F40A-86C343E314DE}"/>
              </a:ext>
            </a:extLst>
          </p:cNvPr>
          <p:cNvSpPr/>
          <p:nvPr/>
        </p:nvSpPr>
        <p:spPr>
          <a:xfrm>
            <a:off x="276225" y="1052513"/>
            <a:ext cx="10728325" cy="549275"/>
          </a:xfrm>
          <a:prstGeom prst="rect">
            <a:avLst/>
          </a:prstGeom>
        </p:spPr>
        <p:txBody>
          <a:bodyPr>
            <a:spAutoFit/>
          </a:bodyPr>
          <a:lstStyle/>
          <a:p>
            <a:pPr lvl="1" algn="just">
              <a:lnSpc>
                <a:spcPct val="105000"/>
              </a:lnSpc>
              <a:spcAft>
                <a:spcPct val="35000"/>
              </a:spcAft>
              <a:buClr>
                <a:srgbClr val="0000FF"/>
              </a:buClr>
              <a:buFont typeface="Arial" charset="0"/>
              <a:buNone/>
              <a:defRPr/>
            </a:pP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a:t>
            </a:r>
            <a:r>
              <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rPr>
              <a:t>2</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）将联系转换为关系模式</a:t>
            </a:r>
          </a:p>
        </p:txBody>
      </p:sp>
      <p:pic>
        <p:nvPicPr>
          <p:cNvPr id="38915" name="Picture 2">
            <a:extLst>
              <a:ext uri="{FF2B5EF4-FFF2-40B4-BE49-F238E27FC236}">
                <a16:creationId xmlns:a16="http://schemas.microsoft.com/office/drawing/2014/main" id="{0040E678-E523-3848-123B-DFF160CB3A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3" y="1916113"/>
            <a:ext cx="5946775"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2">
            <a:extLst>
              <a:ext uri="{FF2B5EF4-FFF2-40B4-BE49-F238E27FC236}">
                <a16:creationId xmlns:a16="http://schemas.microsoft.com/office/drawing/2014/main" id="{0EB0E232-BD78-98B0-01C8-0B6440D14224}"/>
              </a:ext>
            </a:extLst>
          </p:cNvPr>
          <p:cNvSpPr>
            <a:spLocks noChangeArrowheads="1"/>
          </p:cNvSpPr>
          <p:nvPr/>
        </p:nvSpPr>
        <p:spPr bwMode="blackWhite">
          <a:xfrm>
            <a:off x="5883275" y="2058988"/>
            <a:ext cx="6048375" cy="2949575"/>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marL="342900" indent="-342900">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lvl="1">
              <a:lnSpc>
                <a:spcPct val="105000"/>
              </a:lnSpc>
              <a:spcBef>
                <a:spcPct val="50000"/>
              </a:spcBef>
              <a:buClr>
                <a:srgbClr val="0000FF"/>
              </a:buClr>
            </a:pPr>
            <a:r>
              <a:rPr lang="zh-CN" altLang="en-US" sz="2000" b="1">
                <a:solidFill>
                  <a:srgbClr val="0070C0"/>
                </a:solidFill>
                <a:latin typeface="仿宋_GB2312" pitchFamily="49" charset="-122"/>
                <a:ea typeface="仿宋_GB2312" pitchFamily="49" charset="-122"/>
              </a:rPr>
              <a:t>供应（</a:t>
            </a:r>
            <a:r>
              <a:rPr lang="en-US" altLang="zh-CN" sz="2000" b="1" u="sng">
                <a:solidFill>
                  <a:srgbClr val="0070C0"/>
                </a:solidFill>
                <a:latin typeface="仿宋_GB2312" pitchFamily="49" charset="-122"/>
                <a:ea typeface="仿宋_GB2312" pitchFamily="49" charset="-122"/>
              </a:rPr>
              <a:t>id</a:t>
            </a:r>
            <a:r>
              <a:rPr lang="en-US" altLang="zh-CN" sz="2000" b="1">
                <a:solidFill>
                  <a:srgbClr val="0070C0"/>
                </a:solidFill>
                <a:latin typeface="仿宋_GB2312" pitchFamily="49" charset="-122"/>
                <a:ea typeface="仿宋_GB2312" pitchFamily="49" charset="-122"/>
              </a:rPr>
              <a:t>,</a:t>
            </a:r>
            <a:r>
              <a:rPr lang="zh-CN" altLang="en-US" sz="2000" b="1">
                <a:solidFill>
                  <a:srgbClr val="0070C0"/>
                </a:solidFill>
                <a:latin typeface="仿宋_GB2312" pitchFamily="49" charset="-122"/>
                <a:ea typeface="仿宋_GB2312" pitchFamily="49" charset="-122"/>
              </a:rPr>
              <a:t>供应商号</a:t>
            </a:r>
            <a:r>
              <a:rPr lang="en-US" altLang="zh-CN" sz="2000" b="1">
                <a:solidFill>
                  <a:srgbClr val="0070C0"/>
                </a:solidFill>
                <a:latin typeface="仿宋_GB2312" pitchFamily="49" charset="-122"/>
                <a:ea typeface="仿宋_GB2312" pitchFamily="49" charset="-122"/>
              </a:rPr>
              <a:t>,</a:t>
            </a:r>
            <a:r>
              <a:rPr lang="zh-CN" altLang="en-US" sz="2000" b="1">
                <a:solidFill>
                  <a:srgbClr val="0070C0"/>
                </a:solidFill>
                <a:latin typeface="仿宋_GB2312" pitchFamily="49" charset="-122"/>
                <a:ea typeface="仿宋_GB2312" pitchFamily="49" charset="-122"/>
              </a:rPr>
              <a:t>项目号</a:t>
            </a:r>
            <a:r>
              <a:rPr lang="en-US" altLang="zh-CN" sz="2000" b="1">
                <a:solidFill>
                  <a:srgbClr val="0070C0"/>
                </a:solidFill>
                <a:latin typeface="仿宋_GB2312" pitchFamily="49" charset="-122"/>
                <a:ea typeface="仿宋_GB2312" pitchFamily="49" charset="-122"/>
              </a:rPr>
              <a:t>,</a:t>
            </a:r>
            <a:r>
              <a:rPr lang="zh-CN" altLang="en-US" sz="2000" b="1">
                <a:solidFill>
                  <a:srgbClr val="0070C0"/>
                </a:solidFill>
                <a:latin typeface="仿宋_GB2312" pitchFamily="49" charset="-122"/>
                <a:ea typeface="仿宋_GB2312" pitchFamily="49" charset="-122"/>
              </a:rPr>
              <a:t>零件号</a:t>
            </a:r>
            <a:r>
              <a:rPr lang="en-US" altLang="zh-CN" sz="2000" b="1">
                <a:solidFill>
                  <a:srgbClr val="0070C0"/>
                </a:solidFill>
                <a:latin typeface="仿宋_GB2312" pitchFamily="49" charset="-122"/>
                <a:ea typeface="仿宋_GB2312" pitchFamily="49" charset="-122"/>
              </a:rPr>
              <a:t>,</a:t>
            </a:r>
            <a:r>
              <a:rPr lang="zh-CN" altLang="en-US" sz="2000" b="1">
                <a:solidFill>
                  <a:srgbClr val="0070C0"/>
                </a:solidFill>
                <a:latin typeface="仿宋_GB2312" pitchFamily="49" charset="-122"/>
                <a:ea typeface="仿宋_GB2312" pitchFamily="49" charset="-122"/>
              </a:rPr>
              <a:t>数量）</a:t>
            </a:r>
            <a:endParaRPr lang="en-US" altLang="zh-CN" sz="2000" b="1">
              <a:solidFill>
                <a:srgbClr val="0070C0"/>
              </a:solidFill>
              <a:latin typeface="仿宋_GB2312" pitchFamily="49" charset="-122"/>
              <a:ea typeface="仿宋_GB2312" pitchFamily="49" charset="-122"/>
            </a:endParaRPr>
          </a:p>
          <a:p>
            <a:pPr marL="0" lvl="1">
              <a:lnSpc>
                <a:spcPct val="105000"/>
              </a:lnSpc>
              <a:spcBef>
                <a:spcPct val="50000"/>
              </a:spcBef>
              <a:buClr>
                <a:srgbClr val="0000FF"/>
              </a:buClr>
            </a:pPr>
            <a:r>
              <a:rPr lang="zh-CN" altLang="en-US" sz="2000" b="1">
                <a:solidFill>
                  <a:srgbClr val="0070C0"/>
                </a:solidFill>
                <a:latin typeface="仿宋_GB2312" pitchFamily="49" charset="-122"/>
                <a:ea typeface="仿宋_GB2312" pitchFamily="49" charset="-122"/>
              </a:rPr>
              <a:t>存放（</a:t>
            </a:r>
            <a:r>
              <a:rPr lang="zh-CN" altLang="en-US" sz="2000" b="1" u="sng">
                <a:solidFill>
                  <a:srgbClr val="0070C0"/>
                </a:solidFill>
                <a:latin typeface="仿宋_GB2312" pitchFamily="49" charset="-122"/>
                <a:ea typeface="仿宋_GB2312" pitchFamily="49" charset="-122"/>
              </a:rPr>
              <a:t>零件号，仓库号</a:t>
            </a:r>
            <a:r>
              <a:rPr lang="zh-CN" altLang="en-US" sz="2000" b="1">
                <a:solidFill>
                  <a:srgbClr val="0070C0"/>
                </a:solidFill>
                <a:latin typeface="仿宋_GB2312" pitchFamily="49" charset="-122"/>
                <a:ea typeface="仿宋_GB2312" pitchFamily="49" charset="-122"/>
              </a:rPr>
              <a:t>，库存量）</a:t>
            </a:r>
            <a:endParaRPr lang="en-US" altLang="zh-CN" sz="2000" b="1">
              <a:solidFill>
                <a:srgbClr val="0070C0"/>
              </a:solidFill>
              <a:latin typeface="仿宋_GB2312" pitchFamily="49" charset="-122"/>
              <a:ea typeface="仿宋_GB2312" pitchFamily="49" charset="-122"/>
            </a:endParaRPr>
          </a:p>
          <a:p>
            <a:pPr marL="0" lvl="1">
              <a:lnSpc>
                <a:spcPct val="105000"/>
              </a:lnSpc>
              <a:spcBef>
                <a:spcPct val="50000"/>
              </a:spcBef>
              <a:buClr>
                <a:srgbClr val="0000FF"/>
              </a:buClr>
            </a:pPr>
            <a:r>
              <a:rPr lang="zh-CN" altLang="en-US" sz="2000" b="1">
                <a:solidFill>
                  <a:srgbClr val="0070C0"/>
                </a:solidFill>
                <a:latin typeface="仿宋_GB2312" pitchFamily="49" charset="-122"/>
                <a:ea typeface="仿宋_GB2312" pitchFamily="49" charset="-122"/>
              </a:rPr>
              <a:t>职工（</a:t>
            </a:r>
            <a:r>
              <a:rPr lang="zh-CN" altLang="en-US" sz="2000" b="1" u="sng">
                <a:solidFill>
                  <a:srgbClr val="0070C0"/>
                </a:solidFill>
                <a:latin typeface="仿宋_GB2312" pitchFamily="49" charset="-122"/>
                <a:ea typeface="仿宋_GB2312" pitchFamily="49" charset="-122"/>
              </a:rPr>
              <a:t>职工号，</a:t>
            </a:r>
            <a:r>
              <a:rPr lang="zh-CN" altLang="en-US" sz="2000" b="1">
                <a:solidFill>
                  <a:srgbClr val="0070C0"/>
                </a:solidFill>
                <a:latin typeface="仿宋_GB2312" pitchFamily="49" charset="-122"/>
                <a:ea typeface="仿宋_GB2312" pitchFamily="49" charset="-122"/>
              </a:rPr>
              <a:t>姓名，性别，职务，</a:t>
            </a:r>
            <a:r>
              <a:rPr lang="zh-CN" altLang="en-US" sz="2000" b="1">
                <a:solidFill>
                  <a:srgbClr val="FF0000"/>
                </a:solidFill>
                <a:latin typeface="仿宋_GB2312" pitchFamily="49" charset="-122"/>
                <a:ea typeface="仿宋_GB2312" pitchFamily="49" charset="-122"/>
              </a:rPr>
              <a:t>仓库号，领导</a:t>
            </a:r>
            <a:r>
              <a:rPr lang="zh-CN" altLang="en-US" sz="2000" b="1">
                <a:solidFill>
                  <a:srgbClr val="0070C0"/>
                </a:solidFill>
                <a:latin typeface="仿宋_GB2312" pitchFamily="49" charset="-122"/>
                <a:ea typeface="仿宋_GB2312" pitchFamily="49" charset="-122"/>
              </a:rPr>
              <a:t>）</a:t>
            </a:r>
            <a:endParaRPr lang="en-US" altLang="zh-CN" sz="2000" b="1">
              <a:solidFill>
                <a:srgbClr val="0070C0"/>
              </a:solidFill>
              <a:latin typeface="仿宋_GB2312" pitchFamily="49" charset="-122"/>
              <a:ea typeface="仿宋_GB2312" pitchFamily="49" charset="-122"/>
            </a:endParaRPr>
          </a:p>
        </p:txBody>
      </p:sp>
      <p:sp>
        <p:nvSpPr>
          <p:cNvPr id="7" name="TextBox 6">
            <a:extLst>
              <a:ext uri="{FF2B5EF4-FFF2-40B4-BE49-F238E27FC236}">
                <a16:creationId xmlns:a16="http://schemas.microsoft.com/office/drawing/2014/main" id="{77F7E502-9981-CAD6-8094-09DF9B392D2B}"/>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逻辑结构设计</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ECC1358A-9EA9-CD9D-9EB5-BE423BB6E20C}"/>
              </a:ext>
            </a:extLst>
          </p:cNvPr>
          <p:cNvSpPr/>
          <p:nvPr/>
        </p:nvSpPr>
        <p:spPr>
          <a:xfrm>
            <a:off x="276225" y="1052513"/>
            <a:ext cx="10728325" cy="544512"/>
          </a:xfrm>
          <a:prstGeom prst="rect">
            <a:avLst/>
          </a:prstGeom>
        </p:spPr>
        <p:txBody>
          <a:bodyPr>
            <a:spAutoFit/>
          </a:bodyPr>
          <a:lstStyle/>
          <a:p>
            <a:pPr lvl="1" algn="just">
              <a:lnSpc>
                <a:spcPct val="105000"/>
              </a:lnSpc>
              <a:spcAft>
                <a:spcPct val="35000"/>
              </a:spcAft>
              <a:buClr>
                <a:srgbClr val="0000FF"/>
              </a:buClr>
              <a:buFont typeface="Arial" charset="0"/>
              <a:buNone/>
              <a:defRPr/>
            </a:pP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a:t>
            </a:r>
            <a:r>
              <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rPr>
              <a:t>3</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）合并关系模式</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a:t>
            </a:r>
          </a:p>
        </p:txBody>
      </p:sp>
      <p:sp>
        <p:nvSpPr>
          <p:cNvPr id="7" name="Rectangle 2">
            <a:extLst>
              <a:ext uri="{FF2B5EF4-FFF2-40B4-BE49-F238E27FC236}">
                <a16:creationId xmlns:a16="http://schemas.microsoft.com/office/drawing/2014/main" id="{992E6ADF-6BAA-C0D8-A273-C7D42D43CC57}"/>
              </a:ext>
            </a:extLst>
          </p:cNvPr>
          <p:cNvSpPr>
            <a:spLocks noChangeArrowheads="1"/>
          </p:cNvSpPr>
          <p:nvPr/>
        </p:nvSpPr>
        <p:spPr bwMode="blackWhite">
          <a:xfrm>
            <a:off x="914400" y="1844675"/>
            <a:ext cx="9217025" cy="4510088"/>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marL="342900" indent="-342900">
              <a:defRPr>
                <a:solidFill>
                  <a:schemeClr val="tx1"/>
                </a:solidFill>
                <a:latin typeface="Arial" charset="0"/>
                <a:ea typeface="宋体" pitchFamily="2" charset="-122"/>
              </a:defRPr>
            </a:lvl1pPr>
            <a:lvl2pPr>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lvl="1">
              <a:lnSpc>
                <a:spcPct val="105000"/>
              </a:lnSpc>
              <a:spcBef>
                <a:spcPct val="50000"/>
              </a:spcBef>
              <a:buClr>
                <a:srgbClr val="0000FF"/>
              </a:buClr>
              <a:buFont typeface="Arial" charset="0"/>
              <a:buNone/>
              <a:defRPr/>
            </a:pPr>
            <a:r>
              <a:rPr lang="zh-CN" altLang="en-US" sz="2400" b="1" dirty="0">
                <a:solidFill>
                  <a:srgbClr val="0070C0"/>
                </a:solidFill>
                <a:latin typeface="仿宋_GB2312" pitchFamily="49" charset="-122"/>
                <a:ea typeface="仿宋_GB2312" pitchFamily="49" charset="-122"/>
              </a:rPr>
              <a:t>供应商（</a:t>
            </a:r>
            <a:r>
              <a:rPr lang="zh-CN" altLang="en-US" sz="2400" b="1" u="sng" dirty="0">
                <a:solidFill>
                  <a:srgbClr val="0070C0"/>
                </a:solidFill>
                <a:latin typeface="仿宋_GB2312" pitchFamily="49" charset="-122"/>
                <a:ea typeface="仿宋_GB2312" pitchFamily="49" charset="-122"/>
              </a:rPr>
              <a:t>供应商号</a:t>
            </a:r>
            <a:r>
              <a:rPr lang="zh-CN" altLang="en-US" sz="2400" b="1" dirty="0">
                <a:solidFill>
                  <a:srgbClr val="0070C0"/>
                </a:solidFill>
                <a:latin typeface="仿宋_GB2312" pitchFamily="49" charset="-122"/>
                <a:ea typeface="仿宋_GB2312" pitchFamily="49" charset="-122"/>
              </a:rPr>
              <a:t>，姓名，帐号，地址，电话）</a:t>
            </a:r>
            <a:endParaRPr lang="en-US" altLang="zh-CN" sz="2400" b="1" dirty="0">
              <a:solidFill>
                <a:srgbClr val="0070C0"/>
              </a:solidFill>
              <a:latin typeface="仿宋_GB2312" pitchFamily="49" charset="-122"/>
              <a:ea typeface="仿宋_GB2312" pitchFamily="49" charset="-122"/>
            </a:endParaRPr>
          </a:p>
          <a:p>
            <a:pPr lvl="1">
              <a:lnSpc>
                <a:spcPct val="105000"/>
              </a:lnSpc>
              <a:spcBef>
                <a:spcPct val="50000"/>
              </a:spcBef>
              <a:buClr>
                <a:srgbClr val="0000FF"/>
              </a:buClr>
              <a:buFont typeface="Arial" charset="0"/>
              <a:buNone/>
              <a:defRPr/>
            </a:pPr>
            <a:r>
              <a:rPr lang="zh-CN" altLang="en-US" sz="2400" b="1" dirty="0">
                <a:solidFill>
                  <a:srgbClr val="0070C0"/>
                </a:solidFill>
                <a:latin typeface="仿宋_GB2312" pitchFamily="49" charset="-122"/>
                <a:ea typeface="仿宋_GB2312" pitchFamily="49" charset="-122"/>
              </a:rPr>
              <a:t>项目（</a:t>
            </a:r>
            <a:r>
              <a:rPr lang="zh-CN" altLang="en-US" sz="2400" b="1" u="sng" dirty="0">
                <a:solidFill>
                  <a:srgbClr val="0070C0"/>
                </a:solidFill>
                <a:latin typeface="仿宋_GB2312" pitchFamily="49" charset="-122"/>
                <a:ea typeface="仿宋_GB2312" pitchFamily="49" charset="-122"/>
              </a:rPr>
              <a:t>项目号</a:t>
            </a:r>
            <a:r>
              <a:rPr lang="zh-CN" altLang="en-US" sz="2400" b="1" dirty="0">
                <a:solidFill>
                  <a:srgbClr val="0070C0"/>
                </a:solidFill>
                <a:latin typeface="仿宋_GB2312" pitchFamily="49" charset="-122"/>
                <a:ea typeface="仿宋_GB2312" pitchFamily="49" charset="-122"/>
              </a:rPr>
              <a:t>，预算，开工日期）</a:t>
            </a:r>
            <a:endParaRPr lang="en-US" altLang="zh-CN" sz="2400" b="1" dirty="0">
              <a:solidFill>
                <a:srgbClr val="0070C0"/>
              </a:solidFill>
              <a:latin typeface="仿宋_GB2312" pitchFamily="49" charset="-122"/>
              <a:ea typeface="仿宋_GB2312" pitchFamily="49" charset="-122"/>
            </a:endParaRPr>
          </a:p>
          <a:p>
            <a:pPr lvl="1">
              <a:lnSpc>
                <a:spcPct val="105000"/>
              </a:lnSpc>
              <a:spcBef>
                <a:spcPct val="50000"/>
              </a:spcBef>
              <a:buClr>
                <a:srgbClr val="0000FF"/>
              </a:buClr>
              <a:buFont typeface="Arial" charset="0"/>
              <a:buNone/>
              <a:defRPr/>
            </a:pPr>
            <a:r>
              <a:rPr lang="zh-CN" altLang="en-US" sz="2400" b="1" dirty="0">
                <a:solidFill>
                  <a:srgbClr val="0070C0"/>
                </a:solidFill>
                <a:latin typeface="仿宋_GB2312" pitchFamily="49" charset="-122"/>
                <a:ea typeface="仿宋_GB2312" pitchFamily="49" charset="-122"/>
              </a:rPr>
              <a:t>零件（</a:t>
            </a:r>
            <a:r>
              <a:rPr lang="zh-CN" altLang="en-US" sz="2400" b="1" u="sng" dirty="0">
                <a:solidFill>
                  <a:srgbClr val="0070C0"/>
                </a:solidFill>
                <a:latin typeface="仿宋_GB2312" pitchFamily="49" charset="-122"/>
                <a:ea typeface="仿宋_GB2312" pitchFamily="49" charset="-122"/>
              </a:rPr>
              <a:t>零件号</a:t>
            </a:r>
            <a:r>
              <a:rPr lang="zh-CN" altLang="en-US" sz="2400" b="1" dirty="0">
                <a:solidFill>
                  <a:srgbClr val="0070C0"/>
                </a:solidFill>
                <a:latin typeface="仿宋_GB2312" pitchFamily="49" charset="-122"/>
                <a:ea typeface="仿宋_GB2312" pitchFamily="49" charset="-122"/>
              </a:rPr>
              <a:t>，名称，规格，单价，描述）</a:t>
            </a:r>
            <a:endParaRPr lang="en-US" altLang="zh-CN" sz="2400" b="1" dirty="0">
              <a:solidFill>
                <a:srgbClr val="0070C0"/>
              </a:solidFill>
              <a:latin typeface="仿宋_GB2312" pitchFamily="49" charset="-122"/>
              <a:ea typeface="仿宋_GB2312" pitchFamily="49" charset="-122"/>
            </a:endParaRPr>
          </a:p>
          <a:p>
            <a:pPr lvl="1">
              <a:lnSpc>
                <a:spcPct val="105000"/>
              </a:lnSpc>
              <a:spcBef>
                <a:spcPct val="50000"/>
              </a:spcBef>
              <a:buClr>
                <a:srgbClr val="0000FF"/>
              </a:buClr>
              <a:buFont typeface="Arial" charset="0"/>
              <a:buNone/>
              <a:defRPr/>
            </a:pPr>
            <a:r>
              <a:rPr lang="zh-CN" altLang="en-US" sz="2400" b="1" dirty="0">
                <a:solidFill>
                  <a:srgbClr val="0070C0"/>
                </a:solidFill>
                <a:latin typeface="仿宋_GB2312" pitchFamily="49" charset="-122"/>
                <a:ea typeface="仿宋_GB2312" pitchFamily="49" charset="-122"/>
              </a:rPr>
              <a:t>仓库（</a:t>
            </a:r>
            <a:r>
              <a:rPr lang="zh-CN" altLang="en-US" sz="2400" b="1" u="sng" dirty="0">
                <a:solidFill>
                  <a:srgbClr val="0070C0"/>
                </a:solidFill>
                <a:latin typeface="仿宋_GB2312" pitchFamily="49" charset="-122"/>
                <a:ea typeface="仿宋_GB2312" pitchFamily="49" charset="-122"/>
              </a:rPr>
              <a:t>仓库号</a:t>
            </a:r>
            <a:r>
              <a:rPr lang="zh-CN" altLang="en-US" sz="2400" b="1" dirty="0">
                <a:solidFill>
                  <a:srgbClr val="0070C0"/>
                </a:solidFill>
                <a:latin typeface="仿宋_GB2312" pitchFamily="49" charset="-122"/>
                <a:ea typeface="仿宋_GB2312" pitchFamily="49" charset="-122"/>
              </a:rPr>
              <a:t>，仓库类型，仓库面积）</a:t>
            </a:r>
            <a:endParaRPr lang="en-US" altLang="zh-CN" sz="2400" b="1" dirty="0">
              <a:solidFill>
                <a:srgbClr val="0070C0"/>
              </a:solidFill>
              <a:latin typeface="仿宋_GB2312" pitchFamily="49" charset="-122"/>
              <a:ea typeface="仿宋_GB2312" pitchFamily="49" charset="-122"/>
            </a:endParaRPr>
          </a:p>
          <a:p>
            <a:pPr marL="468000" lvl="1">
              <a:lnSpc>
                <a:spcPct val="105000"/>
              </a:lnSpc>
              <a:spcBef>
                <a:spcPct val="50000"/>
              </a:spcBef>
              <a:buClr>
                <a:srgbClr val="0000FF"/>
              </a:buClr>
              <a:buFont typeface="Arial" charset="0"/>
              <a:buNone/>
              <a:defRPr/>
            </a:pPr>
            <a:r>
              <a:rPr lang="zh-CN" altLang="en-US" sz="2400" b="1" dirty="0">
                <a:solidFill>
                  <a:srgbClr val="0070C0"/>
                </a:solidFill>
                <a:latin typeface="仿宋_GB2312" pitchFamily="49" charset="-122"/>
                <a:ea typeface="仿宋_GB2312" pitchFamily="49" charset="-122"/>
              </a:rPr>
              <a:t>供应（</a:t>
            </a:r>
            <a:r>
              <a:rPr lang="en-US" altLang="zh-CN" sz="2400" b="1" u="sng" dirty="0">
                <a:solidFill>
                  <a:srgbClr val="0070C0"/>
                </a:solidFill>
                <a:latin typeface="仿宋_GB2312" pitchFamily="49" charset="-122"/>
                <a:ea typeface="仿宋_GB2312" pitchFamily="49" charset="-122"/>
              </a:rPr>
              <a:t>id</a:t>
            </a:r>
            <a:r>
              <a:rPr lang="en-US" altLang="zh-CN" sz="2400" b="1" dirty="0">
                <a:solidFill>
                  <a:srgbClr val="0070C0"/>
                </a:solidFill>
                <a:latin typeface="仿宋_GB2312" pitchFamily="49" charset="-122"/>
                <a:ea typeface="仿宋_GB2312" pitchFamily="49" charset="-122"/>
              </a:rPr>
              <a:t>,</a:t>
            </a:r>
            <a:r>
              <a:rPr lang="zh-CN" altLang="en-US" sz="2400" b="1" dirty="0">
                <a:solidFill>
                  <a:srgbClr val="0070C0"/>
                </a:solidFill>
                <a:latin typeface="仿宋_GB2312" pitchFamily="49" charset="-122"/>
                <a:ea typeface="仿宋_GB2312" pitchFamily="49" charset="-122"/>
              </a:rPr>
              <a:t>供应商号</a:t>
            </a:r>
            <a:r>
              <a:rPr lang="en-US" altLang="zh-CN" sz="2400" b="1" dirty="0">
                <a:solidFill>
                  <a:srgbClr val="0070C0"/>
                </a:solidFill>
                <a:latin typeface="仿宋_GB2312" pitchFamily="49" charset="-122"/>
                <a:ea typeface="仿宋_GB2312" pitchFamily="49" charset="-122"/>
              </a:rPr>
              <a:t>,</a:t>
            </a:r>
            <a:r>
              <a:rPr lang="zh-CN" altLang="en-US" sz="2400" b="1" dirty="0">
                <a:solidFill>
                  <a:srgbClr val="0070C0"/>
                </a:solidFill>
                <a:latin typeface="仿宋_GB2312" pitchFamily="49" charset="-122"/>
                <a:ea typeface="仿宋_GB2312" pitchFamily="49" charset="-122"/>
              </a:rPr>
              <a:t>项目号</a:t>
            </a:r>
            <a:r>
              <a:rPr lang="en-US" altLang="zh-CN" sz="2400" b="1" dirty="0">
                <a:solidFill>
                  <a:srgbClr val="0070C0"/>
                </a:solidFill>
                <a:latin typeface="仿宋_GB2312" pitchFamily="49" charset="-122"/>
                <a:ea typeface="仿宋_GB2312" pitchFamily="49" charset="-122"/>
              </a:rPr>
              <a:t>,</a:t>
            </a:r>
            <a:r>
              <a:rPr lang="zh-CN" altLang="en-US" sz="2400" b="1" dirty="0">
                <a:solidFill>
                  <a:srgbClr val="0070C0"/>
                </a:solidFill>
                <a:latin typeface="仿宋_GB2312" pitchFamily="49" charset="-122"/>
                <a:ea typeface="仿宋_GB2312" pitchFamily="49" charset="-122"/>
              </a:rPr>
              <a:t>零件号</a:t>
            </a:r>
            <a:r>
              <a:rPr lang="en-US" altLang="zh-CN" sz="2400" b="1" dirty="0">
                <a:solidFill>
                  <a:srgbClr val="0070C0"/>
                </a:solidFill>
                <a:latin typeface="仿宋_GB2312" pitchFamily="49" charset="-122"/>
                <a:ea typeface="仿宋_GB2312" pitchFamily="49" charset="-122"/>
              </a:rPr>
              <a:t>,</a:t>
            </a:r>
            <a:r>
              <a:rPr lang="zh-CN" altLang="en-US" sz="2400" b="1" dirty="0">
                <a:solidFill>
                  <a:srgbClr val="0070C0"/>
                </a:solidFill>
                <a:latin typeface="仿宋_GB2312" pitchFamily="49" charset="-122"/>
                <a:ea typeface="仿宋_GB2312" pitchFamily="49" charset="-122"/>
              </a:rPr>
              <a:t>数量）</a:t>
            </a:r>
            <a:endParaRPr lang="en-US" altLang="zh-CN" sz="2400" b="1" dirty="0">
              <a:solidFill>
                <a:srgbClr val="0070C0"/>
              </a:solidFill>
              <a:latin typeface="仿宋_GB2312" pitchFamily="49" charset="-122"/>
              <a:ea typeface="仿宋_GB2312" pitchFamily="49" charset="-122"/>
            </a:endParaRPr>
          </a:p>
          <a:p>
            <a:pPr marL="468000" lvl="1">
              <a:lnSpc>
                <a:spcPct val="105000"/>
              </a:lnSpc>
              <a:spcBef>
                <a:spcPct val="50000"/>
              </a:spcBef>
              <a:buClr>
                <a:srgbClr val="0000FF"/>
              </a:buClr>
              <a:buFont typeface="Arial" charset="0"/>
              <a:buNone/>
              <a:defRPr/>
            </a:pPr>
            <a:r>
              <a:rPr lang="zh-CN" altLang="en-US" sz="2400" b="1" dirty="0">
                <a:solidFill>
                  <a:srgbClr val="0070C0"/>
                </a:solidFill>
                <a:latin typeface="仿宋_GB2312" pitchFamily="49" charset="-122"/>
                <a:ea typeface="仿宋_GB2312" pitchFamily="49" charset="-122"/>
              </a:rPr>
              <a:t>存放（</a:t>
            </a:r>
            <a:r>
              <a:rPr lang="zh-CN" altLang="en-US" sz="2400" b="1" u="sng" dirty="0">
                <a:solidFill>
                  <a:srgbClr val="0070C0"/>
                </a:solidFill>
                <a:latin typeface="仿宋_GB2312" pitchFamily="49" charset="-122"/>
                <a:ea typeface="仿宋_GB2312" pitchFamily="49" charset="-122"/>
              </a:rPr>
              <a:t>零件号，仓库号</a:t>
            </a:r>
            <a:r>
              <a:rPr lang="zh-CN" altLang="en-US" sz="2400" b="1" dirty="0">
                <a:solidFill>
                  <a:srgbClr val="0070C0"/>
                </a:solidFill>
                <a:latin typeface="仿宋_GB2312" pitchFamily="49" charset="-122"/>
                <a:ea typeface="仿宋_GB2312" pitchFamily="49" charset="-122"/>
              </a:rPr>
              <a:t>，库存量）</a:t>
            </a:r>
            <a:endParaRPr lang="en-US" altLang="zh-CN" sz="2400" b="1" dirty="0">
              <a:solidFill>
                <a:srgbClr val="0070C0"/>
              </a:solidFill>
              <a:latin typeface="仿宋_GB2312" pitchFamily="49" charset="-122"/>
              <a:ea typeface="仿宋_GB2312" pitchFamily="49" charset="-122"/>
            </a:endParaRPr>
          </a:p>
          <a:p>
            <a:pPr marL="468000" lvl="1">
              <a:lnSpc>
                <a:spcPct val="105000"/>
              </a:lnSpc>
              <a:spcBef>
                <a:spcPct val="50000"/>
              </a:spcBef>
              <a:buClr>
                <a:srgbClr val="0000FF"/>
              </a:buClr>
              <a:buFont typeface="Arial" charset="0"/>
              <a:buNone/>
              <a:defRPr/>
            </a:pPr>
            <a:r>
              <a:rPr lang="zh-CN" altLang="en-US" sz="2400" b="1" dirty="0">
                <a:solidFill>
                  <a:srgbClr val="0070C0"/>
                </a:solidFill>
                <a:latin typeface="仿宋_GB2312" pitchFamily="49" charset="-122"/>
                <a:ea typeface="仿宋_GB2312" pitchFamily="49" charset="-122"/>
              </a:rPr>
              <a:t>职工（</a:t>
            </a:r>
            <a:r>
              <a:rPr lang="zh-CN" altLang="en-US" sz="2400" b="1" u="sng" dirty="0">
                <a:solidFill>
                  <a:srgbClr val="0070C0"/>
                </a:solidFill>
                <a:latin typeface="仿宋_GB2312" pitchFamily="49" charset="-122"/>
                <a:ea typeface="仿宋_GB2312" pitchFamily="49" charset="-122"/>
              </a:rPr>
              <a:t>职工号，</a:t>
            </a:r>
            <a:r>
              <a:rPr lang="zh-CN" altLang="en-US" sz="2400" b="1" dirty="0">
                <a:solidFill>
                  <a:srgbClr val="0070C0"/>
                </a:solidFill>
                <a:latin typeface="仿宋_GB2312" pitchFamily="49" charset="-122"/>
                <a:ea typeface="仿宋_GB2312" pitchFamily="49" charset="-122"/>
              </a:rPr>
              <a:t>姓名，性别，职务，</a:t>
            </a:r>
            <a:r>
              <a:rPr lang="zh-CN" altLang="en-US" sz="2400" b="1" dirty="0">
                <a:solidFill>
                  <a:srgbClr val="FF0000"/>
                </a:solidFill>
                <a:latin typeface="仿宋_GB2312" pitchFamily="49" charset="-122"/>
                <a:ea typeface="仿宋_GB2312" pitchFamily="49" charset="-122"/>
              </a:rPr>
              <a:t>仓库号，领导</a:t>
            </a:r>
            <a:r>
              <a:rPr lang="zh-CN" altLang="en-US" sz="2400" b="1" dirty="0">
                <a:solidFill>
                  <a:srgbClr val="0070C0"/>
                </a:solidFill>
                <a:latin typeface="仿宋_GB2312" pitchFamily="49" charset="-122"/>
                <a:ea typeface="仿宋_GB2312" pitchFamily="49" charset="-122"/>
              </a:rPr>
              <a:t>）</a:t>
            </a:r>
            <a:endParaRPr lang="en-US" altLang="zh-CN" sz="2400" b="1" dirty="0">
              <a:solidFill>
                <a:srgbClr val="0070C0"/>
              </a:solidFill>
              <a:latin typeface="仿宋_GB2312" pitchFamily="49" charset="-122"/>
              <a:ea typeface="仿宋_GB2312" pitchFamily="49" charset="-122"/>
            </a:endParaRPr>
          </a:p>
        </p:txBody>
      </p:sp>
      <p:sp>
        <p:nvSpPr>
          <p:cNvPr id="13" name="TextBox 6">
            <a:extLst>
              <a:ext uri="{FF2B5EF4-FFF2-40B4-BE49-F238E27FC236}">
                <a16:creationId xmlns:a16="http://schemas.microsoft.com/office/drawing/2014/main" id="{D10ECB96-8B6D-B4EF-C538-4B906BCEE205}"/>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逻辑结构设计</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5F50EC4-63F5-5605-341C-0C22C534D65E}"/>
              </a:ext>
            </a:extLst>
          </p:cNvPr>
          <p:cNvSpPr/>
          <p:nvPr/>
        </p:nvSpPr>
        <p:spPr>
          <a:xfrm>
            <a:off x="276225" y="1052513"/>
            <a:ext cx="10728325" cy="549275"/>
          </a:xfrm>
          <a:prstGeom prst="rect">
            <a:avLst/>
          </a:prstGeom>
        </p:spPr>
        <p:txBody>
          <a:bodyPr>
            <a:spAutoFit/>
          </a:bodyPr>
          <a:lstStyle/>
          <a:p>
            <a:pPr lvl="1" algn="just">
              <a:lnSpc>
                <a:spcPct val="105000"/>
              </a:lnSpc>
              <a:spcAft>
                <a:spcPct val="35000"/>
              </a:spcAft>
              <a:buClr>
                <a:srgbClr val="0000FF"/>
              </a:buClr>
              <a:buFont typeface="Arial" charset="0"/>
              <a:buNone/>
              <a:defRPr/>
            </a:pP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a:t>
            </a:r>
            <a:r>
              <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rPr>
              <a:t>4</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）标出外键    </a:t>
            </a:r>
          </a:p>
        </p:txBody>
      </p:sp>
      <p:sp>
        <p:nvSpPr>
          <p:cNvPr id="7" name="Rectangle 2">
            <a:extLst>
              <a:ext uri="{FF2B5EF4-FFF2-40B4-BE49-F238E27FC236}">
                <a16:creationId xmlns:a16="http://schemas.microsoft.com/office/drawing/2014/main" id="{1A7ECB9A-91AE-119A-9E06-3C4B6A649B59}"/>
              </a:ext>
            </a:extLst>
          </p:cNvPr>
          <p:cNvSpPr>
            <a:spLocks noChangeArrowheads="1"/>
          </p:cNvSpPr>
          <p:nvPr/>
        </p:nvSpPr>
        <p:spPr bwMode="blackWhite">
          <a:xfrm>
            <a:off x="987425" y="1663700"/>
            <a:ext cx="10512425" cy="4724400"/>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lvl="1">
              <a:lnSpc>
                <a:spcPct val="105000"/>
              </a:lnSpc>
              <a:spcBef>
                <a:spcPct val="50000"/>
              </a:spcBef>
              <a:buClr>
                <a:srgbClr val="0000FF"/>
              </a:buClr>
              <a:buFont typeface="Arial" charset="0"/>
              <a:buNone/>
              <a:defRPr/>
            </a:pPr>
            <a:r>
              <a:rPr lang="zh-CN" altLang="en-US" sz="2400" b="1" dirty="0">
                <a:solidFill>
                  <a:srgbClr val="0070C0"/>
                </a:solidFill>
                <a:latin typeface="仿宋_GB2312" pitchFamily="49" charset="-122"/>
                <a:ea typeface="仿宋_GB2312" pitchFamily="49" charset="-122"/>
              </a:rPr>
              <a:t>供应商（</a:t>
            </a:r>
            <a:r>
              <a:rPr lang="zh-CN" altLang="en-US" sz="2400" b="1" u="sng" dirty="0">
                <a:solidFill>
                  <a:srgbClr val="0070C0"/>
                </a:solidFill>
                <a:latin typeface="仿宋_GB2312" pitchFamily="49" charset="-122"/>
                <a:ea typeface="仿宋_GB2312" pitchFamily="49" charset="-122"/>
              </a:rPr>
              <a:t>供应商号</a:t>
            </a:r>
            <a:r>
              <a:rPr lang="zh-CN" altLang="en-US" sz="2400" b="1" dirty="0">
                <a:solidFill>
                  <a:srgbClr val="0070C0"/>
                </a:solidFill>
                <a:latin typeface="仿宋_GB2312" pitchFamily="49" charset="-122"/>
                <a:ea typeface="仿宋_GB2312" pitchFamily="49" charset="-122"/>
              </a:rPr>
              <a:t>，姓名，帐号，地址，电话）</a:t>
            </a:r>
            <a:endParaRPr lang="en-US" altLang="zh-CN" sz="2400" b="1" dirty="0">
              <a:solidFill>
                <a:srgbClr val="0070C0"/>
              </a:solidFill>
              <a:latin typeface="仿宋_GB2312" pitchFamily="49" charset="-122"/>
              <a:ea typeface="仿宋_GB2312" pitchFamily="49" charset="-122"/>
            </a:endParaRPr>
          </a:p>
          <a:p>
            <a:pPr lvl="1">
              <a:lnSpc>
                <a:spcPct val="105000"/>
              </a:lnSpc>
              <a:spcBef>
                <a:spcPct val="50000"/>
              </a:spcBef>
              <a:buClr>
                <a:srgbClr val="0000FF"/>
              </a:buClr>
              <a:buFont typeface="Arial" charset="0"/>
              <a:buNone/>
              <a:defRPr/>
            </a:pPr>
            <a:r>
              <a:rPr lang="zh-CN" altLang="en-US" sz="2400" b="1" dirty="0">
                <a:solidFill>
                  <a:srgbClr val="0070C0"/>
                </a:solidFill>
                <a:latin typeface="仿宋_GB2312" pitchFamily="49" charset="-122"/>
                <a:ea typeface="仿宋_GB2312" pitchFamily="49" charset="-122"/>
              </a:rPr>
              <a:t>项目（</a:t>
            </a:r>
            <a:r>
              <a:rPr lang="zh-CN" altLang="en-US" sz="2400" b="1" u="sng" dirty="0">
                <a:solidFill>
                  <a:srgbClr val="0070C0"/>
                </a:solidFill>
                <a:latin typeface="仿宋_GB2312" pitchFamily="49" charset="-122"/>
                <a:ea typeface="仿宋_GB2312" pitchFamily="49" charset="-122"/>
              </a:rPr>
              <a:t>项目号</a:t>
            </a:r>
            <a:r>
              <a:rPr lang="zh-CN" altLang="en-US" sz="2400" b="1" dirty="0">
                <a:solidFill>
                  <a:srgbClr val="0070C0"/>
                </a:solidFill>
                <a:latin typeface="仿宋_GB2312" pitchFamily="49" charset="-122"/>
                <a:ea typeface="仿宋_GB2312" pitchFamily="49" charset="-122"/>
              </a:rPr>
              <a:t>，预算，开工日期）</a:t>
            </a:r>
            <a:endParaRPr lang="en-US" altLang="zh-CN" sz="2400" b="1" dirty="0">
              <a:solidFill>
                <a:srgbClr val="0070C0"/>
              </a:solidFill>
              <a:latin typeface="仿宋_GB2312" pitchFamily="49" charset="-122"/>
              <a:ea typeface="仿宋_GB2312" pitchFamily="49" charset="-122"/>
            </a:endParaRPr>
          </a:p>
          <a:p>
            <a:pPr lvl="1">
              <a:lnSpc>
                <a:spcPct val="105000"/>
              </a:lnSpc>
              <a:spcBef>
                <a:spcPct val="50000"/>
              </a:spcBef>
              <a:buClr>
                <a:srgbClr val="0000FF"/>
              </a:buClr>
              <a:buFont typeface="Arial" charset="0"/>
              <a:buNone/>
              <a:defRPr/>
            </a:pPr>
            <a:r>
              <a:rPr lang="zh-CN" altLang="en-US" sz="2400" b="1" dirty="0">
                <a:solidFill>
                  <a:srgbClr val="0070C0"/>
                </a:solidFill>
                <a:latin typeface="仿宋_GB2312" pitchFamily="49" charset="-122"/>
                <a:ea typeface="仿宋_GB2312" pitchFamily="49" charset="-122"/>
              </a:rPr>
              <a:t>零件（</a:t>
            </a:r>
            <a:r>
              <a:rPr lang="zh-CN" altLang="en-US" sz="2400" b="1" u="sng" dirty="0">
                <a:solidFill>
                  <a:srgbClr val="0070C0"/>
                </a:solidFill>
                <a:latin typeface="仿宋_GB2312" pitchFamily="49" charset="-122"/>
                <a:ea typeface="仿宋_GB2312" pitchFamily="49" charset="-122"/>
              </a:rPr>
              <a:t>零件号</a:t>
            </a:r>
            <a:r>
              <a:rPr lang="zh-CN" altLang="en-US" sz="2400" b="1" dirty="0">
                <a:solidFill>
                  <a:srgbClr val="0070C0"/>
                </a:solidFill>
                <a:latin typeface="仿宋_GB2312" pitchFamily="49" charset="-122"/>
                <a:ea typeface="仿宋_GB2312" pitchFamily="49" charset="-122"/>
              </a:rPr>
              <a:t>，名称，规格，单价，描述）</a:t>
            </a:r>
            <a:endParaRPr lang="en-US" altLang="zh-CN" sz="2400" b="1" dirty="0">
              <a:solidFill>
                <a:srgbClr val="0070C0"/>
              </a:solidFill>
              <a:latin typeface="仿宋_GB2312" pitchFamily="49" charset="-122"/>
              <a:ea typeface="仿宋_GB2312" pitchFamily="49" charset="-122"/>
            </a:endParaRPr>
          </a:p>
          <a:p>
            <a:pPr lvl="1">
              <a:lnSpc>
                <a:spcPct val="105000"/>
              </a:lnSpc>
              <a:spcBef>
                <a:spcPct val="50000"/>
              </a:spcBef>
              <a:buClr>
                <a:srgbClr val="0000FF"/>
              </a:buClr>
              <a:buFont typeface="Arial" charset="0"/>
              <a:buNone/>
              <a:defRPr/>
            </a:pPr>
            <a:r>
              <a:rPr lang="zh-CN" altLang="en-US" sz="2400" b="1" dirty="0">
                <a:solidFill>
                  <a:srgbClr val="0070C0"/>
                </a:solidFill>
                <a:latin typeface="仿宋_GB2312" pitchFamily="49" charset="-122"/>
                <a:ea typeface="仿宋_GB2312" pitchFamily="49" charset="-122"/>
              </a:rPr>
              <a:t>职工（</a:t>
            </a:r>
            <a:r>
              <a:rPr lang="zh-CN" altLang="en-US" sz="2400" b="1" u="sng" dirty="0">
                <a:solidFill>
                  <a:srgbClr val="0070C0"/>
                </a:solidFill>
                <a:latin typeface="仿宋_GB2312" pitchFamily="49" charset="-122"/>
                <a:ea typeface="仿宋_GB2312" pitchFamily="49" charset="-122"/>
              </a:rPr>
              <a:t>职工号</a:t>
            </a:r>
            <a:r>
              <a:rPr lang="zh-CN" altLang="en-US" sz="2400" b="1" dirty="0">
                <a:solidFill>
                  <a:srgbClr val="0070C0"/>
                </a:solidFill>
                <a:latin typeface="仿宋_GB2312" pitchFamily="49" charset="-122"/>
                <a:ea typeface="仿宋_GB2312" pitchFamily="49" charset="-122"/>
              </a:rPr>
              <a:t>，姓名，性别，职务，出生年月</a:t>
            </a:r>
            <a:r>
              <a:rPr lang="en-US" altLang="zh-CN" sz="2400" b="1" dirty="0">
                <a:solidFill>
                  <a:srgbClr val="0070C0"/>
                </a:solidFill>
                <a:latin typeface="仿宋_GB2312" pitchFamily="49" charset="-122"/>
                <a:ea typeface="仿宋_GB2312" pitchFamily="49" charset="-122"/>
              </a:rPr>
              <a:t> ,</a:t>
            </a:r>
            <a:r>
              <a:rPr lang="zh-CN" altLang="en-US" sz="2400" b="1" u="dashLongHeavy" dirty="0">
                <a:solidFill>
                  <a:srgbClr val="C00000"/>
                </a:solidFill>
                <a:latin typeface="仿宋_GB2312" pitchFamily="49" charset="-122"/>
                <a:ea typeface="仿宋_GB2312" pitchFamily="49" charset="-122"/>
              </a:rPr>
              <a:t>仓库号</a:t>
            </a:r>
            <a:r>
              <a:rPr lang="zh-CN" altLang="en-US" sz="2400" b="1" dirty="0">
                <a:solidFill>
                  <a:srgbClr val="0070C0"/>
                </a:solidFill>
                <a:latin typeface="仿宋_GB2312" pitchFamily="49" charset="-122"/>
                <a:ea typeface="仿宋_GB2312" pitchFamily="49" charset="-122"/>
              </a:rPr>
              <a:t>，</a:t>
            </a:r>
            <a:r>
              <a:rPr lang="zh-CN" altLang="en-US" sz="2400" b="1" u="dashLongHeavy" dirty="0">
                <a:solidFill>
                  <a:srgbClr val="C00000"/>
                </a:solidFill>
                <a:latin typeface="仿宋_GB2312" pitchFamily="49" charset="-122"/>
                <a:ea typeface="仿宋_GB2312" pitchFamily="49" charset="-122"/>
              </a:rPr>
              <a:t>领导</a:t>
            </a:r>
            <a:r>
              <a:rPr lang="zh-CN" altLang="en-US" sz="2400" b="1" dirty="0">
                <a:solidFill>
                  <a:srgbClr val="0070C0"/>
                </a:solidFill>
                <a:latin typeface="仿宋_GB2312" pitchFamily="49" charset="-122"/>
                <a:ea typeface="仿宋_GB2312" pitchFamily="49" charset="-122"/>
              </a:rPr>
              <a:t>）</a:t>
            </a:r>
            <a:endParaRPr lang="en-US" altLang="zh-CN" sz="2400" b="1" dirty="0">
              <a:solidFill>
                <a:srgbClr val="0070C0"/>
              </a:solidFill>
              <a:latin typeface="仿宋_GB2312" pitchFamily="49" charset="-122"/>
              <a:ea typeface="仿宋_GB2312" pitchFamily="49" charset="-122"/>
            </a:endParaRPr>
          </a:p>
          <a:p>
            <a:pPr lvl="1">
              <a:lnSpc>
                <a:spcPct val="105000"/>
              </a:lnSpc>
              <a:spcBef>
                <a:spcPct val="50000"/>
              </a:spcBef>
              <a:buClr>
                <a:srgbClr val="0000FF"/>
              </a:buClr>
              <a:buFont typeface="Arial" charset="0"/>
              <a:buNone/>
              <a:defRPr/>
            </a:pPr>
            <a:r>
              <a:rPr lang="zh-CN" altLang="en-US" sz="2400" b="1" dirty="0">
                <a:solidFill>
                  <a:srgbClr val="0070C0"/>
                </a:solidFill>
                <a:latin typeface="仿宋_GB2312" pitchFamily="49" charset="-122"/>
                <a:ea typeface="仿宋_GB2312" pitchFamily="49" charset="-122"/>
              </a:rPr>
              <a:t>仓库（</a:t>
            </a:r>
            <a:r>
              <a:rPr lang="zh-CN" altLang="en-US" sz="2400" b="1" u="sng" dirty="0">
                <a:solidFill>
                  <a:srgbClr val="0070C0"/>
                </a:solidFill>
                <a:latin typeface="仿宋_GB2312" pitchFamily="49" charset="-122"/>
                <a:ea typeface="仿宋_GB2312" pitchFamily="49" charset="-122"/>
              </a:rPr>
              <a:t>仓库号</a:t>
            </a:r>
            <a:r>
              <a:rPr lang="zh-CN" altLang="en-US" sz="2400" b="1" dirty="0">
                <a:solidFill>
                  <a:srgbClr val="0070C0"/>
                </a:solidFill>
                <a:latin typeface="仿宋_GB2312" pitchFamily="49" charset="-122"/>
                <a:ea typeface="仿宋_GB2312" pitchFamily="49" charset="-122"/>
              </a:rPr>
              <a:t>，仓库类型，仓库面积）</a:t>
            </a:r>
            <a:endParaRPr lang="en-US" altLang="zh-CN" sz="2400" b="1" dirty="0">
              <a:solidFill>
                <a:srgbClr val="0070C0"/>
              </a:solidFill>
              <a:latin typeface="仿宋_GB2312" pitchFamily="49" charset="-122"/>
              <a:ea typeface="仿宋_GB2312" pitchFamily="49" charset="-122"/>
            </a:endParaRPr>
          </a:p>
          <a:p>
            <a:pPr lvl="1">
              <a:lnSpc>
                <a:spcPct val="105000"/>
              </a:lnSpc>
              <a:spcBef>
                <a:spcPct val="50000"/>
              </a:spcBef>
              <a:buClr>
                <a:srgbClr val="0000FF"/>
              </a:buClr>
              <a:buFont typeface="Arial" charset="0"/>
              <a:buNone/>
              <a:defRPr/>
            </a:pPr>
            <a:r>
              <a:rPr lang="zh-CN" altLang="en-US" sz="2400" b="1" dirty="0">
                <a:solidFill>
                  <a:srgbClr val="0070C0"/>
                </a:solidFill>
                <a:latin typeface="仿宋_GB2312" pitchFamily="49" charset="-122"/>
                <a:ea typeface="仿宋_GB2312" pitchFamily="49" charset="-122"/>
              </a:rPr>
              <a:t>供应（</a:t>
            </a:r>
            <a:r>
              <a:rPr lang="en-US" altLang="zh-CN" sz="2400" b="1" u="sng" dirty="0">
                <a:solidFill>
                  <a:srgbClr val="0070C0"/>
                </a:solidFill>
                <a:latin typeface="仿宋_GB2312" pitchFamily="49" charset="-122"/>
                <a:ea typeface="仿宋_GB2312" pitchFamily="49" charset="-122"/>
              </a:rPr>
              <a:t>id</a:t>
            </a:r>
            <a:r>
              <a:rPr lang="zh-CN" altLang="en-US" sz="2400" b="1" dirty="0">
                <a:solidFill>
                  <a:srgbClr val="0070C0"/>
                </a:solidFill>
                <a:latin typeface="仿宋_GB2312" pitchFamily="49" charset="-122"/>
                <a:ea typeface="仿宋_GB2312" pitchFamily="49" charset="-122"/>
              </a:rPr>
              <a:t>，</a:t>
            </a:r>
            <a:r>
              <a:rPr lang="zh-CN" altLang="en-US" sz="2400" b="1" u="dashLongHeavy" dirty="0">
                <a:solidFill>
                  <a:srgbClr val="C00000"/>
                </a:solidFill>
                <a:latin typeface="仿宋_GB2312" pitchFamily="49" charset="-122"/>
                <a:ea typeface="仿宋_GB2312" pitchFamily="49" charset="-122"/>
              </a:rPr>
              <a:t>供应商号</a:t>
            </a:r>
            <a:r>
              <a:rPr lang="zh-CN" altLang="en-US" sz="2400" b="1" dirty="0">
                <a:solidFill>
                  <a:srgbClr val="0070C0"/>
                </a:solidFill>
                <a:latin typeface="仿宋_GB2312" pitchFamily="49" charset="-122"/>
                <a:ea typeface="仿宋_GB2312" pitchFamily="49" charset="-122"/>
              </a:rPr>
              <a:t>，</a:t>
            </a:r>
            <a:r>
              <a:rPr lang="zh-CN" altLang="en-US" sz="2400" b="1" u="dashLongHeavy" dirty="0">
                <a:solidFill>
                  <a:srgbClr val="C00000"/>
                </a:solidFill>
                <a:latin typeface="仿宋_GB2312" pitchFamily="49" charset="-122"/>
                <a:ea typeface="仿宋_GB2312" pitchFamily="49" charset="-122"/>
              </a:rPr>
              <a:t>项目号</a:t>
            </a:r>
            <a:r>
              <a:rPr lang="zh-CN" altLang="en-US" sz="2400" b="1" dirty="0">
                <a:solidFill>
                  <a:srgbClr val="0070C0"/>
                </a:solidFill>
                <a:latin typeface="仿宋_GB2312" pitchFamily="49" charset="-122"/>
                <a:ea typeface="仿宋_GB2312" pitchFamily="49" charset="-122"/>
              </a:rPr>
              <a:t>，</a:t>
            </a:r>
            <a:r>
              <a:rPr lang="zh-CN" altLang="en-US" sz="2400" b="1" u="dashLongHeavy" dirty="0">
                <a:solidFill>
                  <a:srgbClr val="C00000"/>
                </a:solidFill>
                <a:latin typeface="仿宋_GB2312" pitchFamily="49" charset="-122"/>
                <a:ea typeface="仿宋_GB2312" pitchFamily="49" charset="-122"/>
              </a:rPr>
              <a:t>零件号</a:t>
            </a:r>
            <a:r>
              <a:rPr lang="zh-CN" altLang="en-US" sz="2400" b="1" dirty="0">
                <a:solidFill>
                  <a:srgbClr val="0070C0"/>
                </a:solidFill>
                <a:latin typeface="仿宋_GB2312" pitchFamily="49" charset="-122"/>
                <a:ea typeface="仿宋_GB2312" pitchFamily="49" charset="-122"/>
              </a:rPr>
              <a:t>，数量）           </a:t>
            </a:r>
            <a:endParaRPr lang="en-US" altLang="zh-CN" sz="2400" b="1" dirty="0">
              <a:solidFill>
                <a:srgbClr val="0070C0"/>
              </a:solidFill>
              <a:latin typeface="仿宋_GB2312" pitchFamily="49" charset="-122"/>
              <a:ea typeface="仿宋_GB2312" pitchFamily="49" charset="-122"/>
            </a:endParaRPr>
          </a:p>
          <a:p>
            <a:pPr lvl="1">
              <a:lnSpc>
                <a:spcPct val="105000"/>
              </a:lnSpc>
              <a:spcBef>
                <a:spcPct val="50000"/>
              </a:spcBef>
              <a:buClr>
                <a:srgbClr val="0000FF"/>
              </a:buClr>
              <a:buFont typeface="Arial" charset="0"/>
              <a:buNone/>
              <a:defRPr/>
            </a:pPr>
            <a:r>
              <a:rPr lang="zh-CN" altLang="en-US" sz="2400" b="1" dirty="0">
                <a:solidFill>
                  <a:srgbClr val="0070C0"/>
                </a:solidFill>
                <a:latin typeface="仿宋_GB2312" pitchFamily="49" charset="-122"/>
                <a:ea typeface="仿宋_GB2312" pitchFamily="49" charset="-122"/>
              </a:rPr>
              <a:t>存放（</a:t>
            </a:r>
            <a:r>
              <a:rPr lang="zh-CN" altLang="en-US" sz="2400" b="1" u="sng" dirty="0">
                <a:solidFill>
                  <a:srgbClr val="C00000"/>
                </a:solidFill>
                <a:latin typeface="仿宋_GB2312" pitchFamily="49" charset="-122"/>
                <a:ea typeface="仿宋_GB2312" pitchFamily="49" charset="-122"/>
              </a:rPr>
              <a:t>零件号</a:t>
            </a:r>
            <a:r>
              <a:rPr lang="zh-CN" altLang="en-US" sz="2400" b="1" u="sng" dirty="0">
                <a:solidFill>
                  <a:srgbClr val="0070C0"/>
                </a:solidFill>
                <a:latin typeface="仿宋_GB2312" pitchFamily="49" charset="-122"/>
                <a:ea typeface="仿宋_GB2312" pitchFamily="49" charset="-122"/>
              </a:rPr>
              <a:t>，</a:t>
            </a:r>
            <a:r>
              <a:rPr lang="zh-CN" altLang="en-US" sz="2400" b="1" u="sng" dirty="0">
                <a:solidFill>
                  <a:srgbClr val="C00000"/>
                </a:solidFill>
                <a:latin typeface="仿宋_GB2312" pitchFamily="49" charset="-122"/>
                <a:ea typeface="仿宋_GB2312" pitchFamily="49" charset="-122"/>
              </a:rPr>
              <a:t>仓库号</a:t>
            </a:r>
            <a:r>
              <a:rPr lang="zh-CN" altLang="en-US" sz="2400" b="1" dirty="0">
                <a:solidFill>
                  <a:srgbClr val="0070C0"/>
                </a:solidFill>
                <a:latin typeface="仿宋_GB2312" pitchFamily="49" charset="-122"/>
                <a:ea typeface="仿宋_GB2312" pitchFamily="49" charset="-122"/>
              </a:rPr>
              <a:t>，库存量）</a:t>
            </a:r>
            <a:endParaRPr lang="en-US" altLang="zh-CN" sz="2400" b="1" dirty="0">
              <a:solidFill>
                <a:srgbClr val="0070C0"/>
              </a:solidFill>
              <a:latin typeface="仿宋_GB2312" pitchFamily="49" charset="-122"/>
              <a:ea typeface="仿宋_GB2312" pitchFamily="49" charset="-122"/>
            </a:endParaRPr>
          </a:p>
          <a:p>
            <a:pPr lvl="1">
              <a:lnSpc>
                <a:spcPct val="105000"/>
              </a:lnSpc>
              <a:spcBef>
                <a:spcPct val="50000"/>
              </a:spcBef>
              <a:buClr>
                <a:srgbClr val="0000FF"/>
              </a:buClr>
              <a:buFont typeface="Arial" charset="0"/>
              <a:buNone/>
              <a:defRPr/>
            </a:pPr>
            <a:endParaRPr lang="en-US" altLang="zh-CN" sz="2400" b="1" dirty="0">
              <a:solidFill>
                <a:srgbClr val="0070C0"/>
              </a:solidFill>
              <a:latin typeface="仿宋_GB2312" pitchFamily="49" charset="-122"/>
              <a:ea typeface="仿宋_GB2312" pitchFamily="49" charset="-122"/>
            </a:endParaRPr>
          </a:p>
        </p:txBody>
      </p:sp>
      <p:sp>
        <p:nvSpPr>
          <p:cNvPr id="8" name="TextBox 6">
            <a:extLst>
              <a:ext uri="{FF2B5EF4-FFF2-40B4-BE49-F238E27FC236}">
                <a16:creationId xmlns:a16="http://schemas.microsoft.com/office/drawing/2014/main" id="{86B9A113-0A42-363B-5B9F-A52B8D86FCFF}"/>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逻辑结构设计</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2">
            <a:extLst>
              <a:ext uri="{FF2B5EF4-FFF2-40B4-BE49-F238E27FC236}">
                <a16:creationId xmlns:a16="http://schemas.microsoft.com/office/drawing/2014/main" id="{DCCE3B92-F7B3-0B71-E136-2FDBB0C0C43D}"/>
              </a:ext>
            </a:extLst>
          </p:cNvPr>
          <p:cNvSpPr txBox="1">
            <a:spLocks noChangeArrowheads="1"/>
          </p:cNvSpPr>
          <p:nvPr/>
        </p:nvSpPr>
        <p:spPr bwMode="auto">
          <a:xfrm>
            <a:off x="796925" y="1698625"/>
            <a:ext cx="11063288" cy="4137025"/>
          </a:xfrm>
          <a:prstGeom prst="rect">
            <a:avLst/>
          </a:prstGeom>
          <a:noFill/>
          <a:ln>
            <a:noFill/>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nSpc>
                <a:spcPct val="105000"/>
              </a:lnSpc>
              <a:spcBef>
                <a:spcPct val="30000"/>
              </a:spcBef>
              <a:buClr>
                <a:srgbClr val="0070C0"/>
              </a:buClr>
              <a:buFont typeface="Arial" charset="0"/>
              <a:buNone/>
              <a:defRPr/>
            </a:pP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业务主键：</a:t>
            </a:r>
            <a:r>
              <a:rPr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把具有业务逻辑含义的字段作为主键，如学号，课程号。</a:t>
            </a:r>
            <a:endParaRPr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a:lnSpc>
                <a:spcPct val="105000"/>
              </a:lnSpc>
              <a:spcBef>
                <a:spcPct val="30000"/>
              </a:spcBef>
              <a:buClr>
                <a:srgbClr val="0070C0"/>
              </a:buClr>
              <a:buFont typeface="Arial" charset="0"/>
              <a:buNone/>
              <a:defRPr/>
            </a:pP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逻辑主键：</a:t>
            </a:r>
            <a:r>
              <a:rPr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把一个与当前表中信息无关的字段作为其主键，如自增整型。</a:t>
            </a:r>
            <a:endParaRPr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a:lnSpc>
                <a:spcPct val="105000"/>
              </a:lnSpc>
              <a:spcBef>
                <a:spcPct val="30000"/>
              </a:spcBef>
              <a:buClr>
                <a:srgbClr val="0070C0"/>
              </a:buClr>
              <a:buFont typeface="Arial" charset="0"/>
              <a:buNone/>
              <a:defRPr/>
            </a:pP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1</a:t>
            </a: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）使用逻辑主键的主要原因有：</a:t>
            </a:r>
            <a:endParaRPr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endParaRPr>
          </a:p>
          <a:p>
            <a:pPr marL="342900" indent="-342900">
              <a:lnSpc>
                <a:spcPct val="105000"/>
              </a:lnSpc>
              <a:spcBef>
                <a:spcPct val="30000"/>
              </a:spcBef>
              <a:buClr>
                <a:srgbClr val="0070C0"/>
              </a:buClr>
              <a:buFont typeface="Wingdings" panose="05000000000000000000" pitchFamily="2" charset="2"/>
              <a:buChar char="u"/>
              <a:defRPr/>
            </a:pPr>
            <a:r>
              <a:rPr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业务主键一旦改变，则系统中关联该主键部分的修改将是不可避免的，最典型的例子就是身份证升位和驾驶执照号换用身份证号的业务变更。</a:t>
            </a:r>
          </a:p>
          <a:p>
            <a:pPr marL="342900" indent="-342900">
              <a:lnSpc>
                <a:spcPct val="105000"/>
              </a:lnSpc>
              <a:spcBef>
                <a:spcPct val="30000"/>
              </a:spcBef>
              <a:buClr>
                <a:srgbClr val="0070C0"/>
              </a:buClr>
              <a:buFont typeface="Wingdings" panose="05000000000000000000" pitchFamily="2" charset="2"/>
              <a:buChar char="u"/>
              <a:defRPr/>
            </a:pPr>
            <a:r>
              <a:rPr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业务主键过大，不利于传输、处理和存储。一般如果业务主键超过</a:t>
            </a:r>
            <a:r>
              <a:rPr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8</a:t>
            </a:r>
            <a:r>
              <a:rPr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字节就应该考虑使用逻辑主键。</a:t>
            </a:r>
            <a:endParaRPr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342900" indent="-342900">
              <a:lnSpc>
                <a:spcPct val="105000"/>
              </a:lnSpc>
              <a:spcBef>
                <a:spcPct val="30000"/>
              </a:spcBef>
              <a:buClr>
                <a:srgbClr val="0070C0"/>
              </a:buClr>
              <a:buFont typeface="Wingdings" panose="05000000000000000000" pitchFamily="2" charset="2"/>
              <a:buChar char="u"/>
              <a:defRPr/>
            </a:pPr>
            <a:r>
              <a:rPr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使用逻辑主键替代多对多关系中的复合主键，因为复合主键处理效率非常低，而逻辑主键的字节少，处理效率都很高。</a:t>
            </a:r>
          </a:p>
        </p:txBody>
      </p:sp>
      <p:sp>
        <p:nvSpPr>
          <p:cNvPr id="4" name="矩形 3">
            <a:extLst>
              <a:ext uri="{FF2B5EF4-FFF2-40B4-BE49-F238E27FC236}">
                <a16:creationId xmlns:a16="http://schemas.microsoft.com/office/drawing/2014/main" id="{06433A05-563A-B5EE-BC2A-264505FA192A}"/>
              </a:ext>
            </a:extLst>
          </p:cNvPr>
          <p:cNvSpPr/>
          <p:nvPr/>
        </p:nvSpPr>
        <p:spPr>
          <a:xfrm>
            <a:off x="796925" y="1052513"/>
            <a:ext cx="7678738" cy="544512"/>
          </a:xfrm>
          <a:prstGeom prst="rect">
            <a:avLst/>
          </a:prstGeom>
        </p:spPr>
        <p:txBody>
          <a:bodyPr>
            <a:spAutoFit/>
          </a:bodyPr>
          <a:lstStyle/>
          <a:p>
            <a:pPr lvl="1" algn="just">
              <a:lnSpc>
                <a:spcPct val="105000"/>
              </a:lnSpc>
              <a:spcAft>
                <a:spcPct val="35000"/>
              </a:spcAft>
              <a:buClr>
                <a:srgbClr val="0000FF"/>
              </a:buClr>
              <a:buFont typeface="Arial" charset="0"/>
              <a:buNone/>
              <a:defRPr/>
            </a:pP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关于业务主键与逻辑主键的使用原则</a:t>
            </a:r>
          </a:p>
        </p:txBody>
      </p:sp>
      <p:sp>
        <p:nvSpPr>
          <p:cNvPr id="6" name="TextBox 6">
            <a:extLst>
              <a:ext uri="{FF2B5EF4-FFF2-40B4-BE49-F238E27FC236}">
                <a16:creationId xmlns:a16="http://schemas.microsoft.com/office/drawing/2014/main" id="{03480074-1D5D-132D-5FFA-E8431AF50DF6}"/>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逻辑结构设计</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fade">
                                      <p:cBhvr>
                                        <p:cTn id="7" dur="500"/>
                                        <p:tgtEl>
                                          <p:spTgt spid="12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fade">
                                      <p:cBhvr>
                                        <p:cTn id="12" dur="500"/>
                                        <p:tgtEl>
                                          <p:spTgt spid="12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Effect transition="in" filter="fade">
                                      <p:cBhvr>
                                        <p:cTn id="17" dur="500"/>
                                        <p:tgtEl>
                                          <p:spTgt spid="122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2291">
                                            <p:txEl>
                                              <p:pRg st="3" end="3"/>
                                            </p:txEl>
                                          </p:spTgt>
                                        </p:tgtEl>
                                        <p:attrNameLst>
                                          <p:attrName>style.visibility</p:attrName>
                                        </p:attrNameLst>
                                      </p:cBhvr>
                                      <p:to>
                                        <p:strVal val="visible"/>
                                      </p:to>
                                    </p:set>
                                    <p:animEffect transition="in" filter="fade">
                                      <p:cBhvr>
                                        <p:cTn id="22" dur="500"/>
                                        <p:tgtEl>
                                          <p:spTgt spid="122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12291">
                                            <p:txEl>
                                              <p:pRg st="4" end="4"/>
                                            </p:txEl>
                                          </p:spTgt>
                                        </p:tgtEl>
                                        <p:attrNameLst>
                                          <p:attrName>style.visibility</p:attrName>
                                        </p:attrNameLst>
                                      </p:cBhvr>
                                      <p:to>
                                        <p:strVal val="visible"/>
                                      </p:to>
                                    </p:set>
                                    <p:animEffect transition="in" filter="fade">
                                      <p:cBhvr>
                                        <p:cTn id="27" dur="500"/>
                                        <p:tgtEl>
                                          <p:spTgt spid="122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12291">
                                            <p:txEl>
                                              <p:pRg st="5" end="5"/>
                                            </p:txEl>
                                          </p:spTgt>
                                        </p:tgtEl>
                                        <p:attrNameLst>
                                          <p:attrName>style.visibility</p:attrName>
                                        </p:attrNameLst>
                                      </p:cBhvr>
                                      <p:to>
                                        <p:strVal val="visible"/>
                                      </p:to>
                                    </p:set>
                                    <p:animEffect transition="in" filter="fade">
                                      <p:cBhvr>
                                        <p:cTn id="32" dur="500"/>
                                        <p:tgtEl>
                                          <p:spTgt spid="122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2">
            <a:extLst>
              <a:ext uri="{FF2B5EF4-FFF2-40B4-BE49-F238E27FC236}">
                <a16:creationId xmlns:a16="http://schemas.microsoft.com/office/drawing/2014/main" id="{41DD306E-9D7A-16EC-2267-FD917E799690}"/>
              </a:ext>
            </a:extLst>
          </p:cNvPr>
          <p:cNvSpPr txBox="1">
            <a:spLocks noChangeArrowheads="1"/>
          </p:cNvSpPr>
          <p:nvPr/>
        </p:nvSpPr>
        <p:spPr bwMode="auto">
          <a:xfrm>
            <a:off x="796925" y="1698625"/>
            <a:ext cx="10544175" cy="3416300"/>
          </a:xfrm>
          <a:prstGeom prst="rect">
            <a:avLst/>
          </a:prstGeom>
          <a:noFill/>
          <a:ln>
            <a:noFill/>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marL="342900" indent="-342900">
              <a:lnSpc>
                <a:spcPct val="105000"/>
              </a:lnSpc>
              <a:spcBef>
                <a:spcPct val="30000"/>
              </a:spcBef>
              <a:buClr>
                <a:srgbClr val="0070C0"/>
              </a:buClr>
              <a:buFont typeface="Wingdings" panose="05000000000000000000" pitchFamily="2" charset="2"/>
              <a:buChar char="u"/>
              <a:defRPr/>
            </a:pPr>
            <a:r>
              <a:rPr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有些业务主键中的字符串是有特殊含义的，如学号中往往包含入学年份、学院、专业等信息，此时不能使用逻辑主键替代业务主键；</a:t>
            </a:r>
            <a:endParaRPr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342900" indent="-342900">
              <a:lnSpc>
                <a:spcPct val="105000"/>
              </a:lnSpc>
              <a:spcBef>
                <a:spcPct val="30000"/>
              </a:spcBef>
              <a:buClr>
                <a:srgbClr val="0070C0"/>
              </a:buClr>
              <a:buFont typeface="Wingdings" panose="05000000000000000000" pitchFamily="2" charset="2"/>
              <a:buChar char="u"/>
              <a:defRPr/>
            </a:pPr>
            <a:r>
              <a:rPr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增加逻辑主键就是增加了一个业务无关的字段，而用户通常都是对于业务相关的字段进行查找（比如员工的工号，学生的学号），这样我们还必须为这些业务字段加索引，增加了系统的开销。</a:t>
            </a:r>
            <a:endParaRPr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342900" indent="-342900">
              <a:lnSpc>
                <a:spcPct val="105000"/>
              </a:lnSpc>
              <a:spcBef>
                <a:spcPct val="30000"/>
              </a:spcBef>
              <a:buClr>
                <a:srgbClr val="0070C0"/>
              </a:buClr>
              <a:buFont typeface="Wingdings" panose="05000000000000000000" pitchFamily="2" charset="2"/>
              <a:buChar char="u"/>
              <a:defRPr/>
            </a:pPr>
            <a:r>
              <a:rPr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对于如银行系统，其安全性比性能更加重要，这时候就会考虑使用业务主键，业务主键需要在重要的表中有冗余存在，例如身份证号、存折号、卡号等。</a:t>
            </a:r>
          </a:p>
        </p:txBody>
      </p:sp>
      <p:sp>
        <p:nvSpPr>
          <p:cNvPr id="4" name="矩形 3">
            <a:extLst>
              <a:ext uri="{FF2B5EF4-FFF2-40B4-BE49-F238E27FC236}">
                <a16:creationId xmlns:a16="http://schemas.microsoft.com/office/drawing/2014/main" id="{3D05229D-5F55-FEEC-A265-23AE7782639D}"/>
              </a:ext>
            </a:extLst>
          </p:cNvPr>
          <p:cNvSpPr/>
          <p:nvPr/>
        </p:nvSpPr>
        <p:spPr>
          <a:xfrm>
            <a:off x="796925" y="1052513"/>
            <a:ext cx="7678738" cy="434975"/>
          </a:xfrm>
          <a:prstGeom prst="rect">
            <a:avLst/>
          </a:prstGeom>
        </p:spPr>
        <p:txBody>
          <a:bodyPr>
            <a:spAutoFit/>
          </a:bodyPr>
          <a:lstStyle/>
          <a:p>
            <a:pPr>
              <a:lnSpc>
                <a:spcPct val="105000"/>
              </a:lnSpc>
              <a:spcBef>
                <a:spcPct val="30000"/>
              </a:spcBef>
              <a:buClr>
                <a:srgbClr val="0070C0"/>
              </a:buClr>
              <a:buFont typeface="Arial" charset="0"/>
              <a:buNone/>
              <a:defRPr/>
            </a:pP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2</a:t>
            </a: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）使用业务主键的主要原因有：</a:t>
            </a:r>
            <a:endParaRPr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endParaRPr>
          </a:p>
        </p:txBody>
      </p:sp>
      <p:sp>
        <p:nvSpPr>
          <p:cNvPr id="6" name="TextBox 6">
            <a:extLst>
              <a:ext uri="{FF2B5EF4-FFF2-40B4-BE49-F238E27FC236}">
                <a16:creationId xmlns:a16="http://schemas.microsoft.com/office/drawing/2014/main" id="{62314257-F31B-812C-23D0-054E14FCFC78}"/>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逻辑结构设计</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fade">
                                      <p:cBhvr>
                                        <p:cTn id="7" dur="500"/>
                                        <p:tgtEl>
                                          <p:spTgt spid="12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fade">
                                      <p:cBhvr>
                                        <p:cTn id="12" dur="500"/>
                                        <p:tgtEl>
                                          <p:spTgt spid="12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Effect transition="in" filter="fade">
                                      <p:cBhvr>
                                        <p:cTn id="17" dur="500"/>
                                        <p:tgtEl>
                                          <p:spTgt spid="122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137DB930-E88C-1FEF-B8DC-10D8ACDFBB2B}"/>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物理结构设计</a:t>
            </a:r>
          </a:p>
        </p:txBody>
      </p:sp>
      <p:sp>
        <p:nvSpPr>
          <p:cNvPr id="12291" name="Text Box 2">
            <a:extLst>
              <a:ext uri="{FF2B5EF4-FFF2-40B4-BE49-F238E27FC236}">
                <a16:creationId xmlns:a16="http://schemas.microsoft.com/office/drawing/2014/main" id="{D872E13E-0DFF-2A21-AA49-340DBE3B33F5}"/>
              </a:ext>
            </a:extLst>
          </p:cNvPr>
          <p:cNvSpPr txBox="1">
            <a:spLocks noChangeArrowheads="1"/>
          </p:cNvSpPr>
          <p:nvPr/>
        </p:nvSpPr>
        <p:spPr bwMode="auto">
          <a:xfrm>
            <a:off x="771525" y="1833563"/>
            <a:ext cx="10872788" cy="3016250"/>
          </a:xfrm>
          <a:prstGeom prst="rect">
            <a:avLst/>
          </a:prstGeom>
          <a:noFill/>
          <a:ln>
            <a:noFill/>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marL="457200" indent="-457200">
              <a:lnSpc>
                <a:spcPts val="4200"/>
              </a:lnSpc>
              <a:spcBef>
                <a:spcPts val="600"/>
              </a:spcBef>
              <a:buClr>
                <a:srgbClr val="0070C0"/>
              </a:buClr>
              <a:buFont typeface="Wingdings" panose="05000000000000000000" pitchFamily="2" charset="2"/>
              <a:buChar char="u"/>
              <a:defRPr/>
            </a:pPr>
            <a:r>
              <a:rPr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选取一个最适合应用环境要求的物理结构的过程，称为</a:t>
            </a:r>
            <a:r>
              <a:rPr lang="zh-CN" altLang="en-US" sz="2400" b="1" dirty="0">
                <a:solidFill>
                  <a:schemeClr val="accent2"/>
                </a:solidFill>
                <a:effectLst>
                  <a:outerShdw blurRad="38100" dist="38100" dir="2700000" algn="tl">
                    <a:srgbClr val="C0C0C0"/>
                  </a:outerShdw>
                </a:effectLst>
                <a:latin typeface="楷体_GB2312" pitchFamily="49" charset="-122"/>
                <a:ea typeface="楷体_GB2312" pitchFamily="49" charset="-122"/>
              </a:rPr>
              <a:t>数据库的物理设计。</a:t>
            </a:r>
            <a:endParaRPr lang="en-US" altLang="zh-CN" sz="2400" b="1" dirty="0">
              <a:solidFill>
                <a:schemeClr val="accent2"/>
              </a:solidFill>
              <a:effectLst>
                <a:outerShdw blurRad="38100" dist="38100" dir="2700000" algn="tl">
                  <a:srgbClr val="C0C0C0"/>
                </a:outerShdw>
              </a:effectLst>
              <a:latin typeface="楷体_GB2312" pitchFamily="49" charset="-122"/>
              <a:ea typeface="楷体_GB2312" pitchFamily="49" charset="-122"/>
            </a:endParaRPr>
          </a:p>
          <a:p>
            <a:pPr marL="457200" indent="-457200">
              <a:lnSpc>
                <a:spcPts val="4200"/>
              </a:lnSpc>
              <a:spcBef>
                <a:spcPts val="600"/>
              </a:spcBef>
              <a:buClr>
                <a:srgbClr val="0070C0"/>
              </a:buClr>
              <a:buFont typeface="Wingdings" panose="05000000000000000000" pitchFamily="2" charset="2"/>
              <a:buChar char="u"/>
              <a:defRPr/>
            </a:pPr>
            <a:r>
              <a:rPr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物理设计过程需要对存取时间、存储空间利用率和维护代价及各种用户要求进行权衡，其结果可以产生多种方案。</a:t>
            </a:r>
            <a:endParaRPr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a:lnSpc>
                <a:spcPts val="4200"/>
              </a:lnSpc>
              <a:spcBef>
                <a:spcPts val="600"/>
              </a:spcBef>
              <a:buClr>
                <a:srgbClr val="0070C0"/>
              </a:buClr>
              <a:buFont typeface="Wingdings" panose="05000000000000000000" pitchFamily="2" charset="2"/>
              <a:buChar char="u"/>
              <a:defRPr/>
            </a:pPr>
            <a:r>
              <a:rPr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在实施数据库前，对这些方案进行细致的评价，以选择一个较优的方案。</a:t>
            </a:r>
            <a:endParaRPr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a:lnSpc>
                <a:spcPts val="4200"/>
              </a:lnSpc>
              <a:spcBef>
                <a:spcPts val="600"/>
              </a:spcBef>
              <a:buClr>
                <a:srgbClr val="0070C0"/>
              </a:buClr>
              <a:buFont typeface="Wingdings" panose="05000000000000000000" pitchFamily="2" charset="2"/>
              <a:buChar char="u"/>
              <a:defRPr/>
            </a:pPr>
            <a:r>
              <a:rPr lang="zh-CN" altLang="en-US" sz="2400" b="1" dirty="0">
                <a:solidFill>
                  <a:schemeClr val="accent2"/>
                </a:solidFill>
                <a:effectLst>
                  <a:outerShdw blurRad="38100" dist="38100" dir="2700000" algn="tl">
                    <a:srgbClr val="C0C0C0"/>
                  </a:outerShdw>
                </a:effectLst>
                <a:latin typeface="楷体_GB2312" pitchFamily="49" charset="-122"/>
                <a:ea typeface="楷体_GB2312" pitchFamily="49" charset="-122"/>
              </a:rPr>
              <a:t>数据库物理设计的主要目标是</a:t>
            </a:r>
            <a:r>
              <a:rPr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：提高数据库的性能；节省存储容量。</a:t>
            </a:r>
          </a:p>
        </p:txBody>
      </p:sp>
      <p:sp>
        <p:nvSpPr>
          <p:cNvPr id="4" name="矩形 3">
            <a:extLst>
              <a:ext uri="{FF2B5EF4-FFF2-40B4-BE49-F238E27FC236}">
                <a16:creationId xmlns:a16="http://schemas.microsoft.com/office/drawing/2014/main" id="{B6573298-E7CD-2196-1535-85A2E532EBAC}"/>
              </a:ext>
            </a:extLst>
          </p:cNvPr>
          <p:cNvSpPr/>
          <p:nvPr/>
        </p:nvSpPr>
        <p:spPr>
          <a:xfrm>
            <a:off x="771525" y="1196975"/>
            <a:ext cx="5256213" cy="549275"/>
          </a:xfrm>
          <a:prstGeom prst="rect">
            <a:avLst/>
          </a:prstGeom>
        </p:spPr>
        <p:txBody>
          <a:bodyPr>
            <a:spAutoFit/>
          </a:bodyPr>
          <a:lstStyle/>
          <a:p>
            <a:pPr lvl="1" algn="just">
              <a:lnSpc>
                <a:spcPct val="105000"/>
              </a:lnSpc>
              <a:spcAft>
                <a:spcPct val="35000"/>
              </a:spcAft>
              <a:buClr>
                <a:srgbClr val="0000FF"/>
              </a:buClr>
              <a:buFont typeface="Arial" charset="0"/>
              <a:buNone/>
              <a:defRPr/>
            </a:pPr>
            <a:r>
              <a:rPr lang="en-US" altLang="zh-CN" sz="3200" b="1" dirty="0">
                <a:solidFill>
                  <a:srgbClr val="C00000"/>
                </a:solidFill>
                <a:effectLst>
                  <a:outerShdw blurRad="38100" dist="38100" dir="2700000" algn="tl">
                    <a:srgbClr val="C0C0C0"/>
                  </a:outerShdw>
                </a:effectLst>
                <a:latin typeface="仿宋_GB2312" pitchFamily="49" charset="-122"/>
                <a:ea typeface="仿宋_GB2312" pitchFamily="49" charset="-122"/>
              </a:rPr>
              <a:t>1.</a:t>
            </a:r>
            <a:r>
              <a:rPr lang="zh-CN" altLang="en-US" sz="3200" b="1" dirty="0">
                <a:solidFill>
                  <a:srgbClr val="C00000"/>
                </a:solidFill>
                <a:effectLst>
                  <a:outerShdw blurRad="38100" dist="38100" dir="2700000" algn="tl">
                    <a:srgbClr val="C0C0C0"/>
                  </a:outerShdw>
                </a:effectLst>
                <a:latin typeface="仿宋_GB2312" pitchFamily="49" charset="-122"/>
                <a:ea typeface="仿宋_GB2312" pitchFamily="49" charset="-122"/>
              </a:rPr>
              <a:t>物理结构设计的目标</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fade">
                                      <p:cBhvr>
                                        <p:cTn id="7" dur="500"/>
                                        <p:tgtEl>
                                          <p:spTgt spid="12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fade">
                                      <p:cBhvr>
                                        <p:cTn id="12" dur="500"/>
                                        <p:tgtEl>
                                          <p:spTgt spid="12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Effect transition="in" filter="fade">
                                      <p:cBhvr>
                                        <p:cTn id="17" dur="500"/>
                                        <p:tgtEl>
                                          <p:spTgt spid="122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2291">
                                            <p:txEl>
                                              <p:pRg st="3" end="3"/>
                                            </p:txEl>
                                          </p:spTgt>
                                        </p:tgtEl>
                                        <p:attrNameLst>
                                          <p:attrName>style.visibility</p:attrName>
                                        </p:attrNameLst>
                                      </p:cBhvr>
                                      <p:to>
                                        <p:strVal val="visible"/>
                                      </p:to>
                                    </p:set>
                                    <p:animEffect transition="in" filter="fade">
                                      <p:cBhvr>
                                        <p:cTn id="22" dur="500"/>
                                        <p:tgtEl>
                                          <p:spTgt spid="122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2">
            <a:extLst>
              <a:ext uri="{FF2B5EF4-FFF2-40B4-BE49-F238E27FC236}">
                <a16:creationId xmlns:a16="http://schemas.microsoft.com/office/drawing/2014/main" id="{D9A21CB3-5B97-8F8A-B6F6-9E1B63BA9C5A}"/>
              </a:ext>
            </a:extLst>
          </p:cNvPr>
          <p:cNvSpPr txBox="1">
            <a:spLocks noChangeArrowheads="1"/>
          </p:cNvSpPr>
          <p:nvPr/>
        </p:nvSpPr>
        <p:spPr bwMode="auto">
          <a:xfrm>
            <a:off x="755650" y="1820863"/>
            <a:ext cx="10544175" cy="3074987"/>
          </a:xfrm>
          <a:prstGeom prst="rect">
            <a:avLst/>
          </a:prstGeom>
          <a:noFill/>
          <a:ln>
            <a:noFill/>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nSpc>
                <a:spcPct val="105000"/>
              </a:lnSpc>
              <a:spcBef>
                <a:spcPct val="30000"/>
              </a:spcBef>
              <a:buClr>
                <a:srgbClr val="FF0000"/>
              </a:buClr>
              <a:buFont typeface="Wingdings" pitchFamily="2" charset="2"/>
              <a:buNone/>
              <a:defRPr/>
            </a:pP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 </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1</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）确定数据库的物理结构，在</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RDBMS</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中主要指存取方法和存储结构。</a:t>
            </a:r>
            <a:endPar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a:lnSpc>
                <a:spcPct val="105000"/>
              </a:lnSpc>
              <a:spcBef>
                <a:spcPct val="30000"/>
              </a:spcBef>
              <a:buClr>
                <a:srgbClr val="0070C0"/>
              </a:buClr>
              <a:buFont typeface="Wingdings" panose="05000000000000000000" pitchFamily="2" charset="2"/>
              <a:buChar char="u"/>
              <a:defRPr/>
            </a:pPr>
            <a:r>
              <a:rPr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确定</a:t>
            </a:r>
            <a:r>
              <a:rPr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DBMS</a:t>
            </a:r>
            <a:r>
              <a:rPr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选型；</a:t>
            </a:r>
            <a:endParaRPr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a:lnSpc>
                <a:spcPct val="105000"/>
              </a:lnSpc>
              <a:spcBef>
                <a:spcPct val="30000"/>
              </a:spcBef>
              <a:buClr>
                <a:srgbClr val="0070C0"/>
              </a:buClr>
              <a:buFont typeface="Wingdings" panose="05000000000000000000" pitchFamily="2" charset="2"/>
              <a:buChar char="u"/>
              <a:defRPr/>
            </a:pPr>
            <a:r>
              <a:rPr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确定系统架构设计及其环境配置；</a:t>
            </a:r>
            <a:endParaRPr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a:lnSpc>
                <a:spcPct val="105000"/>
              </a:lnSpc>
              <a:spcBef>
                <a:spcPct val="30000"/>
              </a:spcBef>
              <a:buClr>
                <a:srgbClr val="0070C0"/>
              </a:buClr>
              <a:buFont typeface="Wingdings" panose="05000000000000000000" pitchFamily="2" charset="2"/>
              <a:buChar char="u"/>
              <a:defRPr/>
            </a:pPr>
            <a:r>
              <a:rPr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确定表结构、索引、视图、存储过程、触发器、日志和备份等；</a:t>
            </a:r>
            <a:endParaRPr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a:lnSpc>
                <a:spcPct val="105000"/>
              </a:lnSpc>
              <a:spcBef>
                <a:spcPct val="30000"/>
              </a:spcBef>
              <a:buClr>
                <a:srgbClr val="0070C0"/>
              </a:buClr>
              <a:buFont typeface="Wingdings" panose="05000000000000000000" pitchFamily="2" charset="2"/>
              <a:buChar char="u"/>
              <a:defRPr/>
            </a:pPr>
            <a:r>
              <a:rPr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确定系统的完整性、一致性和安全性等要求。</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   </a:t>
            </a:r>
            <a:endParaRPr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endParaRPr>
          </a:p>
        </p:txBody>
      </p:sp>
      <p:sp>
        <p:nvSpPr>
          <p:cNvPr id="4" name="矩形 3">
            <a:extLst>
              <a:ext uri="{FF2B5EF4-FFF2-40B4-BE49-F238E27FC236}">
                <a16:creationId xmlns:a16="http://schemas.microsoft.com/office/drawing/2014/main" id="{C3EE03AF-6D30-6375-5E5A-B73D6F312673}"/>
              </a:ext>
            </a:extLst>
          </p:cNvPr>
          <p:cNvSpPr/>
          <p:nvPr/>
        </p:nvSpPr>
        <p:spPr>
          <a:xfrm>
            <a:off x="771525" y="1052513"/>
            <a:ext cx="5256213" cy="609600"/>
          </a:xfrm>
          <a:prstGeom prst="rect">
            <a:avLst/>
          </a:prstGeom>
        </p:spPr>
        <p:txBody>
          <a:bodyPr>
            <a:spAutoFit/>
          </a:bodyPr>
          <a:lstStyle/>
          <a:p>
            <a:pPr lvl="1" algn="just">
              <a:lnSpc>
                <a:spcPct val="105000"/>
              </a:lnSpc>
              <a:spcAft>
                <a:spcPct val="35000"/>
              </a:spcAft>
              <a:buClr>
                <a:srgbClr val="0000FF"/>
              </a:buClr>
              <a:buFont typeface="Arial" charset="0"/>
              <a:buNone/>
              <a:defRPr/>
            </a:pPr>
            <a:r>
              <a:rPr lang="en-US" altLang="zh-CN" sz="3200" b="1" dirty="0">
                <a:solidFill>
                  <a:srgbClr val="C00000"/>
                </a:solidFill>
                <a:effectLst>
                  <a:outerShdw blurRad="38100" dist="38100" dir="2700000" algn="tl">
                    <a:srgbClr val="C0C0C0"/>
                  </a:outerShdw>
                </a:effectLst>
                <a:latin typeface="仿宋_GB2312" pitchFamily="49" charset="-122"/>
                <a:ea typeface="仿宋_GB2312" pitchFamily="49" charset="-122"/>
              </a:rPr>
              <a:t>2.</a:t>
            </a:r>
            <a:r>
              <a:rPr lang="zh-CN" altLang="en-US" sz="3200" b="1" dirty="0">
                <a:solidFill>
                  <a:srgbClr val="C00000"/>
                </a:solidFill>
                <a:effectLst>
                  <a:outerShdw blurRad="38100" dist="38100" dir="2700000" algn="tl">
                    <a:srgbClr val="C0C0C0"/>
                  </a:outerShdw>
                </a:effectLst>
                <a:latin typeface="仿宋_GB2312" pitchFamily="49" charset="-122"/>
                <a:ea typeface="仿宋_GB2312" pitchFamily="49" charset="-122"/>
              </a:rPr>
              <a:t>物理结构设计的步骤</a:t>
            </a:r>
          </a:p>
        </p:txBody>
      </p:sp>
      <p:sp>
        <p:nvSpPr>
          <p:cNvPr id="5" name="TextBox 6">
            <a:extLst>
              <a:ext uri="{FF2B5EF4-FFF2-40B4-BE49-F238E27FC236}">
                <a16:creationId xmlns:a16="http://schemas.microsoft.com/office/drawing/2014/main" id="{2E90901B-65DC-C1D6-FB53-5D670D214FE8}"/>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物理结构设计</a:t>
            </a:r>
          </a:p>
        </p:txBody>
      </p:sp>
      <p:sp>
        <p:nvSpPr>
          <p:cNvPr id="7" name="矩形 6">
            <a:extLst>
              <a:ext uri="{FF2B5EF4-FFF2-40B4-BE49-F238E27FC236}">
                <a16:creationId xmlns:a16="http://schemas.microsoft.com/office/drawing/2014/main" id="{30FF8293-BE68-5A0B-F561-125B31E2CD50}"/>
              </a:ext>
            </a:extLst>
          </p:cNvPr>
          <p:cNvSpPr/>
          <p:nvPr/>
        </p:nvSpPr>
        <p:spPr>
          <a:xfrm>
            <a:off x="755650" y="5157788"/>
            <a:ext cx="10169525" cy="1073150"/>
          </a:xfrm>
          <a:prstGeom prst="rect">
            <a:avLst/>
          </a:prstGeom>
        </p:spPr>
        <p:txBody>
          <a:bodyPr>
            <a:spAutoFit/>
          </a:bodyPr>
          <a:lstStyle/>
          <a:p>
            <a:pPr>
              <a:lnSpc>
                <a:spcPct val="105000"/>
              </a:lnSpc>
              <a:spcBef>
                <a:spcPct val="30000"/>
              </a:spcBef>
              <a:buClr>
                <a:srgbClr val="FF0000"/>
              </a:buClr>
              <a:buFont typeface="Wingdings" pitchFamily="2" charset="2"/>
              <a:buNone/>
              <a:defRPr/>
            </a:pP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2</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）对物理结构进行评价。</a:t>
            </a:r>
            <a:endPar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a:lnSpc>
                <a:spcPct val="105000"/>
              </a:lnSpc>
              <a:spcBef>
                <a:spcPct val="30000"/>
              </a:spcBef>
              <a:buClr>
                <a:srgbClr val="FF0000"/>
              </a:buClr>
              <a:buFont typeface="Wingdings" pitchFamily="2" charset="2"/>
              <a:buNone/>
              <a:defRPr/>
            </a:pPr>
            <a:r>
              <a:rPr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评价的重点是时间和空间效率，选择一个较优的方案。</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fade">
                                      <p:cBhvr>
                                        <p:cTn id="7" dur="500"/>
                                        <p:tgtEl>
                                          <p:spTgt spid="12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fade">
                                      <p:cBhvr>
                                        <p:cTn id="12" dur="500"/>
                                        <p:tgtEl>
                                          <p:spTgt spid="12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Effect transition="in" filter="fade">
                                      <p:cBhvr>
                                        <p:cTn id="17" dur="500"/>
                                        <p:tgtEl>
                                          <p:spTgt spid="122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2291">
                                            <p:txEl>
                                              <p:pRg st="3" end="3"/>
                                            </p:txEl>
                                          </p:spTgt>
                                        </p:tgtEl>
                                        <p:attrNameLst>
                                          <p:attrName>style.visibility</p:attrName>
                                        </p:attrNameLst>
                                      </p:cBhvr>
                                      <p:to>
                                        <p:strVal val="visible"/>
                                      </p:to>
                                    </p:set>
                                    <p:animEffect transition="in" filter="fade">
                                      <p:cBhvr>
                                        <p:cTn id="22" dur="500"/>
                                        <p:tgtEl>
                                          <p:spTgt spid="122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12291">
                                            <p:txEl>
                                              <p:pRg st="4" end="4"/>
                                            </p:txEl>
                                          </p:spTgt>
                                        </p:tgtEl>
                                        <p:attrNameLst>
                                          <p:attrName>style.visibility</p:attrName>
                                        </p:attrNameLst>
                                      </p:cBhvr>
                                      <p:to>
                                        <p:strVal val="visible"/>
                                      </p:to>
                                    </p:set>
                                    <p:animEffect transition="in" filter="fade">
                                      <p:cBhvr>
                                        <p:cTn id="27" dur="500"/>
                                        <p:tgtEl>
                                          <p:spTgt spid="122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2">
            <a:extLst>
              <a:ext uri="{FF2B5EF4-FFF2-40B4-BE49-F238E27FC236}">
                <a16:creationId xmlns:a16="http://schemas.microsoft.com/office/drawing/2014/main" id="{EE002148-F553-86B3-6891-7E12C58A6175}"/>
              </a:ext>
            </a:extLst>
          </p:cNvPr>
          <p:cNvSpPr txBox="1">
            <a:spLocks noChangeArrowheads="1"/>
          </p:cNvSpPr>
          <p:nvPr/>
        </p:nvSpPr>
        <p:spPr bwMode="auto">
          <a:xfrm>
            <a:off x="795338" y="1597025"/>
            <a:ext cx="10544175" cy="4386263"/>
          </a:xfrm>
          <a:prstGeom prst="rect">
            <a:avLst/>
          </a:prstGeom>
          <a:noFill/>
          <a:ln>
            <a:noFill/>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marL="342900" indent="-342900">
              <a:lnSpc>
                <a:spcPct val="105000"/>
              </a:lnSpc>
              <a:spcBef>
                <a:spcPct val="30000"/>
              </a:spcBef>
              <a:buClr>
                <a:srgbClr val="0070C0"/>
              </a:buClr>
              <a:buFont typeface="Wingdings" panose="05000000000000000000" pitchFamily="2" charset="2"/>
              <a:buChar char="u"/>
              <a:defRPr/>
            </a:pP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数据库服务器部署环境一般为</a:t>
            </a:r>
            <a:r>
              <a:rPr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Linux</a:t>
            </a: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系统，在</a:t>
            </a:r>
            <a:r>
              <a:rPr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Linux</a:t>
            </a: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系统下默认是区分大小写。因此，数据库名、表名、字段名，都使用小写字母；</a:t>
            </a:r>
          </a:p>
          <a:p>
            <a:pPr marL="342900" indent="-342900">
              <a:lnSpc>
                <a:spcPct val="105000"/>
              </a:lnSpc>
              <a:spcBef>
                <a:spcPct val="30000"/>
              </a:spcBef>
              <a:buClr>
                <a:srgbClr val="0070C0"/>
              </a:buClr>
              <a:buFont typeface="Wingdings" panose="05000000000000000000" pitchFamily="2" charset="2"/>
              <a:buChar char="u"/>
              <a:defRPr/>
            </a:pP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表名仅仅表示表里面的实体内容，不应该表示实体数量，如学生表用</a:t>
            </a:r>
            <a:r>
              <a:rPr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student</a:t>
            </a: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，而不是</a:t>
            </a:r>
            <a:r>
              <a:rPr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students</a:t>
            </a: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marL="342900" indent="-342900">
              <a:lnSpc>
                <a:spcPct val="105000"/>
              </a:lnSpc>
              <a:spcBef>
                <a:spcPct val="30000"/>
              </a:spcBef>
              <a:buClr>
                <a:srgbClr val="0070C0"/>
              </a:buClr>
              <a:buFont typeface="Wingdings" panose="05000000000000000000" pitchFamily="2" charset="2"/>
              <a:buChar char="u"/>
              <a:defRPr/>
            </a:pP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如果存储的字符串长度几乎相等，使用</a:t>
            </a:r>
            <a:r>
              <a:rPr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char</a:t>
            </a: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类型</a:t>
            </a:r>
          </a:p>
          <a:p>
            <a:pPr marL="342900" indent="-342900">
              <a:lnSpc>
                <a:spcPct val="105000"/>
              </a:lnSpc>
              <a:spcBef>
                <a:spcPct val="30000"/>
              </a:spcBef>
              <a:buClr>
                <a:srgbClr val="0070C0"/>
              </a:buClr>
              <a:buFont typeface="Wingdings" panose="05000000000000000000" pitchFamily="2" charset="2"/>
              <a:buChar char="u"/>
              <a:defRPr/>
            </a:pPr>
            <a:r>
              <a:rPr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varchar</a:t>
            </a: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类型长度不要超过</a:t>
            </a:r>
            <a:r>
              <a:rPr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5000</a:t>
            </a: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，如果存储长度大于此值，定义字段类型为</a:t>
            </a:r>
            <a:r>
              <a:rPr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text</a:t>
            </a: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marL="342900" indent="-342900">
              <a:lnSpc>
                <a:spcPct val="105000"/>
              </a:lnSpc>
              <a:spcBef>
                <a:spcPct val="30000"/>
              </a:spcBef>
              <a:buClr>
                <a:srgbClr val="0070C0"/>
              </a:buClr>
              <a:buFont typeface="Wingdings" panose="05000000000000000000" pitchFamily="2" charset="2"/>
              <a:buChar char="u"/>
              <a:defRPr/>
            </a:pP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小数类型根据不同的数据库产品可定义为</a:t>
            </a:r>
            <a:r>
              <a:rPr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decimal</a:t>
            </a: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或</a:t>
            </a:r>
            <a:r>
              <a:rPr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number</a:t>
            </a: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，禁止使用</a:t>
            </a:r>
            <a:r>
              <a:rPr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float</a:t>
            </a: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和</a:t>
            </a:r>
            <a:r>
              <a:rPr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double</a:t>
            </a: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marL="342900" indent="-342900">
              <a:lnSpc>
                <a:spcPct val="105000"/>
              </a:lnSpc>
              <a:spcBef>
                <a:spcPct val="30000"/>
              </a:spcBef>
              <a:buClr>
                <a:srgbClr val="0070C0"/>
              </a:buClr>
              <a:buFont typeface="Wingdings" panose="05000000000000000000" pitchFamily="2" charset="2"/>
              <a:buChar char="u"/>
              <a:defRPr/>
            </a:pP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表必备的附加字段：</a:t>
            </a:r>
            <a:r>
              <a:rPr lang="en-US" altLang="zh-CN" sz="2000" b="1" dirty="0" err="1">
                <a:solidFill>
                  <a:srgbClr val="002060"/>
                </a:solidFill>
                <a:effectLst>
                  <a:outerShdw blurRad="38100" dist="38100" dir="2700000" algn="tl">
                    <a:srgbClr val="C0C0C0"/>
                  </a:outerShdw>
                </a:effectLst>
                <a:latin typeface="楷体_GB2312" pitchFamily="49" charset="-122"/>
                <a:ea typeface="楷体_GB2312" pitchFamily="49" charset="-122"/>
              </a:rPr>
              <a:t>create_time</a:t>
            </a:r>
            <a:r>
              <a:rPr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lang="en-US" altLang="zh-CN" sz="2000" b="1" dirty="0" err="1">
                <a:solidFill>
                  <a:srgbClr val="002060"/>
                </a:solidFill>
                <a:effectLst>
                  <a:outerShdw blurRad="38100" dist="38100" dir="2700000" algn="tl">
                    <a:srgbClr val="C0C0C0"/>
                  </a:outerShdw>
                </a:effectLst>
                <a:latin typeface="楷体_GB2312" pitchFamily="49" charset="-122"/>
                <a:ea typeface="楷体_GB2312" pitchFamily="49" charset="-122"/>
              </a:rPr>
              <a:t>update_time</a:t>
            </a: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，记录记录创建和修改时间。</a:t>
            </a:r>
          </a:p>
          <a:p>
            <a:pPr marL="342900" indent="-342900">
              <a:lnSpc>
                <a:spcPct val="105000"/>
              </a:lnSpc>
              <a:spcBef>
                <a:spcPct val="30000"/>
              </a:spcBef>
              <a:buClr>
                <a:srgbClr val="0070C0"/>
              </a:buClr>
              <a:buFont typeface="Wingdings" panose="05000000000000000000" pitchFamily="2" charset="2"/>
              <a:buChar char="u"/>
              <a:defRPr/>
            </a:pP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业务上具有唯一特性的字段，即使是组合字段，也必须创建唯一索引。</a:t>
            </a:r>
          </a:p>
          <a:p>
            <a:pPr marL="342900" indent="-342900">
              <a:lnSpc>
                <a:spcPct val="105000"/>
              </a:lnSpc>
              <a:spcBef>
                <a:spcPct val="30000"/>
              </a:spcBef>
              <a:buClr>
                <a:srgbClr val="0070C0"/>
              </a:buClr>
              <a:buFont typeface="Wingdings" panose="05000000000000000000" pitchFamily="2" charset="2"/>
              <a:buChar char="u"/>
              <a:defRPr/>
            </a:pP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超过三个表禁止</a:t>
            </a:r>
            <a:r>
              <a:rPr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join</a:t>
            </a: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操作，多表关联查询时，保证被关联的字段需要有索引。</a:t>
            </a:r>
          </a:p>
          <a:p>
            <a:pPr marL="342900" indent="-342900">
              <a:lnSpc>
                <a:spcPct val="105000"/>
              </a:lnSpc>
              <a:spcBef>
                <a:spcPct val="30000"/>
              </a:spcBef>
              <a:buClr>
                <a:srgbClr val="0070C0"/>
              </a:buClr>
              <a:buFont typeface="Wingdings" panose="05000000000000000000" pitchFamily="2" charset="2"/>
              <a:buChar char="u"/>
              <a:defRPr/>
            </a:pP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在</a:t>
            </a:r>
            <a:r>
              <a:rPr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varchar</a:t>
            </a:r>
            <a:r>
              <a:rPr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字段上建立索引时，需指定索引长度，没必要对全字段建立索引。   </a:t>
            </a:r>
          </a:p>
        </p:txBody>
      </p:sp>
      <p:sp>
        <p:nvSpPr>
          <p:cNvPr id="4" name="矩形 3">
            <a:extLst>
              <a:ext uri="{FF2B5EF4-FFF2-40B4-BE49-F238E27FC236}">
                <a16:creationId xmlns:a16="http://schemas.microsoft.com/office/drawing/2014/main" id="{E3E4AF8C-F240-0923-BE6A-5AD802AF5766}"/>
              </a:ext>
            </a:extLst>
          </p:cNvPr>
          <p:cNvSpPr/>
          <p:nvPr/>
        </p:nvSpPr>
        <p:spPr>
          <a:xfrm>
            <a:off x="796925" y="1052513"/>
            <a:ext cx="6551613" cy="544512"/>
          </a:xfrm>
          <a:prstGeom prst="rect">
            <a:avLst/>
          </a:prstGeom>
        </p:spPr>
        <p:txBody>
          <a:bodyPr>
            <a:spAutoFit/>
          </a:bodyPr>
          <a:lstStyle/>
          <a:p>
            <a:pPr lvl="1" algn="just">
              <a:lnSpc>
                <a:spcPct val="105000"/>
              </a:lnSpc>
              <a:spcAft>
                <a:spcPct val="35000"/>
              </a:spcAft>
              <a:buClr>
                <a:srgbClr val="0000FF"/>
              </a:buClr>
              <a:buFont typeface="Arial" charset="0"/>
              <a:buNone/>
              <a:defRPr/>
            </a:pPr>
            <a:r>
              <a:rPr lang="en-US" altLang="zh-CN" sz="2800" b="1" dirty="0">
                <a:solidFill>
                  <a:srgbClr val="C00000"/>
                </a:solidFill>
                <a:effectLst>
                  <a:outerShdw blurRad="38100" dist="38100" dir="2700000" algn="tl">
                    <a:srgbClr val="C0C0C0"/>
                  </a:outerShdw>
                </a:effectLst>
                <a:latin typeface="仿宋_GB2312" pitchFamily="49" charset="-122"/>
                <a:ea typeface="仿宋_GB2312" pitchFamily="49" charset="-122"/>
              </a:rPr>
              <a:t>3.</a:t>
            </a:r>
            <a:r>
              <a:rPr lang="zh-CN" altLang="en-US" sz="2800" b="1" dirty="0">
                <a:solidFill>
                  <a:srgbClr val="C00000"/>
                </a:solidFill>
                <a:effectLst>
                  <a:outerShdw blurRad="38100" dist="38100" dir="2700000" algn="tl">
                    <a:srgbClr val="C0C0C0"/>
                  </a:outerShdw>
                </a:effectLst>
                <a:latin typeface="仿宋_GB2312" pitchFamily="49" charset="-122"/>
                <a:ea typeface="仿宋_GB2312" pitchFamily="49" charset="-122"/>
              </a:rPr>
              <a:t>物理结构设计中应遵循的一些规范</a:t>
            </a:r>
          </a:p>
        </p:txBody>
      </p:sp>
      <p:sp>
        <p:nvSpPr>
          <p:cNvPr id="5" name="TextBox 6">
            <a:extLst>
              <a:ext uri="{FF2B5EF4-FFF2-40B4-BE49-F238E27FC236}">
                <a16:creationId xmlns:a16="http://schemas.microsoft.com/office/drawing/2014/main" id="{43459097-06E2-6B49-7D97-D6E02D8ACDEA}"/>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物理结构设计</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fade">
                                      <p:cBhvr>
                                        <p:cTn id="7" dur="500"/>
                                        <p:tgtEl>
                                          <p:spTgt spid="12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fade">
                                      <p:cBhvr>
                                        <p:cTn id="12" dur="500"/>
                                        <p:tgtEl>
                                          <p:spTgt spid="12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Effect transition="in" filter="fade">
                                      <p:cBhvr>
                                        <p:cTn id="17" dur="500"/>
                                        <p:tgtEl>
                                          <p:spTgt spid="122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2291">
                                            <p:txEl>
                                              <p:pRg st="3" end="3"/>
                                            </p:txEl>
                                          </p:spTgt>
                                        </p:tgtEl>
                                        <p:attrNameLst>
                                          <p:attrName>style.visibility</p:attrName>
                                        </p:attrNameLst>
                                      </p:cBhvr>
                                      <p:to>
                                        <p:strVal val="visible"/>
                                      </p:to>
                                    </p:set>
                                    <p:animEffect transition="in" filter="fade">
                                      <p:cBhvr>
                                        <p:cTn id="22" dur="500"/>
                                        <p:tgtEl>
                                          <p:spTgt spid="122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12291">
                                            <p:txEl>
                                              <p:pRg st="4" end="4"/>
                                            </p:txEl>
                                          </p:spTgt>
                                        </p:tgtEl>
                                        <p:attrNameLst>
                                          <p:attrName>style.visibility</p:attrName>
                                        </p:attrNameLst>
                                      </p:cBhvr>
                                      <p:to>
                                        <p:strVal val="visible"/>
                                      </p:to>
                                    </p:set>
                                    <p:animEffect transition="in" filter="fade">
                                      <p:cBhvr>
                                        <p:cTn id="27" dur="500"/>
                                        <p:tgtEl>
                                          <p:spTgt spid="122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12291">
                                            <p:txEl>
                                              <p:pRg st="5" end="5"/>
                                            </p:txEl>
                                          </p:spTgt>
                                        </p:tgtEl>
                                        <p:attrNameLst>
                                          <p:attrName>style.visibility</p:attrName>
                                        </p:attrNameLst>
                                      </p:cBhvr>
                                      <p:to>
                                        <p:strVal val="visible"/>
                                      </p:to>
                                    </p:set>
                                    <p:animEffect transition="in" filter="fade">
                                      <p:cBhvr>
                                        <p:cTn id="32" dur="500"/>
                                        <p:tgtEl>
                                          <p:spTgt spid="1229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12291">
                                            <p:txEl>
                                              <p:pRg st="6" end="6"/>
                                            </p:txEl>
                                          </p:spTgt>
                                        </p:tgtEl>
                                        <p:attrNameLst>
                                          <p:attrName>style.visibility</p:attrName>
                                        </p:attrNameLst>
                                      </p:cBhvr>
                                      <p:to>
                                        <p:strVal val="visible"/>
                                      </p:to>
                                    </p:set>
                                    <p:animEffect transition="in" filter="fade">
                                      <p:cBhvr>
                                        <p:cTn id="37" dur="500"/>
                                        <p:tgtEl>
                                          <p:spTgt spid="1229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nodeType="clickEffect">
                                  <p:stCondLst>
                                    <p:cond delay="0"/>
                                  </p:stCondLst>
                                  <p:childTnLst>
                                    <p:set>
                                      <p:cBhvr>
                                        <p:cTn id="41" dur="1" fill="hold">
                                          <p:stCondLst>
                                            <p:cond delay="0"/>
                                          </p:stCondLst>
                                        </p:cTn>
                                        <p:tgtEl>
                                          <p:spTgt spid="12291">
                                            <p:txEl>
                                              <p:pRg st="7" end="7"/>
                                            </p:txEl>
                                          </p:spTgt>
                                        </p:tgtEl>
                                        <p:attrNameLst>
                                          <p:attrName>style.visibility</p:attrName>
                                        </p:attrNameLst>
                                      </p:cBhvr>
                                      <p:to>
                                        <p:strVal val="visible"/>
                                      </p:to>
                                    </p:set>
                                    <p:animEffect transition="in" filter="fade">
                                      <p:cBhvr>
                                        <p:cTn id="42" dur="500"/>
                                        <p:tgtEl>
                                          <p:spTgt spid="1229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nodeType="clickEffect">
                                  <p:stCondLst>
                                    <p:cond delay="0"/>
                                  </p:stCondLst>
                                  <p:childTnLst>
                                    <p:set>
                                      <p:cBhvr>
                                        <p:cTn id="46" dur="1" fill="hold">
                                          <p:stCondLst>
                                            <p:cond delay="0"/>
                                          </p:stCondLst>
                                        </p:cTn>
                                        <p:tgtEl>
                                          <p:spTgt spid="12291">
                                            <p:txEl>
                                              <p:pRg st="8" end="8"/>
                                            </p:txEl>
                                          </p:spTgt>
                                        </p:tgtEl>
                                        <p:attrNameLst>
                                          <p:attrName>style.visibility</p:attrName>
                                        </p:attrNameLst>
                                      </p:cBhvr>
                                      <p:to>
                                        <p:strVal val="visible"/>
                                      </p:to>
                                    </p:set>
                                    <p:animEffect transition="in" filter="fade">
                                      <p:cBhvr>
                                        <p:cTn id="47" dur="500"/>
                                        <p:tgtEl>
                                          <p:spTgt spid="1229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2">
            <a:extLst>
              <a:ext uri="{FF2B5EF4-FFF2-40B4-BE49-F238E27FC236}">
                <a16:creationId xmlns:a16="http://schemas.microsoft.com/office/drawing/2014/main" id="{2C51C49A-0B61-21F8-EFC5-267F15056B1A}"/>
              </a:ext>
            </a:extLst>
          </p:cNvPr>
          <p:cNvSpPr txBox="1">
            <a:spLocks noChangeArrowheads="1"/>
          </p:cNvSpPr>
          <p:nvPr/>
        </p:nvSpPr>
        <p:spPr bwMode="auto">
          <a:xfrm>
            <a:off x="771525" y="2133600"/>
            <a:ext cx="10544175" cy="3452813"/>
          </a:xfrm>
          <a:prstGeom prst="rect">
            <a:avLst/>
          </a:prstGeom>
          <a:noFill/>
          <a:ln>
            <a:noFill/>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marL="457200" indent="-457200">
              <a:lnSpc>
                <a:spcPts val="4200"/>
              </a:lnSpc>
              <a:spcBef>
                <a:spcPct val="30000"/>
              </a:spcBef>
              <a:buClr>
                <a:srgbClr val="0070C0"/>
              </a:buClr>
              <a:buFont typeface="Wingdings" panose="05000000000000000000" pitchFamily="2" charset="2"/>
              <a:buChar char="u"/>
              <a:defRPr/>
            </a:pP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当确定好数据库的物理结构后，当数据库中的表比较多且关系比较复杂时，最好选择数据库设计工具来对数据库进行物理设计，然后通过正向工程自动生成建库建表语句；</a:t>
            </a:r>
            <a:endPar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a:lnSpc>
                <a:spcPts val="4200"/>
              </a:lnSpc>
              <a:spcBef>
                <a:spcPct val="30000"/>
              </a:spcBef>
              <a:buClr>
                <a:srgbClr val="0070C0"/>
              </a:buClr>
              <a:buFont typeface="Wingdings" panose="05000000000000000000" pitchFamily="2" charset="2"/>
              <a:buChar char="u"/>
              <a:defRPr/>
            </a:pP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常用的数据库设计工具有</a:t>
            </a:r>
            <a:r>
              <a:rPr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PowerDesigner</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MySQL Workbench</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等，</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PowerDesigner</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可进行概念模型、逻辑模型和物理模型设计，</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MySQL Workbench</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直接进行物理模型设计。</a:t>
            </a:r>
          </a:p>
        </p:txBody>
      </p:sp>
      <p:sp>
        <p:nvSpPr>
          <p:cNvPr id="4" name="矩形 3">
            <a:extLst>
              <a:ext uri="{FF2B5EF4-FFF2-40B4-BE49-F238E27FC236}">
                <a16:creationId xmlns:a16="http://schemas.microsoft.com/office/drawing/2014/main" id="{0D0D89DC-B108-9760-931D-AE5DEFF4BE08}"/>
              </a:ext>
            </a:extLst>
          </p:cNvPr>
          <p:cNvSpPr/>
          <p:nvPr/>
        </p:nvSpPr>
        <p:spPr>
          <a:xfrm>
            <a:off x="771525" y="1189038"/>
            <a:ext cx="10728325" cy="609600"/>
          </a:xfrm>
          <a:prstGeom prst="rect">
            <a:avLst/>
          </a:prstGeom>
        </p:spPr>
        <p:txBody>
          <a:bodyPr>
            <a:spAutoFit/>
          </a:bodyPr>
          <a:lstStyle/>
          <a:p>
            <a:pPr lvl="1" algn="just">
              <a:lnSpc>
                <a:spcPct val="105000"/>
              </a:lnSpc>
              <a:spcAft>
                <a:spcPct val="35000"/>
              </a:spcAft>
              <a:buClr>
                <a:srgbClr val="0000FF"/>
              </a:buClr>
              <a:buFont typeface="Arial" charset="0"/>
              <a:buNone/>
              <a:defRPr/>
            </a:pPr>
            <a:r>
              <a:rPr lang="en-US" altLang="zh-CN" sz="3200" b="1" dirty="0">
                <a:solidFill>
                  <a:srgbClr val="C00000"/>
                </a:solidFill>
                <a:effectLst>
                  <a:outerShdw blurRad="38100" dist="38100" dir="2700000" algn="tl">
                    <a:srgbClr val="C0C0C0"/>
                  </a:outerShdw>
                </a:effectLst>
                <a:latin typeface="仿宋_GB2312" pitchFamily="49" charset="-122"/>
                <a:ea typeface="仿宋_GB2312" pitchFamily="49" charset="-122"/>
              </a:rPr>
              <a:t>4.</a:t>
            </a:r>
            <a:r>
              <a:rPr lang="zh-CN" altLang="en-US" sz="3200" b="1" dirty="0">
                <a:solidFill>
                  <a:srgbClr val="C00000"/>
                </a:solidFill>
                <a:effectLst>
                  <a:outerShdw blurRad="38100" dist="38100" dir="2700000" algn="tl">
                    <a:srgbClr val="C0C0C0"/>
                  </a:outerShdw>
                </a:effectLst>
                <a:latin typeface="仿宋_GB2312" pitchFamily="49" charset="-122"/>
                <a:ea typeface="仿宋_GB2312" pitchFamily="49" charset="-122"/>
              </a:rPr>
              <a:t>选择一款数据库设计工具对数据库进行物理设计。</a:t>
            </a:r>
          </a:p>
        </p:txBody>
      </p:sp>
      <p:sp>
        <p:nvSpPr>
          <p:cNvPr id="5" name="TextBox 6">
            <a:extLst>
              <a:ext uri="{FF2B5EF4-FFF2-40B4-BE49-F238E27FC236}">
                <a16:creationId xmlns:a16="http://schemas.microsoft.com/office/drawing/2014/main" id="{488F2AE1-079B-2FDE-22A4-0EB2F6373C51}"/>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物理结构设计</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fade">
                                      <p:cBhvr>
                                        <p:cTn id="7" dur="500"/>
                                        <p:tgtEl>
                                          <p:spTgt spid="12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fade">
                                      <p:cBhvr>
                                        <p:cTn id="12" dur="500"/>
                                        <p:tgtEl>
                                          <p:spTgt spid="122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796A588-68F9-26AB-0609-8CA47A7F8E8A}"/>
              </a:ext>
            </a:extLst>
          </p:cNvPr>
          <p:cNvSpPr/>
          <p:nvPr/>
        </p:nvSpPr>
        <p:spPr>
          <a:xfrm>
            <a:off x="195263" y="1189038"/>
            <a:ext cx="11304587" cy="868362"/>
          </a:xfrm>
          <a:prstGeom prst="rect">
            <a:avLst/>
          </a:prstGeom>
        </p:spPr>
        <p:txBody>
          <a:bodyPr>
            <a:spAutoFit/>
          </a:bodyPr>
          <a:lstStyle/>
          <a:p>
            <a:pPr lvl="1" algn="just">
              <a:lnSpc>
                <a:spcPct val="105000"/>
              </a:lnSpc>
              <a:spcAft>
                <a:spcPct val="35000"/>
              </a:spcAft>
              <a:buClr>
                <a:srgbClr val="0000FF"/>
              </a:buClr>
              <a:buFont typeface="Arial" charset="0"/>
              <a:buNone/>
              <a:defRPr/>
            </a:pP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例</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9.4】</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利用</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MySQL Workbench</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对</a:t>
            </a:r>
            <a:r>
              <a:rPr lang="en-US" altLang="zh-CN" sz="2400" b="1" dirty="0" err="1">
                <a:solidFill>
                  <a:srgbClr val="002060"/>
                </a:solidFill>
                <a:effectLst>
                  <a:outerShdw blurRad="38100" dist="38100" dir="2700000" algn="tl">
                    <a:srgbClr val="C0C0C0"/>
                  </a:outerShdw>
                </a:effectLst>
                <a:latin typeface="仿宋_GB2312" pitchFamily="49" charset="-122"/>
                <a:ea typeface="仿宋_GB2312" pitchFamily="49" charset="-122"/>
              </a:rPr>
              <a:t>student_manage</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的</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E-R</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图</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如下</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进行物理结构设计，</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 </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并将物理结构转换成</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SQL</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语句（正向工程） 。</a:t>
            </a:r>
          </a:p>
        </p:txBody>
      </p:sp>
      <p:sp>
        <p:nvSpPr>
          <p:cNvPr id="5" name="TextBox 6">
            <a:extLst>
              <a:ext uri="{FF2B5EF4-FFF2-40B4-BE49-F238E27FC236}">
                <a16:creationId xmlns:a16="http://schemas.microsoft.com/office/drawing/2014/main" id="{5049D150-7654-6A41-9C45-C9C23FDE6C68}"/>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物理结构设计</a:t>
            </a:r>
          </a:p>
        </p:txBody>
      </p:sp>
      <p:pic>
        <p:nvPicPr>
          <p:cNvPr id="6" name="Picture 67">
            <a:extLst>
              <a:ext uri="{FF2B5EF4-FFF2-40B4-BE49-F238E27FC236}">
                <a16:creationId xmlns:a16="http://schemas.microsoft.com/office/drawing/2014/main" id="{FBA17AB5-4F9E-338D-77DA-990F6E1BC3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7388" y="2565400"/>
            <a:ext cx="8712200" cy="328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325FF72-AB1D-D3CE-A8F9-9901006124FC}"/>
              </a:ext>
            </a:extLst>
          </p:cNvPr>
          <p:cNvSpPr/>
          <p:nvPr/>
        </p:nvSpPr>
        <p:spPr>
          <a:xfrm>
            <a:off x="195263" y="1189038"/>
            <a:ext cx="11304587" cy="868362"/>
          </a:xfrm>
          <a:prstGeom prst="rect">
            <a:avLst/>
          </a:prstGeom>
        </p:spPr>
        <p:txBody>
          <a:bodyPr>
            <a:spAutoFit/>
          </a:bodyPr>
          <a:lstStyle/>
          <a:p>
            <a:pPr lvl="1" algn="just">
              <a:lnSpc>
                <a:spcPct val="105000"/>
              </a:lnSpc>
              <a:spcAft>
                <a:spcPct val="35000"/>
              </a:spcAft>
              <a:buClr>
                <a:srgbClr val="0000FF"/>
              </a:buClr>
              <a:buFont typeface="Arial" charset="0"/>
              <a:buNone/>
              <a:defRPr/>
            </a:pP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练习</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 </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使用</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MySQL Workbench</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对</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例</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9.1】</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数据库系统进行物理结构设计，</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E-R</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图如下，并将物理结构转换成</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SQL</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语句（正向工程）。</a:t>
            </a:r>
          </a:p>
        </p:txBody>
      </p:sp>
      <p:sp>
        <p:nvSpPr>
          <p:cNvPr id="5" name="TextBox 6">
            <a:extLst>
              <a:ext uri="{FF2B5EF4-FFF2-40B4-BE49-F238E27FC236}">
                <a16:creationId xmlns:a16="http://schemas.microsoft.com/office/drawing/2014/main" id="{7B81720A-5D70-14E0-88FD-D42A37B8F76D}"/>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物理结构设计</a:t>
            </a:r>
          </a:p>
        </p:txBody>
      </p:sp>
      <p:pic>
        <p:nvPicPr>
          <p:cNvPr id="52228" name="Picture 3">
            <a:extLst>
              <a:ext uri="{FF2B5EF4-FFF2-40B4-BE49-F238E27FC236}">
                <a16:creationId xmlns:a16="http://schemas.microsoft.com/office/drawing/2014/main" id="{A041160E-300F-FEC6-45F0-21A488EFC4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463" y="2190750"/>
            <a:ext cx="2736850" cy="188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229" name="Picture 4">
            <a:extLst>
              <a:ext uri="{FF2B5EF4-FFF2-40B4-BE49-F238E27FC236}">
                <a16:creationId xmlns:a16="http://schemas.microsoft.com/office/drawing/2014/main" id="{114D3299-13A2-C6B9-E042-F9DD569628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4088" y="2095500"/>
            <a:ext cx="2813050" cy="190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230" name="Picture 5">
            <a:extLst>
              <a:ext uri="{FF2B5EF4-FFF2-40B4-BE49-F238E27FC236}">
                <a16:creationId xmlns:a16="http://schemas.microsoft.com/office/drawing/2014/main" id="{4B2714A0-8E4E-6D7A-144E-505F77143F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3050" y="2100263"/>
            <a:ext cx="1951038" cy="204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231" name="Picture 6">
            <a:extLst>
              <a:ext uri="{FF2B5EF4-FFF2-40B4-BE49-F238E27FC236}">
                <a16:creationId xmlns:a16="http://schemas.microsoft.com/office/drawing/2014/main" id="{B01544C5-A3D9-AB31-180F-0C2BDE9E9F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54938" y="2132013"/>
            <a:ext cx="2459037" cy="172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232" name="Picture 7">
            <a:extLst>
              <a:ext uri="{FF2B5EF4-FFF2-40B4-BE49-F238E27FC236}">
                <a16:creationId xmlns:a16="http://schemas.microsoft.com/office/drawing/2014/main" id="{D6797B53-0F6C-B848-AB5F-D7C644B2F5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33013" y="2251075"/>
            <a:ext cx="2043112" cy="182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233" name="Picture 2">
            <a:extLst>
              <a:ext uri="{FF2B5EF4-FFF2-40B4-BE49-F238E27FC236}">
                <a16:creationId xmlns:a16="http://schemas.microsoft.com/office/drawing/2014/main" id="{FA8623B1-2E9D-CB51-C7F2-CE93CE528A3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35350" y="3884613"/>
            <a:ext cx="5946775" cy="309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DC505B29-7C35-8755-8942-E72AFB24DEF1}"/>
              </a:ext>
            </a:extLst>
          </p:cNvPr>
          <p:cNvSpPr>
            <a:spLocks noChangeArrowheads="1"/>
          </p:cNvSpPr>
          <p:nvPr/>
        </p:nvSpPr>
        <p:spPr bwMode="auto">
          <a:xfrm>
            <a:off x="1490663" y="77788"/>
            <a:ext cx="6048375" cy="615950"/>
          </a:xfrm>
          <a:prstGeom prst="rect">
            <a:avLst/>
          </a:prstGeom>
          <a:noFill/>
          <a:ln>
            <a:noFill/>
          </a:ln>
        </p:spPr>
        <p:txBody>
          <a:bodyPr lIns="0" tIns="0" rIns="0" bIns="0" anchor="ctr">
            <a:spAutoFit/>
          </a:bodyPr>
          <a:lstStyle/>
          <a:p>
            <a:pPr>
              <a:buFont typeface="Arial" charset="0"/>
              <a:buNone/>
              <a:defRPr/>
            </a:pPr>
            <a:r>
              <a:rPr lang="zh-CN" altLang="en-US" sz="4000" b="1" dirty="0">
                <a:solidFill>
                  <a:schemeClr val="bg1"/>
                </a:solidFill>
                <a:latin typeface="+mn-ea"/>
                <a:ea typeface="+mn-ea"/>
              </a:rPr>
              <a:t>本讲内容回顾</a:t>
            </a:r>
          </a:p>
        </p:txBody>
      </p:sp>
      <p:sp>
        <p:nvSpPr>
          <p:cNvPr id="31" name="矩形 30">
            <a:extLst>
              <a:ext uri="{FF2B5EF4-FFF2-40B4-BE49-F238E27FC236}">
                <a16:creationId xmlns:a16="http://schemas.microsoft.com/office/drawing/2014/main" id="{2D04BEE9-9B19-76A2-DCFC-ABD669316767}"/>
              </a:ext>
            </a:extLst>
          </p:cNvPr>
          <p:cNvSpPr/>
          <p:nvPr/>
        </p:nvSpPr>
        <p:spPr>
          <a:xfrm>
            <a:off x="6242050" y="1774825"/>
            <a:ext cx="5113338" cy="868363"/>
          </a:xfrm>
          <a:prstGeom prst="rect">
            <a:avLst/>
          </a:prstGeom>
        </p:spPr>
        <p:txBody>
          <a:bodyPr>
            <a:spAutoFit/>
          </a:bodyPr>
          <a:lstStyle/>
          <a:p>
            <a:pPr lvl="1" algn="just">
              <a:lnSpc>
                <a:spcPct val="105000"/>
              </a:lnSpc>
              <a:spcAft>
                <a:spcPct val="35000"/>
              </a:spcAft>
              <a:buClr>
                <a:srgbClr val="0000FF"/>
              </a:buClr>
              <a:buFont typeface="Arial" charset="0"/>
              <a:buNone/>
              <a:defRPr/>
            </a:pP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收集需求，理解需求</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完成需求分析说明书。</a:t>
            </a:r>
          </a:p>
        </p:txBody>
      </p:sp>
      <p:sp>
        <p:nvSpPr>
          <p:cNvPr id="32" name="Text Box 4">
            <a:extLst>
              <a:ext uri="{FF2B5EF4-FFF2-40B4-BE49-F238E27FC236}">
                <a16:creationId xmlns:a16="http://schemas.microsoft.com/office/drawing/2014/main" id="{EBFBCA34-C157-763B-182B-FEF813A3FD67}"/>
              </a:ext>
            </a:extLst>
          </p:cNvPr>
          <p:cNvSpPr txBox="1">
            <a:spLocks noChangeArrowheads="1"/>
          </p:cNvSpPr>
          <p:nvPr/>
        </p:nvSpPr>
        <p:spPr bwMode="auto">
          <a:xfrm>
            <a:off x="1993900" y="1890713"/>
            <a:ext cx="2592388" cy="479425"/>
          </a:xfrm>
          <a:prstGeom prst="rect">
            <a:avLst/>
          </a:prstGeom>
          <a:solidFill>
            <a:srgbClr val="99CCFF"/>
          </a:solidFill>
          <a:ln w="9525">
            <a:solidFill>
              <a:schemeClr val="accent2"/>
            </a:solidFill>
            <a:miter lim="800000"/>
            <a:headEnd/>
            <a:tailEnd/>
          </a:ln>
          <a:effectLst/>
        </p:spPr>
        <p:txBody>
          <a:bodyPr>
            <a:spAutoFit/>
          </a:bodyPr>
          <a:lstStyle/>
          <a:p>
            <a:pPr algn="ctr">
              <a:lnSpc>
                <a:spcPct val="105000"/>
              </a:lnSpc>
              <a:buFont typeface="Arial" panose="020B0604020202020204" pitchFamily="34" charset="0"/>
              <a:buNone/>
              <a:defRPr/>
            </a:pPr>
            <a:r>
              <a:rPr lang="zh-CN" altLang="en-US" sz="2400" dirty="0">
                <a:solidFill>
                  <a:schemeClr val="accent6"/>
                </a:solidFill>
                <a:effectLst>
                  <a:outerShdw blurRad="38100" dist="38100" dir="2700000" algn="tl">
                    <a:srgbClr val="000000"/>
                  </a:outerShdw>
                </a:effectLst>
              </a:rPr>
              <a:t>需求分析</a:t>
            </a:r>
          </a:p>
        </p:txBody>
      </p:sp>
      <p:cxnSp>
        <p:nvCxnSpPr>
          <p:cNvPr id="53253" name="直接箭头连接符 6">
            <a:extLst>
              <a:ext uri="{FF2B5EF4-FFF2-40B4-BE49-F238E27FC236}">
                <a16:creationId xmlns:a16="http://schemas.microsoft.com/office/drawing/2014/main" id="{728340F3-D1D7-CA21-9D89-6D9BBE56D0BA}"/>
              </a:ext>
            </a:extLst>
          </p:cNvPr>
          <p:cNvCxnSpPr>
            <a:cxnSpLocks noChangeShapeType="1"/>
            <a:stCxn id="32" idx="3"/>
          </p:cNvCxnSpPr>
          <p:nvPr/>
        </p:nvCxnSpPr>
        <p:spPr bwMode="auto">
          <a:xfrm flipV="1">
            <a:off x="4586288" y="2130425"/>
            <a:ext cx="15113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下箭头 33">
            <a:extLst>
              <a:ext uri="{FF2B5EF4-FFF2-40B4-BE49-F238E27FC236}">
                <a16:creationId xmlns:a16="http://schemas.microsoft.com/office/drawing/2014/main" id="{BF8AE919-1194-3551-025F-A609FA2692C4}"/>
              </a:ext>
            </a:extLst>
          </p:cNvPr>
          <p:cNvSpPr>
            <a:spLocks noChangeArrowheads="1"/>
          </p:cNvSpPr>
          <p:nvPr/>
        </p:nvSpPr>
        <p:spPr bwMode="auto">
          <a:xfrm>
            <a:off x="3109913" y="2451100"/>
            <a:ext cx="323850" cy="403225"/>
          </a:xfrm>
          <a:prstGeom prst="downArrow">
            <a:avLst>
              <a:gd name="adj1" fmla="val 50000"/>
              <a:gd name="adj2" fmla="val 50006"/>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35" name="矩形 34">
            <a:extLst>
              <a:ext uri="{FF2B5EF4-FFF2-40B4-BE49-F238E27FC236}">
                <a16:creationId xmlns:a16="http://schemas.microsoft.com/office/drawing/2014/main" id="{15304465-58B6-BA4B-6D2C-9E9F7A50F2BE}"/>
              </a:ext>
            </a:extLst>
          </p:cNvPr>
          <p:cNvSpPr/>
          <p:nvPr/>
        </p:nvSpPr>
        <p:spPr>
          <a:xfrm>
            <a:off x="6242050" y="2855913"/>
            <a:ext cx="5113338" cy="479425"/>
          </a:xfrm>
          <a:prstGeom prst="rect">
            <a:avLst/>
          </a:prstGeom>
        </p:spPr>
        <p:txBody>
          <a:bodyPr>
            <a:spAutoFit/>
          </a:bodyPr>
          <a:lstStyle/>
          <a:p>
            <a:pPr lvl="1" algn="just">
              <a:lnSpc>
                <a:spcPct val="105000"/>
              </a:lnSpc>
              <a:spcAft>
                <a:spcPct val="35000"/>
              </a:spcAft>
              <a:buClr>
                <a:srgbClr val="0000FF"/>
              </a:buClr>
              <a:buFont typeface="Arial" charset="0"/>
              <a:buNone/>
              <a:defRPr/>
            </a:pP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建立概论模型</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画出</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E-R</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图。</a:t>
            </a:r>
          </a:p>
        </p:txBody>
      </p:sp>
      <p:sp>
        <p:nvSpPr>
          <p:cNvPr id="36" name="Text Box 4">
            <a:extLst>
              <a:ext uri="{FF2B5EF4-FFF2-40B4-BE49-F238E27FC236}">
                <a16:creationId xmlns:a16="http://schemas.microsoft.com/office/drawing/2014/main" id="{F9166601-E487-F73E-0705-133BFF15FC38}"/>
              </a:ext>
            </a:extLst>
          </p:cNvPr>
          <p:cNvSpPr txBox="1">
            <a:spLocks noChangeArrowheads="1"/>
          </p:cNvSpPr>
          <p:nvPr/>
        </p:nvSpPr>
        <p:spPr bwMode="auto">
          <a:xfrm>
            <a:off x="1993900" y="2970213"/>
            <a:ext cx="2592388" cy="450850"/>
          </a:xfrm>
          <a:prstGeom prst="rect">
            <a:avLst/>
          </a:prstGeom>
          <a:solidFill>
            <a:srgbClr val="99CCFF"/>
          </a:solidFill>
          <a:ln w="9525">
            <a:solidFill>
              <a:schemeClr val="accent2"/>
            </a:solidFill>
            <a:miter lim="800000"/>
            <a:headEnd/>
            <a:tailEnd/>
          </a:ln>
          <a:effectLst/>
        </p:spPr>
        <p:txBody>
          <a:bodyPr>
            <a:spAutoFit/>
          </a:bodyPr>
          <a:lstStyle/>
          <a:p>
            <a:pPr algn="ctr">
              <a:lnSpc>
                <a:spcPct val="105000"/>
              </a:lnSpc>
              <a:buFont typeface="Arial" panose="020B0604020202020204" pitchFamily="34" charset="0"/>
              <a:buNone/>
              <a:defRPr/>
            </a:pPr>
            <a:r>
              <a:rPr lang="zh-CN" altLang="en-US" sz="2400" dirty="0">
                <a:solidFill>
                  <a:schemeClr val="accent6"/>
                </a:solidFill>
                <a:effectLst>
                  <a:outerShdw blurRad="38100" dist="38100" dir="2700000" algn="tl">
                    <a:srgbClr val="000000"/>
                  </a:outerShdw>
                </a:effectLst>
              </a:rPr>
              <a:t>概念设计</a:t>
            </a:r>
          </a:p>
        </p:txBody>
      </p:sp>
      <p:cxnSp>
        <p:nvCxnSpPr>
          <p:cNvPr id="37" name="直接箭头连接符 36">
            <a:extLst>
              <a:ext uri="{FF2B5EF4-FFF2-40B4-BE49-F238E27FC236}">
                <a16:creationId xmlns:a16="http://schemas.microsoft.com/office/drawing/2014/main" id="{C82DE7E3-6BE1-0ECF-4820-2BC1DDAA12F8}"/>
              </a:ext>
            </a:extLst>
          </p:cNvPr>
          <p:cNvCxnSpPr>
            <a:cxnSpLocks noChangeShapeType="1"/>
            <a:stCxn id="36" idx="3"/>
          </p:cNvCxnSpPr>
          <p:nvPr/>
        </p:nvCxnSpPr>
        <p:spPr bwMode="auto">
          <a:xfrm>
            <a:off x="4586288" y="3195638"/>
            <a:ext cx="1511300" cy="15875"/>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下箭头 37">
            <a:extLst>
              <a:ext uri="{FF2B5EF4-FFF2-40B4-BE49-F238E27FC236}">
                <a16:creationId xmlns:a16="http://schemas.microsoft.com/office/drawing/2014/main" id="{135ABCC6-6278-D49D-812B-72EC2C3A6F10}"/>
              </a:ext>
            </a:extLst>
          </p:cNvPr>
          <p:cNvSpPr>
            <a:spLocks noChangeArrowheads="1"/>
          </p:cNvSpPr>
          <p:nvPr/>
        </p:nvSpPr>
        <p:spPr bwMode="auto">
          <a:xfrm>
            <a:off x="3109913" y="3532188"/>
            <a:ext cx="323850" cy="403225"/>
          </a:xfrm>
          <a:prstGeom prst="downArrow">
            <a:avLst>
              <a:gd name="adj1" fmla="val 50000"/>
              <a:gd name="adj2" fmla="val 50006"/>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39" name="矩形 38">
            <a:extLst>
              <a:ext uri="{FF2B5EF4-FFF2-40B4-BE49-F238E27FC236}">
                <a16:creationId xmlns:a16="http://schemas.microsoft.com/office/drawing/2014/main" id="{5FAD30E5-F3F0-DC90-31CB-B3778063DF91}"/>
              </a:ext>
            </a:extLst>
          </p:cNvPr>
          <p:cNvSpPr/>
          <p:nvPr/>
        </p:nvSpPr>
        <p:spPr>
          <a:xfrm>
            <a:off x="6242050" y="3927475"/>
            <a:ext cx="5688013" cy="479425"/>
          </a:xfrm>
          <a:prstGeom prst="rect">
            <a:avLst/>
          </a:prstGeom>
        </p:spPr>
        <p:txBody>
          <a:bodyPr>
            <a:spAutoFit/>
          </a:bodyPr>
          <a:lstStyle/>
          <a:p>
            <a:pPr lvl="1" algn="just">
              <a:lnSpc>
                <a:spcPct val="105000"/>
              </a:lnSpc>
              <a:spcAft>
                <a:spcPct val="35000"/>
              </a:spcAft>
              <a:buClr>
                <a:srgbClr val="0000FF"/>
              </a:buClr>
              <a:buFont typeface="Arial" charset="0"/>
              <a:buNone/>
              <a:defRPr/>
            </a:pP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建立逻辑模型</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给出关系模式。</a:t>
            </a:r>
          </a:p>
        </p:txBody>
      </p:sp>
      <p:sp>
        <p:nvSpPr>
          <p:cNvPr id="40" name="Text Box 4">
            <a:extLst>
              <a:ext uri="{FF2B5EF4-FFF2-40B4-BE49-F238E27FC236}">
                <a16:creationId xmlns:a16="http://schemas.microsoft.com/office/drawing/2014/main" id="{9AD9D0BB-8C1B-2764-CC3A-2CE0346C854D}"/>
              </a:ext>
            </a:extLst>
          </p:cNvPr>
          <p:cNvSpPr txBox="1">
            <a:spLocks noChangeArrowheads="1"/>
          </p:cNvSpPr>
          <p:nvPr/>
        </p:nvSpPr>
        <p:spPr bwMode="auto">
          <a:xfrm>
            <a:off x="1993900" y="4043363"/>
            <a:ext cx="2592388" cy="452437"/>
          </a:xfrm>
          <a:prstGeom prst="rect">
            <a:avLst/>
          </a:prstGeom>
          <a:solidFill>
            <a:srgbClr val="99CCFF"/>
          </a:solidFill>
          <a:ln w="9525">
            <a:solidFill>
              <a:schemeClr val="accent2"/>
            </a:solidFill>
            <a:miter lim="800000"/>
            <a:headEnd/>
            <a:tailEnd/>
          </a:ln>
          <a:effectLst/>
        </p:spPr>
        <p:txBody>
          <a:bodyPr>
            <a:spAutoFit/>
          </a:bodyPr>
          <a:lstStyle/>
          <a:p>
            <a:pPr algn="ctr">
              <a:lnSpc>
                <a:spcPct val="105000"/>
              </a:lnSpc>
              <a:buFont typeface="Arial" panose="020B0604020202020204" pitchFamily="34" charset="0"/>
              <a:buNone/>
              <a:defRPr/>
            </a:pPr>
            <a:r>
              <a:rPr lang="zh-CN" altLang="en-US" sz="2400" dirty="0">
                <a:solidFill>
                  <a:schemeClr val="accent6"/>
                </a:solidFill>
                <a:effectLst>
                  <a:outerShdw blurRad="38100" dist="38100" dir="2700000" algn="tl">
                    <a:srgbClr val="000000"/>
                  </a:outerShdw>
                </a:effectLst>
              </a:rPr>
              <a:t>逻辑设计</a:t>
            </a:r>
          </a:p>
        </p:txBody>
      </p:sp>
      <p:cxnSp>
        <p:nvCxnSpPr>
          <p:cNvPr id="41" name="直接箭头连接符 40">
            <a:extLst>
              <a:ext uri="{FF2B5EF4-FFF2-40B4-BE49-F238E27FC236}">
                <a16:creationId xmlns:a16="http://schemas.microsoft.com/office/drawing/2014/main" id="{E0538B3E-8B11-391E-5D7B-15348E51ADD5}"/>
              </a:ext>
            </a:extLst>
          </p:cNvPr>
          <p:cNvCxnSpPr>
            <a:cxnSpLocks noChangeShapeType="1"/>
            <a:stCxn id="40" idx="3"/>
          </p:cNvCxnSpPr>
          <p:nvPr/>
        </p:nvCxnSpPr>
        <p:spPr bwMode="auto">
          <a:xfrm>
            <a:off x="4586288" y="4268788"/>
            <a:ext cx="1511300" cy="14287"/>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下箭头 41">
            <a:extLst>
              <a:ext uri="{FF2B5EF4-FFF2-40B4-BE49-F238E27FC236}">
                <a16:creationId xmlns:a16="http://schemas.microsoft.com/office/drawing/2014/main" id="{BEA64896-7FBB-0A4A-3AE7-F4D7E14A7872}"/>
              </a:ext>
            </a:extLst>
          </p:cNvPr>
          <p:cNvSpPr>
            <a:spLocks noChangeArrowheads="1"/>
          </p:cNvSpPr>
          <p:nvPr/>
        </p:nvSpPr>
        <p:spPr bwMode="auto">
          <a:xfrm>
            <a:off x="3109913" y="4603750"/>
            <a:ext cx="323850" cy="403225"/>
          </a:xfrm>
          <a:prstGeom prst="downArrow">
            <a:avLst>
              <a:gd name="adj1" fmla="val 50000"/>
              <a:gd name="adj2" fmla="val 50006"/>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43" name="矩形 42">
            <a:extLst>
              <a:ext uri="{FF2B5EF4-FFF2-40B4-BE49-F238E27FC236}">
                <a16:creationId xmlns:a16="http://schemas.microsoft.com/office/drawing/2014/main" id="{D78E65FD-0664-AAB4-6A4A-BA9FE79E1AF8}"/>
              </a:ext>
            </a:extLst>
          </p:cNvPr>
          <p:cNvSpPr/>
          <p:nvPr/>
        </p:nvSpPr>
        <p:spPr>
          <a:xfrm>
            <a:off x="6242050" y="4997450"/>
            <a:ext cx="5616575" cy="866775"/>
          </a:xfrm>
          <a:prstGeom prst="rect">
            <a:avLst/>
          </a:prstGeom>
        </p:spPr>
        <p:txBody>
          <a:bodyPr>
            <a:spAutoFit/>
          </a:bodyPr>
          <a:lstStyle/>
          <a:p>
            <a:pPr lvl="1" algn="just">
              <a:lnSpc>
                <a:spcPct val="105000"/>
              </a:lnSpc>
              <a:spcAft>
                <a:spcPct val="35000"/>
              </a:spcAft>
              <a:buClr>
                <a:srgbClr val="0000FF"/>
              </a:buClr>
              <a:buFont typeface="Arial" charset="0"/>
              <a:buNone/>
              <a:defRPr/>
            </a:pP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建立物理模型</a:t>
            </a:r>
            <a:r>
              <a:rPr lang="en-US" altLang="zh-CN" sz="2400" b="1" dirty="0">
                <a:solidFill>
                  <a:srgbClr val="002060"/>
                </a:solidFill>
                <a:effectLst>
                  <a:outerShdw blurRad="38100" dist="38100" dir="2700000" algn="tl">
                    <a:srgbClr val="C0C0C0"/>
                  </a:outerShdw>
                </a:effectLst>
                <a:latin typeface="仿宋_GB2312" pitchFamily="49" charset="-122"/>
                <a:ea typeface="仿宋_GB2312" pitchFamily="49" charset="-122"/>
              </a:rPr>
              <a:t>——</a:t>
            </a:r>
            <a:r>
              <a:rPr lang="zh-CN" altLang="en-US" sz="2400" b="1" dirty="0">
                <a:solidFill>
                  <a:srgbClr val="002060"/>
                </a:solidFill>
                <a:effectLst>
                  <a:outerShdw blurRad="38100" dist="38100" dir="2700000" algn="tl">
                    <a:srgbClr val="C0C0C0"/>
                  </a:outerShdw>
                </a:effectLst>
                <a:latin typeface="仿宋_GB2312" pitchFamily="49" charset="-122"/>
                <a:ea typeface="仿宋_GB2312" pitchFamily="49" charset="-122"/>
              </a:rPr>
              <a:t>确定数据库的物理结构。</a:t>
            </a:r>
          </a:p>
        </p:txBody>
      </p:sp>
      <p:sp>
        <p:nvSpPr>
          <p:cNvPr id="44" name="Text Box 4">
            <a:extLst>
              <a:ext uri="{FF2B5EF4-FFF2-40B4-BE49-F238E27FC236}">
                <a16:creationId xmlns:a16="http://schemas.microsoft.com/office/drawing/2014/main" id="{7B63278B-4DF6-6051-17C9-57BFCF1DFE01}"/>
              </a:ext>
            </a:extLst>
          </p:cNvPr>
          <p:cNvSpPr txBox="1">
            <a:spLocks noChangeArrowheads="1"/>
          </p:cNvSpPr>
          <p:nvPr/>
        </p:nvSpPr>
        <p:spPr bwMode="auto">
          <a:xfrm>
            <a:off x="1993900" y="5133975"/>
            <a:ext cx="2592388" cy="454025"/>
          </a:xfrm>
          <a:prstGeom prst="rect">
            <a:avLst/>
          </a:prstGeom>
          <a:solidFill>
            <a:srgbClr val="99CCFF"/>
          </a:solidFill>
          <a:ln w="9525">
            <a:solidFill>
              <a:schemeClr val="accent2"/>
            </a:solidFill>
            <a:miter lim="800000"/>
            <a:headEnd/>
            <a:tailEnd/>
          </a:ln>
          <a:effectLst/>
        </p:spPr>
        <p:txBody>
          <a:bodyPr>
            <a:spAutoFit/>
          </a:bodyPr>
          <a:lstStyle/>
          <a:p>
            <a:pPr algn="ctr">
              <a:lnSpc>
                <a:spcPct val="105000"/>
              </a:lnSpc>
              <a:buFont typeface="Arial" panose="020B0604020202020204" pitchFamily="34" charset="0"/>
              <a:buNone/>
              <a:defRPr/>
            </a:pPr>
            <a:r>
              <a:rPr lang="zh-CN" altLang="en-US" sz="2400" dirty="0">
                <a:solidFill>
                  <a:schemeClr val="accent6"/>
                </a:solidFill>
                <a:effectLst>
                  <a:outerShdw blurRad="38100" dist="38100" dir="2700000" algn="tl">
                    <a:srgbClr val="000000"/>
                  </a:outerShdw>
                </a:effectLst>
              </a:rPr>
              <a:t>物理设计</a:t>
            </a:r>
          </a:p>
        </p:txBody>
      </p:sp>
      <p:cxnSp>
        <p:nvCxnSpPr>
          <p:cNvPr id="45" name="直接箭头连接符 44">
            <a:extLst>
              <a:ext uri="{FF2B5EF4-FFF2-40B4-BE49-F238E27FC236}">
                <a16:creationId xmlns:a16="http://schemas.microsoft.com/office/drawing/2014/main" id="{01071C33-6576-9CC0-2B02-051388EF21EE}"/>
              </a:ext>
            </a:extLst>
          </p:cNvPr>
          <p:cNvCxnSpPr>
            <a:cxnSpLocks noChangeShapeType="1"/>
            <a:stCxn id="44" idx="3"/>
          </p:cNvCxnSpPr>
          <p:nvPr/>
        </p:nvCxnSpPr>
        <p:spPr bwMode="auto">
          <a:xfrm>
            <a:off x="4586288" y="5360988"/>
            <a:ext cx="1511300" cy="14287"/>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fill="hold"/>
                                        <p:tgtEl>
                                          <p:spTgt spid="35"/>
                                        </p:tgtEl>
                                        <p:attrNameLst>
                                          <p:attrName>ppt_x</p:attrName>
                                        </p:attrNameLst>
                                      </p:cBhvr>
                                      <p:tavLst>
                                        <p:tav tm="0">
                                          <p:val>
                                            <p:strVal val="#ppt_x"/>
                                          </p:val>
                                        </p:tav>
                                        <p:tav tm="100000">
                                          <p:val>
                                            <p:strVal val="#ppt_x"/>
                                          </p:val>
                                        </p:tav>
                                      </p:tavLst>
                                    </p:anim>
                                    <p:anim calcmode="lin" valueType="num">
                                      <p:cBhvr additive="base">
                                        <p:cTn id="12" dur="500" fill="hold"/>
                                        <p:tgtEl>
                                          <p:spTgt spid="3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500" fill="hold"/>
                                        <p:tgtEl>
                                          <p:spTgt spid="36"/>
                                        </p:tgtEl>
                                        <p:attrNameLst>
                                          <p:attrName>ppt_x</p:attrName>
                                        </p:attrNameLst>
                                      </p:cBhvr>
                                      <p:tavLst>
                                        <p:tav tm="0">
                                          <p:val>
                                            <p:strVal val="#ppt_x"/>
                                          </p:val>
                                        </p:tav>
                                        <p:tav tm="100000">
                                          <p:val>
                                            <p:strVal val="#ppt_x"/>
                                          </p:val>
                                        </p:tav>
                                      </p:tavLst>
                                    </p:anim>
                                    <p:anim calcmode="lin" valueType="num">
                                      <p:cBhvr additive="base">
                                        <p:cTn id="16" dur="500" fill="hold"/>
                                        <p:tgtEl>
                                          <p:spTgt spid="3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anim calcmode="lin" valueType="num">
                                      <p:cBhvr additive="base">
                                        <p:cTn id="19" dur="500" fill="hold"/>
                                        <p:tgtEl>
                                          <p:spTgt spid="37"/>
                                        </p:tgtEl>
                                        <p:attrNameLst>
                                          <p:attrName>ppt_x</p:attrName>
                                        </p:attrNameLst>
                                      </p:cBhvr>
                                      <p:tavLst>
                                        <p:tav tm="0">
                                          <p:val>
                                            <p:strVal val="#ppt_x"/>
                                          </p:val>
                                        </p:tav>
                                        <p:tav tm="100000">
                                          <p:val>
                                            <p:strVal val="#ppt_x"/>
                                          </p:val>
                                        </p:tav>
                                      </p:tavLst>
                                    </p:anim>
                                    <p:anim calcmode="lin" valueType="num">
                                      <p:cBhvr additive="base">
                                        <p:cTn id="20"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8"/>
                                        </p:tgtEl>
                                        <p:attrNameLst>
                                          <p:attrName>style.visibility</p:attrName>
                                        </p:attrNameLst>
                                      </p:cBhvr>
                                      <p:to>
                                        <p:strVal val="visible"/>
                                      </p:to>
                                    </p:set>
                                    <p:anim calcmode="lin" valueType="num">
                                      <p:cBhvr additive="base">
                                        <p:cTn id="25" dur="500" fill="hold"/>
                                        <p:tgtEl>
                                          <p:spTgt spid="38"/>
                                        </p:tgtEl>
                                        <p:attrNameLst>
                                          <p:attrName>ppt_x</p:attrName>
                                        </p:attrNameLst>
                                      </p:cBhvr>
                                      <p:tavLst>
                                        <p:tav tm="0">
                                          <p:val>
                                            <p:strVal val="#ppt_x"/>
                                          </p:val>
                                        </p:tav>
                                        <p:tav tm="100000">
                                          <p:val>
                                            <p:strVal val="#ppt_x"/>
                                          </p:val>
                                        </p:tav>
                                      </p:tavLst>
                                    </p:anim>
                                    <p:anim calcmode="lin" valueType="num">
                                      <p:cBhvr additive="base">
                                        <p:cTn id="26" dur="500" fill="hold"/>
                                        <p:tgtEl>
                                          <p:spTgt spid="3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anim calcmode="lin" valueType="num">
                                      <p:cBhvr additive="base">
                                        <p:cTn id="29" dur="500" fill="hold"/>
                                        <p:tgtEl>
                                          <p:spTgt spid="39"/>
                                        </p:tgtEl>
                                        <p:attrNameLst>
                                          <p:attrName>ppt_x</p:attrName>
                                        </p:attrNameLst>
                                      </p:cBhvr>
                                      <p:tavLst>
                                        <p:tav tm="0">
                                          <p:val>
                                            <p:strVal val="#ppt_x"/>
                                          </p:val>
                                        </p:tav>
                                        <p:tav tm="100000">
                                          <p:val>
                                            <p:strVal val="#ppt_x"/>
                                          </p:val>
                                        </p:tav>
                                      </p:tavLst>
                                    </p:anim>
                                    <p:anim calcmode="lin" valueType="num">
                                      <p:cBhvr additive="base">
                                        <p:cTn id="30" dur="500" fill="hold"/>
                                        <p:tgtEl>
                                          <p:spTgt spid="3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anim calcmode="lin" valueType="num">
                                      <p:cBhvr additive="base">
                                        <p:cTn id="33" dur="500" fill="hold"/>
                                        <p:tgtEl>
                                          <p:spTgt spid="40"/>
                                        </p:tgtEl>
                                        <p:attrNameLst>
                                          <p:attrName>ppt_x</p:attrName>
                                        </p:attrNameLst>
                                      </p:cBhvr>
                                      <p:tavLst>
                                        <p:tav tm="0">
                                          <p:val>
                                            <p:strVal val="#ppt_x"/>
                                          </p:val>
                                        </p:tav>
                                        <p:tav tm="100000">
                                          <p:val>
                                            <p:strVal val="#ppt_x"/>
                                          </p:val>
                                        </p:tav>
                                      </p:tavLst>
                                    </p:anim>
                                    <p:anim calcmode="lin" valueType="num">
                                      <p:cBhvr additive="base">
                                        <p:cTn id="34" dur="500" fill="hold"/>
                                        <p:tgtEl>
                                          <p:spTgt spid="40"/>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1"/>
                                        </p:tgtEl>
                                        <p:attrNameLst>
                                          <p:attrName>style.visibility</p:attrName>
                                        </p:attrNameLst>
                                      </p:cBhvr>
                                      <p:to>
                                        <p:strVal val="visible"/>
                                      </p:to>
                                    </p:set>
                                    <p:anim calcmode="lin" valueType="num">
                                      <p:cBhvr additive="base">
                                        <p:cTn id="37" dur="500" fill="hold"/>
                                        <p:tgtEl>
                                          <p:spTgt spid="41"/>
                                        </p:tgtEl>
                                        <p:attrNameLst>
                                          <p:attrName>ppt_x</p:attrName>
                                        </p:attrNameLst>
                                      </p:cBhvr>
                                      <p:tavLst>
                                        <p:tav tm="0">
                                          <p:val>
                                            <p:strVal val="#ppt_x"/>
                                          </p:val>
                                        </p:tav>
                                        <p:tav tm="100000">
                                          <p:val>
                                            <p:strVal val="#ppt_x"/>
                                          </p:val>
                                        </p:tav>
                                      </p:tavLst>
                                    </p:anim>
                                    <p:anim calcmode="lin" valueType="num">
                                      <p:cBhvr additive="base">
                                        <p:cTn id="3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2"/>
                                        </p:tgtEl>
                                        <p:attrNameLst>
                                          <p:attrName>style.visibility</p:attrName>
                                        </p:attrNameLst>
                                      </p:cBhvr>
                                      <p:to>
                                        <p:strVal val="visible"/>
                                      </p:to>
                                    </p:set>
                                    <p:anim calcmode="lin" valueType="num">
                                      <p:cBhvr additive="base">
                                        <p:cTn id="43" dur="500" fill="hold"/>
                                        <p:tgtEl>
                                          <p:spTgt spid="42"/>
                                        </p:tgtEl>
                                        <p:attrNameLst>
                                          <p:attrName>ppt_x</p:attrName>
                                        </p:attrNameLst>
                                      </p:cBhvr>
                                      <p:tavLst>
                                        <p:tav tm="0">
                                          <p:val>
                                            <p:strVal val="#ppt_x"/>
                                          </p:val>
                                        </p:tav>
                                        <p:tav tm="100000">
                                          <p:val>
                                            <p:strVal val="#ppt_x"/>
                                          </p:val>
                                        </p:tav>
                                      </p:tavLst>
                                    </p:anim>
                                    <p:anim calcmode="lin" valueType="num">
                                      <p:cBhvr additive="base">
                                        <p:cTn id="44" dur="500" fill="hold"/>
                                        <p:tgtEl>
                                          <p:spTgt spid="4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anim calcmode="lin" valueType="num">
                                      <p:cBhvr additive="base">
                                        <p:cTn id="47" dur="500" fill="hold"/>
                                        <p:tgtEl>
                                          <p:spTgt spid="43"/>
                                        </p:tgtEl>
                                        <p:attrNameLst>
                                          <p:attrName>ppt_x</p:attrName>
                                        </p:attrNameLst>
                                      </p:cBhvr>
                                      <p:tavLst>
                                        <p:tav tm="0">
                                          <p:val>
                                            <p:strVal val="#ppt_x"/>
                                          </p:val>
                                        </p:tav>
                                        <p:tav tm="100000">
                                          <p:val>
                                            <p:strVal val="#ppt_x"/>
                                          </p:val>
                                        </p:tav>
                                      </p:tavLst>
                                    </p:anim>
                                    <p:anim calcmode="lin" valueType="num">
                                      <p:cBhvr additive="base">
                                        <p:cTn id="48" dur="500" fill="hold"/>
                                        <p:tgtEl>
                                          <p:spTgt spid="4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4"/>
                                        </p:tgtEl>
                                        <p:attrNameLst>
                                          <p:attrName>style.visibility</p:attrName>
                                        </p:attrNameLst>
                                      </p:cBhvr>
                                      <p:to>
                                        <p:strVal val="visible"/>
                                      </p:to>
                                    </p:set>
                                    <p:anim calcmode="lin" valueType="num">
                                      <p:cBhvr additive="base">
                                        <p:cTn id="51" dur="500" fill="hold"/>
                                        <p:tgtEl>
                                          <p:spTgt spid="44"/>
                                        </p:tgtEl>
                                        <p:attrNameLst>
                                          <p:attrName>ppt_x</p:attrName>
                                        </p:attrNameLst>
                                      </p:cBhvr>
                                      <p:tavLst>
                                        <p:tav tm="0">
                                          <p:val>
                                            <p:strVal val="#ppt_x"/>
                                          </p:val>
                                        </p:tav>
                                        <p:tav tm="100000">
                                          <p:val>
                                            <p:strVal val="#ppt_x"/>
                                          </p:val>
                                        </p:tav>
                                      </p:tavLst>
                                    </p:anim>
                                    <p:anim calcmode="lin" valueType="num">
                                      <p:cBhvr additive="base">
                                        <p:cTn id="52" dur="500" fill="hold"/>
                                        <p:tgtEl>
                                          <p:spTgt spid="44"/>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45"/>
                                        </p:tgtEl>
                                        <p:attrNameLst>
                                          <p:attrName>style.visibility</p:attrName>
                                        </p:attrNameLst>
                                      </p:cBhvr>
                                      <p:to>
                                        <p:strVal val="visible"/>
                                      </p:to>
                                    </p:set>
                                    <p:anim calcmode="lin" valueType="num">
                                      <p:cBhvr additive="base">
                                        <p:cTn id="55" dur="500" fill="hold"/>
                                        <p:tgtEl>
                                          <p:spTgt spid="45"/>
                                        </p:tgtEl>
                                        <p:attrNameLst>
                                          <p:attrName>ppt_x</p:attrName>
                                        </p:attrNameLst>
                                      </p:cBhvr>
                                      <p:tavLst>
                                        <p:tav tm="0">
                                          <p:val>
                                            <p:strVal val="#ppt_x"/>
                                          </p:val>
                                        </p:tav>
                                        <p:tav tm="100000">
                                          <p:val>
                                            <p:strVal val="#ppt_x"/>
                                          </p:val>
                                        </p:tav>
                                      </p:tavLst>
                                    </p:anim>
                                    <p:anim calcmode="lin" valueType="num">
                                      <p:cBhvr additive="base">
                                        <p:cTn id="56"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36" grpId="0" animBg="1"/>
      <p:bldP spid="38" grpId="0" animBg="1"/>
      <p:bldP spid="39" grpId="0"/>
      <p:bldP spid="40" grpId="0" animBg="1"/>
      <p:bldP spid="42" grpId="0" animBg="1"/>
      <p:bldP spid="43" grpId="0"/>
      <p:bldP spid="4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WordArt 3">
            <a:extLst>
              <a:ext uri="{FF2B5EF4-FFF2-40B4-BE49-F238E27FC236}">
                <a16:creationId xmlns:a16="http://schemas.microsoft.com/office/drawing/2014/main" id="{535B7543-D492-209A-CCD8-D5B0B37BC4E2}"/>
              </a:ext>
            </a:extLst>
          </p:cNvPr>
          <p:cNvSpPr>
            <a:spLocks noChangeArrowheads="1" noChangeShapeType="1" noTextEdit="1"/>
          </p:cNvSpPr>
          <p:nvPr/>
        </p:nvSpPr>
        <p:spPr bwMode="gray">
          <a:xfrm>
            <a:off x="2498725" y="3235325"/>
            <a:ext cx="7683500" cy="863600"/>
          </a:xfrm>
          <a:prstGeom prst="rect">
            <a:avLst/>
          </a:prstGeom>
        </p:spPr>
        <p:txBody>
          <a:bodyPr wrap="none" fromWordArt="1">
            <a:prstTxWarp prst="textDeflate">
              <a:avLst>
                <a:gd name="adj" fmla="val 0"/>
              </a:avLst>
            </a:prstTxWarp>
          </a:bodyPr>
          <a:lstStyle/>
          <a:p>
            <a:pPr algn="ctr"/>
            <a:r>
              <a:rPr lang="en-US" altLang="zh-CN" sz="3600" b="1" i="1" kern="10">
                <a:ln w="19050">
                  <a:solidFill>
                    <a:schemeClr val="bg1"/>
                  </a:solidFill>
                  <a:round/>
                  <a:headEnd/>
                  <a:tailEnd/>
                </a:ln>
                <a:gradFill rotWithShape="1">
                  <a:gsLst>
                    <a:gs pos="0">
                      <a:schemeClr val="tx1"/>
                    </a:gs>
                    <a:gs pos="100000">
                      <a:schemeClr val="hlink"/>
                    </a:gs>
                  </a:gsLst>
                  <a:lin ang="0" scaled="1"/>
                </a:gradFill>
                <a:effectLst>
                  <a:outerShdw dist="63500" dir="2212194" algn="ctr" rotWithShape="0">
                    <a:schemeClr val="tx2">
                      <a:alpha val="50000"/>
                    </a:schemeClr>
                  </a:outerShdw>
                </a:effectLst>
                <a:cs typeface="Arial" panose="020B0604020202020204" pitchFamily="34" charset="0"/>
              </a:rPr>
              <a:t>Thank You !</a:t>
            </a:r>
            <a:endParaRPr lang="zh-CN" altLang="en-US" sz="3600" b="1" i="1" kern="10">
              <a:ln w="19050">
                <a:solidFill>
                  <a:schemeClr val="bg1"/>
                </a:solidFill>
                <a:round/>
                <a:headEnd/>
                <a:tailEnd/>
              </a:ln>
              <a:gradFill rotWithShape="1">
                <a:gsLst>
                  <a:gs pos="0">
                    <a:schemeClr val="tx1"/>
                  </a:gs>
                  <a:gs pos="100000">
                    <a:schemeClr val="hlink"/>
                  </a:gs>
                </a:gsLst>
                <a:lin ang="0" scaled="1"/>
              </a:gradFill>
              <a:effectLst>
                <a:outerShdw dist="63500" dir="2212194" algn="ctr" rotWithShape="0">
                  <a:schemeClr val="tx2">
                    <a:alpha val="50000"/>
                  </a:schemeClr>
                </a:outerShdw>
              </a:effectLst>
              <a:cs typeface="Arial" panose="020B0604020202020204" pitchFamily="34" charset="0"/>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a:spPr>
      <a:bodyPr anchor="ctr"/>
      <a:lstStyle>
        <a:defPPr algn="ctr">
          <a:defRPr sz="3200" b="1" dirty="0">
            <a:solidFill>
              <a:schemeClr val="bg1"/>
            </a:solidFill>
            <a:latin typeface="微软雅黑" pitchFamily="34" charset="-122"/>
            <a:ea typeface="微软雅黑"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alt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11932</TotalTime>
  <Pages>0</Pages>
  <Words>3304</Words>
  <Characters>0</Characters>
  <Application>Microsoft Office PowerPoint</Application>
  <DocSecurity>0</DocSecurity>
  <PresentationFormat>自定义</PresentationFormat>
  <Lines>0</Lines>
  <Paragraphs>288</Paragraphs>
  <Slides>44</Slides>
  <Notes>4</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44</vt:i4>
      </vt:variant>
    </vt:vector>
  </HeadingPairs>
  <TitlesOfParts>
    <vt:vector size="59" baseType="lpstr">
      <vt:lpstr>Arial</vt:lpstr>
      <vt:lpstr>宋体</vt:lpstr>
      <vt:lpstr>Franklin Gothic Medium</vt:lpstr>
      <vt:lpstr>微软雅黑</vt:lpstr>
      <vt:lpstr>Calibri</vt:lpstr>
      <vt:lpstr>Franklin Gothic Book</vt:lpstr>
      <vt:lpstr>黑体</vt:lpstr>
      <vt:lpstr>Impact</vt:lpstr>
      <vt:lpstr>Aharoni</vt:lpstr>
      <vt:lpstr>华文行楷</vt:lpstr>
      <vt:lpstr>Times New Roman</vt:lpstr>
      <vt:lpstr>仿宋_GB2312</vt:lpstr>
      <vt:lpstr>Wingdings</vt:lpstr>
      <vt:lpstr>楷体_GB2312</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PC</dc:creator>
  <cp:lastModifiedBy>zhuigz Lc</cp:lastModifiedBy>
  <cp:revision>464</cp:revision>
  <dcterms:created xsi:type="dcterms:W3CDTF">2014-10-24T14:22:44Z</dcterms:created>
  <dcterms:modified xsi:type="dcterms:W3CDTF">2026-09-22T11:15:46Z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2052-9.1.0.4855</vt:lpwstr>
  </property>
</Properties>
</file>