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653" r:id="rId2"/>
    <p:sldId id="257" r:id="rId3"/>
    <p:sldId id="625" r:id="rId4"/>
    <p:sldId id="676" r:id="rId5"/>
    <p:sldId id="626" r:id="rId6"/>
    <p:sldId id="629" r:id="rId7"/>
    <p:sldId id="654" r:id="rId8"/>
    <p:sldId id="627" r:id="rId9"/>
    <p:sldId id="632" r:id="rId10"/>
    <p:sldId id="655" r:id="rId11"/>
    <p:sldId id="658" r:id="rId12"/>
    <p:sldId id="657" r:id="rId13"/>
    <p:sldId id="659" r:id="rId14"/>
    <p:sldId id="661" r:id="rId15"/>
    <p:sldId id="660" r:id="rId16"/>
    <p:sldId id="662" r:id="rId17"/>
    <p:sldId id="663" r:id="rId18"/>
    <p:sldId id="664" r:id="rId19"/>
    <p:sldId id="665" r:id="rId20"/>
    <p:sldId id="666" r:id="rId21"/>
    <p:sldId id="667" r:id="rId22"/>
    <p:sldId id="668" r:id="rId23"/>
    <p:sldId id="669" r:id="rId24"/>
    <p:sldId id="670" r:id="rId25"/>
    <p:sldId id="677" r:id="rId26"/>
    <p:sldId id="672" r:id="rId27"/>
    <p:sldId id="678" r:id="rId28"/>
    <p:sldId id="673" r:id="rId29"/>
    <p:sldId id="674" r:id="rId30"/>
    <p:sldId id="675" r:id="rId31"/>
    <p:sldId id="608" r:id="rId32"/>
  </p:sldIdLst>
  <p:sldSz cx="1219835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47"/>
    <a:srgbClr val="3366FF"/>
    <a:srgbClr val="8AC739"/>
    <a:srgbClr val="FF9933"/>
    <a:srgbClr val="FF9900"/>
    <a:srgbClr val="CC9900"/>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2818" autoAdjust="0"/>
  </p:normalViewPr>
  <p:slideViewPr>
    <p:cSldViewPr>
      <p:cViewPr varScale="1">
        <p:scale>
          <a:sx n="102" d="100"/>
          <a:sy n="102" d="100"/>
        </p:scale>
        <p:origin x="894" y="114"/>
      </p:cViewPr>
      <p:guideLst>
        <p:guide orient="horz" pos="2102"/>
        <p:guide pos="3841"/>
      </p:guideLst>
    </p:cSldViewPr>
  </p:slideViewPr>
  <p:notesTextViewPr>
    <p:cViewPr>
      <p:scale>
        <a:sx n="100" d="100"/>
        <a:sy n="100" d="100"/>
      </p:scale>
      <p:origin x="0" y="0"/>
    </p:cViewPr>
  </p:notesTextViewPr>
  <p:sorterViewPr>
    <p:cViewPr>
      <p:scale>
        <a:sx n="100" d="100"/>
        <a:sy n="100" d="100"/>
      </p:scale>
      <p:origin x="0" y="2604"/>
    </p:cViewPr>
  </p:sorterViewPr>
  <p:notesViewPr>
    <p:cSldViewPr>
      <p:cViewPr varScale="1">
        <p:scale>
          <a:sx n="54" d="100"/>
          <a:sy n="54" d="100"/>
        </p:scale>
        <p:origin x="-2880"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9EDB22F-649D-90E2-78D0-5DC0A125EDB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charset="0"/>
              <a:buNone/>
              <a:defRPr sz="1200">
                <a:latin typeface="Arial" charset="0"/>
                <a:ea typeface="宋体"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0A3E9601-A5AD-74AC-3D79-3D712FDAA3B6}"/>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charset="0"/>
              <a:buNone/>
              <a:defRPr sz="1200">
                <a:latin typeface="Arial" charset="0"/>
                <a:ea typeface="宋体" pitchFamily="2" charset="-122"/>
              </a:defRPr>
            </a:lvl1pPr>
          </a:lstStyle>
          <a:p>
            <a:pPr>
              <a:defRPr/>
            </a:pPr>
            <a:fld id="{2CD0493E-F833-49CA-BBC3-8E9C5E0B37CB}" type="datetimeFigureOut">
              <a:rPr lang="zh-CN" altLang="en-US"/>
              <a:pPr>
                <a:defRPr/>
              </a:pPr>
              <a:t>2026/9/22</a:t>
            </a:fld>
            <a:endParaRPr lang="zh-CN" altLang="en-US"/>
          </a:p>
        </p:txBody>
      </p:sp>
      <p:sp>
        <p:nvSpPr>
          <p:cNvPr id="4" name="页脚占位符 3">
            <a:extLst>
              <a:ext uri="{FF2B5EF4-FFF2-40B4-BE49-F238E27FC236}">
                <a16:creationId xmlns:a16="http://schemas.microsoft.com/office/drawing/2014/main" id="{879EA9A6-9645-D4CD-E499-23252C50EEB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charset="0"/>
              <a:buNone/>
              <a:defRPr sz="1200">
                <a:latin typeface="Arial" charset="0"/>
                <a:ea typeface="宋体" pitchFamily="2" charset="-122"/>
              </a:defRPr>
            </a:lvl1pPr>
          </a:lstStyle>
          <a:p>
            <a:pPr>
              <a:defRPr/>
            </a:pPr>
            <a:endParaRPr lang="zh-CN" altLang="en-US"/>
          </a:p>
        </p:txBody>
      </p:sp>
      <p:sp>
        <p:nvSpPr>
          <p:cNvPr id="5" name="灯片编号占位符 4">
            <a:extLst>
              <a:ext uri="{FF2B5EF4-FFF2-40B4-BE49-F238E27FC236}">
                <a16:creationId xmlns:a16="http://schemas.microsoft.com/office/drawing/2014/main" id="{282F68BF-F616-37C0-FA7C-6298FC2B8571}"/>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4349E66-7528-44D3-B5AD-C1D2FC5D4696}"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C6BE4690-5896-9E17-AEEA-9D29F2081E02}"/>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1" name="日期占位符 2">
            <a:extLst>
              <a:ext uri="{FF2B5EF4-FFF2-40B4-BE49-F238E27FC236}">
                <a16:creationId xmlns:a16="http://schemas.microsoft.com/office/drawing/2014/main" id="{A7791C86-F301-2ABF-B99E-7D65211D0F9C}"/>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28656EAF-1EEA-405F-B3DC-8A78FC096219}" type="datetime1">
              <a:rPr lang="zh-CN" altLang="en-US"/>
              <a:pPr>
                <a:defRPr/>
              </a:pPr>
              <a:t>2026/9/22</a:t>
            </a:fld>
            <a:endParaRPr lang="en-US" altLang="zh-CN" sz="1200"/>
          </a:p>
        </p:txBody>
      </p:sp>
      <p:sp>
        <p:nvSpPr>
          <p:cNvPr id="34820" name="幻灯片图像占位符 3">
            <a:extLst>
              <a:ext uri="{FF2B5EF4-FFF2-40B4-BE49-F238E27FC236}">
                <a16:creationId xmlns:a16="http://schemas.microsoft.com/office/drawing/2014/main" id="{9373B540-8105-C0D3-531E-A2252C48CF03}"/>
              </a:ext>
            </a:extLst>
          </p:cNvPr>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25" name="备注占位符 4">
            <a:extLst>
              <a:ext uri="{FF2B5EF4-FFF2-40B4-BE49-F238E27FC236}">
                <a16:creationId xmlns:a16="http://schemas.microsoft.com/office/drawing/2014/main" id="{4E8D0FEF-F97B-D7B7-FD81-66A7452C90B2}"/>
              </a:ext>
            </a:extLst>
          </p:cNvPr>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spcBef>
                <a:spcPct val="30000"/>
              </a:spcBef>
              <a:buFont typeface="Arial" charset="0"/>
              <a:buNone/>
              <a:defRPr/>
            </a:pPr>
            <a:r>
              <a:rPr lang="zh-CN" altLang="en-US" sz="1200">
                <a:solidFill>
                  <a:srgbClr val="000000"/>
                </a:solidFill>
              </a:rPr>
              <a:t>单击此处编辑母版文本样式</a:t>
            </a:r>
          </a:p>
          <a:p>
            <a:pPr>
              <a:spcBef>
                <a:spcPct val="30000"/>
              </a:spcBef>
              <a:buFont typeface="Arial" charset="0"/>
              <a:buNone/>
              <a:defRPr/>
            </a:pPr>
            <a:r>
              <a:rPr lang="zh-CN" altLang="en-US" sz="1200">
                <a:solidFill>
                  <a:srgbClr val="000000"/>
                </a:solidFill>
              </a:rPr>
              <a:t>第二级</a:t>
            </a:r>
          </a:p>
          <a:p>
            <a:pPr>
              <a:spcBef>
                <a:spcPct val="30000"/>
              </a:spcBef>
              <a:buFont typeface="Arial" charset="0"/>
              <a:buNone/>
              <a:defRPr/>
            </a:pPr>
            <a:r>
              <a:rPr lang="zh-CN" altLang="en-US" sz="1200">
                <a:solidFill>
                  <a:srgbClr val="000000"/>
                </a:solidFill>
              </a:rPr>
              <a:t>第三级</a:t>
            </a:r>
          </a:p>
          <a:p>
            <a:pPr>
              <a:spcBef>
                <a:spcPct val="30000"/>
              </a:spcBef>
              <a:buFont typeface="Arial" charset="0"/>
              <a:buNone/>
              <a:defRPr/>
            </a:pPr>
            <a:r>
              <a:rPr lang="zh-CN" altLang="en-US" sz="1200">
                <a:solidFill>
                  <a:srgbClr val="000000"/>
                </a:solidFill>
              </a:rPr>
              <a:t>第四级</a:t>
            </a:r>
          </a:p>
          <a:p>
            <a:pPr>
              <a:spcBef>
                <a:spcPct val="30000"/>
              </a:spcBef>
              <a:buFont typeface="Arial" charset="0"/>
              <a:buNone/>
              <a:defRPr/>
            </a:pPr>
            <a:r>
              <a:rPr lang="zh-CN" altLang="en-US" sz="1200">
                <a:solidFill>
                  <a:srgbClr val="000000"/>
                </a:solidFill>
              </a:rPr>
              <a:t>第五级</a:t>
            </a:r>
            <a:endParaRPr lang="zh-CN" altLang="en-US"/>
          </a:p>
        </p:txBody>
      </p:sp>
      <p:sp>
        <p:nvSpPr>
          <p:cNvPr id="2054" name="页脚占位符 5">
            <a:extLst>
              <a:ext uri="{FF2B5EF4-FFF2-40B4-BE49-F238E27FC236}">
                <a16:creationId xmlns:a16="http://schemas.microsoft.com/office/drawing/2014/main" id="{B8D79172-7458-C800-E1BB-E23A130BED4D}"/>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5" name="灯片编号占位符 6">
            <a:extLst>
              <a:ext uri="{FF2B5EF4-FFF2-40B4-BE49-F238E27FC236}">
                <a16:creationId xmlns:a16="http://schemas.microsoft.com/office/drawing/2014/main" id="{E125B761-A48D-07CE-EE89-1DCCC77493BA}"/>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a:lvl1pPr>
          </a:lstStyle>
          <a:p>
            <a:fld id="{0248147A-2194-456E-8BB5-23069A20957B}" type="slidenum">
              <a:rPr lang="zh-CN" altLang="en-US"/>
              <a:pPr/>
              <a:t>‹#›</a:t>
            </a:fld>
            <a:endParaRPr lang="en-US" altLang="zh-CN"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D75DD301-38AE-52EB-1A2D-2004236A0525}"/>
              </a:ext>
            </a:extLst>
          </p:cNvPr>
          <p:cNvSpPr>
            <a:spLocks noGrp="1" noRot="1" noChangeAspect="1" noTextEdit="1"/>
          </p:cNvSpPr>
          <p:nvPr>
            <p:ph type="sldImg"/>
          </p:nvPr>
        </p:nvSpPr>
        <p:spPr/>
      </p:sp>
      <p:sp>
        <p:nvSpPr>
          <p:cNvPr id="35843" name="备注占位符 2">
            <a:extLst>
              <a:ext uri="{FF2B5EF4-FFF2-40B4-BE49-F238E27FC236}">
                <a16:creationId xmlns:a16="http://schemas.microsoft.com/office/drawing/2014/main" id="{981522B6-9A8E-0548-D2F5-097DB8B714BA}"/>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4" name="日期占位符 3">
            <a:extLst>
              <a:ext uri="{FF2B5EF4-FFF2-40B4-BE49-F238E27FC236}">
                <a16:creationId xmlns:a16="http://schemas.microsoft.com/office/drawing/2014/main" id="{F4AE6F2A-A19E-D2EA-DF6A-C0BB1D8A5339}"/>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8CE6F3A-B63A-444E-AF99-1F2D6824B945}" type="datetime1">
              <a:rPr lang="zh-CN" altLang="en-US" smtClean="0"/>
              <a:pPr/>
              <a:t>2026/9/22</a:t>
            </a:fld>
            <a:endParaRPr lang="en-US" altLang="zh-CN" sz="1200"/>
          </a:p>
        </p:txBody>
      </p:sp>
      <p:sp>
        <p:nvSpPr>
          <p:cNvPr id="35845" name="灯片编号占位符 4">
            <a:extLst>
              <a:ext uri="{FF2B5EF4-FFF2-40B4-BE49-F238E27FC236}">
                <a16:creationId xmlns:a16="http://schemas.microsoft.com/office/drawing/2014/main" id="{88794F9B-08FB-30AA-D949-503E79C656F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BA55B6D6-BE4E-4430-9E30-133B502CAD22}" type="slidenum">
              <a:rPr lang="zh-CN" altLang="en-US"/>
              <a:pPr/>
              <a:t>1</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07902925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90264463"/>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01446017"/>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24023041"/>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74870143"/>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51020898"/>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66090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5694133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977848172"/>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26514075"/>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37868130"/>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燕尾形 7">
            <a:extLst>
              <a:ext uri="{FF2B5EF4-FFF2-40B4-BE49-F238E27FC236}">
                <a16:creationId xmlns:a16="http://schemas.microsoft.com/office/drawing/2014/main" id="{E86A3BF7-9CAB-74E8-B903-76E408117261}"/>
              </a:ext>
            </a:extLst>
          </p:cNvPr>
          <p:cNvSpPr>
            <a:spLocks noChangeArrowheads="1"/>
          </p:cNvSpPr>
          <p:nvPr userDrawn="1"/>
        </p:nvSpPr>
        <p:spPr bwMode="auto">
          <a:xfrm>
            <a:off x="1130300" y="0"/>
            <a:ext cx="7718425" cy="846138"/>
          </a:xfrm>
          <a:prstGeom prst="chevron">
            <a:avLst>
              <a:gd name="adj" fmla="val 2461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353DFC37-1ECF-8FFD-713F-7C9F778877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7520" y="101786"/>
            <a:ext cx="1014366" cy="642566"/>
          </a:xfrm>
          <a:prstGeom prst="rect">
            <a:avLst/>
          </a:prstGeom>
          <a:ln>
            <a:noFill/>
          </a:ln>
          <a:effectLst>
            <a:softEdge rad="112500"/>
          </a:effectLst>
        </p:spPr>
      </p:pic>
      <p:sp>
        <p:nvSpPr>
          <p:cNvPr id="4" name="矩形 3">
            <a:extLst>
              <a:ext uri="{FF2B5EF4-FFF2-40B4-BE49-F238E27FC236}">
                <a16:creationId xmlns:a16="http://schemas.microsoft.com/office/drawing/2014/main" id="{61A04F74-23F8-2270-0FD4-BF7BF62BCFA3}"/>
              </a:ext>
            </a:extLst>
          </p:cNvPr>
          <p:cNvSpPr/>
          <p:nvPr userDrawn="1"/>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extLst>
      <p:ext uri="{BB962C8B-B14F-4D97-AF65-F5344CB8AC3E}">
        <p14:creationId xmlns:p14="http://schemas.microsoft.com/office/powerpoint/2010/main" val="270240246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609600" y="1600200"/>
            <a:ext cx="10979150" cy="4525963"/>
          </a:xfrm>
          <a:prstGeom prst="rect">
            <a:avLst/>
          </a:prstGeom>
        </p:spPr>
        <p:txBody>
          <a:bodyPr/>
          <a:lstStyle/>
          <a:p>
            <a:pPr lvl="0"/>
            <a:endParaRPr lang="zh-CN" altLang="en-US" noProof="0">
              <a:sym typeface="Calibri" pitchFamily="34" charset="0"/>
            </a:endParaRPr>
          </a:p>
        </p:txBody>
      </p:sp>
    </p:spTree>
    <p:extLst>
      <p:ext uri="{BB962C8B-B14F-4D97-AF65-F5344CB8AC3E}">
        <p14:creationId xmlns:p14="http://schemas.microsoft.com/office/powerpoint/2010/main" val="3740830589"/>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FAFAFA"/>
            </a:gs>
            <a:gs pos="50000">
              <a:srgbClr val="FBFBFB"/>
            </a:gs>
            <a:gs pos="100000">
              <a:srgbClr val="FCFCFC"/>
            </a:gs>
          </a:gsLst>
          <a:lin ang="5400000" scaled="1"/>
        </a:gradFill>
        <a:effectLst/>
      </p:bgPr>
    </p:bg>
    <p:spTree>
      <p:nvGrpSpPr>
        <p:cNvPr id="1" name=""/>
        <p:cNvGrpSpPr/>
        <p:nvPr/>
      </p:nvGrpSpPr>
      <p:grpSpPr>
        <a:xfrm>
          <a:off x="0" y="0"/>
          <a:ext cx="0" cy="0"/>
          <a:chOff x="0" y="0"/>
          <a:chExt cx="0" cy="0"/>
        </a:xfrm>
      </p:grpSpPr>
      <p:sp>
        <p:nvSpPr>
          <p:cNvPr id="1026" name="矩形 2">
            <a:extLst>
              <a:ext uri="{FF2B5EF4-FFF2-40B4-BE49-F238E27FC236}">
                <a16:creationId xmlns:a16="http://schemas.microsoft.com/office/drawing/2014/main" id="{E07EFE1C-AE37-CE9B-B14B-6080B13E4D89}"/>
              </a:ext>
            </a:extLst>
          </p:cNvPr>
          <p:cNvSpPr>
            <a:spLocks noChangeArrowheads="1"/>
          </p:cNvSpPr>
          <p:nvPr/>
        </p:nvSpPr>
        <p:spPr bwMode="auto">
          <a:xfrm>
            <a:off x="0" y="854075"/>
            <a:ext cx="12198350" cy="115888"/>
          </a:xfrm>
          <a:prstGeom prst="rect">
            <a:avLst/>
          </a:prstGeom>
          <a:solidFill>
            <a:srgbClr val="A5A5A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7" name="椭圆 14">
            <a:extLst>
              <a:ext uri="{FF2B5EF4-FFF2-40B4-BE49-F238E27FC236}">
                <a16:creationId xmlns:a16="http://schemas.microsoft.com/office/drawing/2014/main" id="{D1F3AE0D-6F6B-D69B-C3A1-A44D14C117DA}"/>
              </a:ext>
            </a:extLst>
          </p:cNvPr>
          <p:cNvSpPr>
            <a:spLocks noChangeArrowheads="1"/>
          </p:cNvSpPr>
          <p:nvPr/>
        </p:nvSpPr>
        <p:spPr bwMode="auto">
          <a:xfrm>
            <a:off x="804863" y="866775"/>
            <a:ext cx="85725" cy="87313"/>
          </a:xfrm>
          <a:prstGeom prst="ellipse">
            <a:avLst/>
          </a:prstGeom>
          <a:solidFill>
            <a:srgbClr val="F6F6F6"/>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8" name="椭圆 14">
            <a:extLst>
              <a:ext uri="{FF2B5EF4-FFF2-40B4-BE49-F238E27FC236}">
                <a16:creationId xmlns:a16="http://schemas.microsoft.com/office/drawing/2014/main" id="{39D21420-7788-634A-CE4F-A38DEF06F4F7}"/>
              </a:ext>
            </a:extLst>
          </p:cNvPr>
          <p:cNvSpPr>
            <a:spLocks noChangeAspect="1" noChangeArrowheads="1"/>
          </p:cNvSpPr>
          <p:nvPr/>
        </p:nvSpPr>
        <p:spPr bwMode="auto">
          <a:xfrm>
            <a:off x="565150" y="188913"/>
            <a:ext cx="563563" cy="719137"/>
          </a:xfrm>
          <a:custGeom>
            <a:avLst/>
            <a:gdLst>
              <a:gd name="T0" fmla="*/ 18 w 683568"/>
              <a:gd name="T1" fmla="*/ 0 h 864094"/>
              <a:gd name="T2" fmla="*/ 36 w 683568"/>
              <a:gd name="T3" fmla="*/ 29 h 864094"/>
              <a:gd name="T4" fmla="*/ 31 w 683568"/>
              <a:gd name="T5" fmla="*/ 50 h 864094"/>
              <a:gd name="T6" fmla="*/ 18 w 683568"/>
              <a:gd name="T7" fmla="*/ 74 h 864094"/>
              <a:gd name="T8" fmla="*/ 6 w 683568"/>
              <a:gd name="T9" fmla="*/ 50 h 864094"/>
              <a:gd name="T10" fmla="*/ 3 w 683568"/>
              <a:gd name="T11" fmla="*/ 47 h 864094"/>
              <a:gd name="T12" fmla="*/ 3 w 683568"/>
              <a:gd name="T13" fmla="*/ 47 h 864094"/>
              <a:gd name="T14" fmla="*/ 3 w 683568"/>
              <a:gd name="T15" fmla="*/ 47 h 864094"/>
              <a:gd name="T16" fmla="*/ 0 w 683568"/>
              <a:gd name="T17" fmla="*/ 29 h 864094"/>
              <a:gd name="T18" fmla="*/ 18 w 683568"/>
              <a:gd name="T19" fmla="*/ 0 h 864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568"/>
              <a:gd name="T31" fmla="*/ 0 h 864094"/>
              <a:gd name="T32" fmla="*/ 683568 w 683568"/>
              <a:gd name="T33" fmla="*/ 864094 h 8640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029" name="Text Box 7">
            <a:extLst>
              <a:ext uri="{FF2B5EF4-FFF2-40B4-BE49-F238E27FC236}">
                <a16:creationId xmlns:a16="http://schemas.microsoft.com/office/drawing/2014/main" id="{1B2861A3-82A6-6867-D3E3-033C3A6AEA1F}"/>
              </a:ext>
            </a:extLst>
          </p:cNvPr>
          <p:cNvSpPr>
            <a:spLocks noChangeArrowheads="1"/>
          </p:cNvSpPr>
          <p:nvPr/>
        </p:nvSpPr>
        <p:spPr bwMode="auto">
          <a:xfrm>
            <a:off x="644525" y="288925"/>
            <a:ext cx="692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E3D1E99-3965-4E99-933D-AF3751575E38}" type="slidenum">
              <a:rPr lang="zh-CN" altLang="en-US">
                <a:solidFill>
                  <a:schemeClr val="bg1"/>
                </a:solidFill>
                <a:sym typeface="Calibri" panose="020F0502020204030204" pitchFamily="34" charset="0"/>
              </a:rPr>
              <a:pPr/>
              <a:t>‹#›</a:t>
            </a:fld>
            <a:endParaRPr lang="en-US" altLang="zh-CN">
              <a:solidFill>
                <a:schemeClr val="bg1"/>
              </a:solidFill>
              <a:sym typeface="Calibri" panose="020F0502020204030204" pitchFamily="34" charset="0"/>
            </a:endParaRPr>
          </a:p>
        </p:txBody>
      </p:sp>
      <p:sp>
        <p:nvSpPr>
          <p:cNvPr id="1030" name="燕尾形 1">
            <a:extLst>
              <a:ext uri="{FF2B5EF4-FFF2-40B4-BE49-F238E27FC236}">
                <a16:creationId xmlns:a16="http://schemas.microsoft.com/office/drawing/2014/main" id="{CD0D74DA-C723-54D4-BEB5-7C33B6B85F4F}"/>
              </a:ext>
            </a:extLst>
          </p:cNvPr>
          <p:cNvSpPr>
            <a:spLocks noChangeArrowheads="1"/>
          </p:cNvSpPr>
          <p:nvPr/>
        </p:nvSpPr>
        <p:spPr bwMode="auto">
          <a:xfrm>
            <a:off x="117792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31" name="燕尾形 9">
            <a:extLst>
              <a:ext uri="{FF2B5EF4-FFF2-40B4-BE49-F238E27FC236}">
                <a16:creationId xmlns:a16="http://schemas.microsoft.com/office/drawing/2014/main" id="{629087CC-2FF0-64AA-25FC-4AAA49F2CD0C}"/>
              </a:ext>
            </a:extLst>
          </p:cNvPr>
          <p:cNvSpPr>
            <a:spLocks noChangeArrowheads="1"/>
          </p:cNvSpPr>
          <p:nvPr/>
        </p:nvSpPr>
        <p:spPr bwMode="auto">
          <a:xfrm>
            <a:off x="119316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Tree>
  </p:cSld>
  <p:clrMap bg1="lt1" tx1="dk1" bg2="lt2" tx2="dk2" accent1="accent1" accent2="accent2" accent3="accent3" accent4="accent4" accent5="accent5" accent6="accent6" hlink="hlink" folHlink="folHlink"/>
  <p:sldLayoutIdLst>
    <p:sldLayoutId id="2147484293" r:id="rId1"/>
    <p:sldLayoutId id="2147484294" r:id="rId2"/>
    <p:sldLayoutId id="2147484295" r:id="rId3"/>
    <p:sldLayoutId id="2147484296" r:id="rId4"/>
    <p:sldLayoutId id="2147484297" r:id="rId5"/>
    <p:sldLayoutId id="2147484298" r:id="rId6"/>
    <p:sldLayoutId id="2147484299" r:id="rId7"/>
    <p:sldLayoutId id="2147484300" r:id="rId8"/>
    <p:sldLayoutId id="2147484301" r:id="rId9"/>
    <p:sldLayoutId id="2147484302" r:id="rId10"/>
    <p:sldLayoutId id="2147484303" r:id="rId11"/>
    <p:sldLayoutId id="2147484305" r:id="rId12"/>
    <p:sldLayoutId id="2147484304" r:id="rId13"/>
  </p:sldLayoutIdLst>
  <p:transition spd="slow"/>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5pPr>
      <a:lvl6pPr marL="13716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engmian">
            <a:extLst>
              <a:ext uri="{FF2B5EF4-FFF2-40B4-BE49-F238E27FC236}">
                <a16:creationId xmlns:a16="http://schemas.microsoft.com/office/drawing/2014/main" id="{7BD2F6B7-B0C7-1963-8451-45931A10B4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12230100"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Box 5">
            <a:extLst>
              <a:ext uri="{FF2B5EF4-FFF2-40B4-BE49-F238E27FC236}">
                <a16:creationId xmlns:a16="http://schemas.microsoft.com/office/drawing/2014/main" id="{479D7A6D-1DD5-4891-A548-FFFD83B26768}"/>
              </a:ext>
            </a:extLst>
          </p:cNvPr>
          <p:cNvSpPr>
            <a:spLocks noChangeArrowheads="1"/>
          </p:cNvSpPr>
          <p:nvPr/>
        </p:nvSpPr>
        <p:spPr bwMode="auto">
          <a:xfrm>
            <a:off x="1471613" y="4076700"/>
            <a:ext cx="79200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zh-CN" altLang="en-US" sz="3200" b="1">
                <a:solidFill>
                  <a:srgbClr val="002060"/>
                </a:solidFill>
                <a:latin typeface="宋体" panose="02010600030101010101" pitchFamily="2" charset="-122"/>
                <a:cs typeface="Aharoni" panose="02010803020104030203" pitchFamily="2" charset="-79"/>
              </a:rPr>
              <a:t>数据库虚拟教研室 制作</a:t>
            </a:r>
            <a:endParaRPr lang="zh-CN" altLang="zh-CN" sz="3200" b="1">
              <a:solidFill>
                <a:srgbClr val="002060"/>
              </a:solidFill>
              <a:latin typeface="宋体" panose="02010600030101010101" pitchFamily="2" charset="-122"/>
              <a:cs typeface="Aharoni" panose="02010803020104030203" pitchFamily="2" charset="-79"/>
            </a:endParaRPr>
          </a:p>
        </p:txBody>
      </p:sp>
      <p:sp>
        <p:nvSpPr>
          <p:cNvPr id="11" name="矩形 10">
            <a:extLst>
              <a:ext uri="{FF2B5EF4-FFF2-40B4-BE49-F238E27FC236}">
                <a16:creationId xmlns:a16="http://schemas.microsoft.com/office/drawing/2014/main" id="{BA835B78-79FB-4D90-570B-D6AED9C1098C}"/>
              </a:ext>
            </a:extLst>
          </p:cNvPr>
          <p:cNvSpPr/>
          <p:nvPr/>
        </p:nvSpPr>
        <p:spPr>
          <a:xfrm>
            <a:off x="1130830" y="46256"/>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pic>
        <p:nvPicPr>
          <p:cNvPr id="12" name="图片 11">
            <a:extLst>
              <a:ext uri="{FF2B5EF4-FFF2-40B4-BE49-F238E27FC236}">
                <a16:creationId xmlns:a16="http://schemas.microsoft.com/office/drawing/2014/main" id="{005EB980-8600-0FEA-6D3C-45F0F5252F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492" y="46256"/>
            <a:ext cx="1356121" cy="859057"/>
          </a:xfrm>
          <a:prstGeom prst="rect">
            <a:avLst/>
          </a:prstGeom>
          <a:ln>
            <a:noFill/>
          </a:ln>
          <a:effectLst>
            <a:softEdge rad="112500"/>
          </a:effectLst>
        </p:spPr>
      </p:pic>
      <p:sp>
        <p:nvSpPr>
          <p:cNvPr id="3078" name="TextBox 5">
            <a:extLst>
              <a:ext uri="{FF2B5EF4-FFF2-40B4-BE49-F238E27FC236}">
                <a16:creationId xmlns:a16="http://schemas.microsoft.com/office/drawing/2014/main" id="{01235178-EE84-898B-5D6C-37684C41041D}"/>
              </a:ext>
            </a:extLst>
          </p:cNvPr>
          <p:cNvSpPr>
            <a:spLocks noChangeArrowheads="1"/>
          </p:cNvSpPr>
          <p:nvPr/>
        </p:nvSpPr>
        <p:spPr bwMode="auto">
          <a:xfrm>
            <a:off x="1822450" y="1860550"/>
            <a:ext cx="72183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5400" b="1">
                <a:solidFill>
                  <a:srgbClr val="002060"/>
                </a:solidFill>
                <a:latin typeface="宋体" panose="02010600030101010101" pitchFamily="2" charset="-122"/>
                <a:cs typeface="Aharoni" panose="02010803020104030203" pitchFamily="2" charset="-79"/>
              </a:rPr>
              <a:t>《</a:t>
            </a:r>
            <a:r>
              <a:rPr lang="zh-CN" altLang="en-US" sz="5400" b="1">
                <a:solidFill>
                  <a:srgbClr val="002060"/>
                </a:solidFill>
                <a:latin typeface="华文行楷" panose="02010800040101010101" pitchFamily="2" charset="-122"/>
                <a:ea typeface="华文行楷" panose="02010800040101010101" pitchFamily="2" charset="-122"/>
                <a:cs typeface="Aharoni" panose="02010803020104030203" pitchFamily="2" charset="-79"/>
              </a:rPr>
              <a:t>数据库原理及应用</a:t>
            </a:r>
            <a:r>
              <a:rPr lang="en-US" altLang="zh-CN" sz="5400" b="1">
                <a:solidFill>
                  <a:srgbClr val="002060"/>
                </a:solidFill>
                <a:latin typeface="宋体" panose="02010600030101010101" pitchFamily="2" charset="-122"/>
                <a:cs typeface="Aharoni" panose="02010803020104030203" pitchFamily="2" charset="-79"/>
              </a:rPr>
              <a:t>》</a:t>
            </a:r>
            <a:endParaRPr lang="zh-CN" altLang="zh-CN" sz="5400" b="1">
              <a:solidFill>
                <a:srgbClr val="002060"/>
              </a:solidFill>
              <a:latin typeface="宋体" panose="02010600030101010101" pitchFamily="2" charset="-122"/>
              <a:cs typeface="Aharoni" panose="02010803020104030203" pitchFamily="2" charset="-79"/>
            </a:endParaRPr>
          </a:p>
        </p:txBody>
      </p:sp>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56173040-2F35-BE72-88CC-50996F4DBE74}"/>
              </a:ext>
            </a:extLst>
          </p:cNvPr>
          <p:cNvSpPr>
            <a:spLocks noChangeArrowheads="1"/>
          </p:cNvSpPr>
          <p:nvPr/>
        </p:nvSpPr>
        <p:spPr bwMode="auto">
          <a:xfrm>
            <a:off x="-11113" y="1588"/>
            <a:ext cx="3003551" cy="6862762"/>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latin typeface="Calibri" panose="020F0502020204030204" pitchFamily="34" charset="0"/>
              <a:sym typeface="Calibri" panose="020F0502020204030204" pitchFamily="34" charset="0"/>
            </a:endParaRPr>
          </a:p>
        </p:txBody>
      </p:sp>
      <p:sp>
        <p:nvSpPr>
          <p:cNvPr id="4099" name="文本框 52">
            <a:extLst>
              <a:ext uri="{FF2B5EF4-FFF2-40B4-BE49-F238E27FC236}">
                <a16:creationId xmlns:a16="http://schemas.microsoft.com/office/drawing/2014/main" id="{67A707E5-7F08-1AD7-02B1-A6D6C5312946}"/>
              </a:ext>
            </a:extLst>
          </p:cNvPr>
          <p:cNvSpPr>
            <a:spLocks noChangeArrowheads="1"/>
          </p:cNvSpPr>
          <p:nvPr/>
        </p:nvSpPr>
        <p:spPr bwMode="auto">
          <a:xfrm>
            <a:off x="301625" y="1408113"/>
            <a:ext cx="2376488"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 typeface="Arial" charset="0"/>
              <a:buNone/>
              <a:defRPr/>
            </a:pPr>
            <a:r>
              <a:rPr lang="zh-CN" altLang="en-US" sz="4000" b="1" dirty="0">
                <a:solidFill>
                  <a:schemeClr val="bg1"/>
                </a:solidFill>
                <a:latin typeface="+mn-ea"/>
                <a:ea typeface="+mn-ea"/>
              </a:rPr>
              <a:t>目</a:t>
            </a:r>
            <a:endParaRPr lang="en-US" altLang="zh-CN" sz="4000" b="1" dirty="0">
              <a:solidFill>
                <a:schemeClr val="bg1"/>
              </a:solidFill>
              <a:latin typeface="+mn-ea"/>
              <a:ea typeface="+mn-ea"/>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r>
              <a:rPr lang="zh-CN" altLang="en-US" sz="4000" b="1" dirty="0">
                <a:solidFill>
                  <a:schemeClr val="bg1"/>
                </a:solidFill>
                <a:latin typeface="+mn-ea"/>
                <a:ea typeface="+mn-ea"/>
              </a:rPr>
              <a:t>录</a:t>
            </a:r>
          </a:p>
        </p:txBody>
      </p:sp>
      <p:sp>
        <p:nvSpPr>
          <p:cNvPr id="4100" name="TextBox 10">
            <a:extLst>
              <a:ext uri="{FF2B5EF4-FFF2-40B4-BE49-F238E27FC236}">
                <a16:creationId xmlns:a16="http://schemas.microsoft.com/office/drawing/2014/main" id="{EBDBAE34-610C-5BB8-C8B9-2D6E43D7A4F9}"/>
              </a:ext>
            </a:extLst>
          </p:cNvPr>
          <p:cNvSpPr>
            <a:spLocks noChangeArrowheads="1"/>
          </p:cNvSpPr>
          <p:nvPr/>
        </p:nvSpPr>
        <p:spPr bwMode="auto">
          <a:xfrm>
            <a:off x="3651250" y="1019175"/>
            <a:ext cx="6696075" cy="553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1 </a:t>
            </a:r>
            <a:r>
              <a:rPr lang="zh-CN" altLang="en-US" sz="3600" b="1" dirty="0">
                <a:solidFill>
                  <a:srgbClr val="002060"/>
                </a:solidFill>
                <a:latin typeface="+mn-ea"/>
                <a:sym typeface="Impact" pitchFamily="34" charset="0"/>
              </a:rPr>
              <a:t>数据库安全性概述</a:t>
            </a:r>
          </a:p>
          <a:p>
            <a:pPr>
              <a:lnSpc>
                <a:spcPct val="15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2 </a:t>
            </a:r>
            <a:r>
              <a:rPr lang="zh-CN" altLang="en-US" sz="3600" b="1" dirty="0">
                <a:solidFill>
                  <a:srgbClr val="002060"/>
                </a:solidFill>
                <a:latin typeface="宋体" pitchFamily="2" charset="-122"/>
                <a:sym typeface="Impact" pitchFamily="34" charset="0"/>
              </a:rPr>
              <a:t>用户标识与鉴定</a:t>
            </a:r>
          </a:p>
          <a:p>
            <a:pPr>
              <a:lnSpc>
                <a:spcPct val="15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3 </a:t>
            </a:r>
            <a:r>
              <a:rPr lang="zh-CN" altLang="en-US" sz="3600" b="1" dirty="0">
                <a:solidFill>
                  <a:srgbClr val="002060"/>
                </a:solidFill>
                <a:latin typeface="宋体" pitchFamily="2" charset="-122"/>
                <a:sym typeface="Impact" pitchFamily="34" charset="0"/>
              </a:rPr>
              <a:t>存取控制（</a:t>
            </a:r>
            <a:r>
              <a:rPr lang="zh-CN" altLang="en-US" sz="3600" b="1" dirty="0">
                <a:solidFill>
                  <a:schemeClr val="accent2"/>
                </a:solidFill>
                <a:latin typeface="宋体" pitchFamily="2" charset="-122"/>
                <a:sym typeface="Impact" pitchFamily="34" charset="0"/>
              </a:rPr>
              <a:t>重难点</a:t>
            </a:r>
            <a:r>
              <a:rPr lang="zh-CN" altLang="en-US" sz="3600" b="1" dirty="0">
                <a:solidFill>
                  <a:srgbClr val="002060"/>
                </a:solidFill>
                <a:latin typeface="宋体" pitchFamily="2" charset="-122"/>
                <a:sym typeface="Impact" pitchFamily="34" charset="0"/>
              </a:rPr>
              <a:t>）</a:t>
            </a:r>
            <a:endParaRPr lang="en-US" altLang="zh-CN" sz="3600" b="1" dirty="0">
              <a:solidFill>
                <a:srgbClr val="002060"/>
              </a:solidFill>
              <a:latin typeface="宋体" pitchFamily="2" charset="-122"/>
              <a:sym typeface="Impact" pitchFamily="34" charset="0"/>
            </a:endParaRPr>
          </a:p>
          <a:p>
            <a:pPr>
              <a:lnSpc>
                <a:spcPct val="15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4 </a:t>
            </a:r>
            <a:r>
              <a:rPr lang="en-US" altLang="zh-CN" sz="3600" b="1" dirty="0">
                <a:solidFill>
                  <a:srgbClr val="002060"/>
                </a:solidFill>
                <a:latin typeface="宋体" pitchFamily="2" charset="-122"/>
                <a:sym typeface="Impact" pitchFamily="34" charset="0"/>
              </a:rPr>
              <a:t>ORACEL</a:t>
            </a:r>
            <a:r>
              <a:rPr lang="zh-CN" altLang="en-US" sz="3600" b="1" dirty="0">
                <a:solidFill>
                  <a:srgbClr val="002060"/>
                </a:solidFill>
                <a:latin typeface="宋体" pitchFamily="2" charset="-122"/>
                <a:sym typeface="Impact" pitchFamily="34" charset="0"/>
              </a:rPr>
              <a:t>权限控制（</a:t>
            </a:r>
            <a:r>
              <a:rPr lang="zh-CN" altLang="en-US" sz="3600" b="1" dirty="0">
                <a:solidFill>
                  <a:schemeClr val="accent2"/>
                </a:solidFill>
                <a:latin typeface="宋体" pitchFamily="2" charset="-122"/>
                <a:sym typeface="Impact" pitchFamily="34" charset="0"/>
              </a:rPr>
              <a:t>重难点</a:t>
            </a:r>
            <a:r>
              <a:rPr lang="zh-CN" altLang="en-US" sz="3600" b="1" dirty="0">
                <a:solidFill>
                  <a:srgbClr val="002060"/>
                </a:solidFill>
                <a:latin typeface="宋体" pitchFamily="2" charset="-122"/>
                <a:sym typeface="Impact" pitchFamily="34" charset="0"/>
              </a:rPr>
              <a:t>）</a:t>
            </a:r>
            <a:endParaRPr lang="en-US" altLang="zh-CN" sz="3600" b="1" dirty="0">
              <a:solidFill>
                <a:srgbClr val="002060"/>
              </a:solidFill>
              <a:latin typeface="宋体" pitchFamily="2" charset="-122"/>
              <a:sym typeface="Impact" pitchFamily="34" charset="0"/>
            </a:endParaRPr>
          </a:p>
          <a:p>
            <a:pPr>
              <a:lnSpc>
                <a:spcPct val="15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5 </a:t>
            </a:r>
            <a:r>
              <a:rPr lang="zh-CN" altLang="en-US" sz="3600" b="1" dirty="0">
                <a:solidFill>
                  <a:srgbClr val="002060"/>
                </a:solidFill>
                <a:latin typeface="宋体" pitchFamily="2" charset="-122"/>
                <a:sym typeface="Impact" pitchFamily="34" charset="0"/>
              </a:rPr>
              <a:t>视图</a:t>
            </a:r>
            <a:endParaRPr lang="en-US" altLang="zh-CN" sz="3600" b="1" dirty="0">
              <a:solidFill>
                <a:srgbClr val="002060"/>
              </a:solidFill>
              <a:latin typeface="宋体" pitchFamily="2" charset="-122"/>
              <a:sym typeface="Impact" pitchFamily="34" charset="0"/>
            </a:endParaRPr>
          </a:p>
          <a:p>
            <a:pPr>
              <a:lnSpc>
                <a:spcPct val="15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6 </a:t>
            </a:r>
            <a:r>
              <a:rPr lang="zh-CN" altLang="en-US" sz="3600" b="1" dirty="0">
                <a:solidFill>
                  <a:srgbClr val="002060"/>
                </a:solidFill>
                <a:latin typeface="宋体" pitchFamily="2" charset="-122"/>
                <a:sym typeface="Impact" pitchFamily="34" charset="0"/>
              </a:rPr>
              <a:t>审计</a:t>
            </a:r>
            <a:r>
              <a:rPr lang="zh-CN" altLang="en-US" sz="3600" b="1" dirty="0">
                <a:solidFill>
                  <a:srgbClr val="CD1F06"/>
                </a:solidFill>
                <a:latin typeface="宋体" pitchFamily="2" charset="-122"/>
                <a:sym typeface="Impact" pitchFamily="34" charset="0"/>
              </a:rPr>
              <a:t> </a:t>
            </a:r>
            <a:endParaRPr lang="en-US" altLang="zh-CN" sz="3600" b="1" dirty="0">
              <a:solidFill>
                <a:srgbClr val="CD1F06"/>
              </a:solidFill>
              <a:latin typeface="宋体" pitchFamily="2" charset="-122"/>
              <a:sym typeface="Impact" pitchFamily="34" charset="0"/>
            </a:endParaRPr>
          </a:p>
          <a:p>
            <a:pPr>
              <a:lnSpc>
                <a:spcPct val="15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7 </a:t>
            </a:r>
            <a:r>
              <a:rPr lang="zh-CN" altLang="en-US" sz="3600" b="1" dirty="0">
                <a:solidFill>
                  <a:srgbClr val="002060"/>
                </a:solidFill>
                <a:latin typeface="宋体" pitchFamily="2" charset="-122"/>
                <a:sym typeface="Impact" pitchFamily="34" charset="0"/>
              </a:rPr>
              <a:t>数据加密</a:t>
            </a:r>
            <a:endParaRPr lang="zh-CN" altLang="en-US" sz="3600" b="1" dirty="0">
              <a:solidFill>
                <a:srgbClr val="002060"/>
              </a:solidFill>
              <a:latin typeface="宋体" pitchFamily="2" charset="-122"/>
            </a:endParaRPr>
          </a:p>
        </p:txBody>
      </p:sp>
      <p:sp>
        <p:nvSpPr>
          <p:cNvPr id="8" name="TextBox 6">
            <a:extLst>
              <a:ext uri="{FF2B5EF4-FFF2-40B4-BE49-F238E27FC236}">
                <a16:creationId xmlns:a16="http://schemas.microsoft.com/office/drawing/2014/main" id="{A643F6FA-F379-D47C-05BA-63CE1D2EA20F}"/>
              </a:ext>
            </a:extLst>
          </p:cNvPr>
          <p:cNvSpPr>
            <a:spLocks noChangeArrowheads="1"/>
          </p:cNvSpPr>
          <p:nvPr/>
        </p:nvSpPr>
        <p:spPr bwMode="auto">
          <a:xfrm>
            <a:off x="3146425" y="131763"/>
            <a:ext cx="504031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第</a:t>
            </a:r>
            <a:r>
              <a:rPr lang="en-US" altLang="zh-CN" sz="4000" b="1" dirty="0">
                <a:solidFill>
                  <a:schemeClr val="bg1"/>
                </a:solidFill>
                <a:latin typeface="+mn-ea"/>
                <a:ea typeface="+mn-ea"/>
                <a:sym typeface="Impact" pitchFamily="34" charset="0"/>
              </a:rPr>
              <a:t>12</a:t>
            </a:r>
            <a:r>
              <a:rPr lang="zh-CN" altLang="en-US" sz="4000" b="1" dirty="0">
                <a:solidFill>
                  <a:schemeClr val="bg1"/>
                </a:solidFill>
                <a:latin typeface="+mn-ea"/>
                <a:ea typeface="+mn-ea"/>
                <a:sym typeface="Impact" pitchFamily="34" charset="0"/>
              </a:rPr>
              <a:t>章 数据库安全</a:t>
            </a:r>
            <a:endParaRPr lang="zh-CN" altLang="en-US" sz="4000" b="1" dirty="0">
              <a:solidFill>
                <a:schemeClr val="bg1"/>
              </a:solidFill>
              <a:latin typeface="+mn-ea"/>
              <a:ea typeface="+mn-ea"/>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731A748-A135-35CE-4F37-4EC7524086A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数据库安全性概述</a:t>
            </a:r>
          </a:p>
        </p:txBody>
      </p:sp>
      <p:sp>
        <p:nvSpPr>
          <p:cNvPr id="28" name="Text Box 5">
            <a:extLst>
              <a:ext uri="{FF2B5EF4-FFF2-40B4-BE49-F238E27FC236}">
                <a16:creationId xmlns:a16="http://schemas.microsoft.com/office/drawing/2014/main" id="{5A7F6A21-A4AB-5EAB-D11F-FC2A2B0EEC92}"/>
              </a:ext>
            </a:extLst>
          </p:cNvPr>
          <p:cNvSpPr txBox="1">
            <a:spLocks noChangeArrowheads="1"/>
          </p:cNvSpPr>
          <p:nvPr/>
        </p:nvSpPr>
        <p:spPr bwMode="auto">
          <a:xfrm>
            <a:off x="842963" y="1341438"/>
            <a:ext cx="10512425" cy="225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问题的提出：</a:t>
            </a:r>
          </a:p>
          <a:p>
            <a:pPr eaLnBrk="1" hangingPunct="1">
              <a:lnSpc>
                <a:spcPct val="110000"/>
              </a:lnSpc>
              <a:buClr>
                <a:srgbClr val="32C6CA"/>
              </a:buClr>
              <a:buSzPct val="80000"/>
              <a:buFont typeface="Wingdings" pitchFamily="2" charset="2"/>
              <a:buNone/>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    数据库的一大特点是数据可以共享， 但数据共享必然带来数据库的安全性问题， 数据库系统中的数据共享不能是无条件的共享，而是有条件的共享。 </a:t>
            </a:r>
          </a:p>
        </p:txBody>
      </p:sp>
      <p:sp>
        <p:nvSpPr>
          <p:cNvPr id="4" name="Text Box 5">
            <a:extLst>
              <a:ext uri="{FF2B5EF4-FFF2-40B4-BE49-F238E27FC236}">
                <a16:creationId xmlns:a16="http://schemas.microsoft.com/office/drawing/2014/main" id="{2151FA0B-2714-8825-A6D7-569A21342E26}"/>
              </a:ext>
            </a:extLst>
          </p:cNvPr>
          <p:cNvSpPr txBox="1">
            <a:spLocks noChangeArrowheads="1"/>
          </p:cNvSpPr>
          <p:nvPr/>
        </p:nvSpPr>
        <p:spPr bwMode="auto">
          <a:xfrm>
            <a:off x="835025" y="3860800"/>
            <a:ext cx="10512425" cy="171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    数据库中数据的共享是在</a:t>
            </a:r>
            <a:r>
              <a:rPr kumimoji="1" lang="en-US" altLang="zh-CN" sz="3200" b="1" dirty="0">
                <a:solidFill>
                  <a:srgbClr val="000066"/>
                </a:solidFill>
                <a:effectLst>
                  <a:outerShdw blurRad="38100" dist="38100" dir="2700000" algn="tl">
                    <a:srgbClr val="C0C0C0"/>
                  </a:outerShdw>
                </a:effectLst>
                <a:latin typeface="楷体_GB2312" pitchFamily="49" charset="-122"/>
                <a:ea typeface="楷体_GB2312" pitchFamily="49" charset="-122"/>
              </a:rPr>
              <a:t>DBMS</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统一的严格的控制之下的共享，即只允许有合法使用权限的用户访问允许他存取的数据。</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8136C29-CB86-0AFD-35C4-7231824FD0E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数据库安全性概述</a:t>
            </a:r>
          </a:p>
        </p:txBody>
      </p:sp>
      <p:sp>
        <p:nvSpPr>
          <p:cNvPr id="28" name="Text Box 5">
            <a:extLst>
              <a:ext uri="{FF2B5EF4-FFF2-40B4-BE49-F238E27FC236}">
                <a16:creationId xmlns:a16="http://schemas.microsoft.com/office/drawing/2014/main" id="{5C1AF0DB-B5EE-3DA1-0200-7BD259AB6091}"/>
              </a:ext>
            </a:extLst>
          </p:cNvPr>
          <p:cNvSpPr txBox="1">
            <a:spLocks noChangeArrowheads="1"/>
          </p:cNvSpPr>
          <p:nvPr/>
        </p:nvSpPr>
        <p:spPr bwMode="auto">
          <a:xfrm>
            <a:off x="842963" y="1341438"/>
            <a:ext cx="105124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数据库不安全的因素：</a:t>
            </a:r>
          </a:p>
        </p:txBody>
      </p:sp>
      <p:sp>
        <p:nvSpPr>
          <p:cNvPr id="4" name="Text Box 5">
            <a:extLst>
              <a:ext uri="{FF2B5EF4-FFF2-40B4-BE49-F238E27FC236}">
                <a16:creationId xmlns:a16="http://schemas.microsoft.com/office/drawing/2014/main" id="{C63E16D1-F6DF-3887-DAA4-015F4367FFDA}"/>
              </a:ext>
            </a:extLst>
          </p:cNvPr>
          <p:cNvSpPr txBox="1">
            <a:spLocks noChangeArrowheads="1"/>
          </p:cNvSpPr>
          <p:nvPr/>
        </p:nvSpPr>
        <p:spPr bwMode="auto">
          <a:xfrm>
            <a:off x="835025" y="2060575"/>
            <a:ext cx="10512425"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10000"/>
              </a:lnSpc>
              <a:buClr>
                <a:srgbClr val="32C6CA"/>
              </a:buClr>
              <a:buSzPct val="80000"/>
              <a:buFont typeface="Wingdings" panose="05000000000000000000" pitchFamily="2" charset="2"/>
              <a:buChar char="u"/>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非授权用户对数据库的恶意存取和破坏； </a:t>
            </a:r>
          </a:p>
        </p:txBody>
      </p:sp>
      <p:sp>
        <p:nvSpPr>
          <p:cNvPr id="5" name="Text Box 5">
            <a:extLst>
              <a:ext uri="{FF2B5EF4-FFF2-40B4-BE49-F238E27FC236}">
                <a16:creationId xmlns:a16="http://schemas.microsoft.com/office/drawing/2014/main" id="{E788D264-EC7E-716E-5E2C-B7E6CEE02ABC}"/>
              </a:ext>
            </a:extLst>
          </p:cNvPr>
          <p:cNvSpPr txBox="1">
            <a:spLocks noChangeArrowheads="1"/>
          </p:cNvSpPr>
          <p:nvPr/>
        </p:nvSpPr>
        <p:spPr bwMode="auto">
          <a:xfrm>
            <a:off x="863600" y="2852738"/>
            <a:ext cx="10512425"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10000"/>
              </a:lnSpc>
              <a:buClr>
                <a:srgbClr val="32C6CA"/>
              </a:buClr>
              <a:buSzPct val="80000"/>
              <a:buFont typeface="Wingdings" panose="05000000000000000000" pitchFamily="2" charset="2"/>
              <a:buChar char="u"/>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数据库中重要或敏感的数据被泄露；</a:t>
            </a:r>
          </a:p>
        </p:txBody>
      </p:sp>
      <p:sp>
        <p:nvSpPr>
          <p:cNvPr id="7" name="Text Box 5">
            <a:extLst>
              <a:ext uri="{FF2B5EF4-FFF2-40B4-BE49-F238E27FC236}">
                <a16:creationId xmlns:a16="http://schemas.microsoft.com/office/drawing/2014/main" id="{167BCF01-1166-D80A-DAFA-A98479C62849}"/>
              </a:ext>
            </a:extLst>
          </p:cNvPr>
          <p:cNvSpPr txBox="1">
            <a:spLocks noChangeArrowheads="1"/>
          </p:cNvSpPr>
          <p:nvPr/>
        </p:nvSpPr>
        <p:spPr bwMode="auto">
          <a:xfrm>
            <a:off x="842963" y="3716338"/>
            <a:ext cx="10512425"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10000"/>
              </a:lnSpc>
              <a:buClr>
                <a:srgbClr val="32C6CA"/>
              </a:buClr>
              <a:buSzPct val="80000"/>
              <a:buFont typeface="Wingdings" panose="05000000000000000000" pitchFamily="2" charset="2"/>
              <a:buChar char="u"/>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安全环境的脆弱性。 </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74D42FC-332F-BE9F-ADA6-325B51FDE21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数据库安全性概述</a:t>
            </a:r>
          </a:p>
        </p:txBody>
      </p:sp>
      <p:sp>
        <p:nvSpPr>
          <p:cNvPr id="4" name="Rectangle 4">
            <a:extLst>
              <a:ext uri="{FF2B5EF4-FFF2-40B4-BE49-F238E27FC236}">
                <a16:creationId xmlns:a16="http://schemas.microsoft.com/office/drawing/2014/main" id="{EFB89A39-675A-390D-41A5-83F02F3D9C79}"/>
              </a:ext>
            </a:extLst>
          </p:cNvPr>
          <p:cNvSpPr>
            <a:spLocks noChangeArrowheads="1"/>
          </p:cNvSpPr>
          <p:nvPr/>
        </p:nvSpPr>
        <p:spPr bwMode="auto">
          <a:xfrm>
            <a:off x="1203325" y="1284288"/>
            <a:ext cx="6870700"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20000"/>
              </a:spcBef>
              <a:buClr>
                <a:srgbClr val="0000FF"/>
              </a:buClr>
              <a:buFont typeface="Arial" charset="0"/>
              <a:buNone/>
              <a:defRPr/>
            </a:pP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数据库安全的保障：</a:t>
            </a:r>
          </a:p>
        </p:txBody>
      </p:sp>
      <p:sp>
        <p:nvSpPr>
          <p:cNvPr id="7" name="Rectangle 6">
            <a:extLst>
              <a:ext uri="{FF2B5EF4-FFF2-40B4-BE49-F238E27FC236}">
                <a16:creationId xmlns:a16="http://schemas.microsoft.com/office/drawing/2014/main" id="{4DB73B97-7AFE-26C9-98A8-7CB671737FC4}"/>
              </a:ext>
            </a:extLst>
          </p:cNvPr>
          <p:cNvSpPr>
            <a:spLocks noChangeArrowheads="1"/>
          </p:cNvSpPr>
          <p:nvPr/>
        </p:nvSpPr>
        <p:spPr bwMode="auto">
          <a:xfrm>
            <a:off x="1490663" y="2225675"/>
            <a:ext cx="1007268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5000"/>
              </a:lnSpc>
              <a:spcBef>
                <a:spcPct val="35000"/>
              </a:spcBef>
              <a:defRPr/>
            </a:pP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技术安全类：</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使用各种安全技术防止数据被非法访问；</a:t>
            </a:r>
          </a:p>
        </p:txBody>
      </p:sp>
      <p:sp>
        <p:nvSpPr>
          <p:cNvPr id="8" name="Rectangle 7">
            <a:extLst>
              <a:ext uri="{FF2B5EF4-FFF2-40B4-BE49-F238E27FC236}">
                <a16:creationId xmlns:a16="http://schemas.microsoft.com/office/drawing/2014/main" id="{387BB1CC-31C4-3260-0661-3E59BF3B3354}"/>
              </a:ext>
            </a:extLst>
          </p:cNvPr>
          <p:cNvSpPr>
            <a:spLocks noChangeArrowheads="1"/>
          </p:cNvSpPr>
          <p:nvPr/>
        </p:nvSpPr>
        <p:spPr bwMode="auto">
          <a:xfrm>
            <a:off x="1490663" y="3240088"/>
            <a:ext cx="842486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5000"/>
              </a:lnSpc>
              <a:spcBef>
                <a:spcPct val="35000"/>
              </a:spcBef>
              <a:defRPr/>
            </a:pP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管理安全类：</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加强安全管理，防止信息泄漏；</a:t>
            </a:r>
          </a:p>
        </p:txBody>
      </p:sp>
      <p:sp>
        <p:nvSpPr>
          <p:cNvPr id="9" name="Rectangle 8">
            <a:extLst>
              <a:ext uri="{FF2B5EF4-FFF2-40B4-BE49-F238E27FC236}">
                <a16:creationId xmlns:a16="http://schemas.microsoft.com/office/drawing/2014/main" id="{95445AAC-DA25-C1FF-2F4D-AE168BF1F2BD}"/>
              </a:ext>
            </a:extLst>
          </p:cNvPr>
          <p:cNvSpPr>
            <a:spLocks noChangeArrowheads="1"/>
          </p:cNvSpPr>
          <p:nvPr/>
        </p:nvSpPr>
        <p:spPr bwMode="auto">
          <a:xfrm>
            <a:off x="1490663" y="4365625"/>
            <a:ext cx="9871075"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5000"/>
              </a:lnSpc>
              <a:spcBef>
                <a:spcPct val="35000"/>
              </a:spcBef>
              <a:defRPr/>
            </a:pP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政策法律类：</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通过法律保障。</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2021</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年</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6</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月</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10</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日第十三届</a:t>
            </a:r>
            <a:endPar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5000"/>
              </a:spcBef>
              <a:defRPr/>
            </a:pP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全国人民代表大会常务委员会第二十九次会议通过</a:t>
            </a:r>
            <a:endPar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05000"/>
              </a:lnSpc>
              <a:spcBef>
                <a:spcPct val="35000"/>
              </a:spcBef>
              <a:defRPr/>
            </a:pP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中华人民共和国数据安全法</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7175" name="AutoShape 9">
            <a:extLst>
              <a:ext uri="{FF2B5EF4-FFF2-40B4-BE49-F238E27FC236}">
                <a16:creationId xmlns:a16="http://schemas.microsoft.com/office/drawing/2014/main" id="{C84604DE-D59B-C0E1-C184-AF88C75771AB}"/>
              </a:ext>
            </a:extLst>
          </p:cNvPr>
          <p:cNvSpPr>
            <a:spLocks/>
          </p:cNvSpPr>
          <p:nvPr/>
        </p:nvSpPr>
        <p:spPr bwMode="auto">
          <a:xfrm>
            <a:off x="984250" y="2530475"/>
            <a:ext cx="438150" cy="2095500"/>
          </a:xfrm>
          <a:prstGeom prst="leftBrace">
            <a:avLst>
              <a:gd name="adj1" fmla="val 39855"/>
              <a:gd name="adj2" fmla="val 50000"/>
            </a:avLst>
          </a:prstGeom>
          <a:noFill/>
          <a:ln w="381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b="1">
              <a:solidFill>
                <a:srgbClr val="002060"/>
              </a:solidFill>
            </a:endParaRPr>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D151E5D-FA23-D0A5-2CB1-DF102142F01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计算机系统中的安全模型</a:t>
            </a:r>
          </a:p>
        </p:txBody>
      </p:sp>
      <p:grpSp>
        <p:nvGrpSpPr>
          <p:cNvPr id="8195" name="Group 1051">
            <a:extLst>
              <a:ext uri="{FF2B5EF4-FFF2-40B4-BE49-F238E27FC236}">
                <a16:creationId xmlns:a16="http://schemas.microsoft.com/office/drawing/2014/main" id="{9B7BF5B9-8BE4-700F-857B-C5E502D1C061}"/>
              </a:ext>
            </a:extLst>
          </p:cNvPr>
          <p:cNvGrpSpPr>
            <a:grpSpLocks/>
          </p:cNvGrpSpPr>
          <p:nvPr/>
        </p:nvGrpSpPr>
        <p:grpSpPr bwMode="auto">
          <a:xfrm>
            <a:off x="1397000" y="1749425"/>
            <a:ext cx="8351838" cy="3970338"/>
            <a:chOff x="476" y="1110"/>
            <a:chExt cx="4812" cy="2319"/>
          </a:xfrm>
        </p:grpSpPr>
        <p:sp>
          <p:nvSpPr>
            <p:cNvPr id="8196" name="Oval 1027">
              <a:extLst>
                <a:ext uri="{FF2B5EF4-FFF2-40B4-BE49-F238E27FC236}">
                  <a16:creationId xmlns:a16="http://schemas.microsoft.com/office/drawing/2014/main" id="{A271CB58-9138-E610-C374-722C5A3A7088}"/>
                </a:ext>
              </a:extLst>
            </p:cNvPr>
            <p:cNvSpPr>
              <a:spLocks noChangeArrowheads="1"/>
            </p:cNvSpPr>
            <p:nvPr/>
          </p:nvSpPr>
          <p:spPr bwMode="auto">
            <a:xfrm>
              <a:off x="4248" y="1630"/>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197" name="Oval 1028">
              <a:extLst>
                <a:ext uri="{FF2B5EF4-FFF2-40B4-BE49-F238E27FC236}">
                  <a16:creationId xmlns:a16="http://schemas.microsoft.com/office/drawing/2014/main" id="{F5B25F30-ED46-C313-240F-113206949360}"/>
                </a:ext>
              </a:extLst>
            </p:cNvPr>
            <p:cNvSpPr>
              <a:spLocks noChangeArrowheads="1"/>
            </p:cNvSpPr>
            <p:nvPr/>
          </p:nvSpPr>
          <p:spPr bwMode="auto">
            <a:xfrm>
              <a:off x="3179" y="1630"/>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198" name="Oval 1029">
              <a:extLst>
                <a:ext uri="{FF2B5EF4-FFF2-40B4-BE49-F238E27FC236}">
                  <a16:creationId xmlns:a16="http://schemas.microsoft.com/office/drawing/2014/main" id="{BA09F229-BC83-EF0B-69B4-9E7F8E52DCD9}"/>
                </a:ext>
              </a:extLst>
            </p:cNvPr>
            <p:cNvSpPr>
              <a:spLocks noChangeArrowheads="1"/>
            </p:cNvSpPr>
            <p:nvPr/>
          </p:nvSpPr>
          <p:spPr bwMode="auto">
            <a:xfrm>
              <a:off x="2110" y="1630"/>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199" name="Oval 1030">
              <a:extLst>
                <a:ext uri="{FF2B5EF4-FFF2-40B4-BE49-F238E27FC236}">
                  <a16:creationId xmlns:a16="http://schemas.microsoft.com/office/drawing/2014/main" id="{2F15C2E4-8B1D-4A72-8257-36BC140E57C4}"/>
                </a:ext>
              </a:extLst>
            </p:cNvPr>
            <p:cNvSpPr>
              <a:spLocks noChangeArrowheads="1"/>
            </p:cNvSpPr>
            <p:nvPr/>
          </p:nvSpPr>
          <p:spPr bwMode="auto">
            <a:xfrm>
              <a:off x="1041" y="1630"/>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8200" name="Group 1049">
              <a:extLst>
                <a:ext uri="{FF2B5EF4-FFF2-40B4-BE49-F238E27FC236}">
                  <a16:creationId xmlns:a16="http://schemas.microsoft.com/office/drawing/2014/main" id="{E4B187E6-A7C3-7688-2DA1-21965AFF2595}"/>
                </a:ext>
              </a:extLst>
            </p:cNvPr>
            <p:cNvGrpSpPr>
              <a:grpSpLocks/>
            </p:cNvGrpSpPr>
            <p:nvPr/>
          </p:nvGrpSpPr>
          <p:grpSpPr bwMode="auto">
            <a:xfrm>
              <a:off x="1148" y="2052"/>
              <a:ext cx="3741" cy="336"/>
              <a:chOff x="1148" y="2286"/>
              <a:chExt cx="3741" cy="336"/>
            </a:xfrm>
          </p:grpSpPr>
          <p:sp>
            <p:nvSpPr>
              <p:cNvPr id="8210" name="Text Box 1032">
                <a:extLst>
                  <a:ext uri="{FF2B5EF4-FFF2-40B4-BE49-F238E27FC236}">
                    <a16:creationId xmlns:a16="http://schemas.microsoft.com/office/drawing/2014/main" id="{13ADAE55-D21D-1D82-6C4E-344E173FCBBB}"/>
                  </a:ext>
                </a:extLst>
              </p:cNvPr>
              <p:cNvSpPr txBox="1">
                <a:spLocks noChangeArrowheads="1"/>
              </p:cNvSpPr>
              <p:nvPr/>
            </p:nvSpPr>
            <p:spPr bwMode="auto">
              <a:xfrm>
                <a:off x="1148" y="2286"/>
                <a:ext cx="534" cy="336"/>
              </a:xfrm>
              <a:prstGeom prst="rect">
                <a:avLst/>
              </a:prstGeom>
              <a:solidFill>
                <a:srgbClr val="FFFF00"/>
              </a:solidFill>
              <a:ln w="9525">
                <a:solidFill>
                  <a:srgbClr val="000000"/>
                </a:solidFill>
                <a:miter lim="800000"/>
                <a:headEnd/>
                <a:tailEnd/>
              </a:ln>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Times New Roman" panose="02020603050405020304" pitchFamily="18" charset="0"/>
                  </a:rPr>
                  <a:t> </a:t>
                </a:r>
                <a:r>
                  <a:rPr lang="zh-CN" altLang="en-US" sz="2400" b="1">
                    <a:solidFill>
                      <a:srgbClr val="002060"/>
                    </a:solidFill>
                    <a:latin typeface="Times New Roman" panose="02020603050405020304" pitchFamily="18" charset="0"/>
                  </a:rPr>
                  <a:t>应用</a:t>
                </a:r>
              </a:p>
            </p:txBody>
          </p:sp>
          <p:sp>
            <p:nvSpPr>
              <p:cNvPr id="8211" name="Text Box 1033">
                <a:extLst>
                  <a:ext uri="{FF2B5EF4-FFF2-40B4-BE49-F238E27FC236}">
                    <a16:creationId xmlns:a16="http://schemas.microsoft.com/office/drawing/2014/main" id="{8111C61E-FFBA-A488-F0C2-94CC11391E86}"/>
                  </a:ext>
                </a:extLst>
              </p:cNvPr>
              <p:cNvSpPr txBox="1">
                <a:spLocks noChangeArrowheads="1"/>
              </p:cNvSpPr>
              <p:nvPr/>
            </p:nvSpPr>
            <p:spPr bwMode="auto">
              <a:xfrm>
                <a:off x="2217" y="2286"/>
                <a:ext cx="534" cy="336"/>
              </a:xfrm>
              <a:prstGeom prst="rect">
                <a:avLst/>
              </a:prstGeom>
              <a:solidFill>
                <a:srgbClr val="FFFF00"/>
              </a:solidFill>
              <a:ln w="9525">
                <a:solidFill>
                  <a:srgbClr val="000000"/>
                </a:solidFill>
                <a:miter lim="800000"/>
                <a:headEnd/>
                <a:tailEnd/>
              </a:ln>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2060"/>
                    </a:solidFill>
                    <a:latin typeface="Times New Roman" panose="02020603050405020304" pitchFamily="18" charset="0"/>
                  </a:rPr>
                  <a:t>DBMS</a:t>
                </a:r>
              </a:p>
            </p:txBody>
          </p:sp>
          <p:sp>
            <p:nvSpPr>
              <p:cNvPr id="8212" name="Text Box 1034">
                <a:extLst>
                  <a:ext uri="{FF2B5EF4-FFF2-40B4-BE49-F238E27FC236}">
                    <a16:creationId xmlns:a16="http://schemas.microsoft.com/office/drawing/2014/main" id="{04B847DF-5C3B-1F3C-D816-8F54F364ABDA}"/>
                  </a:ext>
                </a:extLst>
              </p:cNvPr>
              <p:cNvSpPr txBox="1">
                <a:spLocks noChangeArrowheads="1"/>
              </p:cNvSpPr>
              <p:nvPr/>
            </p:nvSpPr>
            <p:spPr bwMode="auto">
              <a:xfrm>
                <a:off x="3286" y="2286"/>
                <a:ext cx="534" cy="336"/>
              </a:xfrm>
              <a:prstGeom prst="rect">
                <a:avLst/>
              </a:prstGeom>
              <a:solidFill>
                <a:srgbClr val="FFFF00"/>
              </a:solidFill>
              <a:ln w="9525">
                <a:solidFill>
                  <a:srgbClr val="000000"/>
                </a:solidFill>
                <a:miter lim="800000"/>
                <a:headEnd/>
                <a:tailEnd/>
              </a:ln>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2060"/>
                    </a:solidFill>
                    <a:latin typeface="Times New Roman" panose="02020603050405020304" pitchFamily="18" charset="0"/>
                  </a:rPr>
                  <a:t>OS</a:t>
                </a:r>
                <a:r>
                  <a:rPr lang="en-US" altLang="zh-CN" sz="1000">
                    <a:latin typeface="Times New Roman" panose="02020603050405020304" pitchFamily="18" charset="0"/>
                  </a:rPr>
                  <a:t>  </a:t>
                </a:r>
              </a:p>
            </p:txBody>
          </p:sp>
          <p:sp>
            <p:nvSpPr>
              <p:cNvPr id="8213" name="Text Box 1035">
                <a:extLst>
                  <a:ext uri="{FF2B5EF4-FFF2-40B4-BE49-F238E27FC236}">
                    <a16:creationId xmlns:a16="http://schemas.microsoft.com/office/drawing/2014/main" id="{B529FA8A-5AF8-8AD2-8BA6-32844E770CC8}"/>
                  </a:ext>
                </a:extLst>
              </p:cNvPr>
              <p:cNvSpPr txBox="1">
                <a:spLocks noChangeArrowheads="1"/>
              </p:cNvSpPr>
              <p:nvPr/>
            </p:nvSpPr>
            <p:spPr bwMode="auto">
              <a:xfrm>
                <a:off x="4355" y="2286"/>
                <a:ext cx="534" cy="336"/>
              </a:xfrm>
              <a:prstGeom prst="rect">
                <a:avLst/>
              </a:prstGeom>
              <a:solidFill>
                <a:srgbClr val="FFFF00"/>
              </a:solidFill>
              <a:ln w="9525">
                <a:solidFill>
                  <a:srgbClr val="000000"/>
                </a:solidFill>
                <a:miter lim="800000"/>
                <a:headEnd/>
                <a:tailEnd/>
              </a:ln>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2060"/>
                    </a:solidFill>
                    <a:latin typeface="Times New Roman" panose="02020603050405020304" pitchFamily="18" charset="0"/>
                  </a:rPr>
                  <a:t> </a:t>
                </a:r>
                <a:r>
                  <a:rPr lang="en-US" altLang="zh-CN" b="1">
                    <a:solidFill>
                      <a:srgbClr val="002060"/>
                    </a:solidFill>
                    <a:latin typeface="Times New Roman" panose="02020603050405020304" pitchFamily="18" charset="0"/>
                  </a:rPr>
                  <a:t>DB</a:t>
                </a:r>
                <a:endParaRPr lang="en-US" altLang="zh-CN" sz="2000" b="1">
                  <a:solidFill>
                    <a:srgbClr val="002060"/>
                  </a:solidFill>
                  <a:latin typeface="Times New Roman" panose="02020603050405020304" pitchFamily="18" charset="0"/>
                </a:endParaRPr>
              </a:p>
            </p:txBody>
          </p:sp>
          <p:sp>
            <p:nvSpPr>
              <p:cNvPr id="8214" name="Line 1036">
                <a:extLst>
                  <a:ext uri="{FF2B5EF4-FFF2-40B4-BE49-F238E27FC236}">
                    <a16:creationId xmlns:a16="http://schemas.microsoft.com/office/drawing/2014/main" id="{9D7D8138-78C9-3D70-8365-036F50091A36}"/>
                  </a:ext>
                </a:extLst>
              </p:cNvPr>
              <p:cNvSpPr>
                <a:spLocks noChangeShapeType="1"/>
              </p:cNvSpPr>
              <p:nvPr/>
            </p:nvSpPr>
            <p:spPr bwMode="auto">
              <a:xfrm>
                <a:off x="1681" y="2450"/>
                <a:ext cx="534" cy="0"/>
              </a:xfrm>
              <a:prstGeom prst="line">
                <a:avLst/>
              </a:prstGeom>
              <a:noFill/>
              <a:ln w="38100">
                <a:solidFill>
                  <a:schemeClr val="accent2"/>
                </a:solidFill>
                <a:round/>
                <a:headEnd type="stealth" w="med" len="med"/>
                <a:tailEnd type="stealth" w="med" len="med"/>
              </a:ln>
              <a:extLst>
                <a:ext uri="{909E8E84-426E-40DD-AFC4-6F175D3DCCD1}">
                  <a14:hiddenFill xmlns:a14="http://schemas.microsoft.com/office/drawing/2010/main">
                    <a:noFill/>
                  </a14:hiddenFill>
                </a:ext>
              </a:extLst>
            </p:spPr>
            <p:txBody>
              <a:bodyPr lIns="0" tIns="82800" rIns="0"/>
              <a:lstStyle/>
              <a:p>
                <a:endParaRPr lang="zh-CN" altLang="en-US"/>
              </a:p>
            </p:txBody>
          </p:sp>
          <p:sp>
            <p:nvSpPr>
              <p:cNvPr id="8215" name="Line 1037">
                <a:extLst>
                  <a:ext uri="{FF2B5EF4-FFF2-40B4-BE49-F238E27FC236}">
                    <a16:creationId xmlns:a16="http://schemas.microsoft.com/office/drawing/2014/main" id="{13A6C4BF-3B70-DE04-5CB0-A5906AEBFC09}"/>
                  </a:ext>
                </a:extLst>
              </p:cNvPr>
              <p:cNvSpPr>
                <a:spLocks noChangeShapeType="1"/>
              </p:cNvSpPr>
              <p:nvPr/>
            </p:nvSpPr>
            <p:spPr bwMode="auto">
              <a:xfrm>
                <a:off x="2751" y="2441"/>
                <a:ext cx="535" cy="0"/>
              </a:xfrm>
              <a:prstGeom prst="line">
                <a:avLst/>
              </a:prstGeom>
              <a:noFill/>
              <a:ln w="38100">
                <a:solidFill>
                  <a:schemeClr val="accent2"/>
                </a:solidFill>
                <a:round/>
                <a:headEnd type="stealth" w="med" len="med"/>
                <a:tailEnd type="stealth" w="med" len="med"/>
              </a:ln>
              <a:extLst>
                <a:ext uri="{909E8E84-426E-40DD-AFC4-6F175D3DCCD1}">
                  <a14:hiddenFill xmlns:a14="http://schemas.microsoft.com/office/drawing/2010/main">
                    <a:noFill/>
                  </a14:hiddenFill>
                </a:ext>
              </a:extLst>
            </p:spPr>
            <p:txBody>
              <a:bodyPr lIns="0" tIns="82800" rIns="0"/>
              <a:lstStyle/>
              <a:p>
                <a:endParaRPr lang="zh-CN" altLang="en-US"/>
              </a:p>
            </p:txBody>
          </p:sp>
          <p:sp>
            <p:nvSpPr>
              <p:cNvPr id="8216" name="Line 1038">
                <a:extLst>
                  <a:ext uri="{FF2B5EF4-FFF2-40B4-BE49-F238E27FC236}">
                    <a16:creationId xmlns:a16="http://schemas.microsoft.com/office/drawing/2014/main" id="{05616AC4-73D3-E509-A17F-35F36B814F51}"/>
                  </a:ext>
                </a:extLst>
              </p:cNvPr>
              <p:cNvSpPr>
                <a:spLocks noChangeShapeType="1"/>
              </p:cNvSpPr>
              <p:nvPr/>
            </p:nvSpPr>
            <p:spPr bwMode="auto">
              <a:xfrm>
                <a:off x="3820" y="2432"/>
                <a:ext cx="535" cy="0"/>
              </a:xfrm>
              <a:prstGeom prst="line">
                <a:avLst/>
              </a:prstGeom>
              <a:noFill/>
              <a:ln w="38100">
                <a:solidFill>
                  <a:schemeClr val="accent2"/>
                </a:solidFill>
                <a:round/>
                <a:headEnd type="stealth" w="med" len="med"/>
                <a:tailEnd type="stealth" w="med" len="med"/>
              </a:ln>
              <a:extLst>
                <a:ext uri="{909E8E84-426E-40DD-AFC4-6F175D3DCCD1}">
                  <a14:hiddenFill xmlns:a14="http://schemas.microsoft.com/office/drawing/2010/main">
                    <a:noFill/>
                  </a14:hiddenFill>
                </a:ext>
              </a:extLst>
            </p:spPr>
            <p:txBody>
              <a:bodyPr lIns="0" tIns="82800" rIns="0"/>
              <a:lstStyle/>
              <a:p>
                <a:endParaRPr lang="zh-CN" altLang="en-US"/>
              </a:p>
            </p:txBody>
          </p:sp>
        </p:grpSp>
        <p:sp>
          <p:nvSpPr>
            <p:cNvPr id="8201" name="Line 1039">
              <a:extLst>
                <a:ext uri="{FF2B5EF4-FFF2-40B4-BE49-F238E27FC236}">
                  <a16:creationId xmlns:a16="http://schemas.microsoft.com/office/drawing/2014/main" id="{DE7176B6-C921-416B-BD50-0C4A3C234888}"/>
                </a:ext>
              </a:extLst>
            </p:cNvPr>
            <p:cNvSpPr>
              <a:spLocks noChangeShapeType="1"/>
            </p:cNvSpPr>
            <p:nvPr/>
          </p:nvSpPr>
          <p:spPr bwMode="auto">
            <a:xfrm>
              <a:off x="1041" y="1518"/>
              <a:ext cx="3926"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82800" rIns="0"/>
            <a:lstStyle/>
            <a:p>
              <a:endParaRPr lang="zh-CN" altLang="en-US"/>
            </a:p>
          </p:txBody>
        </p:sp>
        <p:sp>
          <p:nvSpPr>
            <p:cNvPr id="8202" name="Text Box 1040">
              <a:extLst>
                <a:ext uri="{FF2B5EF4-FFF2-40B4-BE49-F238E27FC236}">
                  <a16:creationId xmlns:a16="http://schemas.microsoft.com/office/drawing/2014/main" id="{35DA9C7E-8EA9-58B2-DFEE-510666883C5A}"/>
                </a:ext>
              </a:extLst>
            </p:cNvPr>
            <p:cNvSpPr txBox="1">
              <a:spLocks noChangeArrowheads="1"/>
            </p:cNvSpPr>
            <p:nvPr/>
          </p:nvSpPr>
          <p:spPr bwMode="auto">
            <a:xfrm>
              <a:off x="4967" y="1336"/>
              <a:ext cx="32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a:solidFill>
                    <a:schemeClr val="accent2"/>
                  </a:solidFill>
                  <a:latin typeface="Times New Roman" panose="02020603050405020304" pitchFamily="18" charset="0"/>
                </a:rPr>
                <a:t> </a:t>
              </a:r>
              <a:r>
                <a:rPr lang="zh-CN" altLang="en-US">
                  <a:solidFill>
                    <a:schemeClr val="accent2"/>
                  </a:solidFill>
                  <a:latin typeface="Times New Roman" panose="02020603050405020304" pitchFamily="18" charset="0"/>
                </a:rPr>
                <a:t>低</a:t>
              </a:r>
            </a:p>
          </p:txBody>
        </p:sp>
        <p:sp>
          <p:nvSpPr>
            <p:cNvPr id="8203" name="Text Box 1041">
              <a:extLst>
                <a:ext uri="{FF2B5EF4-FFF2-40B4-BE49-F238E27FC236}">
                  <a16:creationId xmlns:a16="http://schemas.microsoft.com/office/drawing/2014/main" id="{935923DA-DBAE-D887-190E-40F7554D4A3E}"/>
                </a:ext>
              </a:extLst>
            </p:cNvPr>
            <p:cNvSpPr txBox="1">
              <a:spLocks noChangeArrowheads="1"/>
            </p:cNvSpPr>
            <p:nvPr/>
          </p:nvSpPr>
          <p:spPr bwMode="auto">
            <a:xfrm>
              <a:off x="720" y="1352"/>
              <a:ext cx="321"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2800" r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a:solidFill>
                    <a:srgbClr val="FF0000"/>
                  </a:solidFill>
                  <a:latin typeface="Times New Roman" panose="02020603050405020304" pitchFamily="18" charset="0"/>
                </a:rPr>
                <a:t> </a:t>
              </a:r>
              <a:r>
                <a:rPr lang="zh-CN" altLang="en-US">
                  <a:solidFill>
                    <a:srgbClr val="FF0000"/>
                  </a:solidFill>
                  <a:latin typeface="Times New Roman" panose="02020603050405020304" pitchFamily="18" charset="0"/>
                </a:rPr>
                <a:t>高</a:t>
              </a:r>
            </a:p>
          </p:txBody>
        </p:sp>
        <p:sp>
          <p:nvSpPr>
            <p:cNvPr id="14" name="Text Box 1042">
              <a:extLst>
                <a:ext uri="{FF2B5EF4-FFF2-40B4-BE49-F238E27FC236}">
                  <a16:creationId xmlns:a16="http://schemas.microsoft.com/office/drawing/2014/main" id="{D843DD52-1537-3B57-B6EA-FC86F74AC2C8}"/>
                </a:ext>
              </a:extLst>
            </p:cNvPr>
            <p:cNvSpPr txBox="1">
              <a:spLocks noChangeArrowheads="1"/>
            </p:cNvSpPr>
            <p:nvPr/>
          </p:nvSpPr>
          <p:spPr bwMode="auto">
            <a:xfrm>
              <a:off x="1973" y="1110"/>
              <a:ext cx="190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2800" rIns="0"/>
            <a:lstStyle/>
            <a:p>
              <a:pPr algn="ctr">
                <a:defRPr/>
              </a:pPr>
              <a:r>
                <a:rPr lang="zh-CN" altLang="en-US" sz="2800" b="1" dirty="0">
                  <a:solidFill>
                    <a:srgbClr val="002060"/>
                  </a:solidFill>
                  <a:effectLst>
                    <a:outerShdw blurRad="38100" dist="38100" dir="2700000" algn="tl">
                      <a:srgbClr val="C0C0C0"/>
                    </a:outerShdw>
                  </a:effectLst>
                  <a:latin typeface="Times New Roman" pitchFamily="18" charset="0"/>
                </a:rPr>
                <a:t>安全性控制层次</a:t>
              </a:r>
            </a:p>
          </p:txBody>
        </p:sp>
        <p:sp>
          <p:nvSpPr>
            <p:cNvPr id="8205" name="Rectangle 1043">
              <a:extLst>
                <a:ext uri="{FF2B5EF4-FFF2-40B4-BE49-F238E27FC236}">
                  <a16:creationId xmlns:a16="http://schemas.microsoft.com/office/drawing/2014/main" id="{CDF755E2-178C-748B-4FCF-2104E63BC401}"/>
                </a:ext>
              </a:extLst>
            </p:cNvPr>
            <p:cNvSpPr>
              <a:spLocks noChangeArrowheads="1"/>
            </p:cNvSpPr>
            <p:nvPr/>
          </p:nvSpPr>
          <p:spPr bwMode="auto">
            <a:xfrm>
              <a:off x="476" y="2788"/>
              <a:ext cx="558" cy="553"/>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3200" b="1">
                  <a:solidFill>
                    <a:srgbClr val="993366"/>
                  </a:solidFill>
                  <a:latin typeface="Times New Roman" panose="02020603050405020304" pitchFamily="18" charset="0"/>
                </a:rPr>
                <a:t>方法</a:t>
              </a:r>
            </a:p>
          </p:txBody>
        </p:sp>
        <p:sp>
          <p:nvSpPr>
            <p:cNvPr id="16" name="Rectangle 1044">
              <a:extLst>
                <a:ext uri="{FF2B5EF4-FFF2-40B4-BE49-F238E27FC236}">
                  <a16:creationId xmlns:a16="http://schemas.microsoft.com/office/drawing/2014/main" id="{6981D0D3-C7F2-C48F-CB8D-8925E78490C1}"/>
                </a:ext>
              </a:extLst>
            </p:cNvPr>
            <p:cNvSpPr>
              <a:spLocks noChangeArrowheads="1"/>
            </p:cNvSpPr>
            <p:nvPr/>
          </p:nvSpPr>
          <p:spPr bwMode="auto">
            <a:xfrm>
              <a:off x="1059" y="2859"/>
              <a:ext cx="7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用户标识</a:t>
              </a:r>
            </a:p>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和鉴定</a:t>
              </a:r>
              <a:r>
                <a:rPr lang="zh-CN" altLang="en-US" sz="2400" b="1" dirty="0">
                  <a:solidFill>
                    <a:srgbClr val="002060"/>
                  </a:solidFill>
                  <a:effectLst>
                    <a:outerShdw blurRad="38100" dist="38100" dir="2700000" algn="tl">
                      <a:srgbClr val="C0C0C0"/>
                    </a:outerShdw>
                  </a:effectLst>
                  <a:latin typeface="Times New Roman" pitchFamily="18" charset="0"/>
                </a:rPr>
                <a:t>  </a:t>
              </a:r>
            </a:p>
          </p:txBody>
        </p:sp>
        <p:sp>
          <p:nvSpPr>
            <p:cNvPr id="17" name="Rectangle 1045">
              <a:extLst>
                <a:ext uri="{FF2B5EF4-FFF2-40B4-BE49-F238E27FC236}">
                  <a16:creationId xmlns:a16="http://schemas.microsoft.com/office/drawing/2014/main" id="{B15EBAE4-3C07-1846-003C-BE6FB4743AD1}"/>
                </a:ext>
              </a:extLst>
            </p:cNvPr>
            <p:cNvSpPr>
              <a:spLocks noChangeArrowheads="1"/>
            </p:cNvSpPr>
            <p:nvPr/>
          </p:nvSpPr>
          <p:spPr bwMode="auto">
            <a:xfrm>
              <a:off x="2160" y="2949"/>
              <a:ext cx="7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存取控制</a:t>
              </a:r>
            </a:p>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审计</a:t>
              </a:r>
            </a:p>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视图</a:t>
              </a:r>
              <a:r>
                <a:rPr lang="zh-CN" altLang="en-US" sz="2400" b="1" dirty="0">
                  <a:solidFill>
                    <a:srgbClr val="002060"/>
                  </a:solidFill>
                  <a:effectLst>
                    <a:outerShdw blurRad="38100" dist="38100" dir="2700000" algn="tl">
                      <a:srgbClr val="C0C0C0"/>
                    </a:outerShdw>
                  </a:effectLst>
                  <a:latin typeface="Times New Roman" pitchFamily="18" charset="0"/>
                </a:rPr>
                <a:t> </a:t>
              </a:r>
            </a:p>
          </p:txBody>
        </p:sp>
        <p:sp>
          <p:nvSpPr>
            <p:cNvPr id="18" name="Rectangle 1046">
              <a:extLst>
                <a:ext uri="{FF2B5EF4-FFF2-40B4-BE49-F238E27FC236}">
                  <a16:creationId xmlns:a16="http://schemas.microsoft.com/office/drawing/2014/main" id="{4EC7C373-6F3C-9811-EABC-48D7C5D4DB19}"/>
                </a:ext>
              </a:extLst>
            </p:cNvPr>
            <p:cNvSpPr>
              <a:spLocks noChangeArrowheads="1"/>
            </p:cNvSpPr>
            <p:nvPr/>
          </p:nvSpPr>
          <p:spPr bwMode="auto">
            <a:xfrm>
              <a:off x="3216" y="2859"/>
              <a:ext cx="76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操作系统</a:t>
              </a:r>
            </a:p>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  安全保护</a:t>
              </a:r>
              <a:r>
                <a:rPr lang="zh-CN" altLang="en-US" sz="2400" b="1" dirty="0">
                  <a:solidFill>
                    <a:srgbClr val="002060"/>
                  </a:solidFill>
                  <a:effectLst>
                    <a:outerShdw blurRad="38100" dist="38100" dir="2700000" algn="tl">
                      <a:srgbClr val="C0C0C0"/>
                    </a:outerShdw>
                  </a:effectLst>
                  <a:latin typeface="Times New Roman" pitchFamily="18" charset="0"/>
                </a:rPr>
                <a:t>  </a:t>
              </a:r>
            </a:p>
          </p:txBody>
        </p:sp>
        <p:sp>
          <p:nvSpPr>
            <p:cNvPr id="19" name="Rectangle 1047">
              <a:extLst>
                <a:ext uri="{FF2B5EF4-FFF2-40B4-BE49-F238E27FC236}">
                  <a16:creationId xmlns:a16="http://schemas.microsoft.com/office/drawing/2014/main" id="{F317F30D-C033-95AF-EB22-6847E60C7C1C}"/>
                </a:ext>
              </a:extLst>
            </p:cNvPr>
            <p:cNvSpPr>
              <a:spLocks noChangeArrowheads="1"/>
            </p:cNvSpPr>
            <p:nvPr/>
          </p:nvSpPr>
          <p:spPr bwMode="auto">
            <a:xfrm>
              <a:off x="4290" y="2778"/>
              <a:ext cx="7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defRPr/>
              </a:pPr>
              <a:r>
                <a:rPr lang="zh-CN" altLang="en-US" sz="2000" b="1" dirty="0">
                  <a:solidFill>
                    <a:srgbClr val="002060"/>
                  </a:solidFill>
                  <a:effectLst>
                    <a:outerShdw blurRad="38100" dist="38100" dir="2700000" algn="tl">
                      <a:srgbClr val="C0C0C0"/>
                    </a:outerShdw>
                  </a:effectLst>
                  <a:latin typeface="Times New Roman" pitchFamily="18" charset="0"/>
                </a:rPr>
                <a:t>密码存储</a:t>
              </a:r>
            </a:p>
          </p:txBody>
        </p:sp>
      </p:grpSp>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44EF602-D072-1571-BB58-D13CDF0ECC89}"/>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用户标识与鉴定</a:t>
            </a:r>
          </a:p>
        </p:txBody>
      </p:sp>
      <p:sp>
        <p:nvSpPr>
          <p:cNvPr id="35" name="Text Box 5">
            <a:extLst>
              <a:ext uri="{FF2B5EF4-FFF2-40B4-BE49-F238E27FC236}">
                <a16:creationId xmlns:a16="http://schemas.microsoft.com/office/drawing/2014/main" id="{AF67DE94-8798-1620-33F8-EB47CAF3A6D3}"/>
              </a:ext>
            </a:extLst>
          </p:cNvPr>
          <p:cNvSpPr txBox="1">
            <a:spLocks noChangeArrowheads="1"/>
          </p:cNvSpPr>
          <p:nvPr/>
        </p:nvSpPr>
        <p:spPr bwMode="auto">
          <a:xfrm>
            <a:off x="735013" y="1268413"/>
            <a:ext cx="10512425"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    这是</a:t>
            </a:r>
            <a:r>
              <a:rPr kumimoji="1" lang="en-US" altLang="zh-CN" sz="3200" b="1" dirty="0">
                <a:solidFill>
                  <a:srgbClr val="000066"/>
                </a:solidFill>
                <a:effectLst>
                  <a:outerShdw blurRad="38100" dist="38100" dir="2700000" algn="tl">
                    <a:srgbClr val="C0C0C0"/>
                  </a:outerShdw>
                </a:effectLst>
                <a:latin typeface="楷体_GB2312" pitchFamily="49" charset="-122"/>
                <a:ea typeface="楷体_GB2312" pitchFamily="49" charset="-122"/>
              </a:rPr>
              <a:t>DBS</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提供的最外层安全保护措施。用户访问数据库之前，必须先标识自己的身份，由系统核实，通过鉴定后才提供机器使用权。常用方法有：</a:t>
            </a:r>
          </a:p>
        </p:txBody>
      </p:sp>
      <p:sp>
        <p:nvSpPr>
          <p:cNvPr id="4" name="Text Box 5">
            <a:extLst>
              <a:ext uri="{FF2B5EF4-FFF2-40B4-BE49-F238E27FC236}">
                <a16:creationId xmlns:a16="http://schemas.microsoft.com/office/drawing/2014/main" id="{D51F9228-A6FC-B726-72F0-539BA87F0759}"/>
              </a:ext>
            </a:extLst>
          </p:cNvPr>
          <p:cNvSpPr txBox="1">
            <a:spLocks noChangeArrowheads="1"/>
          </p:cNvSpPr>
          <p:nvPr/>
        </p:nvSpPr>
        <p:spPr bwMode="auto">
          <a:xfrm>
            <a:off x="914400" y="3141663"/>
            <a:ext cx="10512425" cy="271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10000"/>
              </a:lnSpc>
              <a:spcBef>
                <a:spcPts val="1200"/>
              </a:spcBef>
              <a:buClr>
                <a:srgbClr val="32C6CA"/>
              </a:buClr>
              <a:buSzPct val="80000"/>
              <a:buFont typeface="Wingdings" panose="05000000000000000000" pitchFamily="2" charset="2"/>
              <a:buChar char="u"/>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静态口令：</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这是最常用的方式，如输入用户密码。</a:t>
            </a:r>
          </a:p>
          <a:p>
            <a:pPr marL="457200" indent="-457200" eaLnBrk="1" hangingPunct="1">
              <a:lnSpc>
                <a:spcPct val="110000"/>
              </a:lnSpc>
              <a:spcBef>
                <a:spcPts val="1200"/>
              </a:spcBef>
              <a:buClr>
                <a:srgbClr val="32C6CA"/>
              </a:buClr>
              <a:buSzPct val="80000"/>
              <a:buFont typeface="Wingdings" panose="05000000000000000000" pitchFamily="2" charset="2"/>
              <a:buChar char="u"/>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动态口令：</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较安全，如短信或验证码。</a:t>
            </a:r>
          </a:p>
          <a:p>
            <a:pPr marL="457200" indent="-457200" eaLnBrk="1" hangingPunct="1">
              <a:lnSpc>
                <a:spcPct val="110000"/>
              </a:lnSpc>
              <a:spcBef>
                <a:spcPts val="1200"/>
              </a:spcBef>
              <a:buClr>
                <a:srgbClr val="32C6CA"/>
              </a:buClr>
              <a:buSzPct val="80000"/>
              <a:buFont typeface="Wingdings" panose="05000000000000000000" pitchFamily="2" charset="2"/>
              <a:buChar char="u"/>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用户个人特征</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：较安全，如指纹、虹膜、人脸等。</a:t>
            </a:r>
          </a:p>
          <a:p>
            <a:pPr marL="457200" indent="-457200" eaLnBrk="1" hangingPunct="1">
              <a:lnSpc>
                <a:spcPct val="110000"/>
              </a:lnSpc>
              <a:spcBef>
                <a:spcPts val="1200"/>
              </a:spcBef>
              <a:buClr>
                <a:srgbClr val="32C6CA"/>
              </a:buClr>
              <a:buSzPct val="80000"/>
              <a:buFont typeface="Wingdings" panose="05000000000000000000" pitchFamily="2" charset="2"/>
              <a:buChar char="u"/>
              <a:defRPr/>
            </a:pPr>
            <a:r>
              <a:rPr kumimoji="1" lang="zh-CN"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智能卡</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安全性高，如磁</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卡、</a:t>
            </a:r>
            <a:r>
              <a:rPr kumimoji="1" lang="en-US" altLang="zh-CN" sz="3200" b="1" dirty="0">
                <a:solidFill>
                  <a:srgbClr val="000066"/>
                </a:solidFill>
                <a:effectLst>
                  <a:outerShdw blurRad="38100" dist="38100" dir="2700000" algn="tl">
                    <a:srgbClr val="C0C0C0"/>
                  </a:outerShdw>
                </a:effectLst>
                <a:latin typeface="楷体_GB2312" pitchFamily="49" charset="-122"/>
                <a:ea typeface="楷体_GB2312" pitchFamily="49" charset="-122"/>
              </a:rPr>
              <a:t>IC</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卡、</a:t>
            </a:r>
            <a:r>
              <a:rPr kumimoji="1" lang="en-US" altLang="zh-CN" sz="3200" b="1" dirty="0">
                <a:solidFill>
                  <a:srgbClr val="000066"/>
                </a:solidFill>
                <a:effectLst>
                  <a:outerShdw blurRad="38100" dist="38100" dir="2700000" algn="tl">
                    <a:srgbClr val="C0C0C0"/>
                  </a:outerShdw>
                </a:effectLst>
                <a:latin typeface="楷体_GB2312" pitchFamily="49" charset="-122"/>
                <a:ea typeface="楷体_GB2312" pitchFamily="49" charset="-122"/>
              </a:rPr>
              <a:t>U-key</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等。</a:t>
            </a:r>
          </a:p>
        </p:txBody>
      </p:sp>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920EC6D-FE94-F3E0-F1BF-16BD16B53557}"/>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存取控制</a:t>
            </a:r>
          </a:p>
        </p:txBody>
      </p:sp>
      <p:sp>
        <p:nvSpPr>
          <p:cNvPr id="28" name="Text Box 5">
            <a:extLst>
              <a:ext uri="{FF2B5EF4-FFF2-40B4-BE49-F238E27FC236}">
                <a16:creationId xmlns:a16="http://schemas.microsoft.com/office/drawing/2014/main" id="{75502FFA-D7CF-CCE8-EA9B-9486E06E8B39}"/>
              </a:ext>
            </a:extLst>
          </p:cNvPr>
          <p:cNvSpPr txBox="1">
            <a:spLocks noChangeArrowheads="1"/>
          </p:cNvSpPr>
          <p:nvPr/>
        </p:nvSpPr>
        <p:spPr bwMode="auto">
          <a:xfrm>
            <a:off x="771525" y="1341438"/>
            <a:ext cx="10512425" cy="110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存取控制机制：</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确保只授权给有资格的用户访问数据库的权限，同时令所有未被授权的人员无法进入数据库系统。    </a:t>
            </a:r>
          </a:p>
        </p:txBody>
      </p:sp>
      <p:sp>
        <p:nvSpPr>
          <p:cNvPr id="5" name="Text Box 5">
            <a:extLst>
              <a:ext uri="{FF2B5EF4-FFF2-40B4-BE49-F238E27FC236}">
                <a16:creationId xmlns:a16="http://schemas.microsoft.com/office/drawing/2014/main" id="{A9B96DFF-B5A7-7111-0C3F-43F40A4F8843}"/>
              </a:ext>
            </a:extLst>
          </p:cNvPr>
          <p:cNvSpPr txBox="1">
            <a:spLocks noChangeArrowheads="1"/>
          </p:cNvSpPr>
          <p:nvPr/>
        </p:nvSpPr>
        <p:spPr bwMode="auto">
          <a:xfrm>
            <a:off x="627063" y="2924175"/>
            <a:ext cx="10512425" cy="171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    每当用户向系统发出存取数据库的请求后，</a:t>
            </a:r>
            <a:r>
              <a:rPr kumimoji="1" lang="en-US" altLang="zh-CN" sz="3200" b="1" dirty="0">
                <a:solidFill>
                  <a:srgbClr val="000066"/>
                </a:solidFill>
                <a:effectLst>
                  <a:outerShdw blurRad="38100" dist="38100" dir="2700000" algn="tl">
                    <a:srgbClr val="C0C0C0"/>
                  </a:outerShdw>
                </a:effectLst>
                <a:latin typeface="楷体_GB2312" pitchFamily="49" charset="-122"/>
                <a:ea typeface="楷体_GB2312" pitchFamily="49" charset="-122"/>
              </a:rPr>
              <a:t>DBMS</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查找数据字典，根据安全规则进行合法权限的检查，若用户的操作请求超出了合法权限，系统则拒绝执行此操作。</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9C4E93F-7EA4-CD4D-5020-327BC01C345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存取控制</a:t>
            </a:r>
          </a:p>
        </p:txBody>
      </p:sp>
      <p:sp>
        <p:nvSpPr>
          <p:cNvPr id="28" name="Text Box 5">
            <a:extLst>
              <a:ext uri="{FF2B5EF4-FFF2-40B4-BE49-F238E27FC236}">
                <a16:creationId xmlns:a16="http://schemas.microsoft.com/office/drawing/2014/main" id="{79519BE7-07A1-9C77-03DD-F13E2D959350}"/>
              </a:ext>
            </a:extLst>
          </p:cNvPr>
          <p:cNvSpPr txBox="1">
            <a:spLocks noChangeArrowheads="1"/>
          </p:cNvSpPr>
          <p:nvPr/>
        </p:nvSpPr>
        <p:spPr bwMode="auto">
          <a:xfrm>
            <a:off x="854075" y="1196975"/>
            <a:ext cx="10512425" cy="241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3200" b="1" dirty="0">
                <a:solidFill>
                  <a:srgbClr val="7030A0"/>
                </a:solidFill>
                <a:effectLst>
                  <a:outerShdw blurRad="38100" dist="38100" dir="2700000" algn="tl">
                    <a:srgbClr val="C0C0C0"/>
                  </a:outerShdw>
                </a:effectLst>
                <a:latin typeface="楷体_GB2312" pitchFamily="49" charset="-122"/>
                <a:ea typeface="楷体_GB2312" pitchFamily="49" charset="-122"/>
              </a:rPr>
              <a:t>数据库实现存取控制主要有两种：</a:t>
            </a:r>
          </a:p>
          <a:p>
            <a:pPr eaLnBrk="1" hangingPunct="1">
              <a:lnSpc>
                <a:spcPct val="110000"/>
              </a:lnSpc>
              <a:buClr>
                <a:srgbClr val="32C6CA"/>
              </a:buClr>
              <a:buSzPct val="80000"/>
              <a:buFont typeface="Wingdings" pitchFamily="2" charset="2"/>
              <a:buNone/>
              <a:defRPr/>
            </a:pP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自主存取控制</a:t>
            </a: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(DAC):</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一个主体只能在获得对一个客体的操作权限后才能对客体进行操作；主体对它创建的客体拥有所有权，自然获得对客体的一切操作权限。</a:t>
            </a:r>
          </a:p>
        </p:txBody>
      </p:sp>
      <p:sp>
        <p:nvSpPr>
          <p:cNvPr id="4" name="Text Box 5">
            <a:extLst>
              <a:ext uri="{FF2B5EF4-FFF2-40B4-BE49-F238E27FC236}">
                <a16:creationId xmlns:a16="http://schemas.microsoft.com/office/drawing/2014/main" id="{94BC306A-3A11-DD0C-6A4E-8576441FD0C2}"/>
              </a:ext>
            </a:extLst>
          </p:cNvPr>
          <p:cNvSpPr txBox="1">
            <a:spLocks noChangeArrowheads="1"/>
          </p:cNvSpPr>
          <p:nvPr/>
        </p:nvSpPr>
        <p:spPr bwMode="auto">
          <a:xfrm>
            <a:off x="854075" y="3789363"/>
            <a:ext cx="10512425"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强制存取控制</a:t>
            </a: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(MAC):</a:t>
            </a:r>
            <a:r>
              <a:rPr kumimoji="1" lang="zh-CN" altLang="en-US" sz="3200" b="1" dirty="0">
                <a:solidFill>
                  <a:srgbClr val="000066"/>
                </a:solidFill>
                <a:effectLst>
                  <a:outerShdw blurRad="38100" dist="38100" dir="2700000" algn="tl">
                    <a:srgbClr val="C0C0C0"/>
                  </a:outerShdw>
                </a:effectLst>
                <a:latin typeface="楷体_GB2312" pitchFamily="49" charset="-122"/>
                <a:ea typeface="楷体_GB2312" pitchFamily="49" charset="-122"/>
              </a:rPr>
              <a:t>对每一个数据对象标以一定的密级，每一个用户也被授予某一个级别的许可证。对于任意一个对象，只有具有合法许可证的用户才可以存取。</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A60DE7A-630D-D4EC-D25F-D976C4315668}"/>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视图机制</a:t>
            </a:r>
          </a:p>
        </p:txBody>
      </p:sp>
      <p:sp>
        <p:nvSpPr>
          <p:cNvPr id="4" name="Text Box 5">
            <a:extLst>
              <a:ext uri="{FF2B5EF4-FFF2-40B4-BE49-F238E27FC236}">
                <a16:creationId xmlns:a16="http://schemas.microsoft.com/office/drawing/2014/main" id="{82ABB92D-F980-ED45-C98D-FD60D6D2BFED}"/>
              </a:ext>
            </a:extLst>
          </p:cNvPr>
          <p:cNvSpPr txBox="1">
            <a:spLocks noChangeArrowheads="1"/>
          </p:cNvSpPr>
          <p:nvPr/>
        </p:nvSpPr>
        <p:spPr bwMode="auto">
          <a:xfrm>
            <a:off x="760413" y="1844675"/>
            <a:ext cx="10512425" cy="329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30000"/>
              </a:lnSpc>
              <a:buClr>
                <a:srgbClr val="32C6CA"/>
              </a:buClr>
              <a:buSzPct val="80000"/>
              <a:buFont typeface="Wingdings" panose="05000000000000000000" pitchFamily="2" charset="2"/>
              <a:buChar char="u"/>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为不同的用户定义不同的视图，可以限制各个用户的访问范围。</a:t>
            </a:r>
          </a:p>
          <a:p>
            <a:pPr marL="457200" indent="-457200" eaLnBrk="1" hangingPunct="1">
              <a:lnSpc>
                <a:spcPct val="130000"/>
              </a:lnSpc>
              <a:buClr>
                <a:srgbClr val="32C6CA"/>
              </a:buClr>
              <a:buSzPct val="80000"/>
              <a:buFont typeface="Wingdings" panose="05000000000000000000" pitchFamily="2" charset="2"/>
              <a:buChar char="u"/>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通过对视图实施自主存取控制机制把要保密的数据对无权存取的用户隐藏起来，从而自动地对数据提供一定程度的安全保护。 </a:t>
            </a:r>
          </a:p>
        </p:txBody>
      </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69A83DC9-E843-F742-AB7D-D3AB105B152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视图机制</a:t>
            </a:r>
          </a:p>
        </p:txBody>
      </p:sp>
      <p:sp>
        <p:nvSpPr>
          <p:cNvPr id="4" name="Text Box 5">
            <a:extLst>
              <a:ext uri="{FF2B5EF4-FFF2-40B4-BE49-F238E27FC236}">
                <a16:creationId xmlns:a16="http://schemas.microsoft.com/office/drawing/2014/main" id="{124412DF-E5E2-6234-E5FC-F787A92D1629}"/>
              </a:ext>
            </a:extLst>
          </p:cNvPr>
          <p:cNvSpPr txBox="1">
            <a:spLocks noChangeArrowheads="1"/>
          </p:cNvSpPr>
          <p:nvPr/>
        </p:nvSpPr>
        <p:spPr bwMode="auto">
          <a:xfrm>
            <a:off x="774700" y="1341438"/>
            <a:ext cx="10512425"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12.1】</a:t>
            </a:r>
            <a:r>
              <a:rPr kumimoji="1" lang="zh-CN" altLang="en-US" sz="2800" b="1" dirty="0">
                <a:effectLst>
                  <a:outerShdw blurRad="38100" dist="38100" dir="2700000" algn="tl">
                    <a:srgbClr val="C0C0C0"/>
                  </a:outerShdw>
                </a:effectLst>
                <a:latin typeface="楷体_GB2312" pitchFamily="49" charset="-122"/>
                <a:ea typeface="楷体_GB2312" pitchFamily="49" charset="-122"/>
              </a:rPr>
              <a:t>建立计算机系学生的视图，把对该视图的</a:t>
            </a:r>
            <a:r>
              <a:rPr kumimoji="1" lang="en-US" altLang="zh-CN" sz="2800" b="1" dirty="0">
                <a:effectLst>
                  <a:outerShdw blurRad="38100" dist="38100" dir="2700000" algn="tl">
                    <a:srgbClr val="C0C0C0"/>
                  </a:outerShdw>
                </a:effectLst>
                <a:latin typeface="楷体_GB2312" pitchFamily="49" charset="-122"/>
                <a:ea typeface="楷体_GB2312" pitchFamily="49" charset="-122"/>
              </a:rPr>
              <a:t>SELECT</a:t>
            </a:r>
            <a:r>
              <a:rPr kumimoji="1" lang="zh-CN" altLang="en-US" sz="2800" b="1" dirty="0">
                <a:effectLst>
                  <a:outerShdw blurRad="38100" dist="38100" dir="2700000" algn="tl">
                    <a:srgbClr val="C0C0C0"/>
                  </a:outerShdw>
                </a:effectLst>
                <a:latin typeface="楷体_GB2312" pitchFamily="49" charset="-122"/>
                <a:ea typeface="楷体_GB2312" pitchFamily="49" charset="-122"/>
              </a:rPr>
              <a:t>权限授于王平。</a:t>
            </a:r>
          </a:p>
        </p:txBody>
      </p:sp>
      <p:sp>
        <p:nvSpPr>
          <p:cNvPr id="5" name="Text Box 5">
            <a:extLst>
              <a:ext uri="{FF2B5EF4-FFF2-40B4-BE49-F238E27FC236}">
                <a16:creationId xmlns:a16="http://schemas.microsoft.com/office/drawing/2014/main" id="{1C16700F-0CA0-2D37-204B-205150387DD4}"/>
              </a:ext>
            </a:extLst>
          </p:cNvPr>
          <p:cNvSpPr txBox="1">
            <a:spLocks noChangeArrowheads="1"/>
          </p:cNvSpPr>
          <p:nvPr/>
        </p:nvSpPr>
        <p:spPr bwMode="auto">
          <a:xfrm>
            <a:off x="774700" y="2767013"/>
            <a:ext cx="10512425" cy="315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Aft>
                <a:spcPts val="600"/>
              </a:spcAft>
              <a:buClr>
                <a:srgbClr val="32C6CA"/>
              </a:buClr>
              <a:buSzPct val="80000"/>
              <a:buFont typeface="Wingdings" pitchFamily="2" charset="2"/>
              <a:buNone/>
              <a:defRPr/>
            </a:pP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建立计算机系学生的视图</a:t>
            </a:r>
          </a:p>
          <a:p>
            <a:pPr eaLnBrk="1" hangingPunct="1">
              <a:lnSpc>
                <a:spcPts val="2800"/>
              </a:lnSpc>
              <a:spcAft>
                <a:spcPts val="600"/>
              </a:spcAft>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CREATE VIEW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cs_student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a:p>
            <a:pPr eaLnBrk="1" hangingPunct="1">
              <a:lnSpc>
                <a:spcPts val="2800"/>
              </a:lnSpc>
              <a:spcAft>
                <a:spcPts val="600"/>
              </a:spcAft>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AS </a:t>
            </a:r>
          </a:p>
          <a:p>
            <a:pPr eaLnBrk="1" hangingPunct="1">
              <a:lnSpc>
                <a:spcPts val="2800"/>
              </a:lnSpc>
              <a:spcAft>
                <a:spcPts val="600"/>
              </a:spcAft>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SELECT * FROM student  WHERE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dept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计算机</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30000"/>
              </a:lnSpc>
              <a:spcAft>
                <a:spcPts val="600"/>
              </a:spcAft>
              <a:buClr>
                <a:srgbClr val="32C6CA"/>
              </a:buClr>
              <a:buSzPct val="80000"/>
              <a:buFont typeface="Wingdings" pitchFamily="2" charset="2"/>
              <a:buNone/>
              <a:defRPr/>
            </a:pP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授予</a:t>
            </a: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SELECT</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权限给王平</a:t>
            </a:r>
          </a:p>
          <a:p>
            <a:pPr eaLnBrk="1" hangingPunct="1">
              <a:lnSpc>
                <a:spcPct val="130000"/>
              </a:lnSpc>
              <a:spcAft>
                <a:spcPts val="600"/>
              </a:spcAft>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GRANT SELECT ON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cs_student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TO </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王平</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0E249B7-EE41-2509-C2F6-6160B400FF8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数据加密</a:t>
            </a:r>
          </a:p>
        </p:txBody>
      </p:sp>
      <p:sp>
        <p:nvSpPr>
          <p:cNvPr id="4" name="Text Box 5">
            <a:extLst>
              <a:ext uri="{FF2B5EF4-FFF2-40B4-BE49-F238E27FC236}">
                <a16:creationId xmlns:a16="http://schemas.microsoft.com/office/drawing/2014/main" id="{EC6BEA32-6CB1-1AF6-3C2F-A2D9A4DB70C3}"/>
              </a:ext>
            </a:extLst>
          </p:cNvPr>
          <p:cNvSpPr txBox="1">
            <a:spLocks noChangeArrowheads="1"/>
          </p:cNvSpPr>
          <p:nvPr/>
        </p:nvSpPr>
        <p:spPr bwMode="auto">
          <a:xfrm>
            <a:off x="760413" y="1844675"/>
            <a:ext cx="10810875"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数据加密</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是指把数据用密码形式存储在磁盘上。</a:t>
            </a:r>
          </a:p>
          <a:p>
            <a:pPr eaLnBrk="1" hangingPunct="1">
              <a:lnSpc>
                <a:spcPct val="130000"/>
              </a:lnSpc>
              <a:buClr>
                <a:srgbClr val="32C6CA"/>
              </a:buClr>
              <a:buSzPct val="80000"/>
              <a:buFont typeface="Wingdings" pitchFamily="2" charset="2"/>
              <a:buNone/>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用户标识、存取控制、视图等是防止从数据库系统窃取和破坏数据，但不能防止通过通信线路进行窃听和窃取数据。为了更好地保证数据库的安全性，用密码存储口令、数据，对远程用户的信息用密码传输，防止中途非法截获数据。</a:t>
            </a:r>
          </a:p>
          <a:p>
            <a:pPr eaLnBrk="1" hangingPunct="1">
              <a:lnSpc>
                <a:spcPct val="130000"/>
              </a:lnSpc>
              <a:buClr>
                <a:srgbClr val="32C6CA"/>
              </a:buClr>
              <a:buSzPct val="80000"/>
              <a:buFont typeface="Wingdings" pitchFamily="2" charset="2"/>
              <a:buNone/>
              <a:defRPr/>
            </a:pPr>
            <a:endPar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517C490-B0B5-6421-3FDD-FB106483B3E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数据加密</a:t>
            </a:r>
          </a:p>
        </p:txBody>
      </p:sp>
      <p:sp>
        <p:nvSpPr>
          <p:cNvPr id="4" name="Text Box 5">
            <a:extLst>
              <a:ext uri="{FF2B5EF4-FFF2-40B4-BE49-F238E27FC236}">
                <a16:creationId xmlns:a16="http://schemas.microsoft.com/office/drawing/2014/main" id="{7C233CEE-29BB-A5A7-C8A0-E2A7293EF543}"/>
              </a:ext>
            </a:extLst>
          </p:cNvPr>
          <p:cNvSpPr txBox="1">
            <a:spLocks noChangeArrowheads="1"/>
          </p:cNvSpPr>
          <p:nvPr/>
        </p:nvSpPr>
        <p:spPr bwMode="auto">
          <a:xfrm>
            <a:off x="760413" y="1341438"/>
            <a:ext cx="10810875"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单向加密</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是对用户密码做了一个</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HASH</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算法，使明文到密文变得可行，但从密文无法查看到明文。单向加密函数通常有：</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MD5()</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SHA1()</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PASSWORD()</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等。</a:t>
            </a:r>
          </a:p>
        </p:txBody>
      </p:sp>
      <p:sp>
        <p:nvSpPr>
          <p:cNvPr id="5" name="Text Box 5">
            <a:extLst>
              <a:ext uri="{FF2B5EF4-FFF2-40B4-BE49-F238E27FC236}">
                <a16:creationId xmlns:a16="http://schemas.microsoft.com/office/drawing/2014/main" id="{4DFC8AFF-6D7B-5347-8027-17BE7C653971}"/>
              </a:ext>
            </a:extLst>
          </p:cNvPr>
          <p:cNvSpPr txBox="1">
            <a:spLocks noChangeArrowheads="1"/>
          </p:cNvSpPr>
          <p:nvPr/>
        </p:nvSpPr>
        <p:spPr bwMode="auto">
          <a:xfrm>
            <a:off x="760413" y="3500438"/>
            <a:ext cx="108108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双向加密</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是指明文可以变成密文存储在数据库中，同时密文也能通过相应的解密方法查看到明文。双向加密函数有：</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ENCODE()</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DECODE()</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DES_ENCRYPT()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DES_DECRYPT()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AES_ENCRYPT()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AES_DECRYPT()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三种。</a:t>
            </a:r>
          </a:p>
        </p:txBody>
      </p:sp>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932D865-1D4B-F7AF-6AF0-205C7BBCA8A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数据加密</a:t>
            </a:r>
          </a:p>
        </p:txBody>
      </p:sp>
      <p:sp>
        <p:nvSpPr>
          <p:cNvPr id="4" name="Text Box 5">
            <a:extLst>
              <a:ext uri="{FF2B5EF4-FFF2-40B4-BE49-F238E27FC236}">
                <a16:creationId xmlns:a16="http://schemas.microsoft.com/office/drawing/2014/main" id="{DF1FD399-1B16-95BF-0D62-DC83EE0508B4}"/>
              </a:ext>
            </a:extLst>
          </p:cNvPr>
          <p:cNvSpPr txBox="1">
            <a:spLocks noChangeArrowheads="1"/>
          </p:cNvSpPr>
          <p:nvPr/>
        </p:nvSpPr>
        <p:spPr bwMode="auto">
          <a:xfrm>
            <a:off x="760413" y="1125538"/>
            <a:ext cx="11099800" cy="169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12.2】 </a:t>
            </a:r>
            <a:r>
              <a:rPr kumimoji="1" lang="zh-CN" altLang="en-US" sz="2800" b="1" dirty="0">
                <a:effectLst>
                  <a:outerShdw blurRad="38100" dist="38100" dir="2700000" algn="tl">
                    <a:srgbClr val="C0C0C0"/>
                  </a:outerShdw>
                </a:effectLst>
                <a:latin typeface="楷体_GB2312" pitchFamily="49" charset="-122"/>
                <a:ea typeface="楷体_GB2312" pitchFamily="49" charset="-122"/>
              </a:rPr>
              <a:t>创建一张</a:t>
            </a:r>
            <a:r>
              <a:rPr kumimoji="1" lang="en-US" altLang="zh-CN" sz="2800" b="1" dirty="0">
                <a:effectLst>
                  <a:outerShdw blurRad="38100" dist="38100" dir="2700000" algn="tl">
                    <a:srgbClr val="C0C0C0"/>
                  </a:outerShdw>
                </a:effectLst>
                <a:latin typeface="楷体_GB2312" pitchFamily="49" charset="-122"/>
                <a:ea typeface="楷体_GB2312" pitchFamily="49" charset="-122"/>
              </a:rPr>
              <a:t>CREATE TABLE users( username VARCHAR(128), </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pwd</a:t>
            </a:r>
            <a:r>
              <a:rPr kumimoji="1" lang="en-US" altLang="zh-CN" sz="2800" b="1" dirty="0">
                <a:effectLst>
                  <a:outerShdw blurRad="38100" dist="38100" dir="2700000" algn="tl">
                    <a:srgbClr val="C0C0C0"/>
                  </a:outerShdw>
                </a:effectLst>
                <a:latin typeface="楷体_GB2312" pitchFamily="49" charset="-122"/>
                <a:ea typeface="楷体_GB2312" pitchFamily="49" charset="-122"/>
              </a:rPr>
              <a:t> BLOB )</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表，分别用</a:t>
            </a:r>
            <a:r>
              <a:rPr kumimoji="1" lang="en-US" altLang="zh-CN" sz="2800" b="1" dirty="0">
                <a:effectLst>
                  <a:outerShdw blurRad="38100" dist="38100" dir="2700000" algn="tl">
                    <a:srgbClr val="C0C0C0"/>
                  </a:outerShdw>
                </a:effectLst>
                <a:latin typeface="楷体_GB2312" pitchFamily="49" charset="-122"/>
                <a:ea typeface="楷体_GB2312" pitchFamily="49" charset="-122"/>
              </a:rPr>
              <a:t>MD5()</a:t>
            </a:r>
            <a:r>
              <a:rPr kumimoji="1" lang="zh-CN" altLang="en-US" sz="2800" b="1" dirty="0">
                <a:effectLst>
                  <a:outerShdw blurRad="38100" dist="38100" dir="2700000" algn="tl">
                    <a:srgbClr val="C0C0C0"/>
                  </a:outerShdw>
                </a:effectLst>
                <a:latin typeface="楷体_GB2312" pitchFamily="49" charset="-122"/>
                <a:ea typeface="楷体_GB2312" pitchFamily="49" charset="-122"/>
              </a:rPr>
              <a:t>和</a:t>
            </a:r>
            <a:r>
              <a:rPr kumimoji="1" lang="en-US" altLang="zh-CN" sz="2800" b="1" dirty="0">
                <a:effectLst>
                  <a:outerShdw blurRad="38100" dist="38100" dir="2700000" algn="tl">
                    <a:srgbClr val="C0C0C0"/>
                  </a:outerShdw>
                </a:effectLst>
                <a:latin typeface="楷体_GB2312" pitchFamily="49" charset="-122"/>
                <a:ea typeface="楷体_GB2312" pitchFamily="49" charset="-122"/>
              </a:rPr>
              <a:t>AES_ENCRYPT()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对</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pwd</a:t>
            </a:r>
            <a:r>
              <a:rPr kumimoji="1" lang="zh-CN" altLang="en-US" sz="2800" b="1" dirty="0">
                <a:effectLst>
                  <a:outerShdw blurRad="38100" dist="38100" dir="2700000" algn="tl">
                    <a:srgbClr val="C0C0C0"/>
                  </a:outerShdw>
                </a:effectLst>
                <a:latin typeface="楷体_GB2312" pitchFamily="49" charset="-122"/>
                <a:ea typeface="楷体_GB2312" pitchFamily="49" charset="-122"/>
              </a:rPr>
              <a:t>字段的内容进行加密，并观察加密的内容。</a:t>
            </a:r>
          </a:p>
        </p:txBody>
      </p:sp>
      <p:sp>
        <p:nvSpPr>
          <p:cNvPr id="16388" name="Text Box 5">
            <a:extLst>
              <a:ext uri="{FF2B5EF4-FFF2-40B4-BE49-F238E27FC236}">
                <a16:creationId xmlns:a16="http://schemas.microsoft.com/office/drawing/2014/main" id="{68FDA2C8-230F-F600-AFCF-968B431B3984}"/>
              </a:ext>
            </a:extLst>
          </p:cNvPr>
          <p:cNvSpPr txBox="1">
            <a:spLocks noChangeArrowheads="1"/>
          </p:cNvSpPr>
          <p:nvPr/>
        </p:nvSpPr>
        <p:spPr bwMode="auto">
          <a:xfrm>
            <a:off x="627063" y="2997200"/>
            <a:ext cx="11099800" cy="313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Aft>
                <a:spcPts val="600"/>
              </a:spcAft>
            </a:pPr>
            <a:r>
              <a:rPr lang="en-US" altLang="zh-CN" sz="2400" b="1">
                <a:solidFill>
                  <a:srgbClr val="002060"/>
                </a:solidFill>
              </a:rPr>
              <a:t>CREATE TABLE users( username VARCHAR(128), pwd BLOB );</a:t>
            </a:r>
          </a:p>
          <a:p>
            <a:pPr>
              <a:spcAft>
                <a:spcPts val="600"/>
              </a:spcAft>
            </a:pPr>
            <a:r>
              <a:rPr lang="en-US" altLang="zh-CN" sz="2400" b="1">
                <a:solidFill>
                  <a:srgbClr val="0070C0"/>
                </a:solidFill>
              </a:rPr>
              <a:t>-- </a:t>
            </a:r>
            <a:r>
              <a:rPr lang="zh-CN" altLang="zh-CN" sz="2400" b="1">
                <a:solidFill>
                  <a:srgbClr val="0070C0"/>
                </a:solidFill>
              </a:rPr>
              <a:t>插入一条测试语句</a:t>
            </a:r>
          </a:p>
          <a:p>
            <a:pPr>
              <a:spcAft>
                <a:spcPts val="600"/>
              </a:spcAft>
            </a:pPr>
            <a:r>
              <a:rPr lang="en-US" altLang="zh-CN" sz="2400" b="1">
                <a:solidFill>
                  <a:srgbClr val="002060"/>
                </a:solidFill>
              </a:rPr>
              <a:t>INSERT INTO users VALUES ('jery', MD5('mypwd'));</a:t>
            </a:r>
            <a:endParaRPr lang="zh-CN" altLang="zh-CN" sz="2400" b="1">
              <a:solidFill>
                <a:srgbClr val="002060"/>
              </a:solidFill>
            </a:endParaRPr>
          </a:p>
          <a:p>
            <a:pPr>
              <a:spcAft>
                <a:spcPts val="600"/>
              </a:spcAft>
            </a:pPr>
            <a:r>
              <a:rPr lang="en-US" altLang="zh-CN" sz="2400" b="1">
                <a:solidFill>
                  <a:srgbClr val="0070C0"/>
                </a:solidFill>
              </a:rPr>
              <a:t>-- </a:t>
            </a:r>
            <a:r>
              <a:rPr lang="zh-CN" altLang="zh-CN" sz="2400" b="1">
                <a:solidFill>
                  <a:srgbClr val="0070C0"/>
                </a:solidFill>
              </a:rPr>
              <a:t>插入一条测试语句</a:t>
            </a:r>
          </a:p>
          <a:p>
            <a:pPr>
              <a:spcAft>
                <a:spcPts val="600"/>
              </a:spcAft>
            </a:pPr>
            <a:r>
              <a:rPr lang="en-US" altLang="zh-CN" sz="2400" b="1">
                <a:solidFill>
                  <a:srgbClr val="002060"/>
                </a:solidFill>
              </a:rPr>
              <a:t>INSERT INTO users VALUES (‘tom', AES_ENCRYPT('guessme', '</a:t>
            </a:r>
            <a:r>
              <a:rPr lang="zh-CN" altLang="zh-CN" sz="2400" b="1">
                <a:solidFill>
                  <a:srgbClr val="002060"/>
                </a:solidFill>
              </a:rPr>
              <a:t>芝麻开门</a:t>
            </a:r>
            <a:r>
              <a:rPr lang="en-US" altLang="zh-CN" sz="2400" b="1">
                <a:solidFill>
                  <a:srgbClr val="002060"/>
                </a:solidFill>
              </a:rPr>
              <a:t>')); </a:t>
            </a:r>
            <a:endParaRPr lang="zh-CN" altLang="zh-CN" sz="2400" b="1">
              <a:solidFill>
                <a:srgbClr val="002060"/>
              </a:solidFill>
            </a:endParaRPr>
          </a:p>
          <a:p>
            <a:pPr>
              <a:spcAft>
                <a:spcPts val="600"/>
              </a:spcAft>
            </a:pPr>
            <a:r>
              <a:rPr lang="en-US" altLang="zh-CN" sz="2400" b="1">
                <a:solidFill>
                  <a:srgbClr val="0070C0"/>
                </a:solidFill>
              </a:rPr>
              <a:t>-- </a:t>
            </a:r>
            <a:r>
              <a:rPr lang="zh-CN" altLang="zh-CN" sz="2400" b="1">
                <a:solidFill>
                  <a:srgbClr val="0070C0"/>
                </a:solidFill>
              </a:rPr>
              <a:t>查询</a:t>
            </a:r>
            <a:r>
              <a:rPr lang="en-US" altLang="zh-CN" sz="2400" b="1">
                <a:solidFill>
                  <a:srgbClr val="0070C0"/>
                </a:solidFill>
              </a:rPr>
              <a:t>john</a:t>
            </a:r>
            <a:r>
              <a:rPr lang="zh-CN" altLang="zh-CN" sz="2400" b="1">
                <a:solidFill>
                  <a:srgbClr val="0070C0"/>
                </a:solidFill>
              </a:rPr>
              <a:t>的密码</a:t>
            </a:r>
          </a:p>
          <a:p>
            <a:pPr>
              <a:spcAft>
                <a:spcPts val="600"/>
              </a:spcAft>
            </a:pPr>
            <a:r>
              <a:rPr lang="en-US" altLang="zh-CN" sz="2400" b="1">
                <a:solidFill>
                  <a:srgbClr val="002060"/>
                </a:solidFill>
              </a:rPr>
              <a:t>SELECT username, AES_DECRYPT(pwd,‘</a:t>
            </a:r>
            <a:r>
              <a:rPr lang="zh-CN" altLang="zh-CN" sz="2400" b="1">
                <a:solidFill>
                  <a:srgbClr val="002060"/>
                </a:solidFill>
              </a:rPr>
              <a:t>芝麻开门</a:t>
            </a:r>
            <a:r>
              <a:rPr lang="en-US" altLang="zh-CN" sz="2400" b="1">
                <a:solidFill>
                  <a:srgbClr val="002060"/>
                </a:solidFill>
              </a:rPr>
              <a:t>’)  FROM users;</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fade">
                                      <p:cBhvr>
                                        <p:cTn id="7" dur="500"/>
                                        <p:tgtEl>
                                          <p:spTgt spid="16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6388">
                                            <p:txEl>
                                              <p:pRg st="1" end="1"/>
                                            </p:txEl>
                                          </p:spTgt>
                                        </p:tgtEl>
                                        <p:attrNameLst>
                                          <p:attrName>style.visibility</p:attrName>
                                        </p:attrNameLst>
                                      </p:cBhvr>
                                      <p:to>
                                        <p:strVal val="visible"/>
                                      </p:to>
                                    </p:set>
                                    <p:animEffect transition="in" filter="fade">
                                      <p:cBhvr>
                                        <p:cTn id="12" dur="500"/>
                                        <p:tgtEl>
                                          <p:spTgt spid="16388">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388">
                                            <p:txEl>
                                              <p:pRg st="2" end="2"/>
                                            </p:txEl>
                                          </p:spTgt>
                                        </p:tgtEl>
                                        <p:attrNameLst>
                                          <p:attrName>style.visibility</p:attrName>
                                        </p:attrNameLst>
                                      </p:cBhvr>
                                      <p:to>
                                        <p:strVal val="visible"/>
                                      </p:to>
                                    </p:set>
                                    <p:animEffect transition="in" filter="fade">
                                      <p:cBhvr>
                                        <p:cTn id="15" dur="500"/>
                                        <p:tgtEl>
                                          <p:spTgt spid="16388">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16388">
                                            <p:txEl>
                                              <p:pRg st="3" end="3"/>
                                            </p:txEl>
                                          </p:spTgt>
                                        </p:tgtEl>
                                        <p:attrNameLst>
                                          <p:attrName>style.visibility</p:attrName>
                                        </p:attrNameLst>
                                      </p:cBhvr>
                                      <p:to>
                                        <p:strVal val="visible"/>
                                      </p:to>
                                    </p:set>
                                    <p:animEffect transition="in" filter="fade">
                                      <p:cBhvr>
                                        <p:cTn id="20" dur="500"/>
                                        <p:tgtEl>
                                          <p:spTgt spid="16388">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6388">
                                            <p:txEl>
                                              <p:pRg st="4" end="4"/>
                                            </p:txEl>
                                          </p:spTgt>
                                        </p:tgtEl>
                                        <p:attrNameLst>
                                          <p:attrName>style.visibility</p:attrName>
                                        </p:attrNameLst>
                                      </p:cBhvr>
                                      <p:to>
                                        <p:strVal val="visible"/>
                                      </p:to>
                                    </p:set>
                                    <p:animEffect transition="in" filter="fade">
                                      <p:cBhvr>
                                        <p:cTn id="23" dur="500"/>
                                        <p:tgtEl>
                                          <p:spTgt spid="16388">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16388">
                                            <p:txEl>
                                              <p:pRg st="5" end="5"/>
                                            </p:txEl>
                                          </p:spTgt>
                                        </p:tgtEl>
                                        <p:attrNameLst>
                                          <p:attrName>style.visibility</p:attrName>
                                        </p:attrNameLst>
                                      </p:cBhvr>
                                      <p:to>
                                        <p:strVal val="visible"/>
                                      </p:to>
                                    </p:set>
                                    <p:animEffect transition="in" filter="fade">
                                      <p:cBhvr>
                                        <p:cTn id="28" dur="500"/>
                                        <p:tgtEl>
                                          <p:spTgt spid="16388">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6388">
                                            <p:txEl>
                                              <p:pRg st="6" end="6"/>
                                            </p:txEl>
                                          </p:spTgt>
                                        </p:tgtEl>
                                        <p:attrNameLst>
                                          <p:attrName>style.visibility</p:attrName>
                                        </p:attrNameLst>
                                      </p:cBhvr>
                                      <p:to>
                                        <p:strVal val="visible"/>
                                      </p:to>
                                    </p:set>
                                    <p:animEffect transition="in" filter="fade">
                                      <p:cBhvr>
                                        <p:cTn id="31" dur="500"/>
                                        <p:tgtEl>
                                          <p:spTgt spid="1638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84B429E-CE3D-FE86-84F1-92EAED6DA6C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审计</a:t>
            </a:r>
          </a:p>
        </p:txBody>
      </p:sp>
      <p:sp>
        <p:nvSpPr>
          <p:cNvPr id="4" name="Text Box 5">
            <a:extLst>
              <a:ext uri="{FF2B5EF4-FFF2-40B4-BE49-F238E27FC236}">
                <a16:creationId xmlns:a16="http://schemas.microsoft.com/office/drawing/2014/main" id="{F854D35A-86D4-37B3-0046-34F9C63B26A6}"/>
              </a:ext>
            </a:extLst>
          </p:cNvPr>
          <p:cNvSpPr txBox="1">
            <a:spLocks noChangeArrowheads="1"/>
          </p:cNvSpPr>
          <p:nvPr/>
        </p:nvSpPr>
        <p:spPr bwMode="auto">
          <a:xfrm>
            <a:off x="760413" y="1557338"/>
            <a:ext cx="10512425" cy="393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数据库审计</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功能主要将用户对数据库的各类操作行为记录下来放入审计日志，以便日后进行跟踪、查询、分析，实现对用户操作的监控和审计。</a:t>
            </a:r>
            <a:endPar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30000"/>
              </a:lnSpc>
              <a:buClr>
                <a:srgbClr val="32C6CA"/>
              </a:buClr>
              <a:buSzPct val="80000"/>
              <a:buFont typeface="Wingdings" pitchFamily="2" charset="2"/>
              <a:buNone/>
              <a:defRPr/>
            </a:pP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审计通常是很耗费时间和空间的，所以这项功能一般是作为</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DBMS</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的可选项，主要用于安全性要求较高的部门或单位。</a:t>
            </a:r>
          </a:p>
        </p:txBody>
      </p:sp>
    </p:spTree>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D28CA46-447A-BE0A-ED65-5822A4D2C73C}"/>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sym typeface="Impact" pitchFamily="34" charset="0"/>
              </a:rPr>
              <a:t>MySQL</a:t>
            </a:r>
            <a:r>
              <a:rPr lang="zh-CN" altLang="en-US" sz="4000" b="1" dirty="0">
                <a:solidFill>
                  <a:schemeClr val="bg1"/>
                </a:solidFill>
                <a:latin typeface="+mn-ea"/>
                <a:sym typeface="Impact" pitchFamily="34" charset="0"/>
              </a:rPr>
              <a:t>权限管理</a:t>
            </a:r>
          </a:p>
        </p:txBody>
      </p:sp>
      <p:sp>
        <p:nvSpPr>
          <p:cNvPr id="28" name="Text Box 5">
            <a:extLst>
              <a:ext uri="{FF2B5EF4-FFF2-40B4-BE49-F238E27FC236}">
                <a16:creationId xmlns:a16="http://schemas.microsoft.com/office/drawing/2014/main" id="{E0E4B45F-D32A-9A5B-287E-328CB7F4FEE5}"/>
              </a:ext>
            </a:extLst>
          </p:cNvPr>
          <p:cNvSpPr txBox="1">
            <a:spLocks noChangeArrowheads="1"/>
          </p:cNvSpPr>
          <p:nvPr/>
        </p:nvSpPr>
        <p:spPr bwMode="auto">
          <a:xfrm>
            <a:off x="627063" y="1412875"/>
            <a:ext cx="11088687" cy="345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    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 </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服务器运行时，客户端请求连接必须提供有效的身份认证，例如输入用户名和密码。</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MySQL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用户可以分为</a:t>
            </a:r>
            <a:r>
              <a:rPr kumimoji="1" lang="zh-CN" altLang="en-US" sz="2800" b="1" u="sng" dirty="0">
                <a:solidFill>
                  <a:srgbClr val="C00000"/>
                </a:solidFill>
                <a:effectLst>
                  <a:outerShdw blurRad="38100" dist="38100" dir="2700000" algn="tl">
                    <a:srgbClr val="C0C0C0"/>
                  </a:outerShdw>
                </a:effectLst>
                <a:latin typeface="楷体_GB2312" pitchFamily="49" charset="-122"/>
                <a:ea typeface="楷体_GB2312" pitchFamily="49" charset="-122"/>
              </a:rPr>
              <a:t>根（</a:t>
            </a:r>
            <a:r>
              <a:rPr kumimoji="1" lang="en-US" altLang="zh-CN" sz="2800" b="1" u="sng" dirty="0">
                <a:solidFill>
                  <a:srgbClr val="C00000"/>
                </a:solidFill>
                <a:effectLst>
                  <a:outerShdw blurRad="38100" dist="38100" dir="2700000" algn="tl">
                    <a:srgbClr val="C0C0C0"/>
                  </a:outerShdw>
                </a:effectLst>
                <a:latin typeface="楷体_GB2312" pitchFamily="49" charset="-122"/>
                <a:ea typeface="楷体_GB2312" pitchFamily="49" charset="-122"/>
              </a:rPr>
              <a:t>root</a:t>
            </a:r>
            <a:r>
              <a:rPr kumimoji="1" lang="zh-CN" altLang="en-US" sz="2800" b="1" u="sng" dirty="0">
                <a:solidFill>
                  <a:srgbClr val="C00000"/>
                </a:solidFill>
                <a:effectLst>
                  <a:outerShdw blurRad="38100" dist="38100" dir="2700000" algn="tl">
                    <a:srgbClr val="C0C0C0"/>
                  </a:outerShdw>
                </a:effectLst>
                <a:latin typeface="楷体_GB2312" pitchFamily="49" charset="-122"/>
                <a:ea typeface="楷体_GB2312" pitchFamily="49" charset="-122"/>
              </a:rPr>
              <a:t>）用户</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zh-CN" altLang="en-US" sz="2800" b="1" u="sng" dirty="0">
                <a:solidFill>
                  <a:srgbClr val="C00000"/>
                </a:solidFill>
                <a:effectLst>
                  <a:outerShdw blurRad="38100" dist="38100" dir="2700000" algn="tl">
                    <a:srgbClr val="C0C0C0"/>
                  </a:outerShdw>
                </a:effectLst>
                <a:latin typeface="楷体_GB2312" pitchFamily="49" charset="-122"/>
                <a:ea typeface="楷体_GB2312" pitchFamily="49" charset="-122"/>
              </a:rPr>
              <a:t>普通用户</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。根用户是超级管理员，用户名为</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root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，拥有所有权限</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普通用户只拥有被授予的权限；</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当某用户执行数据库操作时，服务器将会验证该用户是否具有相应的权限。</a:t>
            </a:r>
          </a:p>
        </p:txBody>
      </p:sp>
      <p:sp>
        <p:nvSpPr>
          <p:cNvPr id="5" name="Text Box 5">
            <a:extLst>
              <a:ext uri="{FF2B5EF4-FFF2-40B4-BE49-F238E27FC236}">
                <a16:creationId xmlns:a16="http://schemas.microsoft.com/office/drawing/2014/main" id="{36E2C9C0-B166-E288-27C2-665F88E243DD}"/>
              </a:ext>
            </a:extLst>
          </p:cNvPr>
          <p:cNvSpPr txBox="1">
            <a:spLocks noChangeArrowheads="1"/>
          </p:cNvSpPr>
          <p:nvPr/>
        </p:nvSpPr>
        <p:spPr bwMode="auto">
          <a:xfrm>
            <a:off x="1628775" y="5084763"/>
            <a:ext cx="9085263"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查看</a:t>
            </a:r>
            <a:r>
              <a:rPr kumimoji="1" lang="en-US" altLang="zh-CN" sz="2800" b="1" dirty="0" err="1">
                <a:solidFill>
                  <a:srgbClr val="0070C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用户表</a:t>
            </a: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user</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SELECT * FROM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mysql.user</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F47A8CC-CA0A-720D-3496-B7FA53405B6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用户管理</a:t>
            </a:r>
          </a:p>
        </p:txBody>
      </p:sp>
      <p:sp>
        <p:nvSpPr>
          <p:cNvPr id="28" name="Text Box 5">
            <a:extLst>
              <a:ext uri="{FF2B5EF4-FFF2-40B4-BE49-F238E27FC236}">
                <a16:creationId xmlns:a16="http://schemas.microsoft.com/office/drawing/2014/main" id="{2699C883-756E-7576-F393-91B42889FD95}"/>
              </a:ext>
            </a:extLst>
          </p:cNvPr>
          <p:cNvSpPr txBox="1">
            <a:spLocks noChangeArrowheads="1"/>
          </p:cNvSpPr>
          <p:nvPr/>
        </p:nvSpPr>
        <p:spPr bwMode="auto">
          <a:xfrm>
            <a:off x="627063" y="1724025"/>
            <a:ext cx="11088687"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CREATE USER </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账户名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[IDENTIFIED] [</a:t>
            </a:r>
            <a:r>
              <a:rPr lang="en-US" altLang="zh-CN" sz="2800" b="1" dirty="0">
                <a:solidFill>
                  <a:srgbClr val="002060"/>
                </a:solidFill>
                <a:latin typeface="Arial" charset="0"/>
                <a:ea typeface="宋体" charset="-122"/>
              </a:rPr>
              <a:t>with </a:t>
            </a:r>
            <a:r>
              <a:rPr lang="zh-CN" altLang="en-US" sz="2800" b="1" dirty="0">
                <a:solidFill>
                  <a:srgbClr val="002060"/>
                </a:solidFill>
                <a:latin typeface="Arial" charset="0"/>
                <a:ea typeface="宋体" charset="-122"/>
              </a:rPr>
              <a:t>加密插件</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][BY </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密码</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密码管理选项</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账户锁定选项</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4" name="Text Box 5">
            <a:extLst>
              <a:ext uri="{FF2B5EF4-FFF2-40B4-BE49-F238E27FC236}">
                <a16:creationId xmlns:a16="http://schemas.microsoft.com/office/drawing/2014/main" id="{D069F112-2F4E-E773-16BC-C9BD8B49A082}"/>
              </a:ext>
            </a:extLst>
          </p:cNvPr>
          <p:cNvSpPr txBox="1">
            <a:spLocks noChangeArrowheads="1"/>
          </p:cNvSpPr>
          <p:nvPr/>
        </p:nvSpPr>
        <p:spPr bwMode="auto">
          <a:xfrm>
            <a:off x="771525" y="1125538"/>
            <a:ext cx="105124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创建用户</a:t>
            </a:r>
          </a:p>
        </p:txBody>
      </p:sp>
      <p:sp>
        <p:nvSpPr>
          <p:cNvPr id="5" name="Text Box 5">
            <a:extLst>
              <a:ext uri="{FF2B5EF4-FFF2-40B4-BE49-F238E27FC236}">
                <a16:creationId xmlns:a16="http://schemas.microsoft.com/office/drawing/2014/main" id="{3682D40E-C4BA-3DBD-2F61-DC4A551B722F}"/>
              </a:ext>
            </a:extLst>
          </p:cNvPr>
          <p:cNvSpPr txBox="1">
            <a:spLocks noChangeArrowheads="1"/>
          </p:cNvSpPr>
          <p:nvPr/>
        </p:nvSpPr>
        <p:spPr bwMode="auto">
          <a:xfrm>
            <a:off x="482600" y="3132138"/>
            <a:ext cx="11088688" cy="321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zh-CN" sz="2800" b="1"/>
              <a:t>【例</a:t>
            </a:r>
            <a:r>
              <a:rPr lang="en-US" altLang="zh-CN" sz="2800" b="1"/>
              <a:t>12.3</a:t>
            </a:r>
            <a:r>
              <a:rPr lang="zh-CN" altLang="zh-CN" sz="2800" b="1"/>
              <a:t>】 创建新用户</a:t>
            </a:r>
            <a:r>
              <a:rPr lang="en-US" altLang="zh-CN" sz="2800" b="1"/>
              <a:t>user1</a:t>
            </a:r>
            <a:r>
              <a:rPr lang="zh-CN" altLang="zh-CN" sz="2800" b="1"/>
              <a:t>，并设置密码为 </a:t>
            </a:r>
            <a:r>
              <a:rPr lang="en-US" altLang="zh-CN" sz="2800" b="1"/>
              <a:t>user1</a:t>
            </a:r>
            <a:r>
              <a:rPr lang="zh-CN" altLang="en-US" sz="2800" b="1"/>
              <a:t>。</a:t>
            </a:r>
            <a:endParaRPr lang="en-US" altLang="zh-CN" sz="2800" b="1"/>
          </a:p>
          <a:p>
            <a:pPr>
              <a:spcBef>
                <a:spcPts val="600"/>
              </a:spcBef>
              <a:spcAft>
                <a:spcPts val="600"/>
              </a:spcAft>
            </a:pPr>
            <a:r>
              <a:rPr lang="en-US" altLang="zh-CN" sz="2800" b="1">
                <a:solidFill>
                  <a:srgbClr val="0070C0"/>
                </a:solidFill>
              </a:rPr>
              <a:t>-- </a:t>
            </a:r>
            <a:r>
              <a:rPr lang="zh-CN" altLang="en-US" sz="2800" b="1">
                <a:solidFill>
                  <a:srgbClr val="0070C0"/>
                </a:solidFill>
              </a:rPr>
              <a:t>创建</a:t>
            </a:r>
            <a:r>
              <a:rPr lang="zh-CN" altLang="zh-CN" sz="2800" b="1">
                <a:solidFill>
                  <a:srgbClr val="0070C0"/>
                </a:solidFill>
              </a:rPr>
              <a:t>本地登录帐户</a:t>
            </a:r>
          </a:p>
          <a:p>
            <a:pPr>
              <a:spcBef>
                <a:spcPts val="600"/>
              </a:spcBef>
              <a:spcAft>
                <a:spcPts val="600"/>
              </a:spcAft>
            </a:pPr>
            <a:r>
              <a:rPr lang="en-US" altLang="zh-CN" sz="2800" b="1">
                <a:solidFill>
                  <a:srgbClr val="002060"/>
                </a:solidFill>
              </a:rPr>
              <a:t>CREATE USER user1@localhost IDENTIFIED BY 'user1';</a:t>
            </a:r>
            <a:endParaRPr lang="zh-CN" altLang="zh-CN" sz="2800" b="1">
              <a:solidFill>
                <a:srgbClr val="002060"/>
              </a:solidFill>
            </a:endParaRPr>
          </a:p>
          <a:p>
            <a:pPr>
              <a:spcBef>
                <a:spcPts val="600"/>
              </a:spcBef>
              <a:spcAft>
                <a:spcPts val="600"/>
              </a:spcAft>
            </a:pPr>
            <a:r>
              <a:rPr lang="en-US" altLang="zh-CN" sz="2800" b="1">
                <a:solidFill>
                  <a:srgbClr val="0070C0"/>
                </a:solidFill>
              </a:rPr>
              <a:t>-- </a:t>
            </a:r>
            <a:r>
              <a:rPr lang="zh-CN" altLang="en-US" sz="2800" b="1">
                <a:solidFill>
                  <a:srgbClr val="0070C0"/>
                </a:solidFill>
              </a:rPr>
              <a:t>创建</a:t>
            </a:r>
            <a:r>
              <a:rPr lang="zh-CN" altLang="zh-CN" sz="2800" b="1">
                <a:solidFill>
                  <a:srgbClr val="0070C0"/>
                </a:solidFill>
              </a:rPr>
              <a:t>任何主机登录帐户</a:t>
            </a:r>
            <a:r>
              <a:rPr lang="zh-CN" altLang="en-US" sz="2800" b="1">
                <a:solidFill>
                  <a:srgbClr val="0070C0"/>
                </a:solidFill>
              </a:rPr>
              <a:t>，并设置加密插件</a:t>
            </a:r>
            <a:endParaRPr lang="zh-CN" altLang="zh-CN" sz="2800" b="1">
              <a:solidFill>
                <a:srgbClr val="0070C0"/>
              </a:solidFill>
            </a:endParaRPr>
          </a:p>
          <a:p>
            <a:pPr>
              <a:spcBef>
                <a:spcPts val="600"/>
              </a:spcBef>
              <a:spcAft>
                <a:spcPts val="600"/>
              </a:spcAft>
            </a:pPr>
            <a:r>
              <a:rPr lang="en-US" altLang="zh-CN" sz="2800" b="1">
                <a:solidFill>
                  <a:srgbClr val="002060"/>
                </a:solidFill>
              </a:rPr>
              <a:t>CREATE USER user1 IDENTIFIED WITH 'mysql_native_password' BY 'user1';</a:t>
            </a:r>
            <a:endParaRPr lang="zh-CN" altLang="zh-CN" sz="2800" b="1">
              <a:solidFill>
                <a:srgbClr val="002060"/>
              </a:solidFill>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551FCC7-2BDF-0915-9E1E-834F14D0883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用户管理</a:t>
            </a:r>
          </a:p>
        </p:txBody>
      </p:sp>
      <p:sp>
        <p:nvSpPr>
          <p:cNvPr id="5" name="Text Box 5">
            <a:extLst>
              <a:ext uri="{FF2B5EF4-FFF2-40B4-BE49-F238E27FC236}">
                <a16:creationId xmlns:a16="http://schemas.microsoft.com/office/drawing/2014/main" id="{8A93311C-F349-57D6-263C-A4B4082E5B3D}"/>
              </a:ext>
            </a:extLst>
          </p:cNvPr>
          <p:cNvSpPr txBox="1">
            <a:spLocks noChangeArrowheads="1"/>
          </p:cNvSpPr>
          <p:nvPr/>
        </p:nvSpPr>
        <p:spPr bwMode="auto">
          <a:xfrm>
            <a:off x="771525" y="4005263"/>
            <a:ext cx="11088688"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t>【</a:t>
            </a:r>
            <a:r>
              <a:rPr lang="zh-CN" altLang="en-US" sz="2800" b="1"/>
              <a:t>例</a:t>
            </a:r>
            <a:r>
              <a:rPr lang="en-US" altLang="zh-CN" sz="2800" b="1"/>
              <a:t>12.4】</a:t>
            </a:r>
            <a:r>
              <a:rPr lang="zh-CN" altLang="en-US" sz="2800" b="1"/>
              <a:t>创建一个名为</a:t>
            </a:r>
            <a:r>
              <a:rPr lang="en-US" altLang="zh-CN" sz="2800" b="1"/>
              <a:t>user2</a:t>
            </a:r>
            <a:r>
              <a:rPr lang="zh-CN" altLang="en-US" sz="2800" b="1"/>
              <a:t>的用户，并设置其密码每</a:t>
            </a:r>
            <a:r>
              <a:rPr lang="en-US" altLang="zh-CN" sz="2800" b="1"/>
              <a:t>180</a:t>
            </a:r>
            <a:r>
              <a:rPr lang="zh-CN" altLang="en-US" sz="2800" b="1"/>
              <a:t>天变更一次，具体</a:t>
            </a:r>
            <a:r>
              <a:rPr lang="en-US" altLang="zh-CN" sz="2800" b="1"/>
              <a:t>SQL</a:t>
            </a:r>
            <a:r>
              <a:rPr lang="zh-CN" altLang="en-US" sz="2800" b="1"/>
              <a:t>语句如下。</a:t>
            </a:r>
            <a:endParaRPr lang="en-US" altLang="zh-CN" sz="2800" b="1"/>
          </a:p>
          <a:p>
            <a:endParaRPr lang="zh-CN" altLang="en-US" sz="2800" b="1">
              <a:solidFill>
                <a:srgbClr val="002060"/>
              </a:solidFill>
            </a:endParaRPr>
          </a:p>
          <a:p>
            <a:r>
              <a:rPr lang="en-US" altLang="zh-CN" sz="2800" b="1">
                <a:solidFill>
                  <a:srgbClr val="002060"/>
                </a:solidFill>
              </a:rPr>
              <a:t>CREATE USER user2 IDENTIFIED BY 'user2' PASSWORD expire INTERVAL 180 DAY;</a:t>
            </a:r>
          </a:p>
        </p:txBody>
      </p:sp>
      <p:graphicFrame>
        <p:nvGraphicFramePr>
          <p:cNvPr id="20484" name="对象 2">
            <a:extLst>
              <a:ext uri="{FF2B5EF4-FFF2-40B4-BE49-F238E27FC236}">
                <a16:creationId xmlns:a16="http://schemas.microsoft.com/office/drawing/2014/main" id="{276D5ADC-2807-4B35-CDB4-D80C19E3F3EF}"/>
              </a:ext>
            </a:extLst>
          </p:cNvPr>
          <p:cNvGraphicFramePr>
            <a:graphicFrameLocks noChangeAspect="1"/>
          </p:cNvGraphicFramePr>
          <p:nvPr/>
        </p:nvGraphicFramePr>
        <p:xfrm>
          <a:off x="868363" y="1268413"/>
          <a:ext cx="10631487" cy="2592387"/>
        </p:xfrm>
        <a:graphic>
          <a:graphicData uri="http://schemas.openxmlformats.org/presentationml/2006/ole">
            <mc:AlternateContent xmlns:mc="http://schemas.openxmlformats.org/markup-compatibility/2006">
              <mc:Choice xmlns:v="urn:schemas-microsoft-com:vml" Requires="v">
                <p:oleObj name="文档" r:id="rId2" imgW="5136370" imgH="1251921" progId="Word.Document.12">
                  <p:embed/>
                </p:oleObj>
              </mc:Choice>
              <mc:Fallback>
                <p:oleObj name="文档" r:id="rId2" imgW="5136370" imgH="1251921" progId="Word.Document.12">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363" y="1268413"/>
                        <a:ext cx="1063148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E54C57F-6BE3-B0DC-3ED9-767A113FCC8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用户管理</a:t>
            </a:r>
          </a:p>
        </p:txBody>
      </p:sp>
      <p:sp>
        <p:nvSpPr>
          <p:cNvPr id="28" name="Text Box 5">
            <a:extLst>
              <a:ext uri="{FF2B5EF4-FFF2-40B4-BE49-F238E27FC236}">
                <a16:creationId xmlns:a16="http://schemas.microsoft.com/office/drawing/2014/main" id="{4A25C543-FE84-A4CC-0DCD-D50BF414005C}"/>
              </a:ext>
            </a:extLst>
          </p:cNvPr>
          <p:cNvSpPr txBox="1">
            <a:spLocks noChangeArrowheads="1"/>
          </p:cNvSpPr>
          <p:nvPr/>
        </p:nvSpPr>
        <p:spPr bwMode="auto">
          <a:xfrm>
            <a:off x="596900" y="1557338"/>
            <a:ext cx="11088688" cy="23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）修改用户名，具体</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语句如下。</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RENAME USER &lt;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旧用户名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&gt; TO &lt;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新用户名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&gt;;</a:t>
            </a:r>
          </a:p>
          <a:p>
            <a:pPr eaLnBrk="1" hangingPunct="1">
              <a:lnSpc>
                <a:spcPct val="130000"/>
              </a:lnSpc>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12.5】 </a:t>
            </a:r>
            <a:r>
              <a:rPr kumimoji="1" lang="zh-CN" altLang="en-US" sz="2800" b="1" dirty="0">
                <a:effectLst>
                  <a:outerShdw blurRad="38100" dist="38100" dir="2700000" algn="tl">
                    <a:srgbClr val="C0C0C0"/>
                  </a:outerShdw>
                </a:effectLst>
                <a:latin typeface="楷体_GB2312" pitchFamily="49" charset="-122"/>
                <a:ea typeface="楷体_GB2312" pitchFamily="49" charset="-122"/>
              </a:rPr>
              <a:t>将</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user1@localhost</a:t>
            </a:r>
            <a:r>
              <a:rPr kumimoji="1" lang="zh-CN" altLang="en-US" sz="2800" b="1" dirty="0">
                <a:effectLst>
                  <a:outerShdw blurRad="38100" dist="38100" dir="2700000" algn="tl">
                    <a:srgbClr val="C0C0C0"/>
                  </a:outerShdw>
                </a:effectLst>
                <a:latin typeface="楷体_GB2312" pitchFamily="49" charset="-122"/>
                <a:ea typeface="楷体_GB2312" pitchFamily="49" charset="-122"/>
              </a:rPr>
              <a:t>用户名修改为</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user1@'202.208.5.8'</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p>
          <a:p>
            <a:pPr eaLnBrk="1" hangingPunct="1">
              <a:lnSpc>
                <a:spcPct val="130000"/>
              </a:lnSpc>
              <a:buClr>
                <a:srgbClr val="32C6CA"/>
              </a:buClr>
              <a:buSzPct val="80000"/>
              <a:buFont typeface="Wingdings" pitchFamily="2" charset="2"/>
              <a:buNone/>
              <a:defRPr/>
            </a:pPr>
            <a:r>
              <a:rPr lang="en-US" altLang="zh-CN" sz="2800" b="1" dirty="0">
                <a:solidFill>
                  <a:srgbClr val="002060"/>
                </a:solidFill>
                <a:latin typeface="Arial" charset="0"/>
              </a:rPr>
              <a:t>RENAME USER user1@localhost TO user1@'202.208.5.8';</a:t>
            </a:r>
          </a:p>
        </p:txBody>
      </p:sp>
      <p:sp>
        <p:nvSpPr>
          <p:cNvPr id="4" name="Text Box 5">
            <a:extLst>
              <a:ext uri="{FF2B5EF4-FFF2-40B4-BE49-F238E27FC236}">
                <a16:creationId xmlns:a16="http://schemas.microsoft.com/office/drawing/2014/main" id="{D88A5762-55F2-F2EC-F8CF-1D1D60C97980}"/>
              </a:ext>
            </a:extLst>
          </p:cNvPr>
          <p:cNvSpPr txBox="1">
            <a:spLocks noChangeArrowheads="1"/>
          </p:cNvSpPr>
          <p:nvPr/>
        </p:nvSpPr>
        <p:spPr bwMode="auto">
          <a:xfrm>
            <a:off x="771525" y="1125538"/>
            <a:ext cx="105124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修改用户</a:t>
            </a:r>
          </a:p>
        </p:txBody>
      </p:sp>
      <p:sp>
        <p:nvSpPr>
          <p:cNvPr id="5" name="Text Box 5">
            <a:extLst>
              <a:ext uri="{FF2B5EF4-FFF2-40B4-BE49-F238E27FC236}">
                <a16:creationId xmlns:a16="http://schemas.microsoft.com/office/drawing/2014/main" id="{474A0EDB-AACC-50EE-D785-006E8465D9FD}"/>
              </a:ext>
            </a:extLst>
          </p:cNvPr>
          <p:cNvSpPr txBox="1">
            <a:spLocks noChangeArrowheads="1"/>
          </p:cNvSpPr>
          <p:nvPr/>
        </p:nvSpPr>
        <p:spPr bwMode="auto">
          <a:xfrm>
            <a:off x="482600" y="4149725"/>
            <a:ext cx="11202988"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spcBef>
                <a:spcPts val="600"/>
              </a:spcBef>
              <a:spcAft>
                <a:spcPts val="600"/>
              </a:spcAft>
              <a:buFont typeface="Arial" charset="0"/>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12.6】 </a:t>
            </a:r>
            <a:r>
              <a:rPr kumimoji="1" lang="zh-CN" altLang="en-US" sz="2800" b="1" dirty="0">
                <a:effectLst>
                  <a:outerShdw blurRad="38100" dist="38100" dir="2700000" algn="tl">
                    <a:srgbClr val="C0C0C0"/>
                  </a:outerShdw>
                </a:effectLst>
                <a:latin typeface="楷体_GB2312" pitchFamily="49" charset="-122"/>
                <a:ea typeface="楷体_GB2312" pitchFamily="49" charset="-122"/>
              </a:rPr>
              <a:t>将</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user2</a:t>
            </a:r>
            <a:r>
              <a:rPr kumimoji="1" lang="zh-CN" altLang="en-US" sz="2800" b="1" dirty="0">
                <a:effectLst>
                  <a:outerShdw blurRad="38100" dist="38100" dir="2700000" algn="tl">
                    <a:srgbClr val="C0C0C0"/>
                  </a:outerShdw>
                </a:effectLst>
                <a:latin typeface="楷体_GB2312" pitchFamily="49" charset="-122"/>
                <a:ea typeface="楷体_GB2312" pitchFamily="49" charset="-122"/>
              </a:rPr>
              <a:t>密码修改为</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‘user2'</a:t>
            </a:r>
            <a:r>
              <a:rPr kumimoji="1" lang="zh-CN" altLang="en-US" sz="2800" b="1" dirty="0">
                <a:effectLst>
                  <a:outerShdw blurRad="38100" dist="38100" dir="2700000" algn="tl">
                    <a:srgbClr val="C0C0C0"/>
                  </a:outerShdw>
                </a:effectLst>
                <a:latin typeface="楷体_GB2312" pitchFamily="49" charset="-122"/>
                <a:ea typeface="楷体_GB2312" pitchFamily="49" charset="-122"/>
              </a:rPr>
              <a:t>，验证方式为 </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t>mysql_native_password</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，密码长期有效，用户为解锁状态。</a:t>
            </a:r>
            <a:endParaRPr kumimoji="1" lang="en-US" altLang="zh-CN" sz="2800" b="1" dirty="0">
              <a:effectLst>
                <a:outerShdw blurRad="38100" dist="38100" dir="2700000" algn="tl">
                  <a:srgbClr val="C0C0C0"/>
                </a:outerShdw>
              </a:effectLst>
              <a:latin typeface="楷体_GB2312" pitchFamily="49" charset="-122"/>
              <a:ea typeface="楷体_GB2312" pitchFamily="49" charset="-122"/>
            </a:endParaRPr>
          </a:p>
          <a:p>
            <a:pPr>
              <a:spcBef>
                <a:spcPts val="600"/>
              </a:spcBef>
              <a:spcAft>
                <a:spcPts val="600"/>
              </a:spcAft>
              <a:buFont typeface="Arial" charset="0"/>
              <a:buNone/>
              <a:defRPr/>
            </a:pPr>
            <a:r>
              <a:rPr lang="en-US" altLang="zh-CN" sz="2800" b="1" dirty="0">
                <a:solidFill>
                  <a:srgbClr val="002060"/>
                </a:solidFill>
              </a:rPr>
              <a:t>ALTER USER user2 IDENTIFIED  WITH '</a:t>
            </a:r>
            <a:r>
              <a:rPr lang="en-US" altLang="zh-CN" sz="2800" b="1" dirty="0" err="1">
                <a:solidFill>
                  <a:srgbClr val="002060"/>
                </a:solidFill>
              </a:rPr>
              <a:t>mysql_native_password</a:t>
            </a:r>
            <a:r>
              <a:rPr lang="en-US" altLang="zh-CN" sz="2800" b="1" dirty="0">
                <a:solidFill>
                  <a:srgbClr val="002060"/>
                </a:solidFill>
              </a:rPr>
              <a:t> '  BY 'user2' PASSWORD expire never ACCOUNT UNLOCK;</a:t>
            </a:r>
            <a:endParaRPr lang="zh-CN" altLang="zh-CN" sz="2800" b="1" dirty="0">
              <a:solidFill>
                <a:srgbClr val="002060"/>
              </a:solidFill>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animEffect transition="in" filter="fade">
                                      <p:cBhvr>
                                        <p:cTn id="7" dur="500"/>
                                        <p:tgtEl>
                                          <p:spTgt spid="28">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8">
                                            <p:txEl>
                                              <p:pRg st="3" end="3"/>
                                            </p:txEl>
                                          </p:spTgt>
                                        </p:tgtEl>
                                        <p:attrNameLst>
                                          <p:attrName>style.visibility</p:attrName>
                                        </p:attrNameLst>
                                      </p:cBhvr>
                                      <p:to>
                                        <p:strVal val="visible"/>
                                      </p:to>
                                    </p:set>
                                    <p:animEffect transition="in" filter="fade">
                                      <p:cBhvr>
                                        <p:cTn id="10" dur="500"/>
                                        <p:tgtEl>
                                          <p:spTgt spid="28">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764A3BB-C4FC-0817-3A10-A7151EF5E489}"/>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用户管理</a:t>
            </a:r>
          </a:p>
        </p:txBody>
      </p:sp>
      <p:sp>
        <p:nvSpPr>
          <p:cNvPr id="28" name="Text Box 5">
            <a:extLst>
              <a:ext uri="{FF2B5EF4-FFF2-40B4-BE49-F238E27FC236}">
                <a16:creationId xmlns:a16="http://schemas.microsoft.com/office/drawing/2014/main" id="{F12855C3-56E6-8E5F-9555-726818264F05}"/>
              </a:ext>
            </a:extLst>
          </p:cNvPr>
          <p:cNvSpPr txBox="1">
            <a:spLocks noChangeArrowheads="1"/>
          </p:cNvSpPr>
          <p:nvPr/>
        </p:nvSpPr>
        <p:spPr bwMode="auto">
          <a:xfrm>
            <a:off x="596900" y="1916113"/>
            <a:ext cx="11088688"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DROP USER [IF EXISTS] &lt;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帐户名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&gt;,…;</a:t>
            </a:r>
          </a:p>
          <a:p>
            <a:pPr eaLnBrk="1" hangingPunct="1">
              <a:lnSpc>
                <a:spcPct val="130000"/>
              </a:lnSpc>
              <a:buClr>
                <a:srgbClr val="32C6CA"/>
              </a:buClr>
              <a:buSzPct val="80000"/>
              <a:buFont typeface="Wingdings" pitchFamily="2" charset="2"/>
              <a:buNone/>
              <a:defRPr/>
            </a:pP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30000"/>
              </a:lnSpc>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12.7】 </a:t>
            </a:r>
            <a:r>
              <a:rPr kumimoji="1" lang="zh-CN" altLang="en-US" sz="2800" b="1" dirty="0">
                <a:effectLst>
                  <a:outerShdw blurRad="38100" dist="38100" dir="2700000" algn="tl">
                    <a:srgbClr val="C0C0C0"/>
                  </a:outerShdw>
                </a:effectLst>
                <a:latin typeface="楷体_GB2312" pitchFamily="49" charset="-122"/>
                <a:ea typeface="楷体_GB2312" pitchFamily="49" charset="-122"/>
              </a:rPr>
              <a:t>删除</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user1</a:t>
            </a:r>
            <a:r>
              <a:rPr kumimoji="1" lang="zh-CN" altLang="en-US" sz="2800" b="1" dirty="0">
                <a:effectLst>
                  <a:outerShdw blurRad="38100" dist="38100" dir="2700000" algn="tl">
                    <a:srgbClr val="C0C0C0"/>
                  </a:outerShdw>
                </a:effectLst>
                <a:latin typeface="楷体_GB2312" pitchFamily="49" charset="-122"/>
                <a:ea typeface="楷体_GB2312" pitchFamily="49" charset="-122"/>
              </a:rPr>
              <a:t>和</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user1@202.208.5.8</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两个帐</a:t>
            </a:r>
            <a:endParaRPr kumimoji="1" lang="en-US" altLang="zh-CN" sz="2800" b="1" dirty="0">
              <a:effectLst>
                <a:outerShdw blurRad="38100" dist="38100" dir="2700000" algn="tl">
                  <a:srgbClr val="C0C0C0"/>
                </a:outerShdw>
              </a:effectLst>
              <a:latin typeface="楷体_GB2312" pitchFamily="49" charset="-122"/>
              <a:ea typeface="楷体_GB2312" pitchFamily="49" charset="-122"/>
            </a:endParaRPr>
          </a:p>
          <a:p>
            <a:pPr eaLnBrk="1" hangingPunct="1">
              <a:lnSpc>
                <a:spcPct val="130000"/>
              </a:lnSpc>
              <a:buClr>
                <a:srgbClr val="32C6CA"/>
              </a:buClr>
              <a:buSzPct val="80000"/>
              <a:buFont typeface="Wingdings" pitchFamily="2" charset="2"/>
              <a:buNone/>
              <a:defRPr/>
            </a:pPr>
            <a:r>
              <a:rPr lang="en-US" altLang="zh-CN" sz="2800" b="1" dirty="0">
                <a:solidFill>
                  <a:srgbClr val="002060"/>
                </a:solidFill>
                <a:latin typeface="Arial" charset="0"/>
                <a:ea typeface="宋体" charset="-122"/>
              </a:rPr>
              <a:t>DROP USER user1,user1@202.208.5.8;</a:t>
            </a:r>
          </a:p>
        </p:txBody>
      </p:sp>
      <p:sp>
        <p:nvSpPr>
          <p:cNvPr id="4" name="Text Box 5">
            <a:extLst>
              <a:ext uri="{FF2B5EF4-FFF2-40B4-BE49-F238E27FC236}">
                <a16:creationId xmlns:a16="http://schemas.microsoft.com/office/drawing/2014/main" id="{19EADA19-09EF-C9E6-C1BE-A16A535DE8EE}"/>
              </a:ext>
            </a:extLst>
          </p:cNvPr>
          <p:cNvSpPr txBox="1">
            <a:spLocks noChangeArrowheads="1"/>
          </p:cNvSpPr>
          <p:nvPr/>
        </p:nvSpPr>
        <p:spPr bwMode="auto">
          <a:xfrm>
            <a:off x="771525" y="1125538"/>
            <a:ext cx="105124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3.</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删除用户</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animEffect transition="in" filter="fade">
                                      <p:cBhvr>
                                        <p:cTn id="7" dur="500"/>
                                        <p:tgtEl>
                                          <p:spTgt spid="28">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8">
                                            <p:txEl>
                                              <p:pRg st="3" end="3"/>
                                            </p:txEl>
                                          </p:spTgt>
                                        </p:tgtEl>
                                        <p:attrNameLst>
                                          <p:attrName>style.visibility</p:attrName>
                                        </p:attrNameLst>
                                      </p:cBhvr>
                                      <p:to>
                                        <p:strVal val="visible"/>
                                      </p:to>
                                    </p:set>
                                    <p:animEffect transition="in" filter="fade">
                                      <p:cBhvr>
                                        <p:cTn id="10"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B177D047-71BC-BC2C-7E73-A4FC08877172}"/>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权限管理</a:t>
            </a:r>
          </a:p>
        </p:txBody>
      </p:sp>
      <p:sp>
        <p:nvSpPr>
          <p:cNvPr id="28" name="Text Box 5">
            <a:extLst>
              <a:ext uri="{FF2B5EF4-FFF2-40B4-BE49-F238E27FC236}">
                <a16:creationId xmlns:a16="http://schemas.microsoft.com/office/drawing/2014/main" id="{028552E8-3361-2CE4-75B1-E035785B0A2D}"/>
              </a:ext>
            </a:extLst>
          </p:cNvPr>
          <p:cNvSpPr txBox="1">
            <a:spLocks noChangeArrowheads="1"/>
          </p:cNvSpPr>
          <p:nvPr/>
        </p:nvSpPr>
        <p:spPr bwMode="auto">
          <a:xfrm>
            <a:off x="627063" y="1724025"/>
            <a:ext cx="11088687" cy="345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GRANT</a:t>
            </a:r>
          </a:p>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权限类型</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字段列表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权限类型</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字段列表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ON[</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目标类型</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权限级别</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TO </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账户名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用户身份验证选项</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账户名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用户身份验证选项</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[REQUIRE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连接方式</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[WITH{GRANT OPTION|</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资源控制选项</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4" name="Text Box 5">
            <a:extLst>
              <a:ext uri="{FF2B5EF4-FFF2-40B4-BE49-F238E27FC236}">
                <a16:creationId xmlns:a16="http://schemas.microsoft.com/office/drawing/2014/main" id="{320C4E2D-9812-A094-70DE-7B219EB6CF48}"/>
              </a:ext>
            </a:extLst>
          </p:cNvPr>
          <p:cNvSpPr txBox="1">
            <a:spLocks noChangeArrowheads="1"/>
          </p:cNvSpPr>
          <p:nvPr/>
        </p:nvSpPr>
        <p:spPr bwMode="auto">
          <a:xfrm>
            <a:off x="771525" y="1125538"/>
            <a:ext cx="10512425" cy="63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授予权限</a:t>
            </a: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79092E9-83C2-D086-45C0-2F98333EDD6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权限管理</a:t>
            </a:r>
          </a:p>
        </p:txBody>
      </p:sp>
      <p:graphicFrame>
        <p:nvGraphicFramePr>
          <p:cNvPr id="24579" name="对象 2">
            <a:extLst>
              <a:ext uri="{FF2B5EF4-FFF2-40B4-BE49-F238E27FC236}">
                <a16:creationId xmlns:a16="http://schemas.microsoft.com/office/drawing/2014/main" id="{1FCA4CDF-7045-4A5A-ECEB-4123C75E0194}"/>
              </a:ext>
            </a:extLst>
          </p:cNvPr>
          <p:cNvGraphicFramePr>
            <a:graphicFrameLocks noChangeAspect="1"/>
          </p:cNvGraphicFramePr>
          <p:nvPr/>
        </p:nvGraphicFramePr>
        <p:xfrm>
          <a:off x="914400" y="1039813"/>
          <a:ext cx="10801350" cy="6432550"/>
        </p:xfrm>
        <a:graphic>
          <a:graphicData uri="http://schemas.openxmlformats.org/presentationml/2006/ole">
            <mc:AlternateContent xmlns:mc="http://schemas.openxmlformats.org/markup-compatibility/2006">
              <mc:Choice xmlns:v="urn:schemas-microsoft-com:vml" Requires="v">
                <p:oleObj name="文档" r:id="rId2" imgW="5136370" imgH="3047733" progId="Word.Document.12">
                  <p:embed/>
                </p:oleObj>
              </mc:Choice>
              <mc:Fallback>
                <p:oleObj name="文档" r:id="rId2" imgW="5136370" imgH="3047733" progId="Word.Document.12">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39813"/>
                        <a:ext cx="10801350"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69C9D20-CB4F-966E-6014-F098832978CC}"/>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权限管理</a:t>
            </a:r>
          </a:p>
        </p:txBody>
      </p:sp>
      <p:sp>
        <p:nvSpPr>
          <p:cNvPr id="28" name="Text Box 5">
            <a:extLst>
              <a:ext uri="{FF2B5EF4-FFF2-40B4-BE49-F238E27FC236}">
                <a16:creationId xmlns:a16="http://schemas.microsoft.com/office/drawing/2014/main" id="{6DA4F2A4-ACE6-1E7E-C591-46B021F68EF3}"/>
              </a:ext>
            </a:extLst>
          </p:cNvPr>
          <p:cNvSpPr txBox="1">
            <a:spLocks noChangeArrowheads="1"/>
          </p:cNvSpPr>
          <p:nvPr/>
        </p:nvSpPr>
        <p:spPr bwMode="auto">
          <a:xfrm>
            <a:off x="461963" y="1196975"/>
            <a:ext cx="11304587"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400" b="1" dirty="0">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400" b="1" dirty="0">
                <a:effectLst>
                  <a:outerShdw blurRad="38100" dist="38100" dir="2700000" algn="tl">
                    <a:srgbClr val="C0C0C0"/>
                  </a:outerShdw>
                </a:effectLst>
                <a:latin typeface="楷体_GB2312" pitchFamily="49" charset="-122"/>
                <a:ea typeface="楷体_GB2312" pitchFamily="49" charset="-122"/>
              </a:rPr>
              <a:t>12.8】 </a:t>
            </a:r>
            <a:r>
              <a:rPr kumimoji="1" lang="zh-CN" altLang="en-US" sz="2400" b="1" dirty="0">
                <a:effectLst>
                  <a:outerShdw blurRad="38100" dist="38100" dir="2700000" algn="tl">
                    <a:srgbClr val="C0C0C0"/>
                  </a:outerShdw>
                </a:effectLst>
                <a:latin typeface="楷体_GB2312" pitchFamily="49" charset="-122"/>
                <a:ea typeface="楷体_GB2312" pitchFamily="49" charset="-122"/>
              </a:rPr>
              <a:t>创建</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user1</a:t>
            </a:r>
            <a:r>
              <a:rPr kumimoji="1" lang="zh-CN" altLang="en-US" sz="2400" b="1" dirty="0">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user2</a:t>
            </a:r>
            <a:r>
              <a:rPr kumimoji="1" lang="zh-CN" altLang="en-US" sz="2400" b="1" dirty="0">
                <a:effectLst>
                  <a:outerShdw blurRad="38100" dist="38100" dir="2700000" algn="tl">
                    <a:srgbClr val="C0C0C0"/>
                  </a:outerShdw>
                </a:effectLst>
                <a:latin typeface="楷体_GB2312" pitchFamily="49" charset="-122"/>
                <a:ea typeface="楷体_GB2312" pitchFamily="49" charset="-122"/>
              </a:rPr>
              <a:t>两个用户，密码与用户名相同。给</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user1</a:t>
            </a:r>
            <a:r>
              <a:rPr kumimoji="1" lang="zh-CN" altLang="en-US" sz="2400" b="1" dirty="0">
                <a:effectLst>
                  <a:outerShdw blurRad="38100" dist="38100" dir="2700000" algn="tl">
                    <a:srgbClr val="C0C0C0"/>
                  </a:outerShdw>
                </a:effectLst>
                <a:latin typeface="楷体_GB2312" pitchFamily="49" charset="-122"/>
                <a:ea typeface="楷体_GB2312" pitchFamily="49" charset="-122"/>
              </a:rPr>
              <a:t>授予所有数据库权限，并具有授权权限，用</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user1</a:t>
            </a:r>
            <a:r>
              <a:rPr kumimoji="1" lang="zh-CN" altLang="en-US" sz="2400" b="1" dirty="0">
                <a:effectLst>
                  <a:outerShdw blurRad="38100" dist="38100" dir="2700000" algn="tl">
                    <a:srgbClr val="C0C0C0"/>
                  </a:outerShdw>
                </a:effectLst>
                <a:latin typeface="楷体_GB2312" pitchFamily="49" charset="-122"/>
                <a:ea typeface="楷体_GB2312" pitchFamily="49" charset="-122"/>
              </a:rPr>
              <a:t>连接服务器，</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user1</a:t>
            </a:r>
            <a:r>
              <a:rPr kumimoji="1" lang="zh-CN" altLang="en-US" sz="2400" b="1" dirty="0">
                <a:effectLst>
                  <a:outerShdw blurRad="38100" dist="38100" dir="2700000" algn="tl">
                    <a:srgbClr val="C0C0C0"/>
                  </a:outerShdw>
                </a:effectLst>
                <a:latin typeface="楷体_GB2312" pitchFamily="49" charset="-122"/>
                <a:ea typeface="楷体_GB2312" pitchFamily="49" charset="-122"/>
              </a:rPr>
              <a:t>给</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user2</a:t>
            </a:r>
            <a:r>
              <a:rPr kumimoji="1" lang="zh-CN" altLang="en-US" sz="2400" b="1" dirty="0">
                <a:effectLst>
                  <a:outerShdw blurRad="38100" dist="38100" dir="2700000" algn="tl">
                    <a:srgbClr val="C0C0C0"/>
                  </a:outerShdw>
                </a:effectLst>
                <a:latin typeface="楷体_GB2312" pitchFamily="49" charset="-122"/>
                <a:ea typeface="楷体_GB2312" pitchFamily="49" charset="-122"/>
              </a:rPr>
              <a:t>授予</a:t>
            </a:r>
            <a:r>
              <a:rPr kumimoji="1" lang="en-US" altLang="zh-CN" sz="24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400" b="1" dirty="0">
                <a:effectLst>
                  <a:outerShdw blurRad="38100" dist="38100" dir="2700000" algn="tl">
                    <a:srgbClr val="C0C0C0"/>
                  </a:outerShdw>
                </a:effectLst>
                <a:latin typeface="楷体_GB2312" pitchFamily="49" charset="-122"/>
                <a:ea typeface="楷体_GB2312" pitchFamily="49" charset="-122"/>
              </a:rPr>
              <a:t>数据中的</a:t>
            </a:r>
            <a:r>
              <a:rPr kumimoji="1" lang="en-US" altLang="zh-CN" sz="2400" b="1" dirty="0">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effectLst>
                  <a:outerShdw blurRad="38100" dist="38100" dir="2700000" algn="tl">
                    <a:srgbClr val="C0C0C0"/>
                  </a:outerShdw>
                </a:effectLst>
                <a:latin typeface="楷体_GB2312" pitchFamily="49" charset="-122"/>
                <a:ea typeface="楷体_GB2312" pitchFamily="49" charset="-122"/>
              </a:rPr>
              <a:t>表的</a:t>
            </a:r>
            <a:r>
              <a:rPr kumimoji="1" lang="en-US" altLang="zh-CN" sz="2400" b="1" dirty="0">
                <a:effectLst>
                  <a:outerShdw blurRad="38100" dist="38100" dir="2700000" algn="tl">
                    <a:srgbClr val="C0C0C0"/>
                  </a:outerShdw>
                </a:effectLst>
                <a:latin typeface="楷体_GB2312" pitchFamily="49" charset="-122"/>
                <a:ea typeface="楷体_GB2312" pitchFamily="49" charset="-122"/>
              </a:rPr>
              <a:t>select</a:t>
            </a:r>
            <a:r>
              <a:rPr kumimoji="1" lang="zh-CN" altLang="en-US" sz="2400" b="1" dirty="0">
                <a:effectLst>
                  <a:outerShdw blurRad="38100" dist="38100" dir="2700000" algn="tl">
                    <a:srgbClr val="C0C0C0"/>
                  </a:outerShdw>
                </a:effectLst>
                <a:latin typeface="楷体_GB2312" pitchFamily="49" charset="-122"/>
                <a:ea typeface="楷体_GB2312" pitchFamily="49" charset="-122"/>
              </a:rPr>
              <a:t>权限、</a:t>
            </a:r>
            <a:r>
              <a:rPr kumimoji="1" lang="en-US" altLang="zh-CN" sz="2400" b="1" dirty="0">
                <a:effectLst>
                  <a:outerShdw blurRad="38100" dist="38100" dir="2700000" algn="tl">
                    <a:srgbClr val="C0C0C0"/>
                  </a:outerShdw>
                </a:effectLst>
                <a:latin typeface="楷体_GB2312" pitchFamily="49" charset="-122"/>
                <a:ea typeface="楷体_GB2312" pitchFamily="49" charset="-122"/>
              </a:rPr>
              <a:t>insert</a:t>
            </a:r>
            <a:r>
              <a:rPr kumimoji="1" lang="zh-CN" altLang="en-US" sz="2400" b="1" dirty="0">
                <a:effectLst>
                  <a:outerShdw blurRad="38100" dist="38100" dir="2700000" algn="tl">
                    <a:srgbClr val="C0C0C0"/>
                  </a:outerShdw>
                </a:effectLst>
                <a:latin typeface="楷体_GB2312" pitchFamily="49" charset="-122"/>
                <a:ea typeface="楷体_GB2312" pitchFamily="49" charset="-122"/>
              </a:rPr>
              <a:t>权限和修改</a:t>
            </a:r>
            <a:r>
              <a:rPr kumimoji="1" lang="en-US" altLang="zh-CN" sz="2400" b="1" dirty="0">
                <a:effectLst>
                  <a:outerShdw blurRad="38100" dist="38100" dir="2700000" algn="tl">
                    <a:srgbClr val="C0C0C0"/>
                  </a:outerShdw>
                </a:effectLst>
                <a:latin typeface="楷体_GB2312" pitchFamily="49" charset="-122"/>
                <a:ea typeface="楷体_GB2312" pitchFamily="49" charset="-122"/>
              </a:rPr>
              <a:t>grade</a:t>
            </a:r>
            <a:r>
              <a:rPr kumimoji="1" lang="zh-CN" altLang="en-US" sz="2400" b="1" dirty="0">
                <a:effectLst>
                  <a:outerShdw blurRad="38100" dist="38100" dir="2700000" algn="tl">
                    <a:srgbClr val="C0C0C0"/>
                  </a:outerShdw>
                </a:effectLst>
                <a:latin typeface="楷体_GB2312" pitchFamily="49" charset="-122"/>
                <a:ea typeface="楷体_GB2312" pitchFamily="49" charset="-122"/>
              </a:rPr>
              <a:t>字段的权限，用</a:t>
            </a:r>
            <a:r>
              <a:rPr kumimoji="1" lang="en-US" altLang="zh-CN" sz="2400" b="1" dirty="0">
                <a:effectLst>
                  <a:outerShdw blurRad="38100" dist="38100" dir="2700000" algn="tl">
                    <a:srgbClr val="C0C0C0"/>
                  </a:outerShdw>
                </a:effectLst>
                <a:latin typeface="楷体_GB2312" pitchFamily="49" charset="-122"/>
                <a:ea typeface="楷体_GB2312" pitchFamily="49" charset="-122"/>
              </a:rPr>
              <a:t>user2</a:t>
            </a:r>
            <a:r>
              <a:rPr kumimoji="1" lang="zh-CN" altLang="en-US" sz="2400" b="1" dirty="0">
                <a:effectLst>
                  <a:outerShdw blurRad="38100" dist="38100" dir="2700000" algn="tl">
                    <a:srgbClr val="C0C0C0"/>
                  </a:outerShdw>
                </a:effectLst>
                <a:latin typeface="楷体_GB2312" pitchFamily="49" charset="-122"/>
                <a:ea typeface="楷体_GB2312" pitchFamily="49" charset="-122"/>
              </a:rPr>
              <a:t>连接服务器查看其内容。</a:t>
            </a:r>
            <a:endParaRPr kumimoji="1" lang="en-US" altLang="zh-CN" sz="2400" b="1" dirty="0">
              <a:effectLst>
                <a:outerShdw blurRad="38100" dist="38100" dir="2700000" algn="tl">
                  <a:srgbClr val="C0C0C0"/>
                </a:outerShdw>
              </a:effectLst>
              <a:latin typeface="楷体_GB2312" pitchFamily="49" charset="-122"/>
              <a:ea typeface="楷体_GB2312" pitchFamily="49" charset="-122"/>
            </a:endParaRPr>
          </a:p>
        </p:txBody>
      </p:sp>
      <p:sp>
        <p:nvSpPr>
          <p:cNvPr id="5" name="Text Box 5">
            <a:extLst>
              <a:ext uri="{FF2B5EF4-FFF2-40B4-BE49-F238E27FC236}">
                <a16:creationId xmlns:a16="http://schemas.microsoft.com/office/drawing/2014/main" id="{2F8A0801-C801-6FD4-A672-AFE54D5008C9}"/>
              </a:ext>
            </a:extLst>
          </p:cNvPr>
          <p:cNvSpPr txBox="1">
            <a:spLocks noChangeArrowheads="1"/>
          </p:cNvSpPr>
          <p:nvPr/>
        </p:nvSpPr>
        <p:spPr bwMode="auto">
          <a:xfrm>
            <a:off x="461963" y="3284538"/>
            <a:ext cx="11304587" cy="345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rgbClr val="32C6CA"/>
              </a:buClr>
              <a:buSzPct val="80000"/>
              <a:buFont typeface="Wingdings" panose="05000000000000000000" pitchFamily="2" charset="2"/>
              <a:buNone/>
            </a:pPr>
            <a:r>
              <a:rPr lang="en-US" altLang="zh-CN" sz="2400" b="1">
                <a:solidFill>
                  <a:srgbClr val="0070C0"/>
                </a:solidFill>
              </a:rPr>
              <a:t>-- </a:t>
            </a:r>
            <a:r>
              <a:rPr lang="zh-CN" altLang="en-US" sz="2400" b="1">
                <a:solidFill>
                  <a:srgbClr val="0070C0"/>
                </a:solidFill>
              </a:rPr>
              <a:t>创建</a:t>
            </a:r>
            <a:r>
              <a:rPr lang="en-US" altLang="zh-CN" sz="2400" b="1">
                <a:solidFill>
                  <a:srgbClr val="0070C0"/>
                </a:solidFill>
              </a:rPr>
              <a:t>user1</a:t>
            </a:r>
            <a:r>
              <a:rPr lang="zh-CN" altLang="en-US" sz="2400" b="1">
                <a:solidFill>
                  <a:srgbClr val="0070C0"/>
                </a:solidFill>
              </a:rPr>
              <a:t>和</a:t>
            </a:r>
            <a:r>
              <a:rPr lang="en-US" altLang="zh-CN" sz="2400" b="1">
                <a:solidFill>
                  <a:srgbClr val="0070C0"/>
                </a:solidFill>
              </a:rPr>
              <a:t>user2</a:t>
            </a:r>
            <a:r>
              <a:rPr lang="zh-CN" altLang="en-US" sz="2400" b="1">
                <a:solidFill>
                  <a:srgbClr val="0070C0"/>
                </a:solidFill>
              </a:rPr>
              <a:t>两个用户，若已存在不用再创建</a:t>
            </a:r>
            <a:endParaRPr lang="en-US" altLang="zh-CN" sz="2400" b="1">
              <a:solidFill>
                <a:srgbClr val="0070C0"/>
              </a:solidFill>
            </a:endParaRPr>
          </a:p>
          <a:p>
            <a:pPr eaLnBrk="1" hangingPunct="1">
              <a:lnSpc>
                <a:spcPct val="130000"/>
              </a:lnSpc>
              <a:buClr>
                <a:srgbClr val="32C6CA"/>
              </a:buClr>
              <a:buSzPct val="80000"/>
              <a:buFont typeface="Wingdings" panose="05000000000000000000" pitchFamily="2" charset="2"/>
              <a:buNone/>
            </a:pPr>
            <a:r>
              <a:rPr lang="en-US" altLang="zh-CN" sz="2400" b="1">
                <a:solidFill>
                  <a:srgbClr val="002060"/>
                </a:solidFill>
              </a:rPr>
              <a:t>CREATE USER user1 IDENTIFIED BY 'user1', user2 IDENTIFIED BY 'user2';</a:t>
            </a:r>
          </a:p>
          <a:p>
            <a:pPr eaLnBrk="1" hangingPunct="1">
              <a:lnSpc>
                <a:spcPct val="130000"/>
              </a:lnSpc>
              <a:buClr>
                <a:srgbClr val="32C6CA"/>
              </a:buClr>
              <a:buSzPct val="80000"/>
            </a:pPr>
            <a:r>
              <a:rPr lang="en-US" altLang="zh-CN" sz="2400" b="1">
                <a:solidFill>
                  <a:srgbClr val="0070C0"/>
                </a:solidFill>
              </a:rPr>
              <a:t>-- </a:t>
            </a:r>
            <a:r>
              <a:rPr lang="zh-CN" altLang="en-US" sz="2400" b="1">
                <a:solidFill>
                  <a:srgbClr val="0070C0"/>
                </a:solidFill>
              </a:rPr>
              <a:t>给</a:t>
            </a:r>
            <a:r>
              <a:rPr lang="en-US" altLang="zh-CN" sz="2400" b="1">
                <a:solidFill>
                  <a:srgbClr val="0070C0"/>
                </a:solidFill>
              </a:rPr>
              <a:t>user1</a:t>
            </a:r>
            <a:r>
              <a:rPr lang="zh-CN" altLang="en-US" sz="2400" b="1">
                <a:solidFill>
                  <a:srgbClr val="0070C0"/>
                </a:solidFill>
              </a:rPr>
              <a:t>授权</a:t>
            </a:r>
            <a:endParaRPr lang="en-US" altLang="zh-CN" sz="2400" b="1">
              <a:solidFill>
                <a:srgbClr val="0070C0"/>
              </a:solidFill>
            </a:endParaRPr>
          </a:p>
          <a:p>
            <a:pPr eaLnBrk="1" hangingPunct="1">
              <a:lnSpc>
                <a:spcPct val="130000"/>
              </a:lnSpc>
              <a:buClr>
                <a:srgbClr val="32C6CA"/>
              </a:buClr>
              <a:buSzPct val="80000"/>
            </a:pPr>
            <a:r>
              <a:rPr lang="en-US" altLang="zh-CN" sz="2400" b="1">
                <a:solidFill>
                  <a:srgbClr val="002060"/>
                </a:solidFill>
              </a:rPr>
              <a:t>GRANT ALL PRIVILEGES ON *.* TO user1 WITH GRANT OPTION;</a:t>
            </a:r>
          </a:p>
          <a:p>
            <a:pPr eaLnBrk="1" hangingPunct="1">
              <a:lnSpc>
                <a:spcPct val="130000"/>
              </a:lnSpc>
              <a:buClr>
                <a:srgbClr val="32C6CA"/>
              </a:buClr>
              <a:buSzPct val="80000"/>
            </a:pPr>
            <a:r>
              <a:rPr lang="en-US" altLang="zh-CN" sz="2400" b="1">
                <a:solidFill>
                  <a:srgbClr val="0070C0"/>
                </a:solidFill>
              </a:rPr>
              <a:t>-- </a:t>
            </a:r>
            <a:r>
              <a:rPr lang="zh-CN" altLang="en-US" sz="2400" b="1">
                <a:solidFill>
                  <a:srgbClr val="0070C0"/>
                </a:solidFill>
              </a:rPr>
              <a:t>给</a:t>
            </a:r>
            <a:r>
              <a:rPr lang="en-US" altLang="zh-CN" sz="2400" b="1">
                <a:solidFill>
                  <a:srgbClr val="0070C0"/>
                </a:solidFill>
              </a:rPr>
              <a:t>user2</a:t>
            </a:r>
            <a:r>
              <a:rPr lang="zh-CN" altLang="en-US" sz="2400" b="1">
                <a:solidFill>
                  <a:srgbClr val="0070C0"/>
                </a:solidFill>
              </a:rPr>
              <a:t>授权</a:t>
            </a:r>
            <a:endParaRPr lang="en-US" altLang="zh-CN" sz="2400" b="1">
              <a:solidFill>
                <a:srgbClr val="002060"/>
              </a:solidFill>
            </a:endParaRPr>
          </a:p>
          <a:p>
            <a:pPr eaLnBrk="1" hangingPunct="1">
              <a:lnSpc>
                <a:spcPct val="130000"/>
              </a:lnSpc>
              <a:buClr>
                <a:srgbClr val="32C6CA"/>
              </a:buClr>
              <a:buSzPct val="80000"/>
              <a:buFont typeface="Wingdings" panose="05000000000000000000" pitchFamily="2" charset="2"/>
              <a:buNone/>
            </a:pPr>
            <a:r>
              <a:rPr lang="en-US" altLang="zh-CN" sz="2400" b="1">
                <a:solidFill>
                  <a:srgbClr val="002060"/>
                </a:solidFill>
              </a:rPr>
              <a:t>GRANT SELECT,INSERT,UPDATE(grade) ON teaching_manage.score TO user2;</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DC47DC8-362B-6912-B8FD-7908BB4D952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权限管理</a:t>
            </a:r>
          </a:p>
        </p:txBody>
      </p:sp>
      <p:sp>
        <p:nvSpPr>
          <p:cNvPr id="28" name="Text Box 5">
            <a:extLst>
              <a:ext uri="{FF2B5EF4-FFF2-40B4-BE49-F238E27FC236}">
                <a16:creationId xmlns:a16="http://schemas.microsoft.com/office/drawing/2014/main" id="{CCD1D443-C366-A4C1-CEF7-29C2D346DA09}"/>
              </a:ext>
            </a:extLst>
          </p:cNvPr>
          <p:cNvSpPr txBox="1">
            <a:spLocks noChangeArrowheads="1"/>
          </p:cNvSpPr>
          <p:nvPr/>
        </p:nvSpPr>
        <p:spPr bwMode="auto">
          <a:xfrm>
            <a:off x="627063" y="1724025"/>
            <a:ext cx="11088687"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）查看用户的授权情况。</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SHOW GRANTS FOR &lt;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用户</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角色</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&gt;;</a:t>
            </a:r>
          </a:p>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）查看用户对数据库的访问权限。</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SELECT * FROM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mysql.tables_priv</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WHERE USER='</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用户名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4" name="Text Box 5">
            <a:extLst>
              <a:ext uri="{FF2B5EF4-FFF2-40B4-BE49-F238E27FC236}">
                <a16:creationId xmlns:a16="http://schemas.microsoft.com/office/drawing/2014/main" id="{441986AF-1817-23E7-45B5-870B65AF9803}"/>
              </a:ext>
            </a:extLst>
          </p:cNvPr>
          <p:cNvSpPr txBox="1">
            <a:spLocks noChangeArrowheads="1"/>
          </p:cNvSpPr>
          <p:nvPr/>
        </p:nvSpPr>
        <p:spPr bwMode="auto">
          <a:xfrm>
            <a:off x="771525" y="1125538"/>
            <a:ext cx="10512425" cy="63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查看权限</a:t>
            </a:r>
          </a:p>
        </p:txBody>
      </p:sp>
      <p:sp>
        <p:nvSpPr>
          <p:cNvPr id="26629" name="Text Box 5">
            <a:extLst>
              <a:ext uri="{FF2B5EF4-FFF2-40B4-BE49-F238E27FC236}">
                <a16:creationId xmlns:a16="http://schemas.microsoft.com/office/drawing/2014/main" id="{0E950F6F-3931-6AF2-91B5-8484F2CC461B}"/>
              </a:ext>
            </a:extLst>
          </p:cNvPr>
          <p:cNvSpPr txBox="1">
            <a:spLocks noChangeArrowheads="1"/>
          </p:cNvSpPr>
          <p:nvPr/>
        </p:nvSpPr>
        <p:spPr bwMode="auto">
          <a:xfrm>
            <a:off x="482600" y="4221163"/>
            <a:ext cx="11088688"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buFont typeface="Arial" charset="0"/>
              <a:buNone/>
              <a:defRPr/>
            </a:pPr>
            <a:r>
              <a:rPr lang="zh-CN" altLang="zh-CN" sz="2800" b="1" dirty="0">
                <a:effectLst>
                  <a:outerShdw blurRad="38100" dist="38100" dir="2700000" algn="tl">
                    <a:srgbClr val="000000">
                      <a:alpha val="43137"/>
                    </a:srgbClr>
                  </a:outerShdw>
                </a:effectLst>
              </a:rPr>
              <a:t>【例</a:t>
            </a:r>
            <a:r>
              <a:rPr lang="en-US" altLang="zh-CN" sz="2800" b="1" dirty="0">
                <a:effectLst>
                  <a:outerShdw blurRad="38100" dist="38100" dir="2700000" algn="tl">
                    <a:srgbClr val="000000">
                      <a:alpha val="43137"/>
                    </a:srgbClr>
                  </a:outerShdw>
                </a:effectLst>
              </a:rPr>
              <a:t>12.9</a:t>
            </a:r>
            <a:r>
              <a:rPr lang="zh-CN" altLang="zh-CN" sz="2800" b="1" dirty="0">
                <a:effectLst>
                  <a:outerShdw blurRad="38100" dist="38100" dir="2700000" algn="tl">
                    <a:srgbClr val="000000">
                      <a:alpha val="43137"/>
                    </a:srgbClr>
                  </a:outerShdw>
                </a:effectLst>
              </a:rPr>
              <a:t>】分别用两种方式查看</a:t>
            </a:r>
            <a:r>
              <a:rPr lang="en-US" altLang="zh-CN" sz="2800" b="1" dirty="0">
                <a:effectLst>
                  <a:outerShdw blurRad="38100" dist="38100" dir="2700000" algn="tl">
                    <a:srgbClr val="000000">
                      <a:alpha val="43137"/>
                    </a:srgbClr>
                  </a:outerShdw>
                </a:effectLst>
              </a:rPr>
              <a:t>user2 </a:t>
            </a:r>
            <a:r>
              <a:rPr lang="zh-CN" altLang="zh-CN" sz="2800" b="1" dirty="0">
                <a:effectLst>
                  <a:outerShdw blurRad="38100" dist="38100" dir="2700000" algn="tl">
                    <a:srgbClr val="000000">
                      <a:alpha val="43137"/>
                    </a:srgbClr>
                  </a:outerShdw>
                </a:effectLst>
              </a:rPr>
              <a:t>用户的权限情况。</a:t>
            </a:r>
            <a:endParaRPr lang="en-US" altLang="zh-CN" sz="2800" b="1" dirty="0">
              <a:effectLst>
                <a:outerShdw blurRad="38100" dist="38100" dir="2700000" algn="tl">
                  <a:srgbClr val="000000">
                    <a:alpha val="43137"/>
                  </a:srgbClr>
                </a:outerShdw>
              </a:effectLst>
            </a:endParaRPr>
          </a:p>
          <a:p>
            <a:pPr>
              <a:buFont typeface="Arial" charset="0"/>
              <a:buNone/>
              <a:defRPr/>
            </a:pPr>
            <a:r>
              <a:rPr lang="en-US" altLang="zh-CN" sz="2800" b="1" dirty="0">
                <a:solidFill>
                  <a:srgbClr val="0070C0"/>
                </a:solidFill>
                <a:effectLst>
                  <a:outerShdw blurRad="38100" dist="38100" dir="2700000" algn="tl">
                    <a:srgbClr val="000000">
                      <a:alpha val="43137"/>
                    </a:srgbClr>
                  </a:outerShdw>
                </a:effectLst>
              </a:rPr>
              <a:t>-- </a:t>
            </a:r>
            <a:r>
              <a:rPr lang="zh-CN" altLang="zh-CN" sz="2800" b="1" dirty="0">
                <a:solidFill>
                  <a:srgbClr val="0070C0"/>
                </a:solidFill>
                <a:effectLst>
                  <a:outerShdw blurRad="38100" dist="38100" dir="2700000" algn="tl">
                    <a:srgbClr val="000000">
                      <a:alpha val="43137"/>
                    </a:srgbClr>
                  </a:outerShdw>
                </a:effectLst>
              </a:rPr>
              <a:t>查看用户的授权情况</a:t>
            </a:r>
          </a:p>
          <a:p>
            <a:pPr>
              <a:buFont typeface="Arial" charset="0"/>
              <a:buNone/>
              <a:defRPr/>
            </a:pPr>
            <a:r>
              <a:rPr lang="en-US" altLang="zh-CN" sz="2800" b="1" dirty="0">
                <a:solidFill>
                  <a:srgbClr val="002060"/>
                </a:solidFill>
                <a:effectLst>
                  <a:outerShdw blurRad="38100" dist="38100" dir="2700000" algn="tl">
                    <a:srgbClr val="000000">
                      <a:alpha val="43137"/>
                    </a:srgbClr>
                  </a:outerShdw>
                </a:effectLst>
              </a:rPr>
              <a:t>SHOW GRANTS FOR user2;</a:t>
            </a:r>
            <a:endParaRPr lang="zh-CN" altLang="zh-CN" sz="2800" b="1" dirty="0">
              <a:solidFill>
                <a:srgbClr val="002060"/>
              </a:solidFill>
              <a:effectLst>
                <a:outerShdw blurRad="38100" dist="38100" dir="2700000" algn="tl">
                  <a:srgbClr val="000000">
                    <a:alpha val="43137"/>
                  </a:srgbClr>
                </a:outerShdw>
              </a:effectLst>
            </a:endParaRPr>
          </a:p>
          <a:p>
            <a:pPr>
              <a:buFont typeface="Arial" charset="0"/>
              <a:buNone/>
              <a:defRPr/>
            </a:pPr>
            <a:r>
              <a:rPr lang="en-US" altLang="zh-CN" sz="2800" b="1" dirty="0">
                <a:solidFill>
                  <a:srgbClr val="0070C0"/>
                </a:solidFill>
                <a:effectLst>
                  <a:outerShdw blurRad="38100" dist="38100" dir="2700000" algn="tl">
                    <a:srgbClr val="000000">
                      <a:alpha val="43137"/>
                    </a:srgbClr>
                  </a:outerShdw>
                </a:effectLst>
              </a:rPr>
              <a:t>-- </a:t>
            </a:r>
            <a:r>
              <a:rPr lang="zh-CN" altLang="zh-CN" sz="2800" b="1" dirty="0">
                <a:solidFill>
                  <a:srgbClr val="0070C0"/>
                </a:solidFill>
                <a:effectLst>
                  <a:outerShdw blurRad="38100" dist="38100" dir="2700000" algn="tl">
                    <a:srgbClr val="000000">
                      <a:alpha val="43137"/>
                    </a:srgbClr>
                  </a:outerShdw>
                </a:effectLst>
              </a:rPr>
              <a:t>查看用户对数据库的访问权限</a:t>
            </a:r>
          </a:p>
          <a:p>
            <a:pPr>
              <a:buFont typeface="Arial" charset="0"/>
              <a:buNone/>
              <a:defRPr/>
            </a:pPr>
            <a:r>
              <a:rPr lang="en-US" altLang="zh-CN" sz="2800" b="1" dirty="0">
                <a:solidFill>
                  <a:srgbClr val="002060"/>
                </a:solidFill>
                <a:effectLst>
                  <a:outerShdw blurRad="38100" dist="38100" dir="2700000" algn="tl">
                    <a:srgbClr val="000000">
                      <a:alpha val="43137"/>
                    </a:srgbClr>
                  </a:outerShdw>
                </a:effectLst>
              </a:rPr>
              <a:t>SELECT * FROM </a:t>
            </a:r>
            <a:r>
              <a:rPr lang="en-US" altLang="zh-CN" sz="2800" b="1" dirty="0" err="1">
                <a:solidFill>
                  <a:srgbClr val="002060"/>
                </a:solidFill>
                <a:effectLst>
                  <a:outerShdw blurRad="38100" dist="38100" dir="2700000" algn="tl">
                    <a:srgbClr val="000000">
                      <a:alpha val="43137"/>
                    </a:srgbClr>
                  </a:outerShdw>
                </a:effectLst>
              </a:rPr>
              <a:t>mysql.tables_priv</a:t>
            </a:r>
            <a:r>
              <a:rPr lang="en-US" altLang="zh-CN" sz="2800" b="1" dirty="0">
                <a:solidFill>
                  <a:srgbClr val="002060"/>
                </a:solidFill>
                <a:effectLst>
                  <a:outerShdw blurRad="38100" dist="38100" dir="2700000" algn="tl">
                    <a:srgbClr val="000000">
                      <a:alpha val="43137"/>
                    </a:srgbClr>
                  </a:outerShdw>
                </a:effectLst>
              </a:rPr>
              <a:t> WHERE USER=' user2';</a:t>
            </a:r>
            <a:endParaRPr lang="zh-CN" altLang="zh-CN" sz="2800" b="1" dirty="0">
              <a:solidFill>
                <a:srgbClr val="002060"/>
              </a:solidFill>
              <a:effectLst>
                <a:outerShdw blurRad="38100" dist="38100" dir="2700000" algn="tl">
                  <a:srgbClr val="000000">
                    <a:alpha val="43137"/>
                  </a:srgbClr>
                </a:outerShdw>
              </a:effectLst>
            </a:endParaRPr>
          </a:p>
        </p:txBody>
      </p:sp>
    </p:spTree>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6EB60372-E972-4C0E-859C-CB0B2A39D17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权限管理</a:t>
            </a:r>
          </a:p>
        </p:txBody>
      </p:sp>
      <p:sp>
        <p:nvSpPr>
          <p:cNvPr id="28" name="Text Box 5">
            <a:extLst>
              <a:ext uri="{FF2B5EF4-FFF2-40B4-BE49-F238E27FC236}">
                <a16:creationId xmlns:a16="http://schemas.microsoft.com/office/drawing/2014/main" id="{27687D85-3B44-12CF-8FFE-E6E4744BD6CB}"/>
              </a:ext>
            </a:extLst>
          </p:cNvPr>
          <p:cNvSpPr txBox="1">
            <a:spLocks noChangeArrowheads="1"/>
          </p:cNvSpPr>
          <p:nvPr/>
        </p:nvSpPr>
        <p:spPr bwMode="auto">
          <a:xfrm>
            <a:off x="627063" y="1724025"/>
            <a:ext cx="11088687"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中，为了保证数据库的安全，需要将用户不必要的权限回收。例如，数据管理员发现某个用户不应该具有</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DELETE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权限，就应该及时将其收回。为此，</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专门提供了一个</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REVOKE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语句用于回收指定用户的权限。其基本语法格式如下。</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 name="Text Box 5">
            <a:extLst>
              <a:ext uri="{FF2B5EF4-FFF2-40B4-BE49-F238E27FC236}">
                <a16:creationId xmlns:a16="http://schemas.microsoft.com/office/drawing/2014/main" id="{B3B7B51C-51D6-698D-F817-C59F5A1765C3}"/>
              </a:ext>
            </a:extLst>
          </p:cNvPr>
          <p:cNvSpPr txBox="1">
            <a:spLocks noChangeArrowheads="1"/>
          </p:cNvSpPr>
          <p:nvPr/>
        </p:nvSpPr>
        <p:spPr bwMode="auto">
          <a:xfrm>
            <a:off x="771525" y="1125538"/>
            <a:ext cx="105124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b="1" dirty="0">
                <a:solidFill>
                  <a:srgbClr val="C00000"/>
                </a:solidFill>
                <a:effectLst>
                  <a:outerShdw blurRad="38100" dist="38100" dir="2700000" algn="tl">
                    <a:srgbClr val="C0C0C0"/>
                  </a:outerShdw>
                </a:effectLst>
                <a:latin typeface="楷体_GB2312" pitchFamily="49" charset="-122"/>
                <a:ea typeface="楷体_GB2312" pitchFamily="49" charset="-122"/>
              </a:rPr>
              <a:t>3.</a:t>
            </a: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回收权限</a:t>
            </a:r>
          </a:p>
        </p:txBody>
      </p:sp>
      <p:sp>
        <p:nvSpPr>
          <p:cNvPr id="7" name="Text Box 5">
            <a:extLst>
              <a:ext uri="{FF2B5EF4-FFF2-40B4-BE49-F238E27FC236}">
                <a16:creationId xmlns:a16="http://schemas.microsoft.com/office/drawing/2014/main" id="{09AB74EA-4041-52AF-227D-321CCB8A54EA}"/>
              </a:ext>
            </a:extLst>
          </p:cNvPr>
          <p:cNvSpPr txBox="1">
            <a:spLocks noChangeArrowheads="1"/>
          </p:cNvSpPr>
          <p:nvPr/>
        </p:nvSpPr>
        <p:spPr bwMode="auto">
          <a:xfrm>
            <a:off x="609600" y="4117975"/>
            <a:ext cx="11088688"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REVOKE</a:t>
            </a:r>
          </a:p>
          <a:p>
            <a:pPr eaLnBrk="1" hangingPunct="1">
              <a:lnSpc>
                <a:spcPct val="13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权限类型</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字段列表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权限类型</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字段列表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ON[</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目标类型</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权限级别</a:t>
            </a:r>
          </a:p>
          <a:p>
            <a:pPr eaLnBrk="1" hangingPunct="1">
              <a:lnSpc>
                <a:spcPct val="130000"/>
              </a:lnSpc>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FROM</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账户名 </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账户名</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AC5C34E-07C6-FE77-1243-63DF9B96BF6C}"/>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权限管理</a:t>
            </a:r>
          </a:p>
        </p:txBody>
      </p:sp>
      <p:sp>
        <p:nvSpPr>
          <p:cNvPr id="28" name="Text Box 5">
            <a:extLst>
              <a:ext uri="{FF2B5EF4-FFF2-40B4-BE49-F238E27FC236}">
                <a16:creationId xmlns:a16="http://schemas.microsoft.com/office/drawing/2014/main" id="{7B2F46A9-03C5-E715-25FA-67761E513B6A}"/>
              </a:ext>
            </a:extLst>
          </p:cNvPr>
          <p:cNvSpPr txBox="1">
            <a:spLocks noChangeArrowheads="1"/>
          </p:cNvSpPr>
          <p:nvPr/>
        </p:nvSpPr>
        <p:spPr bwMode="auto">
          <a:xfrm>
            <a:off x="623888" y="1138238"/>
            <a:ext cx="11088687" cy="491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50000"/>
              </a:lnSpc>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12.10】</a:t>
            </a:r>
            <a:r>
              <a:rPr kumimoji="1" lang="zh-CN" altLang="en-US" sz="2800" b="1" dirty="0">
                <a:effectLst>
                  <a:outerShdw blurRad="38100" dist="38100" dir="2700000" algn="tl">
                    <a:srgbClr val="C0C0C0"/>
                  </a:outerShdw>
                </a:effectLst>
                <a:latin typeface="楷体_GB2312" pitchFamily="49" charset="-122"/>
                <a:ea typeface="楷体_GB2312" pitchFamily="49" charset="-122"/>
              </a:rPr>
              <a:t>收回</a:t>
            </a:r>
            <a:r>
              <a:rPr kumimoji="1" lang="en-US" altLang="zh-CN" sz="2800" b="1" dirty="0">
                <a:effectLst>
                  <a:outerShdw blurRad="38100" dist="38100" dir="2700000" algn="tl">
                    <a:srgbClr val="C0C0C0"/>
                  </a:outerShdw>
                </a:effectLst>
                <a:latin typeface="楷体_GB2312" pitchFamily="49" charset="-122"/>
                <a:ea typeface="楷体_GB2312" pitchFamily="49" charset="-122"/>
              </a:rPr>
              <a:t>user2</a:t>
            </a:r>
            <a:r>
              <a:rPr kumimoji="1" lang="zh-CN" altLang="en-US" sz="2800" b="1" dirty="0">
                <a:effectLst>
                  <a:outerShdw blurRad="38100" dist="38100" dir="2700000" algn="tl">
                    <a:srgbClr val="C0C0C0"/>
                  </a:outerShdw>
                </a:effectLst>
                <a:latin typeface="楷体_GB2312" pitchFamily="49" charset="-122"/>
                <a:ea typeface="楷体_GB2312" pitchFamily="49" charset="-122"/>
              </a:rPr>
              <a:t>用户对</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teaching_manage.score</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表的</a:t>
            </a:r>
            <a:r>
              <a:rPr kumimoji="1" lang="en-US" altLang="zh-CN" sz="2800" b="1" dirty="0">
                <a:effectLst>
                  <a:outerShdw blurRad="38100" dist="38100" dir="2700000" algn="tl">
                    <a:srgbClr val="C0C0C0"/>
                  </a:outerShdw>
                </a:effectLst>
                <a:latin typeface="楷体_GB2312" pitchFamily="49" charset="-122"/>
                <a:ea typeface="楷体_GB2312" pitchFamily="49" charset="-122"/>
              </a:rPr>
              <a:t>SELECT</a:t>
            </a:r>
            <a:r>
              <a:rPr kumimoji="1" lang="zh-CN" altLang="en-US" sz="2800" b="1" dirty="0">
                <a:effectLst>
                  <a:outerShdw blurRad="38100" dist="38100" dir="2700000" algn="tl">
                    <a:srgbClr val="C0C0C0"/>
                  </a:outerShdw>
                </a:effectLst>
                <a:latin typeface="楷体_GB2312" pitchFamily="49" charset="-122"/>
                <a:ea typeface="楷体_GB2312" pitchFamily="49" charset="-122"/>
              </a:rPr>
              <a:t>权限、</a:t>
            </a:r>
            <a:r>
              <a:rPr kumimoji="1" lang="en-US" altLang="zh-CN" sz="2800" b="1" dirty="0">
                <a:effectLst>
                  <a:outerShdw blurRad="38100" dist="38100" dir="2700000" algn="tl">
                    <a:srgbClr val="C0C0C0"/>
                  </a:outerShdw>
                </a:effectLst>
                <a:latin typeface="楷体_GB2312" pitchFamily="49" charset="-122"/>
                <a:ea typeface="楷体_GB2312" pitchFamily="49" charset="-122"/>
              </a:rPr>
              <a:t>INSERT</a:t>
            </a:r>
            <a:r>
              <a:rPr kumimoji="1" lang="zh-CN" altLang="en-US" sz="2800" b="1" dirty="0">
                <a:effectLst>
                  <a:outerShdw blurRad="38100" dist="38100" dir="2700000" algn="tl">
                    <a:srgbClr val="C0C0C0"/>
                  </a:outerShdw>
                </a:effectLst>
                <a:latin typeface="楷体_GB2312" pitchFamily="49" charset="-122"/>
                <a:ea typeface="楷体_GB2312" pitchFamily="49" charset="-122"/>
              </a:rPr>
              <a:t>权限 和</a:t>
            </a:r>
            <a:r>
              <a:rPr kumimoji="1" lang="en-US" altLang="zh-CN" sz="2800" b="1" dirty="0">
                <a:effectLst>
                  <a:outerShdw blurRad="38100" dist="38100" dir="2700000" algn="tl">
                    <a:srgbClr val="C0C0C0"/>
                  </a:outerShdw>
                </a:effectLst>
                <a:latin typeface="楷体_GB2312" pitchFamily="49" charset="-122"/>
                <a:ea typeface="楷体_GB2312" pitchFamily="49" charset="-122"/>
              </a:rPr>
              <a:t>grade</a:t>
            </a:r>
            <a:r>
              <a:rPr kumimoji="1" lang="zh-CN" altLang="en-US" sz="2800" b="1" dirty="0">
                <a:effectLst>
                  <a:outerShdw blurRad="38100" dist="38100" dir="2700000" algn="tl">
                    <a:srgbClr val="C0C0C0"/>
                  </a:outerShdw>
                </a:effectLst>
                <a:latin typeface="楷体_GB2312" pitchFamily="49" charset="-122"/>
                <a:ea typeface="楷体_GB2312" pitchFamily="49" charset="-122"/>
              </a:rPr>
              <a:t>字段修改权限，具体</a:t>
            </a:r>
            <a:r>
              <a:rPr kumimoji="1" lang="en-US" altLang="zh-CN" sz="2800" b="1" dirty="0">
                <a:effectLst>
                  <a:outerShdw blurRad="38100" dist="38100" dir="2700000" algn="tl">
                    <a:srgbClr val="C0C0C0"/>
                  </a:outerShdw>
                </a:effectLst>
                <a:latin typeface="楷体_GB2312" pitchFamily="49" charset="-122"/>
                <a:ea typeface="楷体_GB2312" pitchFamily="49" charset="-122"/>
              </a:rPr>
              <a:t>SQL</a:t>
            </a:r>
            <a:r>
              <a:rPr kumimoji="1" lang="zh-CN" altLang="en-US" sz="2800" b="1" dirty="0">
                <a:effectLst>
                  <a:outerShdw blurRad="38100" dist="38100" dir="2700000" algn="tl">
                    <a:srgbClr val="C0C0C0"/>
                  </a:outerShdw>
                </a:effectLst>
                <a:latin typeface="楷体_GB2312" pitchFamily="49" charset="-122"/>
                <a:ea typeface="楷体_GB2312" pitchFamily="49" charset="-122"/>
              </a:rPr>
              <a:t>语句如下。</a:t>
            </a:r>
          </a:p>
          <a:p>
            <a:pPr eaLnBrk="1" hangingPunct="1">
              <a:lnSpc>
                <a:spcPct val="150000"/>
              </a:lnSpc>
              <a:buClr>
                <a:srgbClr val="32C6CA"/>
              </a:buClr>
              <a:buSzPct val="80000"/>
              <a:buFont typeface="Wingdings" pitchFamily="2" charset="2"/>
              <a:buNone/>
              <a:defRPr/>
            </a:pP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收回</a:t>
            </a: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SELECT</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权限</a:t>
            </a:r>
          </a:p>
          <a:p>
            <a:pPr eaLnBrk="1" hangingPunct="1">
              <a:lnSpc>
                <a:spcPct val="150000"/>
              </a:lnSpc>
              <a:buClr>
                <a:srgbClr val="32C6CA"/>
              </a:buClr>
              <a:buSzPct val="80000"/>
              <a:buFont typeface="Wingdings" pitchFamily="2" charset="2"/>
              <a:buNone/>
              <a:defRPr/>
            </a:pPr>
            <a:r>
              <a:rPr lang="en-US" altLang="zh-CN" sz="2400" b="1" dirty="0">
                <a:solidFill>
                  <a:srgbClr val="002060"/>
                </a:solidFill>
                <a:effectLst>
                  <a:outerShdw blurRad="38100" dist="38100" dir="2700000" algn="tl">
                    <a:srgbClr val="000000">
                      <a:alpha val="43137"/>
                    </a:srgbClr>
                  </a:outerShdw>
                </a:effectLst>
                <a:latin typeface="Arial" charset="0"/>
                <a:ea typeface="宋体" charset="-122"/>
              </a:rPr>
              <a:t>REVOKE SELECT ON </a:t>
            </a:r>
            <a:r>
              <a:rPr lang="en-US" altLang="zh-CN" sz="2400" b="1" dirty="0" err="1">
                <a:solidFill>
                  <a:srgbClr val="002060"/>
                </a:solidFill>
                <a:effectLst>
                  <a:outerShdw blurRad="38100" dist="38100" dir="2700000" algn="tl">
                    <a:srgbClr val="000000">
                      <a:alpha val="43137"/>
                    </a:srgbClr>
                  </a:outerShdw>
                </a:effectLst>
                <a:latin typeface="Arial" charset="0"/>
                <a:ea typeface="宋体" charset="-122"/>
              </a:rPr>
              <a:t>teaching_manage.score</a:t>
            </a:r>
            <a:r>
              <a:rPr lang="en-US" altLang="zh-CN" sz="2400" b="1" dirty="0">
                <a:solidFill>
                  <a:srgbClr val="002060"/>
                </a:solidFill>
                <a:effectLst>
                  <a:outerShdw blurRad="38100" dist="38100" dir="2700000" algn="tl">
                    <a:srgbClr val="000000">
                      <a:alpha val="43137"/>
                    </a:srgbClr>
                  </a:outerShdw>
                </a:effectLst>
                <a:latin typeface="Arial" charset="0"/>
                <a:ea typeface="宋体" charset="-122"/>
              </a:rPr>
              <a:t> FROM user2;</a:t>
            </a:r>
          </a:p>
          <a:p>
            <a:pPr eaLnBrk="1" hangingPunct="1">
              <a:lnSpc>
                <a:spcPct val="150000"/>
              </a:lnSpc>
              <a:buClr>
                <a:srgbClr val="32C6CA"/>
              </a:buClr>
              <a:buSzPct val="80000"/>
              <a:buFont typeface="Wingdings" pitchFamily="2" charset="2"/>
              <a:buNone/>
              <a:defRPr/>
            </a:pP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通过收回</a:t>
            </a: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UPDATE</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来收回</a:t>
            </a: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grade</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字段的修改权限</a:t>
            </a:r>
          </a:p>
          <a:p>
            <a:pPr eaLnBrk="1" hangingPunct="1">
              <a:lnSpc>
                <a:spcPct val="150000"/>
              </a:lnSpc>
              <a:buClr>
                <a:srgbClr val="32C6CA"/>
              </a:buClr>
              <a:buSzPct val="80000"/>
              <a:buFont typeface="Wingdings" pitchFamily="2" charset="2"/>
              <a:buNone/>
              <a:defRPr/>
            </a:pPr>
            <a:r>
              <a:rPr lang="en-US" altLang="zh-CN" sz="2400" b="1" dirty="0">
                <a:solidFill>
                  <a:srgbClr val="002060"/>
                </a:solidFill>
                <a:effectLst>
                  <a:outerShdw blurRad="38100" dist="38100" dir="2700000" algn="tl">
                    <a:srgbClr val="000000">
                      <a:alpha val="43137"/>
                    </a:srgbClr>
                  </a:outerShdw>
                </a:effectLst>
                <a:latin typeface="Arial" charset="0"/>
                <a:ea typeface="宋体" charset="-122"/>
              </a:rPr>
              <a:t>REVOKE UPDATE ON </a:t>
            </a:r>
            <a:r>
              <a:rPr lang="en-US" altLang="zh-CN" sz="2400" b="1" dirty="0" err="1">
                <a:solidFill>
                  <a:srgbClr val="002060"/>
                </a:solidFill>
                <a:effectLst>
                  <a:outerShdw blurRad="38100" dist="38100" dir="2700000" algn="tl">
                    <a:srgbClr val="000000">
                      <a:alpha val="43137"/>
                    </a:srgbClr>
                  </a:outerShdw>
                </a:effectLst>
                <a:latin typeface="Arial" charset="0"/>
                <a:ea typeface="宋体" charset="-122"/>
              </a:rPr>
              <a:t>teaching_manage.score</a:t>
            </a:r>
            <a:r>
              <a:rPr lang="en-US" altLang="zh-CN" sz="2400" b="1" dirty="0">
                <a:solidFill>
                  <a:srgbClr val="002060"/>
                </a:solidFill>
                <a:effectLst>
                  <a:outerShdw blurRad="38100" dist="38100" dir="2700000" algn="tl">
                    <a:srgbClr val="000000">
                      <a:alpha val="43137"/>
                    </a:srgbClr>
                  </a:outerShdw>
                </a:effectLst>
                <a:latin typeface="Arial" charset="0"/>
                <a:ea typeface="宋体" charset="-122"/>
              </a:rPr>
              <a:t> FROM user2;</a:t>
            </a:r>
          </a:p>
          <a:p>
            <a:pPr eaLnBrk="1" hangingPunct="1">
              <a:lnSpc>
                <a:spcPct val="150000"/>
              </a:lnSpc>
              <a:buClr>
                <a:srgbClr val="32C6CA"/>
              </a:buClr>
              <a:buSzPct val="80000"/>
              <a:buFont typeface="Wingdings" pitchFamily="2" charset="2"/>
              <a:buNone/>
              <a:defRPr/>
            </a:pP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收回</a:t>
            </a:r>
            <a:r>
              <a:rPr kumimoji="1" lang="en-US" altLang="zh-CN" sz="2800" b="1" dirty="0" err="1">
                <a:solidFill>
                  <a:srgbClr val="0070C0"/>
                </a:solidFill>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数据中的</a:t>
            </a:r>
            <a:r>
              <a:rPr kumimoji="1" lang="en-US" altLang="zh-CN" sz="28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800" b="1" dirty="0">
                <a:solidFill>
                  <a:srgbClr val="0070C0"/>
                </a:solidFill>
                <a:effectLst>
                  <a:outerShdw blurRad="38100" dist="38100" dir="2700000" algn="tl">
                    <a:srgbClr val="C0C0C0"/>
                  </a:outerShdw>
                </a:effectLst>
                <a:latin typeface="楷体_GB2312" pitchFamily="49" charset="-122"/>
                <a:ea typeface="楷体_GB2312" pitchFamily="49" charset="-122"/>
              </a:rPr>
              <a:t>表上的一切数据权限</a:t>
            </a:r>
          </a:p>
          <a:p>
            <a:pPr eaLnBrk="1" hangingPunct="1">
              <a:lnSpc>
                <a:spcPct val="150000"/>
              </a:lnSpc>
              <a:buClr>
                <a:srgbClr val="32C6CA"/>
              </a:buClr>
              <a:buSzPct val="80000"/>
              <a:buFont typeface="Wingdings" pitchFamily="2" charset="2"/>
              <a:buNone/>
              <a:defRPr/>
            </a:pPr>
            <a:r>
              <a:rPr lang="en-US" altLang="zh-CN" sz="2400" b="1" dirty="0">
                <a:solidFill>
                  <a:srgbClr val="002060"/>
                </a:solidFill>
                <a:effectLst>
                  <a:outerShdw blurRad="38100" dist="38100" dir="2700000" algn="tl">
                    <a:srgbClr val="000000">
                      <a:alpha val="43137"/>
                    </a:srgbClr>
                  </a:outerShdw>
                </a:effectLst>
                <a:latin typeface="Arial" charset="0"/>
                <a:ea typeface="宋体" charset="-122"/>
              </a:rPr>
              <a:t>REVOKE ALL ON </a:t>
            </a:r>
            <a:r>
              <a:rPr lang="en-US" altLang="zh-CN" sz="2400" b="1" dirty="0" err="1">
                <a:solidFill>
                  <a:srgbClr val="002060"/>
                </a:solidFill>
                <a:effectLst>
                  <a:outerShdw blurRad="38100" dist="38100" dir="2700000" algn="tl">
                    <a:srgbClr val="000000">
                      <a:alpha val="43137"/>
                    </a:srgbClr>
                  </a:outerShdw>
                </a:effectLst>
                <a:latin typeface="Arial" charset="0"/>
                <a:ea typeface="宋体" charset="-122"/>
              </a:rPr>
              <a:t>teaching_manage.score</a:t>
            </a:r>
            <a:r>
              <a:rPr lang="en-US" altLang="zh-CN" sz="2400" b="1" dirty="0">
                <a:solidFill>
                  <a:srgbClr val="002060"/>
                </a:solidFill>
                <a:effectLst>
                  <a:outerShdw blurRad="38100" dist="38100" dir="2700000" algn="tl">
                    <a:srgbClr val="000000">
                      <a:alpha val="43137"/>
                    </a:srgbClr>
                  </a:outerShdw>
                </a:effectLst>
                <a:latin typeface="Arial" charset="0"/>
                <a:ea typeface="宋体" charset="-122"/>
              </a:rPr>
              <a:t> FROM user2;</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fade">
                                      <p:cBhvr>
                                        <p:cTn id="7" dur="500"/>
                                        <p:tgtEl>
                                          <p:spTgt spid="2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8">
                                            <p:txEl>
                                              <p:pRg st="2" end="2"/>
                                            </p:txEl>
                                          </p:spTgt>
                                        </p:tgtEl>
                                        <p:attrNameLst>
                                          <p:attrName>style.visibility</p:attrName>
                                        </p:attrNameLst>
                                      </p:cBhvr>
                                      <p:to>
                                        <p:strVal val="visible"/>
                                      </p:to>
                                    </p:set>
                                    <p:animEffect transition="in" filter="fade">
                                      <p:cBhvr>
                                        <p:cTn id="10" dur="500"/>
                                        <p:tgtEl>
                                          <p:spTgt spid="28">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xEl>
                                              <p:pRg st="3" end="3"/>
                                            </p:txEl>
                                          </p:spTgt>
                                        </p:tgtEl>
                                        <p:attrNameLst>
                                          <p:attrName>style.visibility</p:attrName>
                                        </p:attrNameLst>
                                      </p:cBhvr>
                                      <p:to>
                                        <p:strVal val="visible"/>
                                      </p:to>
                                    </p:set>
                                    <p:animEffect transition="in" filter="fade">
                                      <p:cBhvr>
                                        <p:cTn id="15" dur="500"/>
                                        <p:tgtEl>
                                          <p:spTgt spid="28">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8">
                                            <p:txEl>
                                              <p:pRg st="4" end="4"/>
                                            </p:txEl>
                                          </p:spTgt>
                                        </p:tgtEl>
                                        <p:attrNameLst>
                                          <p:attrName>style.visibility</p:attrName>
                                        </p:attrNameLst>
                                      </p:cBhvr>
                                      <p:to>
                                        <p:strVal val="visible"/>
                                      </p:to>
                                    </p:set>
                                    <p:animEffect transition="in" filter="fade">
                                      <p:cBhvr>
                                        <p:cTn id="18" dur="500"/>
                                        <p:tgtEl>
                                          <p:spTgt spid="28">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xEl>
                                              <p:pRg st="5" end="5"/>
                                            </p:txEl>
                                          </p:spTgt>
                                        </p:tgtEl>
                                        <p:attrNameLst>
                                          <p:attrName>style.visibility</p:attrName>
                                        </p:attrNameLst>
                                      </p:cBhvr>
                                      <p:to>
                                        <p:strVal val="visible"/>
                                      </p:to>
                                    </p:set>
                                    <p:animEffect transition="in" filter="fade">
                                      <p:cBhvr>
                                        <p:cTn id="23" dur="500"/>
                                        <p:tgtEl>
                                          <p:spTgt spid="28">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xEl>
                                              <p:pRg st="6" end="6"/>
                                            </p:txEl>
                                          </p:spTgt>
                                        </p:tgtEl>
                                        <p:attrNameLst>
                                          <p:attrName>style.visibility</p:attrName>
                                        </p:attrNameLst>
                                      </p:cBhvr>
                                      <p:to>
                                        <p:strVal val="visible"/>
                                      </p:to>
                                    </p:set>
                                    <p:animEffect transition="in" filter="fade">
                                      <p:cBhvr>
                                        <p:cTn id="26" dur="500"/>
                                        <p:tgtEl>
                                          <p:spTgt spid="2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E395634-2721-8C90-3134-C96E0034768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角色管理</a:t>
            </a:r>
          </a:p>
        </p:txBody>
      </p:sp>
      <p:sp>
        <p:nvSpPr>
          <p:cNvPr id="4" name="Text Box 5">
            <a:extLst>
              <a:ext uri="{FF2B5EF4-FFF2-40B4-BE49-F238E27FC236}">
                <a16:creationId xmlns:a16="http://schemas.microsoft.com/office/drawing/2014/main" id="{292D8B93-7FD8-805B-70E6-E6CC4AA26B6A}"/>
              </a:ext>
            </a:extLst>
          </p:cNvPr>
          <p:cNvSpPr txBox="1">
            <a:spLocks noChangeArrowheads="1"/>
          </p:cNvSpPr>
          <p:nvPr/>
        </p:nvSpPr>
        <p:spPr bwMode="auto">
          <a:xfrm>
            <a:off x="771525" y="1125538"/>
            <a:ext cx="10512425" cy="334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问题：</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当用户越来越多时，针对单个用户权限管理变得越来越复杂；而实际应用中，许多同类型的用户其权限也是相同的，能否给同类用户定义相同的权限，简化用户授权。</a:t>
            </a:r>
            <a:endPar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buClr>
                <a:srgbClr val="32C6CA"/>
              </a:buClr>
              <a:buSzPct val="80000"/>
              <a:buFont typeface="Wingdings" pitchFamily="2" charset="2"/>
              <a:buNone/>
              <a:defRPr/>
            </a:pPr>
            <a:endPar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buClr>
                <a:srgbClr val="32C6CA"/>
              </a:buClr>
              <a:buSzPct val="80000"/>
              <a:buFont typeface="Wingdings" pitchFamily="2" charset="2"/>
              <a:buNone/>
              <a:defRPr/>
            </a:pPr>
            <a:r>
              <a:rPr kumimoji="1"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角色</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是一组权限的集合，可以授予权限给角色，角色不能用于登录数据库，但可通过角色为同类用户一次性授权。</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DC76CF8-2DF2-763C-2192-DEA540DAB88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角色管理</a:t>
            </a:r>
          </a:p>
        </p:txBody>
      </p:sp>
      <p:sp>
        <p:nvSpPr>
          <p:cNvPr id="28" name="Text Box 5">
            <a:extLst>
              <a:ext uri="{FF2B5EF4-FFF2-40B4-BE49-F238E27FC236}">
                <a16:creationId xmlns:a16="http://schemas.microsoft.com/office/drawing/2014/main" id="{90242455-3B50-D392-3C16-725F7E161664}"/>
              </a:ext>
            </a:extLst>
          </p:cNvPr>
          <p:cNvSpPr txBox="1">
            <a:spLocks noChangeArrowheads="1"/>
          </p:cNvSpPr>
          <p:nvPr/>
        </p:nvSpPr>
        <p:spPr bwMode="auto">
          <a:xfrm>
            <a:off x="627063" y="1724025"/>
            <a:ext cx="11088687" cy="501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ts val="3200"/>
              </a:lnSpc>
              <a:buClr>
                <a:srgbClr val="32C6CA"/>
              </a:buClr>
              <a:buSzPct val="80000"/>
              <a:buFont typeface="Wingdings" pitchFamily="2" charset="2"/>
              <a:buNone/>
              <a:defRPr/>
            </a:pP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）创建一个角色。</a:t>
            </a:r>
          </a:p>
          <a:p>
            <a:pPr eaLnBrk="1" hangingPunct="1">
              <a:lnSpc>
                <a:spcPts val="32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CREATE ROLE [IF NOT EXISTS] role[,role]…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ts val="3200"/>
              </a:lnSpc>
              <a:buClr>
                <a:srgbClr val="32C6CA"/>
              </a:buClr>
              <a:buSzPct val="80000"/>
              <a:buFont typeface="Arial" charset="0"/>
              <a:buNone/>
              <a:defRPr/>
            </a:pP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）为角色授权权限。</a:t>
            </a:r>
          </a:p>
          <a:p>
            <a:pPr eaLnBrk="1" hangingPunct="1">
              <a:lnSpc>
                <a:spcPts val="32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权限列表 </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ON </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数据库名</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表名 </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TO </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角色名</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[WITH GRANT OPTION];</a:t>
            </a:r>
          </a:p>
          <a:p>
            <a:pPr eaLnBrk="1" hangingPunct="1">
              <a:lnSpc>
                <a:spcPts val="3200"/>
              </a:lnSpc>
              <a:buClr>
                <a:srgbClr val="32C6CA"/>
              </a:buClr>
              <a:buSzPct val="80000"/>
              <a:buFont typeface="Arial" charset="0"/>
              <a:buNone/>
              <a:defRPr/>
            </a:pP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3</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）为用户指定角色。</a:t>
            </a:r>
          </a:p>
          <a:p>
            <a:pPr eaLnBrk="1" hangingPunct="1">
              <a:lnSpc>
                <a:spcPts val="32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role TO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user|role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[WITH GRANT OPTION]</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ts val="3200"/>
              </a:lnSpc>
              <a:buClr>
                <a:srgbClr val="32C6CA"/>
              </a:buClr>
              <a:buSzPct val="80000"/>
              <a:buFont typeface="Arial" charset="0"/>
              <a:buNone/>
              <a:defRPr/>
            </a:pP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4</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）查看角色权限。</a:t>
            </a:r>
          </a:p>
          <a:p>
            <a:pPr eaLnBrk="1" hangingPunct="1">
              <a:lnSpc>
                <a:spcPts val="32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SHOW GRANTS FOR &lt;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角色</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用户</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ts val="3200"/>
              </a:lnSpc>
              <a:buClr>
                <a:srgbClr val="32C6CA"/>
              </a:buClr>
              <a:buSzPct val="80000"/>
              <a:buFont typeface="Arial" charset="0"/>
              <a:buNone/>
              <a:defRPr/>
            </a:pP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5</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）收回角色权限。</a:t>
            </a:r>
          </a:p>
          <a:p>
            <a:pPr eaLnBrk="1" hangingPunct="1">
              <a:lnSpc>
                <a:spcPts val="32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REVOKE role FROM user</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ts val="3200"/>
              </a:lnSpc>
              <a:buClr>
                <a:srgbClr val="32C6CA"/>
              </a:buClr>
              <a:buSzPct val="80000"/>
              <a:buFont typeface="Arial" charset="0"/>
              <a:buNone/>
              <a:defRPr/>
            </a:pP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6</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）删除角色。</a:t>
            </a:r>
          </a:p>
          <a:p>
            <a:pPr eaLnBrk="1" hangingPunct="1">
              <a:lnSpc>
                <a:spcPts val="32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DROP ROLE [IF EXISTS] role[,role]…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4" name="Text Box 5">
            <a:extLst>
              <a:ext uri="{FF2B5EF4-FFF2-40B4-BE49-F238E27FC236}">
                <a16:creationId xmlns:a16="http://schemas.microsoft.com/office/drawing/2014/main" id="{2F66C7C3-0768-7F00-2263-E80C950B6713}"/>
              </a:ext>
            </a:extLst>
          </p:cNvPr>
          <p:cNvSpPr txBox="1">
            <a:spLocks noChangeArrowheads="1"/>
          </p:cNvSpPr>
          <p:nvPr/>
        </p:nvSpPr>
        <p:spPr bwMode="auto">
          <a:xfrm>
            <a:off x="771525" y="1066800"/>
            <a:ext cx="105124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对角色管理的内容有：</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8">
                                            <p:txEl>
                                              <p:pRg st="1" end="1"/>
                                            </p:txEl>
                                          </p:spTgt>
                                        </p:tgtEl>
                                        <p:attrNameLst>
                                          <p:attrName>style.visibility</p:attrName>
                                        </p:attrNameLst>
                                      </p:cBhvr>
                                      <p:to>
                                        <p:strVal val="visible"/>
                                      </p:to>
                                    </p:set>
                                    <p:animEffect transition="in" filter="fade">
                                      <p:cBhvr>
                                        <p:cTn id="10" dur="500"/>
                                        <p:tgtEl>
                                          <p:spTgt spid="28">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animEffect transition="in" filter="fade">
                                      <p:cBhvr>
                                        <p:cTn id="15" dur="500"/>
                                        <p:tgtEl>
                                          <p:spTgt spid="28">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8">
                                            <p:txEl>
                                              <p:pRg st="3" end="3"/>
                                            </p:txEl>
                                          </p:spTgt>
                                        </p:tgtEl>
                                        <p:attrNameLst>
                                          <p:attrName>style.visibility</p:attrName>
                                        </p:attrNameLst>
                                      </p:cBhvr>
                                      <p:to>
                                        <p:strVal val="visible"/>
                                      </p:to>
                                    </p:set>
                                    <p:animEffect transition="in" filter="fade">
                                      <p:cBhvr>
                                        <p:cTn id="18" dur="500"/>
                                        <p:tgtEl>
                                          <p:spTgt spid="28">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animEffect transition="in" filter="fade">
                                      <p:cBhvr>
                                        <p:cTn id="23" dur="500"/>
                                        <p:tgtEl>
                                          <p:spTgt spid="28">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xEl>
                                              <p:pRg st="5" end="5"/>
                                            </p:txEl>
                                          </p:spTgt>
                                        </p:tgtEl>
                                        <p:attrNameLst>
                                          <p:attrName>style.visibility</p:attrName>
                                        </p:attrNameLst>
                                      </p:cBhvr>
                                      <p:to>
                                        <p:strVal val="visible"/>
                                      </p:to>
                                    </p:set>
                                    <p:animEffect transition="in" filter="fade">
                                      <p:cBhvr>
                                        <p:cTn id="26" dur="500"/>
                                        <p:tgtEl>
                                          <p:spTgt spid="28">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animEffect transition="in" filter="fade">
                                      <p:cBhvr>
                                        <p:cTn id="31" dur="500"/>
                                        <p:tgtEl>
                                          <p:spTgt spid="28">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xEl>
                                              <p:pRg st="7" end="7"/>
                                            </p:txEl>
                                          </p:spTgt>
                                        </p:tgtEl>
                                        <p:attrNameLst>
                                          <p:attrName>style.visibility</p:attrName>
                                        </p:attrNameLst>
                                      </p:cBhvr>
                                      <p:to>
                                        <p:strVal val="visible"/>
                                      </p:to>
                                    </p:set>
                                    <p:animEffect transition="in" filter="fade">
                                      <p:cBhvr>
                                        <p:cTn id="34" dur="500"/>
                                        <p:tgtEl>
                                          <p:spTgt spid="28">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animEffect transition="in" filter="fade">
                                      <p:cBhvr>
                                        <p:cTn id="39" dur="500"/>
                                        <p:tgtEl>
                                          <p:spTgt spid="28">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xEl>
                                              <p:pRg st="9" end="9"/>
                                            </p:txEl>
                                          </p:spTgt>
                                        </p:tgtEl>
                                        <p:attrNameLst>
                                          <p:attrName>style.visibility</p:attrName>
                                        </p:attrNameLst>
                                      </p:cBhvr>
                                      <p:to>
                                        <p:strVal val="visible"/>
                                      </p:to>
                                    </p:set>
                                    <p:animEffect transition="in" filter="fade">
                                      <p:cBhvr>
                                        <p:cTn id="42" dur="500"/>
                                        <p:tgtEl>
                                          <p:spTgt spid="28">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animEffect transition="in" filter="fade">
                                      <p:cBhvr>
                                        <p:cTn id="47" dur="500"/>
                                        <p:tgtEl>
                                          <p:spTgt spid="28">
                                            <p:txEl>
                                              <p:pRg st="10" end="1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xEl>
                                              <p:pRg st="11" end="11"/>
                                            </p:txEl>
                                          </p:spTgt>
                                        </p:tgtEl>
                                        <p:attrNameLst>
                                          <p:attrName>style.visibility</p:attrName>
                                        </p:attrNameLst>
                                      </p:cBhvr>
                                      <p:to>
                                        <p:strVal val="visible"/>
                                      </p:to>
                                    </p:set>
                                    <p:animEffect transition="in" filter="fade">
                                      <p:cBhvr>
                                        <p:cTn id="50" dur="500"/>
                                        <p:tgtEl>
                                          <p:spTgt spid="2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4C47B11-2C3C-DCFF-541C-76616D16519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角色管理</a:t>
            </a:r>
          </a:p>
        </p:txBody>
      </p:sp>
      <p:sp>
        <p:nvSpPr>
          <p:cNvPr id="4" name="Text Box 5">
            <a:extLst>
              <a:ext uri="{FF2B5EF4-FFF2-40B4-BE49-F238E27FC236}">
                <a16:creationId xmlns:a16="http://schemas.microsoft.com/office/drawing/2014/main" id="{3DD32ECD-4CD2-3A56-6562-78052F45CCE8}"/>
              </a:ext>
            </a:extLst>
          </p:cNvPr>
          <p:cNvSpPr txBox="1">
            <a:spLocks noChangeArrowheads="1"/>
          </p:cNvSpPr>
          <p:nvPr/>
        </p:nvSpPr>
        <p:spPr bwMode="auto">
          <a:xfrm>
            <a:off x="771525" y="1125538"/>
            <a:ext cx="10512425"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12.11】 </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为了方便对</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数据库管理，对学校人员采用角色管理，分别为学校的管理员、教师和学生设置了三个角色（</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r_admin</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r_teacher</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r_student</a:t>
            </a:r>
            <a:r>
              <a:rPr kumimoji="1" lang="zh-CN" altLang="en-US" sz="2800" b="1" dirty="0">
                <a:effectLst>
                  <a:outerShdw blurRad="38100" dist="38100" dir="2700000" algn="tl">
                    <a:srgbClr val="C0C0C0"/>
                  </a:outerShdw>
                </a:effectLst>
                <a:latin typeface="楷体_GB2312" pitchFamily="49" charset="-122"/>
                <a:ea typeface="楷体_GB2312" pitchFamily="49" charset="-122"/>
              </a:rPr>
              <a:t>），按照上述角色管理步骤对角色进行管理。</a:t>
            </a:r>
          </a:p>
        </p:txBody>
      </p:sp>
      <p:sp>
        <p:nvSpPr>
          <p:cNvPr id="5" name="Text Box 5">
            <a:extLst>
              <a:ext uri="{FF2B5EF4-FFF2-40B4-BE49-F238E27FC236}">
                <a16:creationId xmlns:a16="http://schemas.microsoft.com/office/drawing/2014/main" id="{5C5ADE50-F4D4-A305-481F-0A88C88EE6F8}"/>
              </a:ext>
            </a:extLst>
          </p:cNvPr>
          <p:cNvSpPr txBox="1">
            <a:spLocks noChangeArrowheads="1"/>
          </p:cNvSpPr>
          <p:nvPr/>
        </p:nvSpPr>
        <p:spPr bwMode="auto">
          <a:xfrm>
            <a:off x="771525" y="3213100"/>
            <a:ext cx="10512425"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ts val="33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创建三个角色</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r_admin,r_teacher,r_student</a:t>
            </a:r>
            <a:endPar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ts val="33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CREATE role IF NOT EXISTS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r_admin,r_teacher,r_student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ts val="33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给</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r_admin</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授予</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的一切管理权限</a:t>
            </a:r>
          </a:p>
          <a:p>
            <a:pPr eaLnBrk="1" hangingPunct="1">
              <a:lnSpc>
                <a:spcPts val="33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ALL ON teaching_manage.* TO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r_admin</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ts val="33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给</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r_teacher</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授予</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的增、删、改、查权限</a:t>
            </a:r>
          </a:p>
          <a:p>
            <a:pPr eaLnBrk="1" hangingPunct="1">
              <a:lnSpc>
                <a:spcPts val="33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SELECT,INSERT,DELETE,UPDATE ON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teaching_manage.score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TO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r_teacher</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2662BA0A-7730-E785-A5C0-D9AC3B57CB5D}"/>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角色管理</a:t>
            </a:r>
          </a:p>
        </p:txBody>
      </p:sp>
      <p:sp>
        <p:nvSpPr>
          <p:cNvPr id="4" name="Text Box 5">
            <a:extLst>
              <a:ext uri="{FF2B5EF4-FFF2-40B4-BE49-F238E27FC236}">
                <a16:creationId xmlns:a16="http://schemas.microsoft.com/office/drawing/2014/main" id="{683855DE-79EC-5CD9-03DC-D390D31356E4}"/>
              </a:ext>
            </a:extLst>
          </p:cNvPr>
          <p:cNvSpPr txBox="1">
            <a:spLocks noChangeArrowheads="1"/>
          </p:cNvSpPr>
          <p:nvPr/>
        </p:nvSpPr>
        <p:spPr bwMode="auto">
          <a:xfrm>
            <a:off x="754063" y="1268413"/>
            <a:ext cx="10512425"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给</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r_student</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授予</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的查询权限</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SELECT ON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teaching_manage.score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TO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r_student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100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分别创建三类用户</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CREATE USER student1,student2,teacher1,teacher2,admin;</a:t>
            </a:r>
          </a:p>
          <a:p>
            <a:pPr eaLnBrk="1" hangingPunct="1">
              <a:lnSpc>
                <a:spcPct val="1100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给三类用户授予不同的角色</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r_admin</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TO admin;</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r_teacher</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TO teacher1,teacher2;</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GRANT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r_student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TO student1,student2;</a:t>
            </a:r>
          </a:p>
          <a:p>
            <a:pPr eaLnBrk="1" hangingPunct="1">
              <a:lnSpc>
                <a:spcPct val="1100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分别查看用户和角色的授权情况</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SHOW GRANTS FOR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r_student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10000"/>
              </a:lnSpc>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收回授予用户的角色权限</a:t>
            </a:r>
          </a:p>
          <a:p>
            <a:pPr eaLnBrk="1" hangingPunct="1">
              <a:lnSpc>
                <a:spcPct val="110000"/>
              </a:lnSpc>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REVOKE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r_student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FROM student1,student2;</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500"/>
                                        <p:tgtEl>
                                          <p:spTgt spid="4">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fade">
                                      <p:cBhvr>
                                        <p:cTn id="21" dur="500"/>
                                        <p:tgtEl>
                                          <p:spTgt spid="4">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fade">
                                      <p:cBhvr>
                                        <p:cTn id="24" dur="500"/>
                                        <p:tgtEl>
                                          <p:spTgt spid="4">
                                            <p:txEl>
                                              <p:pRg st="7" end="7"/>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Effect transition="in" filter="fade">
                                      <p:cBhvr>
                                        <p:cTn id="29" dur="500"/>
                                        <p:tgtEl>
                                          <p:spTgt spid="4">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fade">
                                      <p:cBhvr>
                                        <p:cTn id="32" dur="500"/>
                                        <p:tgtEl>
                                          <p:spTgt spid="4">
                                            <p:txEl>
                                              <p:pRg st="9" end="9"/>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animEffect transition="in" filter="fade">
                                      <p:cBhvr>
                                        <p:cTn id="37" dur="500"/>
                                        <p:tgtEl>
                                          <p:spTgt spid="4">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1" end="11"/>
                                            </p:txEl>
                                          </p:spTgt>
                                        </p:tgtEl>
                                        <p:attrNameLst>
                                          <p:attrName>style.visibility</p:attrName>
                                        </p:attrNameLst>
                                      </p:cBhvr>
                                      <p:to>
                                        <p:strVal val="visible"/>
                                      </p:to>
                                    </p:set>
                                    <p:animEffect transition="in" filter="fade">
                                      <p:cBhvr>
                                        <p:cTn id="40"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3">
            <a:extLst>
              <a:ext uri="{FF2B5EF4-FFF2-40B4-BE49-F238E27FC236}">
                <a16:creationId xmlns:a16="http://schemas.microsoft.com/office/drawing/2014/main" id="{78FF1151-4F2F-F0D1-EB46-51EA06082500}"/>
              </a:ext>
            </a:extLst>
          </p:cNvPr>
          <p:cNvSpPr>
            <a:spLocks noChangeArrowheads="1" noChangeShapeType="1" noTextEdit="1"/>
          </p:cNvSpPr>
          <p:nvPr/>
        </p:nvSpPr>
        <p:spPr bwMode="gray">
          <a:xfrm>
            <a:off x="2498725" y="3235325"/>
            <a:ext cx="7683500" cy="863600"/>
          </a:xfrm>
          <a:prstGeom prst="rect">
            <a:avLst/>
          </a:prstGeom>
        </p:spPr>
        <p:txBody>
          <a:bodyPr wrap="none" fromWordArt="1">
            <a:prstTxWarp prst="textDeflate">
              <a:avLst>
                <a:gd name="adj" fmla="val 0"/>
              </a:avLst>
            </a:prstTxWarp>
          </a:bodyPr>
          <a:lstStyle/>
          <a:p>
            <a:pPr algn="ctr"/>
            <a:r>
              <a:rPr lang="en-US" altLang="zh-CN"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rPr>
              <a:t>Thank You !</a:t>
            </a:r>
            <a:endParaRPr lang="zh-CN" altLang="en-US"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endParaRPr>
          </a:p>
        </p:txBody>
      </p:sp>
      <p:sp>
        <p:nvSpPr>
          <p:cNvPr id="4" name="TextBox 6">
            <a:extLst>
              <a:ext uri="{FF2B5EF4-FFF2-40B4-BE49-F238E27FC236}">
                <a16:creationId xmlns:a16="http://schemas.microsoft.com/office/drawing/2014/main" id="{CB325823-EDFF-2BFE-757A-330A5DAB46D2}"/>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rPr>
              <a:t>谢谢学习</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a:spPr>
      <a:bodyPr anchor="ctr"/>
      <a:lstStyle>
        <a:defPPr algn="ctr">
          <a:defRPr sz="3200" b="1" dirty="0">
            <a:solidFill>
              <a:schemeClr val="bg1"/>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16977</TotalTime>
  <Pages>0</Pages>
  <Words>2288</Words>
  <Characters>0</Characters>
  <Application>Microsoft Office PowerPoint</Application>
  <DocSecurity>0</DocSecurity>
  <PresentationFormat>自定义</PresentationFormat>
  <Lines>0</Lines>
  <Paragraphs>211</Paragraphs>
  <Slides>31</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6" baseType="lpstr">
      <vt:lpstr>Arial</vt:lpstr>
      <vt:lpstr>宋体</vt:lpstr>
      <vt:lpstr>Franklin Gothic Medium</vt:lpstr>
      <vt:lpstr>微软雅黑</vt:lpstr>
      <vt:lpstr>Calibri</vt:lpstr>
      <vt:lpstr>Franklin Gothic Book</vt:lpstr>
      <vt:lpstr>黑体</vt:lpstr>
      <vt:lpstr>Aharoni</vt:lpstr>
      <vt:lpstr>华文行楷</vt:lpstr>
      <vt:lpstr>Impact</vt:lpstr>
      <vt:lpstr>楷体_GB2312</vt:lpstr>
      <vt:lpstr>Wingdings</vt:lpstr>
      <vt:lpstr>Times New Roman</vt:lpstr>
      <vt:lpstr>Office 主题</vt:lpstr>
      <vt:lpstr>Microsoft Word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zhuigz Lc</cp:lastModifiedBy>
  <cp:revision>500</cp:revision>
  <dcterms:created xsi:type="dcterms:W3CDTF">2014-10-24T14:22:44Z</dcterms:created>
  <dcterms:modified xsi:type="dcterms:W3CDTF">2026-09-22T11:17:14Z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