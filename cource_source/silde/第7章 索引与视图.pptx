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handoutMasterIdLst>
    <p:handoutMasterId r:id="rId47"/>
  </p:handoutMasterIdLst>
  <p:sldIdLst>
    <p:sldId id="256" r:id="rId2"/>
    <p:sldId id="776" r:id="rId3"/>
    <p:sldId id="584" r:id="rId4"/>
    <p:sldId id="819" r:id="rId5"/>
    <p:sldId id="852" r:id="rId6"/>
    <p:sldId id="862" r:id="rId7"/>
    <p:sldId id="851" r:id="rId8"/>
    <p:sldId id="818" r:id="rId9"/>
    <p:sldId id="853" r:id="rId10"/>
    <p:sldId id="821" r:id="rId11"/>
    <p:sldId id="863" r:id="rId12"/>
    <p:sldId id="855" r:id="rId13"/>
    <p:sldId id="822" r:id="rId14"/>
    <p:sldId id="748" r:id="rId15"/>
    <p:sldId id="864" r:id="rId16"/>
    <p:sldId id="654" r:id="rId17"/>
    <p:sldId id="826" r:id="rId18"/>
    <p:sldId id="827" r:id="rId19"/>
    <p:sldId id="830" r:id="rId20"/>
    <p:sldId id="655" r:id="rId21"/>
    <p:sldId id="681" r:id="rId22"/>
    <p:sldId id="859" r:id="rId23"/>
    <p:sldId id="860" r:id="rId24"/>
    <p:sldId id="861" r:id="rId25"/>
    <p:sldId id="831" r:id="rId26"/>
    <p:sldId id="833" r:id="rId27"/>
    <p:sldId id="834" r:id="rId28"/>
    <p:sldId id="835" r:id="rId29"/>
    <p:sldId id="836" r:id="rId30"/>
    <p:sldId id="837" r:id="rId31"/>
    <p:sldId id="838" r:id="rId32"/>
    <p:sldId id="839" r:id="rId33"/>
    <p:sldId id="844" r:id="rId34"/>
    <p:sldId id="840" r:id="rId35"/>
    <p:sldId id="680" r:id="rId36"/>
    <p:sldId id="845" r:id="rId37"/>
    <p:sldId id="841" r:id="rId38"/>
    <p:sldId id="629" r:id="rId39"/>
    <p:sldId id="842" r:id="rId40"/>
    <p:sldId id="843" r:id="rId41"/>
    <p:sldId id="847" r:id="rId42"/>
    <p:sldId id="849" r:id="rId43"/>
    <p:sldId id="624" r:id="rId44"/>
    <p:sldId id="608" r:id="rId45"/>
  </p:sldIdLst>
  <p:sldSz cx="12198350" cy="6858000"/>
  <p:notesSz cx="6858000" cy="9144000"/>
  <p:custDataLst>
    <p:tags r:id="rId48"/>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933" userDrawn="1">
          <p15:clr>
            <a:srgbClr val="A4A3A4"/>
          </p15:clr>
        </p15:guide>
        <p15:guide id="2" pos="37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E47"/>
    <a:srgbClr val="3366FF"/>
    <a:srgbClr val="8AC739"/>
    <a:srgbClr val="FF9933"/>
    <a:srgbClr val="FF9900"/>
    <a:srgbClr val="CC9900"/>
    <a:srgbClr val="3399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3"/>
    <p:restoredTop sz="92817"/>
  </p:normalViewPr>
  <p:slideViewPr>
    <p:cSldViewPr showGuides="1">
      <p:cViewPr varScale="1">
        <p:scale>
          <a:sx n="78" d="100"/>
          <a:sy n="78" d="100"/>
        </p:scale>
        <p:origin x="758" y="91"/>
      </p:cViewPr>
      <p:guideLst>
        <p:guide orient="horz" pos="1933"/>
        <p:guide pos="3744"/>
      </p:guideLst>
    </p:cSldViewPr>
  </p:slideViewPr>
  <p:notesTextViewPr>
    <p:cViewPr>
      <p:scale>
        <a:sx n="100" d="100"/>
        <a:sy n="100" d="100"/>
      </p:scale>
      <p:origin x="0" y="0"/>
    </p:cViewPr>
  </p:notesTextViewPr>
  <p:sorterViewPr showFormatting="0">
    <p:cViewPr>
      <p:scale>
        <a:sx n="100" d="100"/>
        <a:sy n="100" d="100"/>
      </p:scale>
      <p:origin x="0" y="0"/>
    </p:cViewPr>
  </p:sorterViewPr>
  <p:gridSpacing cx="72005" cy="72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buFont typeface="Arial" panose="020B0604020202020204" pitchFamily="34" charset="0"/>
              <a:buNone/>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buFont typeface="Arial" panose="020B0604020202020204" pitchFamily="34" charset="0"/>
              <a:buNone/>
              <a:defRPr sz="1200">
                <a:latin typeface="Arial" panose="020B0604020202020204" pitchFamily="34" charset="0"/>
              </a:defRPr>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2CD0493E-F833-49CA-BBC3-8E9C5E0B37CB}"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buFont typeface="Arial" panose="020B0604020202020204" pitchFamily="34" charset="0"/>
              <a:buNone/>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p>
            <a:pPr lvl="0" algn="r" fontAlgn="base">
              <a:buNone/>
            </a:pPr>
            <a:fld id="{9A0DB2DC-4C9A-4742-B13C-FB6460FD3503}" type="slidenum">
              <a:rPr lang="zh-CN" altLang="en-US" sz="1200" strike="noStrike" noProof="1" dirty="0">
                <a:latin typeface="Arial" panose="020B0604020202020204" pitchFamily="34" charset="0"/>
                <a:ea typeface="宋体" panose="02010600030101010101" pitchFamily="2" charset="-122"/>
                <a:cs typeface="+mn-cs"/>
              </a:rPr>
              <a:t>‹#›</a:t>
            </a:fld>
            <a:endParaRPr lang="zh-CN" altLang="en-US" sz="1200" strike="noStrike" noProof="1"/>
          </a:p>
        </p:txBody>
      </p:sp>
    </p:spTree>
    <p:extLst>
      <p:ext uri="{BB962C8B-B14F-4D97-AF65-F5344CB8AC3E}">
        <p14:creationId xmlns:p14="http://schemas.microsoft.com/office/powerpoint/2010/main" val="28087978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7200"/>
          </a:xfrm>
          <a:prstGeom prst="rect">
            <a:avLst/>
          </a:prstGeom>
          <a:noFill/>
          <a:ln>
            <a:noFill/>
          </a:ln>
        </p:spPr>
        <p:txBody>
          <a:bodyPr vert="horz" wrap="square" lIns="91440" tIns="45720" rIns="91440" bIns="45720" numCol="1" anchor="t" anchorCtr="0" compatLnSpc="1"/>
          <a:lstStyle>
            <a:lvl1pPr>
              <a:buFont typeface="Arial" panose="020B0604020202020204" pitchFamily="34" charset="0"/>
              <a:buNone/>
              <a:defRPr sz="1200">
                <a:latin typeface="Arial" panose="020B0604020202020204" pitchFamily="34"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日期占位符 2"/>
          <p:cNvSpPr>
            <a:spLocks noGrp="1" noChangeArrowheads="1"/>
          </p:cNvSpPr>
          <p:nvPr>
            <p:ph type="dt" idx="1"/>
          </p:nvPr>
        </p:nvSpPr>
        <p:spPr bwMode="auto">
          <a:xfrm>
            <a:off x="3884613" y="0"/>
            <a:ext cx="2971800" cy="457200"/>
          </a:xfrm>
          <a:prstGeom prst="rect">
            <a:avLst/>
          </a:prstGeom>
          <a:noFill/>
          <a:ln>
            <a:noFill/>
          </a:ln>
        </p:spPr>
        <p:txBody>
          <a:bodyPr vert="horz" wrap="square" lIns="91440" tIns="45720" rIns="91440" bIns="45720" numCol="1" anchor="t" anchorCtr="0" compatLnSpc="1"/>
          <a:lstStyle>
            <a:lvl1pPr algn="r">
              <a:buFont typeface="Arial" panose="020B0604020202020204" pitchFamily="34" charset="0"/>
              <a:buNone/>
              <a:defRPr>
                <a:latin typeface="Arial" panose="020B0604020202020204" pitchFamily="34" charset="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0" name="幻灯片图像占位符 3"/>
          <p:cNvSpPr>
            <a:spLocks noGrp="1" noRot="1" noChangeAspect="1"/>
          </p:cNvSpPr>
          <p:nvPr>
            <p:ph type="sldImg"/>
          </p:nvPr>
        </p:nvSpPr>
        <p:spPr>
          <a:xfrm>
            <a:off x="379413" y="685800"/>
            <a:ext cx="6099175" cy="3429000"/>
          </a:xfrm>
          <a:prstGeom prst="rect">
            <a:avLst/>
          </a:prstGeom>
          <a:noFill/>
          <a:ln w="9525">
            <a:noFill/>
          </a:ln>
        </p:spPr>
      </p:sp>
      <p:sp>
        <p:nvSpPr>
          <p:cNvPr id="36869"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单击此处编辑母版文本样式</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第二级</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第三级</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第四级</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第五级</a:t>
            </a: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4" name="页脚占位符 5"/>
          <p:cNvSpPr>
            <a:spLocks noGrp="1" noChangeArrowheads="1"/>
          </p:cNvSpPr>
          <p:nvPr>
            <p:ph type="ftr" sz="quarter" idx="4"/>
          </p:nvPr>
        </p:nvSpPr>
        <p:spPr bwMode="auto">
          <a:xfrm>
            <a:off x="0" y="8685213"/>
            <a:ext cx="2971800" cy="457200"/>
          </a:xfrm>
          <a:prstGeom prst="rect">
            <a:avLst/>
          </a:prstGeom>
          <a:noFill/>
          <a:ln>
            <a:noFill/>
          </a:ln>
        </p:spPr>
        <p:txBody>
          <a:bodyPr vert="horz" wrap="square" lIns="91440" tIns="45720" rIns="91440" bIns="45720" numCol="1" anchor="b" anchorCtr="0" compatLnSpc="1"/>
          <a:lstStyle>
            <a:lvl1pPr>
              <a:buFont typeface="Arial" panose="020B0604020202020204" pitchFamily="34" charset="0"/>
              <a:buNone/>
              <a:defRPr sz="1200">
                <a:latin typeface="Arial" panose="020B0604020202020204" pitchFamily="34"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灯片编号占位符 6"/>
          <p:cNvSpPr>
            <a:spLocks noGrp="1" noChangeArrowheads="1"/>
          </p:cNvSpPr>
          <p:nvPr>
            <p:ph type="sldNum" sz="quarter" idx="5"/>
          </p:nvPr>
        </p:nvSpPr>
        <p:spPr bwMode="auto">
          <a:xfrm>
            <a:off x="3884613" y="8685213"/>
            <a:ext cx="2971800" cy="457200"/>
          </a:xfrm>
          <a:prstGeom prst="rect">
            <a:avLst/>
          </a:prstGeom>
          <a:noFill/>
          <a:ln>
            <a:noFill/>
          </a:ln>
        </p:spPr>
        <p:txBody>
          <a:bodyPr vert="horz" wrap="square" lIns="91440" tIns="45720" rIns="91440" bIns="45720" numCol="1" anchor="b" anchorCtr="0" compatLnSpc="1"/>
          <a:lstStyle/>
          <a:p>
            <a:pPr lvl="0" algn="r" fontAlgn="base">
              <a:buNone/>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z="1200" strike="noStrike" noProof="1"/>
          </a:p>
        </p:txBody>
      </p:sp>
    </p:spTree>
    <p:extLst>
      <p:ext uri="{BB962C8B-B14F-4D97-AF65-F5344CB8AC3E}">
        <p14:creationId xmlns:p14="http://schemas.microsoft.com/office/powerpoint/2010/main" val="1842171964"/>
      </p:ext>
    </p:extLst>
  </p:cSld>
  <p:clrMap bg1="lt1" tx1="dk1" bg2="lt2" tx2="dk2" accent1="accent1" accent2="accent2" accent3="accent3" accent4="accent4" accent5="accent5" accent6="accent6" hlink="hlink" folHlink="folHlink"/>
  <p:hf sldNum="0"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noTextEdit="1"/>
          </p:cNvSpPr>
          <p:nvPr>
            <p:ph type="sldImg"/>
          </p:nvPr>
        </p:nvSpPr>
        <p:spPr/>
      </p:sp>
      <p:sp>
        <p:nvSpPr>
          <p:cNvPr id="6146" name="备注占位符 2"/>
          <p:cNvSpPr>
            <a:spLocks noGrp="1"/>
          </p:cNvSpPr>
          <p:nvPr>
            <p:ph type="body"/>
          </p:nvPr>
        </p:nvSpPr>
        <p:spPr>
          <a:xfrm>
            <a:off x="685800" y="4343400"/>
            <a:ext cx="5486400" cy="4114800"/>
          </a:xfrm>
          <a:prstGeom prst="rect">
            <a:avLst/>
          </a:prstGeom>
          <a:noFill/>
          <a:ln w="9525">
            <a:noFill/>
          </a:ln>
        </p:spPr>
        <p:txBody>
          <a:bodyPr anchor="t" anchorCtr="0"/>
          <a:lstStyle/>
          <a:p>
            <a:pPr lvl="0"/>
            <a:endParaRPr lang="zh-CN" altLang="en-US" dirty="0"/>
          </a:p>
        </p:txBody>
      </p:sp>
      <p:sp>
        <p:nvSpPr>
          <p:cNvPr id="6147" name="日期占位符 3"/>
          <p:cNvSpPr txBox="1">
            <a:spLocks noGrp="1"/>
          </p:cNvSpPr>
          <p:nvPr>
            <p:ph type="dt" sz="half"/>
          </p:nvPr>
        </p:nvSpPr>
        <p:spPr>
          <a:xfrm>
            <a:off x="3884613" y="0"/>
            <a:ext cx="2971800" cy="457200"/>
          </a:xfrm>
          <a:prstGeom prst="rect">
            <a:avLst/>
          </a:prstGeom>
          <a:noFill/>
          <a:ln w="9525">
            <a:noFill/>
          </a:ln>
        </p:spPr>
        <p:txBody>
          <a:bodyPr vert="horz" wrap="square" lIns="91440" tIns="45720" rIns="91440" bIns="45720" anchor="t" anchorCtr="0"/>
          <a:lstStyle/>
          <a:p>
            <a:pPr lvl="0" algn="r"/>
            <a:fld id="{BB962C8B-B14F-4D97-AF65-F5344CB8AC3E}" type="datetime1">
              <a:rPr lang="zh-CN" altLang="en-US" sz="1800" dirty="0">
                <a:latin typeface="Arial" panose="020B0604020202020204" pitchFamily="34" charset="0"/>
                <a:ea typeface="宋体" panose="02010600030101010101" pitchFamily="2" charset="-122"/>
              </a:rPr>
              <a:t>2024/11/13</a:t>
            </a:fld>
            <a:endParaRPr lang="zh-CN" altLang="en-US" sz="1800" dirty="0">
              <a:latin typeface="Arial" panose="020B0604020202020204" pitchFamily="34" charset="0"/>
              <a:ea typeface="宋体" panose="02010600030101010101" pitchFamily="2" charset="-122"/>
            </a:endParaRPr>
          </a:p>
        </p:txBody>
      </p:sp>
      <p:sp>
        <p:nvSpPr>
          <p:cNvPr id="6148" name="灯片编号占位符 4"/>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800" dirty="0">
                <a:latin typeface="Arial" panose="020B0604020202020204" pitchFamily="34" charset="0"/>
                <a:ea typeface="宋体" panose="02010600030101010101" pitchFamily="2" charset="-122"/>
              </a:rPr>
              <a:t>1</a:t>
            </a:fld>
            <a:endParaRPr lang="zh-CN" altLang="en-US" sz="1800" dirty="0">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日期占位符 2"/>
          <p:cNvSpPr>
            <a:spLocks noGrp="1"/>
          </p:cNvSpPr>
          <p:nvPr>
            <p:ph type="dt" idx="1"/>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文本占位符 3"/>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220395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95438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E8033-3802-BC16-0572-2C5B7F759A6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6B1E83-9613-2FE7-7C08-29D02D4301D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4C27F9-5564-F46E-FA52-B94DACC3C3AE}"/>
              </a:ext>
            </a:extLst>
          </p:cNvPr>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a:extLst>
              <a:ext uri="{FF2B5EF4-FFF2-40B4-BE49-F238E27FC236}">
                <a16:creationId xmlns:a16="http://schemas.microsoft.com/office/drawing/2014/main" id="{337D68A6-ECCC-E064-1413-C98152BCD5A7}"/>
              </a:ext>
            </a:extLst>
          </p:cNvPr>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84408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954380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95438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954380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95438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3119E-E0B7-560F-A0A9-A06972D401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6BFE110-3D91-0D73-8CFC-04C508B998B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DB7B3F1-26CF-2AA8-81EE-F89DEB9BDBF3}"/>
              </a:ext>
            </a:extLst>
          </p:cNvPr>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a:extLst>
              <a:ext uri="{FF2B5EF4-FFF2-40B4-BE49-F238E27FC236}">
                <a16:creationId xmlns:a16="http://schemas.microsoft.com/office/drawing/2014/main" id="{3AFFBAD0-A310-4941-030B-1C68C79DA47C}"/>
              </a:ext>
            </a:extLst>
          </p:cNvPr>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023597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954380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954380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5601529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5601529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5601529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5601529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5601529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5601529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5601529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5601529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0952F2A-6B11-4A4D-B29B-B58170F2054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2024/11/13</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560152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9550" cy="1470025"/>
          </a:xfrm>
          <a:prstGeom prst="rect">
            <a:avLst/>
          </a:prstGeo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830388" y="3886200"/>
            <a:ext cx="8537575"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a:xfrm>
            <a:off x="609600" y="1600200"/>
            <a:ext cx="10979150" cy="4525963"/>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7962" cy="1362075"/>
          </a:xfrm>
          <a:prstGeom prst="rect">
            <a:avLst/>
          </a:prstGeo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963613" y="2906713"/>
            <a:ext cx="10367962"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09600" y="1600200"/>
            <a:ext cx="54133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6175375" y="1600200"/>
            <a:ext cx="54133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09600" y="1535113"/>
            <a:ext cx="538956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609600" y="2174875"/>
            <a:ext cx="538956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6196013" y="1535113"/>
            <a:ext cx="539273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6196013" y="2174875"/>
            <a:ext cx="539273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pPr fontAlgn="base"/>
            <a:r>
              <a:rPr lang="zh-CN" altLang="en-US" strike="noStrike" noProof="1"/>
              <a:t>单击此处编辑母版标题样式</a:t>
            </a:r>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3200" cy="1162050"/>
          </a:xfrm>
          <a:prstGeom prst="rect">
            <a:avLst/>
          </a:prstGeo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4768850" y="273050"/>
            <a:ext cx="681990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09600" y="1435100"/>
            <a:ext cx="4013200"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9963" cy="566738"/>
          </a:xfrm>
          <a:prstGeom prst="rect">
            <a:avLst/>
          </a:prstGeo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2390775" y="612775"/>
            <a:ext cx="7319963"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sym typeface="Calibri" panose="020F0502020204030204" pitchFamily="34" charset="0"/>
            </a:endParaRPr>
          </a:p>
        </p:txBody>
      </p:sp>
      <p:sp>
        <p:nvSpPr>
          <p:cNvPr id="4" name="文本占位符 3"/>
          <p:cNvSpPr>
            <a:spLocks noGrp="1"/>
          </p:cNvSpPr>
          <p:nvPr>
            <p:ph type="body" sz="half" idx="2"/>
          </p:nvPr>
        </p:nvSpPr>
        <p:spPr>
          <a:xfrm>
            <a:off x="2390775" y="5367338"/>
            <a:ext cx="7319963"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09600" y="1600200"/>
            <a:ext cx="10979150" cy="4525963"/>
          </a:xfrm>
          <a:prstGeom prst="rect">
            <a:avLst/>
          </a:prstGeo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274638"/>
            <a:ext cx="2744787" cy="5851525"/>
          </a:xfrm>
          <a:prstGeom prst="rect">
            <a:avLst/>
          </a:prstGeo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09600" y="274638"/>
            <a:ext cx="8081963" cy="5851525"/>
          </a:xfrm>
          <a:prstGeom prst="rect">
            <a:avLst/>
          </a:prstGeo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bg>
      <p:bgPr>
        <a:gradFill rotWithShape="0">
          <a:gsLst>
            <a:gs pos="0">
              <a:srgbClr val="FAFAFA">
                <a:alpha val="100000"/>
              </a:srgbClr>
            </a:gs>
            <a:gs pos="50000">
              <a:srgbClr val="FBFBFB">
                <a:alpha val="100000"/>
              </a:srgbClr>
            </a:gs>
            <a:gs pos="100000">
              <a:srgbClr val="FCFCFC">
                <a:alpha val="100000"/>
              </a:srgbClr>
            </a:gs>
          </a:gsLst>
          <a:lin ang="5400000" scaled="1"/>
          <a:tileRect/>
        </a:gradFill>
        <a:effectLst/>
      </p:bgPr>
    </p:bg>
    <p:spTree>
      <p:nvGrpSpPr>
        <p:cNvPr id="1" name=""/>
        <p:cNvGrpSpPr/>
        <p:nvPr/>
      </p:nvGrpSpPr>
      <p:grpSpPr>
        <a:xfrm>
          <a:off x="0" y="0"/>
          <a:ext cx="0" cy="0"/>
          <a:chOff x="0" y="0"/>
          <a:chExt cx="0" cy="0"/>
        </a:xfrm>
      </p:grpSpPr>
      <p:sp>
        <p:nvSpPr>
          <p:cNvPr id="8" name="燕尾形 7"/>
          <p:cNvSpPr>
            <a:spLocks noChangeArrowheads="1"/>
          </p:cNvSpPr>
          <p:nvPr/>
        </p:nvSpPr>
        <p:spPr bwMode="auto">
          <a:xfrm>
            <a:off x="1130300" y="0"/>
            <a:ext cx="7718425" cy="846138"/>
          </a:xfrm>
          <a:prstGeom prst="chevron">
            <a:avLst>
              <a:gd name="adj" fmla="val 24616"/>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0" name="矩形 9"/>
          <p:cNvSpPr/>
          <p:nvPr/>
        </p:nvSpPr>
        <p:spPr>
          <a:xfrm>
            <a:off x="8848725" y="0"/>
            <a:ext cx="2484000" cy="707886"/>
          </a:xfrm>
          <a:prstGeom prst="rect">
            <a:avLst/>
          </a:prstGeom>
          <a:noFill/>
        </p:spPr>
        <p:txBody>
          <a:bodyPr>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all" spc="0" normalizeH="0" baseline="0" noProof="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uLnTx/>
                <a:uFillTx/>
                <a:latin typeface="隶书" panose="02010509060101010101" pitchFamily="49" charset="-122"/>
                <a:ea typeface="隶书" panose="02010509060101010101" pitchFamily="49" charset="-122"/>
                <a:cs typeface="+mn-cs"/>
              </a:rPr>
              <a:t>数据库</a:t>
            </a: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pPr fontAlgn="base"/>
            <a:r>
              <a:rPr lang="zh-CN" altLang="en-US" strike="noStrike" noProof="1"/>
              <a:t>单击此处编辑母版标题样式</a:t>
            </a:r>
          </a:p>
        </p:txBody>
      </p:sp>
      <p:sp>
        <p:nvSpPr>
          <p:cNvPr id="3" name="SmartArt 占位符 2"/>
          <p:cNvSpPr>
            <a:spLocks noGrp="1"/>
          </p:cNvSpPr>
          <p:nvPr>
            <p:ph type="pic" idx="1"/>
          </p:nvPr>
        </p:nvSpPr>
        <p:spPr>
          <a:xfrm>
            <a:off x="609600" y="1600200"/>
            <a:ext cx="10979150" cy="4525963"/>
          </a:xfrm>
          <a:prstGeom prst="rect">
            <a:avLst/>
          </a:prstGeom>
        </p:spPr>
        <p:txBody>
          <a:bodyPr/>
          <a:lstStyle/>
          <a:p>
            <a:pPr marL="342900" marR="0" lvl="0" indent="-342900" algn="l" defTabSz="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zh-CN" altLang="en-US" sz="3200" b="0" i="0" u="none" strike="noStrike" kern="0" cap="none" spc="0" normalizeH="0" baseline="0" noProof="0">
              <a:ln>
                <a:noFill/>
              </a:ln>
              <a:solidFill>
                <a:schemeClr val="tx1"/>
              </a:solidFill>
              <a:effectLst/>
              <a:uLnTx/>
              <a:uFillTx/>
              <a:latin typeface="+mn-lt"/>
              <a:ea typeface="+mn-ea"/>
              <a:cs typeface="+mn-cs"/>
              <a:sym typeface="Calibri" panose="020F0502020204030204" pitchFamily="34" charset="0"/>
            </a:endParaRP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AFAFA">
                <a:alpha val="100000"/>
              </a:srgbClr>
            </a:gs>
            <a:gs pos="50000">
              <a:srgbClr val="FBFBFB">
                <a:alpha val="100000"/>
              </a:srgbClr>
            </a:gs>
            <a:gs pos="100000">
              <a:srgbClr val="FCFCFC">
                <a:alpha val="100000"/>
              </a:srgbClr>
            </a:gs>
          </a:gsLst>
          <a:lin ang="5400000" scaled="1"/>
          <a:tileRect/>
        </a:gradFill>
        <a:effectLst/>
      </p:bgPr>
    </p:bg>
    <p:spTree>
      <p:nvGrpSpPr>
        <p:cNvPr id="1" name=""/>
        <p:cNvGrpSpPr/>
        <p:nvPr/>
      </p:nvGrpSpPr>
      <p:grpSpPr>
        <a:xfrm>
          <a:off x="0" y="0"/>
          <a:ext cx="0" cy="0"/>
          <a:chOff x="0" y="0"/>
          <a:chExt cx="0" cy="0"/>
        </a:xfrm>
      </p:grpSpPr>
      <p:sp>
        <p:nvSpPr>
          <p:cNvPr id="1026" name="矩形 2"/>
          <p:cNvSpPr>
            <a:spLocks noChangeArrowheads="1"/>
          </p:cNvSpPr>
          <p:nvPr/>
        </p:nvSpPr>
        <p:spPr bwMode="auto">
          <a:xfrm>
            <a:off x="0" y="854075"/>
            <a:ext cx="12198350" cy="115888"/>
          </a:xfrm>
          <a:prstGeom prst="rect">
            <a:avLst/>
          </a:prstGeom>
          <a:solidFill>
            <a:srgbClr val="A5A5A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1027" name="椭圆 14"/>
          <p:cNvSpPr>
            <a:spLocks noChangeArrowheads="1"/>
          </p:cNvSpPr>
          <p:nvPr/>
        </p:nvSpPr>
        <p:spPr bwMode="auto">
          <a:xfrm>
            <a:off x="804863" y="866775"/>
            <a:ext cx="85725" cy="87313"/>
          </a:xfrm>
          <a:prstGeom prst="ellipse">
            <a:avLst/>
          </a:prstGeom>
          <a:solidFill>
            <a:srgbClr val="F6F6F6"/>
          </a:soli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1028" name="椭圆 14"/>
          <p:cNvSpPr>
            <a:spLocks noChangeAspect="1"/>
          </p:cNvSpPr>
          <p:nvPr/>
        </p:nvSpPr>
        <p:spPr>
          <a:xfrm>
            <a:off x="565150" y="188913"/>
            <a:ext cx="563563" cy="719137"/>
          </a:xfrm>
          <a:custGeom>
            <a:avLst/>
            <a:gdLst/>
            <a:ahLst/>
            <a:cxnLst>
              <a:cxn ang="0">
                <a:pos x="103" y="0"/>
              </a:cxn>
              <a:cxn ang="0">
                <a:pos x="206" y="153"/>
              </a:cxn>
              <a:cxn ang="0">
                <a:pos x="174" y="263"/>
              </a:cxn>
              <a:cxn ang="0">
                <a:pos x="103" y="386"/>
              </a:cxn>
              <a:cxn ang="0">
                <a:pos x="31" y="263"/>
              </a:cxn>
              <a:cxn ang="0">
                <a:pos x="18" y="239"/>
              </a:cxn>
              <a:cxn ang="0">
                <a:pos x="17" y="239"/>
              </a:cxn>
              <a:cxn ang="0">
                <a:pos x="17" y="239"/>
              </a:cxn>
              <a:cxn ang="0">
                <a:pos x="0" y="153"/>
              </a:cxn>
              <a:cxn ang="0">
                <a:pos x="103" y="0"/>
              </a:cxn>
            </a:cxnLst>
            <a:rect l="0" t="0" r="0" b="0"/>
            <a:pathLst>
              <a:path w="683568" h="864094">
                <a:moveTo>
                  <a:pt x="341784" y="0"/>
                </a:moveTo>
                <a:cubicBezTo>
                  <a:pt x="530546" y="0"/>
                  <a:pt x="683568" y="153022"/>
                  <a:pt x="683568" y="341784"/>
                </a:cubicBezTo>
                <a:cubicBezTo>
                  <a:pt x="683568" y="439085"/>
                  <a:pt x="642909" y="526890"/>
                  <a:pt x="577183" y="588642"/>
                </a:cubicBezTo>
                <a:lnTo>
                  <a:pt x="341597" y="864094"/>
                </a:lnTo>
                <a:lnTo>
                  <a:pt x="105111" y="587591"/>
                </a:lnTo>
                <a:cubicBezTo>
                  <a:pt x="87976" y="571864"/>
                  <a:pt x="72869" y="554041"/>
                  <a:pt x="59857" y="534679"/>
                </a:cubicBezTo>
                <a:lnTo>
                  <a:pt x="59306" y="534035"/>
                </a:lnTo>
                <a:lnTo>
                  <a:pt x="59325" y="534035"/>
                </a:lnTo>
                <a:cubicBezTo>
                  <a:pt x="21845" y="479324"/>
                  <a:pt x="0" y="413105"/>
                  <a:pt x="0" y="341784"/>
                </a:cubicBezTo>
                <a:cubicBezTo>
                  <a:pt x="0" y="153022"/>
                  <a:pt x="153022" y="0"/>
                  <a:pt x="341784" y="0"/>
                </a:cubicBezTo>
                <a:close/>
              </a:path>
            </a:pathLst>
          </a:custGeom>
          <a:solidFill>
            <a:srgbClr val="CD1F06"/>
          </a:solidFill>
          <a:ln w="9525">
            <a:noFill/>
          </a:ln>
        </p:spPr>
        <p:txBody>
          <a:bodyPr/>
          <a:lstStyle/>
          <a:p>
            <a:endParaRPr lang="zh-CN" altLang="en-US"/>
          </a:p>
        </p:txBody>
      </p:sp>
      <p:sp>
        <p:nvSpPr>
          <p:cNvPr id="1029" name="Text Box 7"/>
          <p:cNvSpPr/>
          <p:nvPr/>
        </p:nvSpPr>
        <p:spPr>
          <a:xfrm>
            <a:off x="644525" y="288925"/>
            <a:ext cx="692150" cy="365125"/>
          </a:xfrm>
          <a:prstGeom prst="rect">
            <a:avLst/>
          </a:prstGeom>
          <a:noFill/>
          <a:ln w="9525">
            <a:noFill/>
          </a:ln>
        </p:spPr>
        <p:txBody>
          <a:bodyPr anchor="t" anchorCtr="0">
            <a:spAutoFit/>
          </a:bodyPr>
          <a:lstStyle/>
          <a:p>
            <a:pPr lvl="0" eaLnBrk="0" hangingPunct="0"/>
            <a:fld id="{9A0DB2DC-4C9A-4742-B13C-FB6460FD3503}" type="slidenum">
              <a:rPr lang="zh-CN" altLang="en-US" dirty="0">
                <a:solidFill>
                  <a:schemeClr val="bg1"/>
                </a:solidFill>
                <a:latin typeface="Arial" panose="020B0604020202020204" pitchFamily="34" charset="0"/>
                <a:ea typeface="宋体" panose="02010600030101010101" pitchFamily="2" charset="-122"/>
                <a:sym typeface="Calibri" panose="020F0502020204030204" pitchFamily="34" charset="0"/>
              </a:rPr>
              <a:t>‹#›</a:t>
            </a:fld>
            <a:endParaRPr lang="zh-CN" altLang="en-US" dirty="0">
              <a:solidFill>
                <a:schemeClr val="bg1"/>
              </a:solidFill>
              <a:latin typeface="Arial" panose="020B0604020202020204" pitchFamily="34" charset="0"/>
              <a:ea typeface="宋体" panose="02010600030101010101" pitchFamily="2" charset="-122"/>
              <a:sym typeface="Calibri" panose="020F0502020204030204" pitchFamily="34" charset="0"/>
            </a:endParaRPr>
          </a:p>
        </p:txBody>
      </p:sp>
      <p:sp>
        <p:nvSpPr>
          <p:cNvPr id="1030" name="燕尾形 1"/>
          <p:cNvSpPr>
            <a:spLocks noChangeArrowheads="1"/>
          </p:cNvSpPr>
          <p:nvPr/>
        </p:nvSpPr>
        <p:spPr bwMode="auto">
          <a:xfrm>
            <a:off x="11779250" y="692150"/>
            <a:ext cx="215900" cy="431800"/>
          </a:xfrm>
          <a:prstGeom prst="chevron">
            <a:avLst>
              <a:gd name="adj" fmla="val 50000"/>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1031" name="燕尾形 9"/>
          <p:cNvSpPr>
            <a:spLocks noChangeArrowheads="1"/>
          </p:cNvSpPr>
          <p:nvPr/>
        </p:nvSpPr>
        <p:spPr bwMode="auto">
          <a:xfrm>
            <a:off x="11931650" y="692150"/>
            <a:ext cx="215900" cy="431800"/>
          </a:xfrm>
          <a:prstGeom prst="chevron">
            <a:avLst>
              <a:gd name="adj" fmla="val 50000"/>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slow"/>
  <p:hf sldNum="0" hdr="0" ftr="0" dt="0"/>
  <p:txStyles>
    <p:titleStyle>
      <a:lvl1pPr marL="914400" indent="-914400" algn="ctr" defTabSz="0" rtl="0" eaLnBrk="0" fontAlgn="base" hangingPunct="0">
        <a:spcBef>
          <a:spcPct val="0"/>
        </a:spcBef>
        <a:spcAft>
          <a:spcPct val="0"/>
        </a:spcAft>
        <a:defRPr sz="4400">
          <a:solidFill>
            <a:schemeClr val="tx1"/>
          </a:solidFill>
          <a:latin typeface="+mj-lt"/>
          <a:ea typeface="+mj-ea"/>
          <a:cs typeface="+mj-cs"/>
          <a:sym typeface="Calibri" panose="020F0502020204030204" pitchFamily="34" charset="0"/>
        </a:defRPr>
      </a:lvl1pPr>
      <a:lvl2pPr marL="914400" indent="-914400" algn="ctr" defTabSz="0" rtl="0" eaLnBrk="0" fontAlgn="base" hangingPunct="0">
        <a:spcBef>
          <a:spcPct val="0"/>
        </a:spcBef>
        <a:spcAft>
          <a:spcPct val="0"/>
        </a:spcAft>
        <a:defRPr sz="4400">
          <a:solidFill>
            <a:schemeClr val="tx1"/>
          </a:solidFill>
          <a:latin typeface="Franklin Gothic Medium" panose="020B0603020102020204" pitchFamily="34" charset="0"/>
          <a:ea typeface="微软雅黑" panose="020B0503020204020204" pitchFamily="34" charset="-122"/>
          <a:sym typeface="Calibri" panose="020F0502020204030204" pitchFamily="34" charset="0"/>
        </a:defRPr>
      </a:lvl2pPr>
      <a:lvl3pPr marL="914400" indent="-914400" algn="ctr" defTabSz="0" rtl="0" eaLnBrk="0" fontAlgn="base" hangingPunct="0">
        <a:spcBef>
          <a:spcPct val="0"/>
        </a:spcBef>
        <a:spcAft>
          <a:spcPct val="0"/>
        </a:spcAft>
        <a:defRPr sz="4400">
          <a:solidFill>
            <a:schemeClr val="tx1"/>
          </a:solidFill>
          <a:latin typeface="Franklin Gothic Medium" panose="020B0603020102020204" pitchFamily="34" charset="0"/>
          <a:ea typeface="微软雅黑" panose="020B0503020204020204" pitchFamily="34" charset="-122"/>
          <a:sym typeface="Calibri" panose="020F0502020204030204" pitchFamily="34" charset="0"/>
        </a:defRPr>
      </a:lvl3pPr>
      <a:lvl4pPr marL="914400" indent="-914400" algn="ctr" defTabSz="0" rtl="0" eaLnBrk="0" fontAlgn="base" hangingPunct="0">
        <a:spcBef>
          <a:spcPct val="0"/>
        </a:spcBef>
        <a:spcAft>
          <a:spcPct val="0"/>
        </a:spcAft>
        <a:defRPr sz="4400">
          <a:solidFill>
            <a:schemeClr val="tx1"/>
          </a:solidFill>
          <a:latin typeface="Franklin Gothic Medium" panose="020B0603020102020204" pitchFamily="34" charset="0"/>
          <a:ea typeface="微软雅黑" panose="020B0503020204020204" pitchFamily="34" charset="-122"/>
          <a:sym typeface="Calibri" panose="020F0502020204030204" pitchFamily="34" charset="0"/>
        </a:defRPr>
      </a:lvl4pPr>
      <a:lvl5pPr marL="914400" indent="-914400" algn="ctr" defTabSz="0" rtl="0" eaLnBrk="0" fontAlgn="base" hangingPunct="0">
        <a:spcBef>
          <a:spcPct val="0"/>
        </a:spcBef>
        <a:spcAft>
          <a:spcPct val="0"/>
        </a:spcAft>
        <a:defRPr sz="4400">
          <a:solidFill>
            <a:schemeClr val="tx1"/>
          </a:solidFill>
          <a:latin typeface="Franklin Gothic Medium" panose="020B0603020102020204" pitchFamily="34" charset="0"/>
          <a:ea typeface="微软雅黑" panose="020B0503020204020204" pitchFamily="34" charset="-122"/>
          <a:sym typeface="Calibri" panose="020F0502020204030204" pitchFamily="34" charset="0"/>
        </a:defRPr>
      </a:lvl5pPr>
      <a:lvl6pPr marL="1371600" indent="-914400" algn="ctr" defTabSz="0"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1828800" indent="-914400" algn="ctr" defTabSz="0"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2286000" indent="-914400" algn="ctr" defTabSz="0"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2743200" indent="-914400" algn="ctr" defTabSz="0"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9pPr>
    </p:titleStyle>
    <p:body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Calibri" panose="020F050202020403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Calibri" panose="020F050202020403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5pPr>
      <a:lvl6pPr marL="25146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6pPr>
      <a:lvl7pPr marL="29718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7pPr>
      <a:lvl8pPr marL="34290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8pPr>
      <a:lvl9pPr marL="3886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1" name="Picture 2" descr="fengmian"/>
          <p:cNvPicPr>
            <a:picLocks noChangeAspect="1"/>
          </p:cNvPicPr>
          <p:nvPr/>
        </p:nvPicPr>
        <p:blipFill>
          <a:blip r:embed="rId3"/>
          <a:stretch>
            <a:fillRect/>
          </a:stretch>
        </p:blipFill>
        <p:spPr>
          <a:xfrm>
            <a:off x="21371" y="21013"/>
            <a:ext cx="12230100" cy="6878638"/>
          </a:xfrm>
          <a:prstGeom prst="rect">
            <a:avLst/>
          </a:prstGeom>
          <a:noFill/>
          <a:ln w="9525">
            <a:noFill/>
          </a:ln>
        </p:spPr>
      </p:pic>
      <p:sp>
        <p:nvSpPr>
          <p:cNvPr id="5122" name="TextBox 5"/>
          <p:cNvSpPr/>
          <p:nvPr/>
        </p:nvSpPr>
        <p:spPr>
          <a:xfrm>
            <a:off x="1822450" y="1860550"/>
            <a:ext cx="7218363" cy="1089025"/>
          </a:xfrm>
          <a:prstGeom prst="rect">
            <a:avLst/>
          </a:prstGeom>
          <a:noFill/>
          <a:ln w="9525">
            <a:noFill/>
          </a:ln>
        </p:spPr>
        <p:txBody>
          <a:bodyPr anchor="t" anchorCtr="0">
            <a:spAutoFit/>
          </a:bodyPr>
          <a:lstStyle/>
          <a:p>
            <a:pPr eaLnBrk="0" hangingPunct="0">
              <a:lnSpc>
                <a:spcPct val="120000"/>
              </a:lnSpc>
            </a:pPr>
            <a:r>
              <a:rPr lang="en-US" altLang="zh-CN" sz="5400" b="1" dirty="0">
                <a:solidFill>
                  <a:srgbClr val="002060"/>
                </a:solidFill>
                <a:latin typeface="宋体" panose="02010600030101010101" pitchFamily="2" charset="-122"/>
                <a:ea typeface="Aharoni" panose="02010803020104030203" pitchFamily="2" charset="-79"/>
              </a:rPr>
              <a:t>《</a:t>
            </a:r>
            <a:r>
              <a:rPr lang="zh-CN" altLang="en-US" sz="5400" b="1" dirty="0">
                <a:solidFill>
                  <a:srgbClr val="002060"/>
                </a:solidFill>
                <a:latin typeface="华文行楷" panose="02010800040101010101" pitchFamily="2" charset="-122"/>
                <a:ea typeface="华文行楷" panose="02010800040101010101" pitchFamily="2" charset="-122"/>
              </a:rPr>
              <a:t>数据库原理及应用</a:t>
            </a:r>
            <a:r>
              <a:rPr lang="en-US" altLang="zh-CN" sz="5400" b="1" dirty="0">
                <a:solidFill>
                  <a:srgbClr val="002060"/>
                </a:solidFill>
                <a:latin typeface="宋体" panose="02010600030101010101" pitchFamily="2" charset="-122"/>
                <a:ea typeface="Aharoni" panose="02010803020104030203" pitchFamily="2" charset="-79"/>
              </a:rPr>
              <a:t>》</a:t>
            </a:r>
            <a:endParaRPr lang="zh-CN" altLang="zh-CN" sz="5400" b="1" dirty="0">
              <a:solidFill>
                <a:srgbClr val="002060"/>
              </a:solidFill>
              <a:latin typeface="宋体" panose="02010600030101010101" pitchFamily="2" charset="-122"/>
              <a:ea typeface="Aharoni" panose="02010803020104030203" pitchFamily="2" charset="-79"/>
            </a:endParaRPr>
          </a:p>
        </p:txBody>
      </p:sp>
      <p:sp>
        <p:nvSpPr>
          <p:cNvPr id="5123" name="TextBox 5"/>
          <p:cNvSpPr/>
          <p:nvPr/>
        </p:nvSpPr>
        <p:spPr>
          <a:xfrm>
            <a:off x="1471613" y="4076700"/>
            <a:ext cx="7920037" cy="682625"/>
          </a:xfrm>
          <a:prstGeom prst="rect">
            <a:avLst/>
          </a:prstGeom>
          <a:noFill/>
          <a:ln w="9525">
            <a:noFill/>
          </a:ln>
        </p:spPr>
        <p:txBody>
          <a:bodyPr anchor="t" anchorCtr="0">
            <a:spAutoFit/>
          </a:bodyPr>
          <a:lstStyle/>
          <a:p>
            <a:pPr algn="ctr" eaLnBrk="0" hangingPunct="0">
              <a:lnSpc>
                <a:spcPct val="120000"/>
              </a:lnSpc>
            </a:pPr>
            <a:r>
              <a:rPr lang="zh-CN" altLang="en-US" sz="3200" b="1" dirty="0">
                <a:solidFill>
                  <a:srgbClr val="002060"/>
                </a:solidFill>
                <a:latin typeface="宋体" panose="02010600030101010101" pitchFamily="2" charset="-122"/>
                <a:ea typeface="Aharoni" panose="02010803020104030203" pitchFamily="2" charset="-79"/>
              </a:rPr>
              <a:t>数据库虚拟教研室 制作</a:t>
            </a:r>
            <a:endParaRPr lang="zh-CN" altLang="zh-CN" sz="3200" b="1" dirty="0">
              <a:solidFill>
                <a:srgbClr val="002060"/>
              </a:solidFill>
              <a:latin typeface="宋体" panose="02010600030101010101" pitchFamily="2" charset="-122"/>
              <a:ea typeface="Aharoni" panose="02010803020104030203" pitchFamily="2" charset="-79"/>
            </a:endParaRPr>
          </a:p>
        </p:txBody>
      </p:sp>
      <p:sp>
        <p:nvSpPr>
          <p:cNvPr id="10" name="矩形 9"/>
          <p:cNvSpPr/>
          <p:nvPr/>
        </p:nvSpPr>
        <p:spPr>
          <a:xfrm>
            <a:off x="12700" y="39856"/>
            <a:ext cx="2483999" cy="707886"/>
          </a:xfrm>
          <a:prstGeom prst="rect">
            <a:avLst/>
          </a:prstGeom>
          <a:noFill/>
        </p:spPr>
        <p:txBody>
          <a:bodyPr>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all" spc="0" normalizeH="0" baseline="0" noProof="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uLnTx/>
                <a:uFillTx/>
                <a:latin typeface="隶书" panose="02010509060101010101" pitchFamily="49" charset="-122"/>
                <a:ea typeface="隶书" panose="02010509060101010101" pitchFamily="49" charset="-122"/>
                <a:cs typeface="+mn-cs"/>
              </a:rPr>
              <a:t>数据库</a:t>
            </a:r>
          </a:p>
        </p:txBody>
      </p:sp>
    </p:spTree>
  </p:cSld>
  <p:clrMapOvr>
    <a:masterClrMapping/>
  </p:clrMapOvr>
  <p:transition spd="slow">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6"/>
          <p:cNvSpPr/>
          <p:nvPr/>
        </p:nvSpPr>
        <p:spPr>
          <a:xfrm>
            <a:off x="-11112" y="1588"/>
            <a:ext cx="3003550" cy="6862762"/>
          </a:xfrm>
          <a:prstGeom prst="rect">
            <a:avLst/>
          </a:prstGeom>
          <a:solidFill>
            <a:srgbClr val="CD1F06"/>
          </a:solidFill>
          <a:ln w="9525">
            <a:noFill/>
          </a:ln>
        </p:spPr>
        <p:txBody>
          <a:bodyPr anchor="ctr" anchorCtr="0"/>
          <a:lstStyle/>
          <a:p>
            <a:pPr algn="ctr" eaLnBrk="0" hangingPunct="0"/>
            <a:endParaRPr lang="zh-CN" altLang="en-US" dirty="0">
              <a:latin typeface="Calibri" panose="020F0502020204030204" pitchFamily="34" charset="0"/>
              <a:ea typeface="宋体" panose="02010600030101010101" pitchFamily="2" charset="-122"/>
              <a:sym typeface="Calibri" panose="020F0502020204030204" pitchFamily="34" charset="0"/>
            </a:endParaRPr>
          </a:p>
        </p:txBody>
      </p:sp>
      <p:sp>
        <p:nvSpPr>
          <p:cNvPr id="4099" name="文本框 52"/>
          <p:cNvSpPr>
            <a:spLocks noChangeArrowheads="1"/>
          </p:cNvSpPr>
          <p:nvPr/>
        </p:nvSpPr>
        <p:spPr bwMode="auto">
          <a:xfrm>
            <a:off x="301625" y="1408113"/>
            <a:ext cx="2376488"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rPr>
              <a:t>目</a:t>
            </a:r>
            <a:endParaRPr kumimoji="0" lang="en-US" altLang="zh-CN" sz="4000" b="1" i="0" u="none" strike="noStrike" kern="1200" cap="none" spc="0" normalizeH="0" baseline="0" noProof="0" dirty="0">
              <a:ln>
                <a:noFill/>
              </a:ln>
              <a:solidFill>
                <a:schemeClr val="bg1"/>
              </a:solidFill>
              <a:effectLst/>
              <a:uLnTx/>
              <a:uFillTx/>
              <a:latin typeface="+mn-ea"/>
              <a:ea typeface="+mn-ea"/>
              <a:cs typeface="+mn-cs"/>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altLang="zh-CN" sz="4000" b="1" i="0" u="none" strike="noStrike" kern="1200" cap="none" spc="0" normalizeH="0" baseline="0" noProof="0" dirty="0">
              <a:ln>
                <a:noFill/>
              </a:ln>
              <a:solidFill>
                <a:schemeClr val="bg1"/>
              </a:solidFill>
              <a:effectLst/>
              <a:uLnTx/>
              <a:uFillTx/>
              <a:latin typeface="宋体" panose="02010600030101010101" pitchFamily="2" charset="-122"/>
              <a:ea typeface="宋体" panose="02010600030101010101" pitchFamily="2" charset="-122"/>
              <a:cs typeface="+mn-cs"/>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altLang="zh-CN" sz="4000" b="1" i="0" u="none" strike="noStrike" kern="1200" cap="none" spc="0" normalizeH="0" baseline="0" noProof="0" dirty="0">
              <a:ln>
                <a:noFill/>
              </a:ln>
              <a:solidFill>
                <a:schemeClr val="bg1"/>
              </a:solidFill>
              <a:effectLst/>
              <a:uLnTx/>
              <a:uFillTx/>
              <a:latin typeface="宋体" panose="02010600030101010101" pitchFamily="2" charset="-122"/>
              <a:ea typeface="宋体" panose="02010600030101010101" pitchFamily="2" charset="-122"/>
              <a:cs typeface="+mn-cs"/>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altLang="zh-CN" sz="4000" b="1" i="0" u="none" strike="noStrike" kern="1200" cap="none" spc="0" normalizeH="0" baseline="0" noProof="0" dirty="0">
              <a:ln>
                <a:noFill/>
              </a:ln>
              <a:solidFill>
                <a:schemeClr val="bg1"/>
              </a:solidFill>
              <a:effectLst/>
              <a:uLnTx/>
              <a:uFillTx/>
              <a:latin typeface="宋体" panose="02010600030101010101" pitchFamily="2" charset="-122"/>
              <a:ea typeface="宋体" panose="02010600030101010101" pitchFamily="2" charset="-122"/>
              <a:cs typeface="+mn-cs"/>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altLang="zh-CN" sz="4000" b="1" i="0" u="none" strike="noStrike" kern="1200" cap="none" spc="0" normalizeH="0" baseline="0" noProof="0" dirty="0">
              <a:ln>
                <a:noFill/>
              </a:ln>
              <a:solidFill>
                <a:schemeClr val="bg1"/>
              </a:solidFill>
              <a:effectLst/>
              <a:uLnTx/>
              <a:uFillTx/>
              <a:latin typeface="宋体" panose="02010600030101010101" pitchFamily="2" charset="-122"/>
              <a:ea typeface="宋体" panose="02010600030101010101" pitchFamily="2" charset="-122"/>
              <a:cs typeface="+mn-cs"/>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rPr>
              <a:t>录</a:t>
            </a:r>
          </a:p>
        </p:txBody>
      </p:sp>
      <p:sp>
        <p:nvSpPr>
          <p:cNvPr id="7171" name="TextBox 10"/>
          <p:cNvSpPr/>
          <p:nvPr/>
        </p:nvSpPr>
        <p:spPr>
          <a:xfrm>
            <a:off x="3147060" y="1087518"/>
            <a:ext cx="9051290" cy="5170646"/>
          </a:xfrm>
          <a:prstGeom prst="rect">
            <a:avLst/>
          </a:prstGeom>
          <a:noFill/>
          <a:ln w="9525">
            <a:noFill/>
          </a:ln>
        </p:spPr>
        <p:txBody>
          <a:bodyPr wrap="square" lIns="0" tIns="0" rIns="0" bIns="0" anchor="ctr" anchorCtr="0">
            <a:spAutoFit/>
          </a:bodyPr>
          <a:lstStyle/>
          <a:p>
            <a:pPr algn="l" eaLnBrk="0" hangingPunct="0">
              <a:lnSpc>
                <a:spcPct val="150000"/>
              </a:lnSpc>
              <a:buClrTx/>
              <a:buSzTx/>
            </a:pPr>
            <a:r>
              <a:rPr lang="zh-CN" altLang="en-US" sz="2800" b="1" dirty="0">
                <a:solidFill>
                  <a:srgbClr val="CD1F06"/>
                </a:solidFill>
                <a:latin typeface="宋体" panose="02010600030101010101" pitchFamily="2" charset="-122"/>
                <a:ea typeface="宋体" panose="02010600030101010101" pitchFamily="2" charset="-122"/>
                <a:sym typeface="Impact" panose="020B0806030902050204" pitchFamily="34" charset="0"/>
              </a:rPr>
              <a:t>0</a:t>
            </a:r>
            <a:r>
              <a:rPr lang="en-US" altLang="zh-CN" sz="2400" b="1" dirty="0">
                <a:solidFill>
                  <a:srgbClr val="CD1F06"/>
                </a:solidFill>
                <a:latin typeface="宋体" panose="02010600030101010101" pitchFamily="2" charset="-122"/>
                <a:ea typeface="宋体" panose="02010600030101010101" pitchFamily="2" charset="-122"/>
                <a:sym typeface="Impact" panose="020B0806030902050204" pitchFamily="34" charset="0"/>
              </a:rPr>
              <a:t>1</a:t>
            </a:r>
            <a:r>
              <a:rPr lang="zh-CN" altLang="en-US" sz="2400" b="1" dirty="0">
                <a:solidFill>
                  <a:srgbClr val="CD1F06"/>
                </a:solidFill>
                <a:latin typeface="宋体" panose="02010600030101010101" pitchFamily="2" charset="-122"/>
                <a:ea typeface="宋体" panose="02010600030101010101" pitchFamily="2" charset="-122"/>
                <a:sym typeface="Impact" panose="020B0806030902050204" pitchFamily="34" charset="0"/>
              </a:rPr>
              <a:t> </a:t>
            </a:r>
            <a:r>
              <a:rPr lang="zh-CN" altLang="en-US" sz="2800" b="1" dirty="0">
                <a:solidFill>
                  <a:srgbClr val="002060"/>
                </a:solidFill>
                <a:latin typeface="宋体" panose="02010600030101010101" pitchFamily="2" charset="-122"/>
                <a:ea typeface="宋体" panose="02010600030101010101" pitchFamily="2" charset="-122"/>
                <a:sym typeface="Impact" panose="020B0806030902050204" pitchFamily="34" charset="0"/>
              </a:rPr>
              <a:t>索引概述</a:t>
            </a:r>
            <a:endParaRPr lang="zh-CN" altLang="en-US" sz="2800" b="1" dirty="0">
              <a:solidFill>
                <a:srgbClr val="002060"/>
              </a:solidFill>
              <a:latin typeface="宋体" panose="02010600030101010101" pitchFamily="2" charset="-122"/>
              <a:sym typeface="Impact" panose="020B0806030902050204" pitchFamily="34" charset="0"/>
            </a:endParaRPr>
          </a:p>
          <a:p>
            <a:pPr eaLnBrk="0" hangingPunct="0">
              <a:lnSpc>
                <a:spcPct val="150000"/>
              </a:lnSpc>
            </a:pPr>
            <a:r>
              <a:rPr lang="zh-CN" altLang="en-US" sz="2400" b="1" dirty="0">
                <a:solidFill>
                  <a:srgbClr val="CD1F06"/>
                </a:solidFill>
                <a:latin typeface="宋体" panose="02010600030101010101" pitchFamily="2" charset="-122"/>
                <a:sym typeface="Impact" panose="020B0806030902050204" pitchFamily="34" charset="0"/>
              </a:rPr>
              <a:t>0</a:t>
            </a:r>
            <a:r>
              <a:rPr lang="en-US" altLang="zh-CN" sz="2400" b="1" dirty="0">
                <a:solidFill>
                  <a:srgbClr val="CD1F06"/>
                </a:solidFill>
                <a:latin typeface="宋体" panose="02010600030101010101" pitchFamily="2" charset="-122"/>
                <a:sym typeface="Impact" panose="020B0806030902050204" pitchFamily="34" charset="0"/>
              </a:rPr>
              <a:t>2 </a:t>
            </a:r>
            <a:r>
              <a:rPr lang="zh-CN" altLang="en-US" sz="2800" b="1" dirty="0">
                <a:solidFill>
                  <a:srgbClr val="002060"/>
                </a:solidFill>
                <a:latin typeface="宋体" panose="02010600030101010101" pitchFamily="2" charset="-122"/>
                <a:sym typeface="Impact" panose="020B0806030902050204" pitchFamily="34" charset="0"/>
              </a:rPr>
              <a:t>B+树索引结构</a:t>
            </a:r>
            <a:endParaRPr lang="en-US" altLang="zh-CN" sz="2800" b="1" dirty="0">
              <a:solidFill>
                <a:srgbClr val="002060"/>
              </a:solidFill>
              <a:latin typeface="宋体" panose="02010600030101010101" pitchFamily="2" charset="-122"/>
              <a:sym typeface="Impact" panose="020B0806030902050204" pitchFamily="34" charset="0"/>
            </a:endParaRPr>
          </a:p>
          <a:p>
            <a:pPr eaLnBrk="0" hangingPunct="0">
              <a:lnSpc>
                <a:spcPct val="150000"/>
              </a:lnSpc>
            </a:pPr>
            <a:r>
              <a:rPr lang="zh-CN" altLang="en-US" sz="2400" b="1" dirty="0">
                <a:solidFill>
                  <a:srgbClr val="CD1F06"/>
                </a:solidFill>
                <a:latin typeface="宋体" panose="02010600030101010101" pitchFamily="2" charset="-122"/>
                <a:ea typeface="宋体" panose="02010600030101010101" pitchFamily="2" charset="-122"/>
                <a:sym typeface="Impact" panose="020B0806030902050204" pitchFamily="34" charset="0"/>
              </a:rPr>
              <a:t>0</a:t>
            </a:r>
            <a:r>
              <a:rPr lang="en-US" altLang="zh-CN" sz="2400" b="1" dirty="0">
                <a:solidFill>
                  <a:srgbClr val="CD1F06"/>
                </a:solidFill>
                <a:latin typeface="宋体" panose="02010600030101010101" pitchFamily="2" charset="-122"/>
                <a:ea typeface="宋体" panose="02010600030101010101" pitchFamily="2" charset="-122"/>
                <a:sym typeface="Impact" panose="020B0806030902050204" pitchFamily="34" charset="0"/>
              </a:rPr>
              <a:t>3 </a:t>
            </a:r>
            <a:r>
              <a:rPr lang="zh-CN" altLang="en-US" sz="2800" b="1" dirty="0">
                <a:solidFill>
                  <a:srgbClr val="002060"/>
                </a:solidFill>
                <a:latin typeface="宋体" panose="02010600030101010101" pitchFamily="2" charset="-122"/>
                <a:sym typeface="Impact" panose="020B0806030902050204" pitchFamily="34" charset="0"/>
              </a:rPr>
              <a:t>全文索引</a:t>
            </a:r>
            <a:endParaRPr lang="en-US" altLang="zh-CN" sz="2400" b="1" dirty="0">
              <a:solidFill>
                <a:srgbClr val="002060"/>
              </a:solidFill>
              <a:latin typeface="宋体" panose="02010600030101010101" pitchFamily="2" charset="-122"/>
              <a:ea typeface="宋体" panose="02010600030101010101" pitchFamily="2" charset="-122"/>
              <a:sym typeface="Impact" panose="020B0806030902050204" pitchFamily="34" charset="0"/>
            </a:endParaRPr>
          </a:p>
          <a:p>
            <a:pPr algn="l" eaLnBrk="0" hangingPunct="0">
              <a:lnSpc>
                <a:spcPct val="150000"/>
              </a:lnSpc>
              <a:buClrTx/>
              <a:buSzTx/>
            </a:pPr>
            <a:r>
              <a:rPr lang="zh-CN" altLang="en-US" sz="2400" b="1" dirty="0">
                <a:solidFill>
                  <a:srgbClr val="CD1F06"/>
                </a:solidFill>
                <a:latin typeface="宋体" panose="02010600030101010101" pitchFamily="2" charset="-122"/>
                <a:sym typeface="Impact" panose="020B0806030902050204" pitchFamily="34" charset="0"/>
              </a:rPr>
              <a:t>0</a:t>
            </a:r>
            <a:r>
              <a:rPr lang="en-US" altLang="zh-CN" sz="2400" b="1" dirty="0">
                <a:solidFill>
                  <a:srgbClr val="CD1F06"/>
                </a:solidFill>
                <a:latin typeface="宋体" panose="02010600030101010101" pitchFamily="2" charset="-122"/>
                <a:sym typeface="Impact" panose="020B0806030902050204" pitchFamily="34" charset="0"/>
              </a:rPr>
              <a:t>4 </a:t>
            </a:r>
            <a:r>
              <a:rPr lang="zh-CN" altLang="en-US" sz="2800" b="1" dirty="0">
                <a:solidFill>
                  <a:srgbClr val="002060"/>
                </a:solidFill>
                <a:latin typeface="宋体" panose="02010600030101010101" pitchFamily="2" charset="-122"/>
                <a:sym typeface="Impact" panose="020B0806030902050204" pitchFamily="34" charset="0"/>
              </a:rPr>
              <a:t>索引的实现过程</a:t>
            </a:r>
          </a:p>
          <a:p>
            <a:pPr algn="l" eaLnBrk="0" hangingPunct="0">
              <a:lnSpc>
                <a:spcPct val="150000"/>
              </a:lnSpc>
              <a:buClrTx/>
              <a:buSzTx/>
            </a:pPr>
            <a:r>
              <a:rPr lang="zh-CN" altLang="en-US" sz="2400" b="1" dirty="0">
                <a:solidFill>
                  <a:srgbClr val="CD1F06"/>
                </a:solidFill>
                <a:latin typeface="宋体" panose="02010600030101010101" pitchFamily="2" charset="-122"/>
                <a:sym typeface="Impact" panose="020B0806030902050204" pitchFamily="34" charset="0"/>
              </a:rPr>
              <a:t>05 </a:t>
            </a:r>
            <a:r>
              <a:rPr lang="zh-CN" altLang="en-US" sz="2800" b="1" dirty="0">
                <a:solidFill>
                  <a:srgbClr val="002060"/>
                </a:solidFill>
                <a:latin typeface="宋体" panose="02010600030101010101" pitchFamily="2" charset="-122"/>
                <a:sym typeface="Impact" panose="020B0806030902050204" pitchFamily="34" charset="0"/>
              </a:rPr>
              <a:t>索引的操作（建立、查看与删除）</a:t>
            </a:r>
          </a:p>
          <a:p>
            <a:pPr eaLnBrk="0" hangingPunct="0">
              <a:lnSpc>
                <a:spcPct val="150000"/>
              </a:lnSpc>
            </a:pPr>
            <a:r>
              <a:rPr lang="zh-CN" altLang="en-US" sz="2400" b="1" dirty="0">
                <a:solidFill>
                  <a:srgbClr val="CD1F06"/>
                </a:solidFill>
                <a:latin typeface="宋体" panose="02010600030101010101" pitchFamily="2" charset="-122"/>
                <a:sym typeface="Impact" panose="020B0806030902050204" pitchFamily="34" charset="0"/>
              </a:rPr>
              <a:t>06</a:t>
            </a:r>
            <a:r>
              <a:rPr lang="en-US" altLang="zh-CN" sz="2400" b="1" dirty="0">
                <a:solidFill>
                  <a:srgbClr val="002060"/>
                </a:solidFill>
                <a:latin typeface="宋体" panose="02010600030101010101" pitchFamily="2" charset="-122"/>
                <a:sym typeface="Impact" panose="020B0806030902050204" pitchFamily="34" charset="0"/>
              </a:rPr>
              <a:t> </a:t>
            </a:r>
            <a:r>
              <a:rPr lang="zh-CN" altLang="en-US" sz="2800" b="1" dirty="0">
                <a:solidFill>
                  <a:srgbClr val="002060"/>
                </a:solidFill>
                <a:latin typeface="宋体" panose="02010600030101010101" pitchFamily="2" charset="-122"/>
                <a:sym typeface="Impact" panose="020B0806030902050204" pitchFamily="34" charset="0"/>
              </a:rPr>
              <a:t>视图及其工作机制</a:t>
            </a:r>
            <a:endParaRPr lang="zh-CN" altLang="en-US" sz="2800" b="1" dirty="0">
              <a:solidFill>
                <a:srgbClr val="CD1F06"/>
              </a:solidFill>
              <a:latin typeface="宋体" panose="02010600030101010101" pitchFamily="2" charset="-122"/>
              <a:sym typeface="Impact" panose="020B0806030902050204" pitchFamily="34" charset="0"/>
            </a:endParaRPr>
          </a:p>
          <a:p>
            <a:pPr eaLnBrk="0" hangingPunct="0">
              <a:lnSpc>
                <a:spcPct val="150000"/>
              </a:lnSpc>
            </a:pPr>
            <a:r>
              <a:rPr lang="zh-CN" altLang="en-US" sz="2400" b="1" dirty="0">
                <a:solidFill>
                  <a:srgbClr val="CD1F06"/>
                </a:solidFill>
                <a:latin typeface="宋体" panose="02010600030101010101" pitchFamily="2" charset="-122"/>
                <a:sym typeface="Impact" panose="020B0806030902050204" pitchFamily="34" charset="0"/>
              </a:rPr>
              <a:t>0</a:t>
            </a:r>
            <a:r>
              <a:rPr lang="en-US" altLang="zh-CN" sz="2400" b="1" dirty="0">
                <a:solidFill>
                  <a:srgbClr val="CD1F06"/>
                </a:solidFill>
                <a:latin typeface="宋体" panose="02010600030101010101" pitchFamily="2" charset="-122"/>
                <a:sym typeface="Impact" panose="020B0806030902050204" pitchFamily="34" charset="0"/>
              </a:rPr>
              <a:t>7 </a:t>
            </a:r>
            <a:r>
              <a:rPr lang="zh-CN" altLang="en-US" sz="2800" b="1" dirty="0">
                <a:solidFill>
                  <a:srgbClr val="002060"/>
                </a:solidFill>
                <a:latin typeface="宋体" panose="02010600030101010101" pitchFamily="2" charset="-122"/>
                <a:sym typeface="Impact" panose="020B0806030902050204" pitchFamily="34" charset="0"/>
              </a:rPr>
              <a:t>视图的建立、查看与删除</a:t>
            </a:r>
            <a:endParaRPr lang="en-US" altLang="zh-CN" sz="2400" b="1" dirty="0">
              <a:solidFill>
                <a:srgbClr val="002060"/>
              </a:solidFill>
              <a:latin typeface="宋体" panose="02010600030101010101" pitchFamily="2" charset="-122"/>
              <a:ea typeface="宋体" panose="02010600030101010101" pitchFamily="2" charset="-122"/>
              <a:sym typeface="Impact" panose="020B0806030902050204" pitchFamily="34" charset="0"/>
            </a:endParaRPr>
          </a:p>
          <a:p>
            <a:pPr algn="l" eaLnBrk="0" hangingPunct="0">
              <a:lnSpc>
                <a:spcPct val="150000"/>
              </a:lnSpc>
              <a:buClrTx/>
              <a:buSzTx/>
            </a:pPr>
            <a:r>
              <a:rPr lang="en-US" altLang="zh-CN" sz="2400" b="1" dirty="0">
                <a:solidFill>
                  <a:srgbClr val="CD1F06"/>
                </a:solidFill>
                <a:latin typeface="宋体" panose="02010600030101010101" pitchFamily="2" charset="-122"/>
                <a:sym typeface="Impact" panose="020B0806030902050204" pitchFamily="34" charset="0"/>
              </a:rPr>
              <a:t>08</a:t>
            </a:r>
            <a:r>
              <a:rPr lang="en-US" altLang="zh-CN" sz="2400" b="1" dirty="0">
                <a:solidFill>
                  <a:srgbClr val="CD1F06"/>
                </a:solidFill>
                <a:latin typeface="宋体" panose="02010600030101010101" pitchFamily="2" charset="-122"/>
                <a:ea typeface="宋体" panose="02010600030101010101" pitchFamily="2" charset="-122"/>
                <a:sym typeface="Impact" panose="020B0806030902050204" pitchFamily="34" charset="0"/>
              </a:rPr>
              <a:t> </a:t>
            </a:r>
            <a:r>
              <a:rPr lang="zh-CN" altLang="en-US" sz="2800" b="1" dirty="0">
                <a:solidFill>
                  <a:srgbClr val="002060"/>
                </a:solidFill>
                <a:latin typeface="宋体" panose="02010600030101010101" pitchFamily="2" charset="-122"/>
                <a:sym typeface="Impact" panose="020B0806030902050204" pitchFamily="34" charset="0"/>
              </a:rPr>
              <a:t>视图的更新</a:t>
            </a:r>
            <a:endParaRPr lang="zh-CN" altLang="en-US" sz="2800" b="1" dirty="0">
              <a:solidFill>
                <a:srgbClr val="002060"/>
              </a:solidFill>
              <a:latin typeface="宋体" panose="02010600030101010101" pitchFamily="2" charset="-122"/>
              <a:ea typeface="宋体" panose="02010600030101010101" pitchFamily="2" charset="-122"/>
              <a:sym typeface="Impact" panose="020B0806030902050204" pitchFamily="34" charset="0"/>
            </a:endParaRPr>
          </a:p>
        </p:txBody>
      </p:sp>
      <p:sp>
        <p:nvSpPr>
          <p:cNvPr id="8" name="TextBox 6"/>
          <p:cNvSpPr>
            <a:spLocks noChangeArrowheads="1"/>
          </p:cNvSpPr>
          <p:nvPr/>
        </p:nvSpPr>
        <p:spPr bwMode="auto">
          <a:xfrm>
            <a:off x="2427288" y="122238"/>
            <a:ext cx="62642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第</a:t>
            </a:r>
            <a:r>
              <a:rPr kumimoji="0" lang="en-US" alt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7</a:t>
            </a: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章 索引与视图</a:t>
            </a:r>
            <a:endParaRPr kumimoji="0" lang="zh-CN" altLang="en-US" sz="4000" b="1" i="0" u="none" strike="noStrike" kern="1200" cap="none" spc="0" normalizeH="0" baseline="0" noProof="0" dirty="0">
              <a:ln>
                <a:noFill/>
              </a:ln>
              <a:solidFill>
                <a:schemeClr val="bg1"/>
              </a:solidFill>
              <a:effectLst/>
              <a:uLnTx/>
              <a:uFillTx/>
              <a:latin typeface="+mn-ea"/>
              <a:ea typeface="+mn-ea"/>
              <a:cs typeface="+mn-cs"/>
            </a:endParaRPr>
          </a:p>
        </p:txBody>
      </p:sp>
    </p:spTree>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索引概述</a:t>
            </a:r>
          </a:p>
        </p:txBody>
      </p:sp>
      <p:sp>
        <p:nvSpPr>
          <p:cNvPr id="28" name="Text Box 5"/>
          <p:cNvSpPr txBox="1">
            <a:spLocks noChangeArrowheads="1"/>
          </p:cNvSpPr>
          <p:nvPr/>
        </p:nvSpPr>
        <p:spPr bwMode="auto">
          <a:xfrm>
            <a:off x="826493" y="2907347"/>
            <a:ext cx="10728440" cy="1043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800" b="1" dirty="0">
                <a:solidFill>
                  <a:schemeClr val="tx2"/>
                </a:solidFill>
                <a:effectLst>
                  <a:outerShdw blurRad="38100" dist="38100" dir="2700000" algn="tl">
                    <a:srgbClr val="C0C0C0"/>
                  </a:outerShdw>
                </a:effectLst>
                <a:latin typeface="楷体_GB2312" pitchFamily="49" charset="-122"/>
                <a:ea typeface="楷体_GB2312" pitchFamily="49" charset="-122"/>
              </a:rPr>
              <a:t>数据库索引</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用于</a:t>
            </a:r>
            <a:r>
              <a:rPr kumimoji="1" lang="zh-CN" altLang="en-US" sz="2800" b="1" dirty="0">
                <a:solidFill>
                  <a:srgbClr val="FF0000"/>
                </a:solidFill>
                <a:effectLst>
                  <a:outerShdw blurRad="38100" dist="38100" dir="2700000" algn="tl">
                    <a:srgbClr val="C0C0C0"/>
                  </a:outerShdw>
                </a:effectLst>
                <a:latin typeface="楷体_GB2312" pitchFamily="49" charset="-122"/>
                <a:ea typeface="楷体_GB2312" pitchFamily="49" charset="-122"/>
              </a:rPr>
              <a:t>提高查询的效率</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endParaRPr kumimoji="1" lang="zh-CN" altLang="en-US" sz="2800" b="1" kern="1200" cap="none" spc="0" normalizeH="0" baseline="0" noProof="0" dirty="0">
              <a:solidFill>
                <a:srgbClr val="000066"/>
              </a:solidFill>
              <a:effectLst>
                <a:outerShdw blurRad="38100" dist="38100" dir="2700000" algn="tl">
                  <a:srgbClr val="C0C0C0"/>
                </a:outerShdw>
              </a:effectLst>
              <a:latin typeface="楷体_GB2312" pitchFamily="49" charset="-122"/>
              <a:ea typeface="楷体_GB2312" pitchFamily="49" charset="-122"/>
              <a:cs typeface="+mn-cs"/>
            </a:endParaRPr>
          </a:p>
          <a:p>
            <a:pPr marR="0" defTabSz="914400">
              <a:lnSpc>
                <a:spcPct val="110000"/>
              </a:lnSpc>
              <a:buClr>
                <a:srgbClr val="32C6CA"/>
              </a:buClr>
              <a:buSzPct val="80000"/>
              <a:buFont typeface="Wingdings" panose="05000000000000000000" pitchFamily="2" charset="2"/>
              <a:buNone/>
              <a:defRPr/>
            </a:pPr>
            <a:r>
              <a:rPr kumimoji="1" lang="zh-CN" altLang="en-US" sz="3200" b="1" kern="1200" cap="none" spc="0" normalizeH="0" baseline="0" noProof="0" dirty="0">
                <a:solidFill>
                  <a:srgbClr val="000066"/>
                </a:solidFill>
                <a:effectLst>
                  <a:outerShdw blurRad="38100" dist="38100" dir="2700000" algn="tl">
                    <a:srgbClr val="C0C0C0"/>
                  </a:outerShdw>
                </a:effectLst>
                <a:latin typeface="楷体_GB2312" pitchFamily="49" charset="-122"/>
                <a:ea typeface="楷体_GB2312" pitchFamily="49" charset="-122"/>
                <a:cs typeface="+mn-cs"/>
              </a:rPr>
              <a:t>   </a:t>
            </a:r>
          </a:p>
        </p:txBody>
      </p:sp>
      <p:sp>
        <p:nvSpPr>
          <p:cNvPr id="4" name="Text Box 5"/>
          <p:cNvSpPr txBox="1">
            <a:spLocks noChangeArrowheads="1"/>
          </p:cNvSpPr>
          <p:nvPr/>
        </p:nvSpPr>
        <p:spPr bwMode="auto">
          <a:xfrm>
            <a:off x="826493" y="1196845"/>
            <a:ext cx="10779133" cy="1368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在大多数据库系统中，数据库读取</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（查询）</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数据的次数远大于写入数据的次数，因此，如何优化数据读取的效率是数据库的主要工作。</a:t>
            </a:r>
            <a:endParaRPr kumimoji="1" lang="zh-CN" altLang="en-US" sz="28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R="0" defTabSz="914400">
              <a:lnSpc>
                <a:spcPct val="110000"/>
              </a:lnSpc>
              <a:buClr>
                <a:srgbClr val="32C6CA"/>
              </a:buClr>
              <a:buSzPct val="80000"/>
              <a:buFont typeface="Wingdings" panose="05000000000000000000" pitchFamily="2" charset="2"/>
              <a:buNone/>
              <a:defRPr/>
            </a:pPr>
            <a:r>
              <a:rPr kumimoji="1" lang="zh-CN" altLang="en-US" sz="3200" b="1" kern="1200" cap="none" spc="0" normalizeH="0" baseline="0" noProof="0" dirty="0">
                <a:solidFill>
                  <a:srgbClr val="000066"/>
                </a:solidFill>
                <a:effectLst>
                  <a:outerShdw blurRad="38100" dist="38100" dir="2700000" algn="tl">
                    <a:srgbClr val="C0C0C0"/>
                  </a:outerShdw>
                </a:effectLst>
                <a:latin typeface="楷体_GB2312" pitchFamily="49" charset="-122"/>
                <a:ea typeface="楷体_GB2312" pitchFamily="49" charset="-122"/>
                <a:cs typeface="+mn-cs"/>
              </a:rPr>
              <a:t>    </a:t>
            </a:r>
          </a:p>
        </p:txBody>
      </p:sp>
      <p:sp>
        <p:nvSpPr>
          <p:cNvPr id="7" name="Text Box 5"/>
          <p:cNvSpPr txBox="1">
            <a:spLocks noChangeArrowheads="1"/>
          </p:cNvSpPr>
          <p:nvPr/>
        </p:nvSpPr>
        <p:spPr bwMode="auto">
          <a:xfrm>
            <a:off x="851839" y="4026443"/>
            <a:ext cx="10728440" cy="533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索引是一种以</a:t>
            </a:r>
            <a:r>
              <a:rPr kumimoji="1" lang="zh-CN" altLang="en-US" sz="2800" b="1" dirty="0">
                <a:solidFill>
                  <a:srgbClr val="FF0000"/>
                </a:solidFill>
                <a:effectLst>
                  <a:outerShdw blurRad="38100" dist="38100" dir="2700000" algn="tl">
                    <a:srgbClr val="C0C0C0"/>
                  </a:outerShdw>
                </a:effectLst>
                <a:latin typeface="楷体_GB2312" pitchFamily="49" charset="-122"/>
                <a:ea typeface="楷体_GB2312" pitchFamily="49" charset="-122"/>
              </a:rPr>
              <a:t>空间代价换取时间</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效率提升的方法。</a:t>
            </a:r>
            <a:endParaRPr kumimoji="1" lang="zh-CN" altLang="en-US" sz="3200" b="1" kern="1200" cap="none" spc="0" normalizeH="0" baseline="0" noProof="0" dirty="0">
              <a:solidFill>
                <a:srgbClr val="000066"/>
              </a:solidFill>
              <a:effectLst>
                <a:outerShdw blurRad="38100" dist="38100" dir="2700000" algn="tl">
                  <a:srgbClr val="C0C0C0"/>
                </a:outerShdw>
              </a:effectLst>
              <a:latin typeface="楷体_GB2312" pitchFamily="49" charset="-122"/>
              <a:ea typeface="楷体_GB2312" pitchFamily="49" charset="-122"/>
              <a:cs typeface="+mn-cs"/>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2"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2"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8" grpId="1"/>
      <p:bldP spid="28" grpId="2"/>
      <p:bldP spid="4" grpId="0"/>
      <p:bldP spid="4" grpId="1"/>
      <p:bldP spid="7" grpId="0"/>
      <p:bldP spid="7" grpId="1"/>
      <p:bldP spid="7" grpId="2"/>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B+</a:t>
            </a: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树索引</a:t>
            </a:r>
          </a:p>
        </p:txBody>
      </p:sp>
      <p:sp>
        <p:nvSpPr>
          <p:cNvPr id="4" name="Text Box 5"/>
          <p:cNvSpPr txBox="1">
            <a:spLocks noChangeArrowheads="1"/>
          </p:cNvSpPr>
          <p:nvPr/>
        </p:nvSpPr>
        <p:spPr bwMode="auto">
          <a:xfrm>
            <a:off x="743810" y="1124840"/>
            <a:ext cx="10779133" cy="1584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ts val="4000"/>
              </a:lnSpc>
              <a:buClr>
                <a:srgbClr val="32C6CA"/>
              </a:buClr>
              <a:buSzPct val="80000"/>
              <a:defRPr/>
            </a:pP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   B+</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树索引</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是关系数据库系统中最常用的一种索引结构。</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B+</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树中的</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B</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代表平衡（</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Balance</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）。数据库中的</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B+</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树索引可以分为：</a:t>
            </a:r>
            <a:endParaRPr kumimoji="1" lang="zh-CN" altLang="en-US" sz="3200" b="1" kern="1200" cap="none" spc="0" normalizeH="0" baseline="0" noProof="0" dirty="0">
              <a:solidFill>
                <a:srgbClr val="000066"/>
              </a:solidFill>
              <a:effectLst>
                <a:outerShdw blurRad="38100" dist="38100" dir="2700000" algn="tl">
                  <a:srgbClr val="C0C0C0"/>
                </a:outerShdw>
              </a:effectLst>
              <a:latin typeface="楷体_GB2312" pitchFamily="49" charset="-122"/>
              <a:ea typeface="楷体_GB2312" pitchFamily="49" charset="-122"/>
              <a:cs typeface="+mn-cs"/>
            </a:endParaRPr>
          </a:p>
        </p:txBody>
      </p:sp>
      <p:sp>
        <p:nvSpPr>
          <p:cNvPr id="8" name="Text Box 5"/>
          <p:cNvSpPr txBox="1">
            <a:spLocks noChangeArrowheads="1"/>
          </p:cNvSpPr>
          <p:nvPr/>
        </p:nvSpPr>
        <p:spPr bwMode="auto">
          <a:xfrm>
            <a:off x="723408" y="4001027"/>
            <a:ext cx="10728440" cy="2668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marL="457200" indent="-457200">
              <a:lnSpc>
                <a:spcPts val="4000"/>
              </a:lnSpc>
              <a:buClr>
                <a:srgbClr val="32C6CA"/>
              </a:buClr>
              <a:buSzPct val="80000"/>
              <a:buFont typeface="Wingdings" panose="05000000000000000000" pitchFamily="2" charset="2"/>
              <a:buChar char="u"/>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聚集索引</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也称</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聚簇索引</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将数据存储与索引放到一起，索引结构的叶子节点保存所有数据。在聚集索引中，</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表中行的逻辑顺序与主键值的索引顺序相同</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，因此，</a:t>
            </a:r>
            <a:r>
              <a:rPr kumimoji="1" lang="zh-CN" altLang="en-US" sz="2800" b="1" dirty="0">
                <a:solidFill>
                  <a:schemeClr val="accent6"/>
                </a:solidFill>
                <a:effectLst>
                  <a:outerShdw blurRad="38100" dist="38100" dir="2700000" algn="tl">
                    <a:srgbClr val="C0C0C0"/>
                  </a:outerShdw>
                </a:effectLst>
                <a:latin typeface="楷体_GB2312" pitchFamily="49" charset="-122"/>
                <a:ea typeface="楷体_GB2312" pitchFamily="49" charset="-122"/>
              </a:rPr>
              <a:t>一个表只有一个聚集索引</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a:lnSpc>
                <a:spcPts val="4000"/>
              </a:lnSpc>
              <a:buClr>
                <a:srgbClr val="32C6CA"/>
              </a:buClr>
              <a:buSzPct val="80000"/>
              <a:buFont typeface="Wingdings" panose="05000000000000000000" pitchFamily="2" charset="2"/>
              <a:buChar char="u"/>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非聚集索引</a:t>
            </a:r>
            <a:r>
              <a:rPr kumimoji="1" lang="zh-CN" altLang="en-US" sz="2800" b="1" dirty="0">
                <a:solidFill>
                  <a:schemeClr val="tx2"/>
                </a:solidFill>
                <a:effectLst>
                  <a:outerShdw blurRad="38100" dist="38100" dir="2700000" algn="tl">
                    <a:srgbClr val="C0C0C0"/>
                  </a:outerShdw>
                </a:effectLst>
                <a:latin typeface="楷体_GB2312" pitchFamily="49" charset="-122"/>
                <a:ea typeface="楷体_GB2312" pitchFamily="49" charset="-122"/>
              </a:rPr>
              <a:t>也称</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二级索引或辅助索引</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，除聚集索引外其他索引都称为</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二级索引</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endParaRPr kumimoji="1" lang="zh-CN" altLang="en-US" sz="3200" b="1" kern="1200" cap="none" spc="0" normalizeH="0" baseline="0" noProof="0" dirty="0">
              <a:solidFill>
                <a:srgbClr val="000066"/>
              </a:solidFill>
              <a:effectLst>
                <a:outerShdw blurRad="38100" dist="38100" dir="2700000" algn="tl">
                  <a:srgbClr val="C0C0C0"/>
                </a:outerShdw>
              </a:effectLst>
              <a:latin typeface="楷体_GB2312" pitchFamily="49" charset="-122"/>
              <a:ea typeface="楷体_GB2312" pitchFamily="49" charset="-122"/>
              <a:cs typeface="+mn-cs"/>
            </a:endParaRPr>
          </a:p>
        </p:txBody>
      </p:sp>
      <p:sp>
        <p:nvSpPr>
          <p:cNvPr id="5" name="Text Box 5"/>
          <p:cNvSpPr txBox="1">
            <a:spLocks noChangeArrowheads="1"/>
          </p:cNvSpPr>
          <p:nvPr/>
        </p:nvSpPr>
        <p:spPr bwMode="auto">
          <a:xfrm>
            <a:off x="743810" y="2494012"/>
            <a:ext cx="10779133" cy="1292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marL="457200" indent="-457200">
              <a:lnSpc>
                <a:spcPts val="4000"/>
              </a:lnSpc>
              <a:buClr>
                <a:srgbClr val="32C6CA"/>
              </a:buClr>
              <a:buSzPct val="80000"/>
              <a:buFont typeface="Wingdings" panose="05000000000000000000" pitchFamily="2" charset="2"/>
              <a:buChar char="Ø"/>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聚集索引（</a:t>
            </a: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Clustered Index</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a:t>
            </a:r>
            <a:endPar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endParaRPr>
          </a:p>
          <a:p>
            <a:pPr marL="457200" indent="-457200">
              <a:lnSpc>
                <a:spcPts val="4000"/>
              </a:lnSpc>
              <a:buClr>
                <a:srgbClr val="32C6CA"/>
              </a:buClr>
              <a:buSzPct val="80000"/>
              <a:buFont typeface="Wingdings" panose="05000000000000000000" pitchFamily="2" charset="2"/>
              <a:buChar char="Ø"/>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非聚集索引（</a:t>
            </a: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Non-Clustered Index</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a:t>
            </a:r>
            <a:endPar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endParaRPr>
          </a:p>
          <a:p>
            <a:pPr>
              <a:lnSpc>
                <a:spcPts val="4200"/>
              </a:lnSpc>
              <a:buClr>
                <a:srgbClr val="32C6CA"/>
              </a:buClr>
              <a:buSzPct val="80000"/>
              <a:defRPr/>
            </a:pPr>
            <a:r>
              <a:rPr kumimoji="1" lang="en-US" altLang="zh-CN" sz="2800" b="1" i="1" dirty="0">
                <a:solidFill>
                  <a:srgbClr val="002060"/>
                </a:solidFill>
                <a:effectLst>
                  <a:outerShdw blurRad="38100" dist="38100" dir="2700000" algn="tl">
                    <a:srgbClr val="C0C0C0"/>
                  </a:outerShdw>
                </a:effectLst>
                <a:latin typeface="楷体_GB2312" pitchFamily="49" charset="-122"/>
                <a:ea typeface="楷体_GB2312" pitchFamily="49" charset="-122"/>
              </a:rPr>
              <a:t>    </a:t>
            </a:r>
            <a:endParaRPr kumimoji="1" lang="zh-CN" altLang="en-US" sz="3200" b="1" i="1" kern="1200" cap="none" spc="0" normalizeH="0" baseline="0" noProof="0" dirty="0">
              <a:solidFill>
                <a:srgbClr val="000066"/>
              </a:solidFill>
              <a:effectLst>
                <a:outerShdw blurRad="38100" dist="38100" dir="2700000" algn="tl">
                  <a:srgbClr val="C0C0C0"/>
                </a:outerShdw>
              </a:effectLst>
              <a:latin typeface="楷体_GB2312" pitchFamily="49" charset="-122"/>
              <a:ea typeface="楷体_GB2312" pitchFamily="49" charset="-122"/>
            </a:endParaRPr>
          </a:p>
        </p:txBody>
      </p:sp>
    </p:spTree>
    <p:extLst>
      <p:ext uri="{BB962C8B-B14F-4D97-AF65-F5344CB8AC3E}">
        <p14:creationId xmlns:p14="http://schemas.microsoft.com/office/powerpoint/2010/main" val="210738558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2"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2"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8" grpId="0"/>
      <p:bldP spid="8" grpId="1"/>
      <p:bldP spid="8" grpId="2"/>
      <p:bldP spid="5" grpId="0"/>
      <p:bldP spid="5" grpId="1"/>
      <p:bldP spid="5" grpId="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338775" y="1196845"/>
            <a:ext cx="9533518" cy="2228850"/>
            <a:chOff x="338775" y="1196845"/>
            <a:chExt cx="9533518" cy="2228850"/>
          </a:xfrm>
        </p:grpSpPr>
        <p:sp>
          <p:nvSpPr>
            <p:cNvPr id="16" name="矩形 15"/>
            <p:cNvSpPr/>
            <p:nvPr/>
          </p:nvSpPr>
          <p:spPr>
            <a:xfrm>
              <a:off x="8806278" y="1196845"/>
              <a:ext cx="1066015" cy="1897349"/>
            </a:xfrm>
            <a:prstGeom prst="rect">
              <a:avLst/>
            </a:prstGeom>
            <a:solidFill>
              <a:schemeClr val="accent1">
                <a:lumMod val="20000"/>
                <a:lumOff val="8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US" sz="1050" kern="100" dirty="0">
                  <a:solidFill>
                    <a:srgbClr val="002060"/>
                  </a:solidFill>
                  <a:effectLst/>
                  <a:ea typeface="宋体"/>
                  <a:cs typeface="Times New Roman"/>
                </a:rPr>
                <a:t> </a:t>
              </a:r>
              <a:r>
                <a:rPr lang="en-US" sz="1600" kern="100" dirty="0" err="1">
                  <a:solidFill>
                    <a:srgbClr val="C00000"/>
                  </a:solidFill>
                  <a:effectLst/>
                  <a:ea typeface="宋体"/>
                  <a:cs typeface="Times New Roman"/>
                </a:rPr>
                <a:t>16K</a:t>
              </a:r>
              <a:endParaRPr lang="zh-CN" sz="1600" kern="100" dirty="0">
                <a:solidFill>
                  <a:srgbClr val="C00000"/>
                </a:solidFill>
                <a:effectLst/>
                <a:ea typeface="宋体"/>
                <a:cs typeface="Times New Roman"/>
              </a:endParaRPr>
            </a:p>
          </p:txBody>
        </p:sp>
        <p:cxnSp>
          <p:nvCxnSpPr>
            <p:cNvPr id="18" name="直接箭头连接符 17"/>
            <p:cNvCxnSpPr/>
            <p:nvPr/>
          </p:nvCxnSpPr>
          <p:spPr bwMode="auto">
            <a:xfrm>
              <a:off x="7089601" y="1460244"/>
              <a:ext cx="1678849" cy="0"/>
            </a:xfrm>
            <a:prstGeom prst="straightConnector1">
              <a:avLst/>
            </a:prstGeom>
            <a:solidFill>
              <a:schemeClr val="accent1"/>
            </a:solidFill>
            <a:ln w="9525" cap="flat" cmpd="sng" algn="ctr">
              <a:solidFill>
                <a:srgbClr val="0070C0"/>
              </a:solidFill>
              <a:prstDash val="solid"/>
              <a:round/>
              <a:headEnd type="none" w="med" len="med"/>
              <a:tailEnd type="triangle" w="med" len="med"/>
            </a:ln>
          </p:spPr>
        </p:cxnSp>
        <p:pic>
          <p:nvPicPr>
            <p:cNvPr id="205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775" y="1196845"/>
              <a:ext cx="6656387" cy="222885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grpSp>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聚集索引</a:t>
            </a:r>
            <a:r>
              <a:rPr lang="zh-CN" altLang="en-US" sz="4000" b="1" dirty="0">
                <a:solidFill>
                  <a:schemeClr val="bg1"/>
                </a:solidFill>
                <a:latin typeface="+mn-ea"/>
                <a:ea typeface="+mn-ea"/>
                <a:sym typeface="Impact" panose="020B0806030902050204" pitchFamily="34" charset="0"/>
              </a:rPr>
              <a:t>生成</a:t>
            </a:r>
            <a:endPar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endParaRPr>
          </a:p>
        </p:txBody>
      </p:sp>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92716" y="1196845"/>
            <a:ext cx="1108933" cy="18973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8775" y="1196845"/>
            <a:ext cx="6642596" cy="222885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2056"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8776" y="1196845"/>
            <a:ext cx="6656386" cy="222885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2058"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31331" y="980830"/>
            <a:ext cx="3672254" cy="47235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2" name="直接箭头连接符 21"/>
          <p:cNvCxnSpPr/>
          <p:nvPr/>
        </p:nvCxnSpPr>
        <p:spPr bwMode="auto">
          <a:xfrm>
            <a:off x="7089601" y="1460244"/>
            <a:ext cx="1961779" cy="0"/>
          </a:xfrm>
          <a:prstGeom prst="straightConnector1">
            <a:avLst/>
          </a:prstGeom>
          <a:solidFill>
            <a:schemeClr val="accent1"/>
          </a:solidFill>
          <a:ln w="9525" cap="flat" cmpd="sng" algn="ctr">
            <a:solidFill>
              <a:srgbClr val="0070C0"/>
            </a:solidFill>
            <a:prstDash val="solid"/>
            <a:round/>
            <a:headEnd type="none" w="med" len="med"/>
            <a:tailEnd type="triangle" w="med" len="med"/>
          </a:ln>
        </p:spPr>
      </p:cxnSp>
      <p:sp>
        <p:nvSpPr>
          <p:cNvPr id="33" name="Text Box 5"/>
          <p:cNvSpPr txBox="1">
            <a:spLocks noChangeArrowheads="1"/>
          </p:cNvSpPr>
          <p:nvPr/>
        </p:nvSpPr>
        <p:spPr bwMode="auto">
          <a:xfrm>
            <a:off x="194765" y="3903838"/>
            <a:ext cx="7333342" cy="533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marL="342900" indent="-342900">
              <a:lnSpc>
                <a:spcPct val="110000"/>
              </a:lnSpc>
              <a:buClr>
                <a:srgbClr val="32C6CA"/>
              </a:buClr>
              <a:buSzPct val="80000"/>
              <a:buFont typeface="Wingdings" panose="05000000000000000000" pitchFamily="2" charset="2"/>
              <a:buChar char="u"/>
              <a:defRPr/>
            </a:pPr>
            <a:r>
              <a:rPr kumimoji="1" lang="zh-CN" altLang="en-US" sz="2400" b="1" noProof="0" dirty="0">
                <a:solidFill>
                  <a:srgbClr val="002060"/>
                </a:solidFill>
                <a:effectLst>
                  <a:outerShdw blurRad="38100" dist="38100" dir="2700000" algn="tl">
                    <a:srgbClr val="C0C0C0"/>
                  </a:outerShdw>
                </a:effectLst>
                <a:latin typeface="楷体_GB2312" pitchFamily="49" charset="-122"/>
                <a:ea typeface="楷体_GB2312" pitchFamily="49" charset="-122"/>
              </a:rPr>
              <a:t>创建表时，系统为表分配一个</a:t>
            </a:r>
            <a:r>
              <a:rPr kumimoji="1" lang="en-US" altLang="zh-CN" sz="2400" b="1" noProof="0" dirty="0" err="1">
                <a:solidFill>
                  <a:srgbClr val="002060"/>
                </a:solidFill>
                <a:effectLst>
                  <a:outerShdw blurRad="38100" dist="38100" dir="2700000" algn="tl">
                    <a:srgbClr val="C0C0C0"/>
                  </a:outerShdw>
                </a:effectLst>
                <a:latin typeface="楷体_GB2312" pitchFamily="49" charset="-122"/>
                <a:ea typeface="楷体_GB2312" pitchFamily="49" charset="-122"/>
              </a:rPr>
              <a:t>16K</a:t>
            </a:r>
            <a:r>
              <a:rPr kumimoji="1" lang="zh-CN" altLang="en-US" sz="2400" b="1" noProof="0" dirty="0">
                <a:solidFill>
                  <a:srgbClr val="002060"/>
                </a:solidFill>
                <a:effectLst>
                  <a:outerShdw blurRad="38100" dist="38100" dir="2700000" algn="tl">
                    <a:srgbClr val="C0C0C0"/>
                  </a:outerShdw>
                </a:effectLst>
                <a:latin typeface="楷体_GB2312" pitchFamily="49" charset="-122"/>
                <a:ea typeface="楷体_GB2312" pitchFamily="49" charset="-122"/>
              </a:rPr>
              <a:t>大小的根页</a:t>
            </a:r>
            <a:endParaRPr kumimoji="1" lang="zh-CN" altLang="en-US" sz="24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34" name="Text Box 5"/>
          <p:cNvSpPr txBox="1">
            <a:spLocks noChangeArrowheads="1"/>
          </p:cNvSpPr>
          <p:nvPr/>
        </p:nvSpPr>
        <p:spPr bwMode="auto">
          <a:xfrm>
            <a:off x="217892" y="4494149"/>
            <a:ext cx="7333342" cy="950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marL="342900" indent="-342900">
              <a:lnSpc>
                <a:spcPct val="110000"/>
              </a:lnSpc>
              <a:buClr>
                <a:srgbClr val="32C6CA"/>
              </a:buClr>
              <a:buSzPct val="80000"/>
              <a:buFont typeface="Wingdings" panose="05000000000000000000" pitchFamily="2" charset="2"/>
              <a:buChar char="u"/>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插入表中的记录最初存储在</a:t>
            </a:r>
            <a:r>
              <a:rPr kumimoji="1" lang="zh-CN" altLang="en-US" sz="2400" b="1" noProof="0" dirty="0">
                <a:solidFill>
                  <a:srgbClr val="002060"/>
                </a:solidFill>
                <a:effectLst>
                  <a:outerShdw blurRad="38100" dist="38100" dir="2700000" algn="tl">
                    <a:srgbClr val="C0C0C0"/>
                  </a:outerShdw>
                </a:effectLst>
                <a:latin typeface="楷体_GB2312" pitchFamily="49" charset="-122"/>
                <a:ea typeface="楷体_GB2312" pitchFamily="49" charset="-122"/>
              </a:rPr>
              <a:t>根页中，页内记录按主键从小到大存放，并建立单链表。</a:t>
            </a:r>
            <a:endParaRPr kumimoji="1" lang="zh-CN" altLang="en-US" sz="24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35" name="Text Box 5"/>
          <p:cNvSpPr txBox="1">
            <a:spLocks noChangeArrowheads="1"/>
          </p:cNvSpPr>
          <p:nvPr/>
        </p:nvSpPr>
        <p:spPr bwMode="auto">
          <a:xfrm>
            <a:off x="191875" y="5437798"/>
            <a:ext cx="7635420" cy="1420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marL="342900" indent="-342900">
              <a:lnSpc>
                <a:spcPct val="110000"/>
              </a:lnSpc>
              <a:buClr>
                <a:srgbClr val="32C6CA"/>
              </a:buClr>
              <a:buSzPct val="80000"/>
              <a:buFont typeface="Wingdings" panose="05000000000000000000" pitchFamily="2" charset="2"/>
              <a:buChar char="u"/>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当</a:t>
            </a:r>
            <a:r>
              <a:rPr kumimoji="1" lang="zh-CN" altLang="en-US" sz="2400" b="1" noProof="0" dirty="0">
                <a:solidFill>
                  <a:srgbClr val="002060"/>
                </a:solidFill>
                <a:effectLst>
                  <a:outerShdw blurRad="38100" dist="38100" dir="2700000" algn="tl">
                    <a:srgbClr val="C0C0C0"/>
                  </a:outerShdw>
                </a:effectLst>
                <a:latin typeface="楷体_GB2312" pitchFamily="49" charset="-122"/>
                <a:ea typeface="楷体_GB2312" pitchFamily="49" charset="-122"/>
              </a:rPr>
              <a:t>根页中空间不足时，系统会再分配两个空的数据页，将根页中的数据拷贝到数据页中，根页变为目录页，目录页中存放主键值和页指针，并建立页间指针。</a:t>
            </a:r>
            <a:endParaRPr kumimoji="1" lang="zh-CN" altLang="en-US" sz="24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Tree>
    <p:extLst>
      <p:ext uri="{BB962C8B-B14F-4D97-AF65-F5344CB8AC3E}">
        <p14:creationId xmlns:p14="http://schemas.microsoft.com/office/powerpoint/2010/main" val="260966954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2"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500"/>
                                        <p:tgtEl>
                                          <p:spTgt spid="3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54"/>
                                        </p:tgtEl>
                                        <p:attrNameLst>
                                          <p:attrName>style.visibility</p:attrName>
                                        </p:attrNameLst>
                                      </p:cBhvr>
                                      <p:to>
                                        <p:strVal val="visible"/>
                                      </p:to>
                                    </p:set>
                                    <p:animEffect transition="in" filter="fade">
                                      <p:cBhvr>
                                        <p:cTn id="15" dur="500"/>
                                        <p:tgtEl>
                                          <p:spTgt spid="2054"/>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2053"/>
                                        </p:tgtEl>
                                        <p:attrNameLst>
                                          <p:attrName>style.visibility</p:attrName>
                                        </p:attrNameLst>
                                      </p:cBhvr>
                                      <p:to>
                                        <p:strVal val="visible"/>
                                      </p:to>
                                    </p:set>
                                    <p:animEffect transition="in" filter="fade">
                                      <p:cBhvr>
                                        <p:cTn id="19" dur="500"/>
                                        <p:tgtEl>
                                          <p:spTgt spid="2053"/>
                                        </p:tgtEl>
                                      </p:cBhvr>
                                    </p:animEffect>
                                  </p:childTnLst>
                                </p:cTn>
                              </p:par>
                              <p:par>
                                <p:cTn id="20" presetID="10" presetClass="entr" presetSubtype="0" fill="hold" grpId="2"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056"/>
                                        </p:tgtEl>
                                        <p:attrNameLst>
                                          <p:attrName>style.visibility</p:attrName>
                                        </p:attrNameLst>
                                      </p:cBhvr>
                                      <p:to>
                                        <p:strVal val="visible"/>
                                      </p:to>
                                    </p:set>
                                    <p:animEffect transition="in" filter="wipe(down)">
                                      <p:cBhvr>
                                        <p:cTn id="27" dur="500"/>
                                        <p:tgtEl>
                                          <p:spTgt spid="2056"/>
                                        </p:tgtEl>
                                      </p:cBhvr>
                                    </p:animEffect>
                                  </p:childTnLst>
                                </p:cTn>
                              </p:par>
                            </p:childTnLst>
                          </p:cTn>
                        </p:par>
                        <p:par>
                          <p:cTn id="28" fill="hold">
                            <p:stCondLst>
                              <p:cond delay="500"/>
                            </p:stCondLst>
                            <p:childTnLst>
                              <p:par>
                                <p:cTn id="29" presetID="10" presetClass="entr" presetSubtype="0" fill="hold"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childTnLst>
                          </p:cTn>
                        </p:par>
                        <p:par>
                          <p:cTn id="32" fill="hold">
                            <p:stCondLst>
                              <p:cond delay="1000"/>
                            </p:stCondLst>
                            <p:childTnLst>
                              <p:par>
                                <p:cTn id="33" presetID="22" presetClass="entr" presetSubtype="4" fill="hold" nodeType="afterEffect">
                                  <p:stCondLst>
                                    <p:cond delay="0"/>
                                  </p:stCondLst>
                                  <p:childTnLst>
                                    <p:set>
                                      <p:cBhvr>
                                        <p:cTn id="34" dur="1" fill="hold">
                                          <p:stCondLst>
                                            <p:cond delay="0"/>
                                          </p:stCondLst>
                                        </p:cTn>
                                        <p:tgtEl>
                                          <p:spTgt spid="2058"/>
                                        </p:tgtEl>
                                        <p:attrNameLst>
                                          <p:attrName>style.visibility</p:attrName>
                                        </p:attrNameLst>
                                      </p:cBhvr>
                                      <p:to>
                                        <p:strVal val="visible"/>
                                      </p:to>
                                    </p:set>
                                    <p:animEffect transition="in" filter="wipe(down)">
                                      <p:cBhvr>
                                        <p:cTn id="35" dur="500"/>
                                        <p:tgtEl>
                                          <p:spTgt spid="2058"/>
                                        </p:tgtEl>
                                      </p:cBhvr>
                                    </p:animEffect>
                                  </p:childTnLst>
                                </p:cTn>
                              </p:par>
                              <p:par>
                                <p:cTn id="36" presetID="10" presetClass="entr" presetSubtype="0" fill="hold" grpId="2" nodeType="with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3" grpId="1"/>
      <p:bldP spid="33" grpId="2"/>
      <p:bldP spid="34" grpId="0"/>
      <p:bldP spid="34" grpId="1"/>
      <p:bldP spid="34" grpId="2"/>
      <p:bldP spid="35" grpId="0"/>
      <p:bldP spid="35" grpId="1"/>
      <p:bldP spid="35" grpId="2"/>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80416-837A-D6C8-5647-9AF0FB4BCDB0}"/>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9B8B6E76-F0A8-4753-1EF5-266B2828EAEB}"/>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在聚集索引中查询数据</a:t>
            </a:r>
          </a:p>
        </p:txBody>
      </p:sp>
      <p:pic>
        <p:nvPicPr>
          <p:cNvPr id="2" name="图片 1">
            <a:extLst>
              <a:ext uri="{FF2B5EF4-FFF2-40B4-BE49-F238E27FC236}">
                <a16:creationId xmlns:a16="http://schemas.microsoft.com/office/drawing/2014/main" id="{C1CA017A-FE2A-DE02-0ACB-6944E3C2F0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761" y="1178505"/>
            <a:ext cx="7824148" cy="5274706"/>
          </a:xfrm>
          <a:prstGeom prst="rect">
            <a:avLst/>
          </a:prstGeom>
        </p:spPr>
      </p:pic>
      <p:sp>
        <p:nvSpPr>
          <p:cNvPr id="14" name="Text Box 5">
            <a:extLst>
              <a:ext uri="{FF2B5EF4-FFF2-40B4-BE49-F238E27FC236}">
                <a16:creationId xmlns:a16="http://schemas.microsoft.com/office/drawing/2014/main" id="{AF1DF166-73D0-F49B-9409-8482C1775AA3}"/>
              </a:ext>
            </a:extLst>
          </p:cNvPr>
          <p:cNvSpPr txBox="1">
            <a:spLocks noChangeArrowheads="1"/>
          </p:cNvSpPr>
          <p:nvPr/>
        </p:nvSpPr>
        <p:spPr bwMode="auto">
          <a:xfrm>
            <a:off x="6706066" y="968450"/>
            <a:ext cx="4669548" cy="533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0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000" b="1" dirty="0">
                <a:effectLst>
                  <a:outerShdw blurRad="38100" dist="38100" dir="2700000" algn="tl">
                    <a:srgbClr val="C0C0C0"/>
                  </a:outerShdw>
                </a:effectLst>
                <a:latin typeface="楷体_GB2312" pitchFamily="49" charset="-122"/>
                <a:ea typeface="楷体_GB2312" pitchFamily="49" charset="-122"/>
              </a:rPr>
              <a:t>1:</a:t>
            </a:r>
            <a:r>
              <a:rPr kumimoji="1" lang="zh-CN" altLang="en-US" sz="2000" b="1" dirty="0">
                <a:effectLst>
                  <a:outerShdw blurRad="38100" dist="38100" dir="2700000" algn="tl">
                    <a:srgbClr val="C0C0C0"/>
                  </a:outerShdw>
                </a:effectLst>
                <a:latin typeface="楷体_GB2312" pitchFamily="49" charset="-122"/>
                <a:ea typeface="楷体_GB2312" pitchFamily="49" charset="-122"/>
              </a:rPr>
              <a:t>查询学号为</a:t>
            </a:r>
            <a:r>
              <a:rPr kumimoji="1" lang="en-US" altLang="zh-CN" sz="2000" b="1" dirty="0">
                <a:effectLst>
                  <a:outerShdw blurRad="38100" dist="38100" dir="2700000" algn="tl">
                    <a:srgbClr val="C0C0C0"/>
                  </a:outerShdw>
                </a:effectLst>
                <a:latin typeface="楷体_GB2312" pitchFamily="49" charset="-122"/>
                <a:ea typeface="楷体_GB2312" pitchFamily="49" charset="-122"/>
              </a:rPr>
              <a:t>‘001111’</a:t>
            </a:r>
            <a:r>
              <a:rPr kumimoji="1" lang="zh-CN" altLang="en-US" sz="2000" b="1" dirty="0">
                <a:effectLst>
                  <a:outerShdw blurRad="38100" dist="38100" dir="2700000" algn="tl">
                    <a:srgbClr val="C0C0C0"/>
                  </a:outerShdw>
                </a:effectLst>
                <a:latin typeface="楷体_GB2312" pitchFamily="49" charset="-122"/>
                <a:ea typeface="楷体_GB2312" pitchFamily="49" charset="-122"/>
              </a:rPr>
              <a:t>的学生。</a:t>
            </a:r>
            <a:endParaRPr kumimoji="1" lang="zh-CN" altLang="en-US" sz="2000" b="1" kern="1200" cap="none" spc="0" normalizeH="0" baseline="0" noProof="0" dirty="0">
              <a:effectLst>
                <a:outerShdw blurRad="38100" dist="38100" dir="2700000" algn="tl">
                  <a:srgbClr val="C0C0C0"/>
                </a:outerShdw>
              </a:effectLst>
              <a:latin typeface="楷体_GB2312" pitchFamily="49" charset="-122"/>
              <a:ea typeface="楷体_GB2312" pitchFamily="49" charset="-122"/>
            </a:endParaRPr>
          </a:p>
        </p:txBody>
      </p:sp>
      <p:sp>
        <p:nvSpPr>
          <p:cNvPr id="16" name="Text Box 5">
            <a:extLst>
              <a:ext uri="{FF2B5EF4-FFF2-40B4-BE49-F238E27FC236}">
                <a16:creationId xmlns:a16="http://schemas.microsoft.com/office/drawing/2014/main" id="{E6727187-CD88-548C-E0B6-32B700B69A91}"/>
              </a:ext>
            </a:extLst>
          </p:cNvPr>
          <p:cNvSpPr txBox="1">
            <a:spLocks noChangeArrowheads="1"/>
          </p:cNvSpPr>
          <p:nvPr/>
        </p:nvSpPr>
        <p:spPr bwMode="auto">
          <a:xfrm>
            <a:off x="6675517" y="1431294"/>
            <a:ext cx="5461604" cy="533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SELECT * FROM student WHERE </a:t>
            </a:r>
            <a:r>
              <a:rPr kumimoji="1" lang="en-US" altLang="zh-CN" sz="2000" b="1" dirty="0" err="1">
                <a:solidFill>
                  <a:srgbClr val="002060"/>
                </a:solidFill>
                <a:effectLst>
                  <a:outerShdw blurRad="38100" dist="38100" dir="2700000" algn="tl">
                    <a:srgbClr val="C0C0C0"/>
                  </a:outerShdw>
                </a:effectLst>
                <a:latin typeface="楷体_GB2312" pitchFamily="49" charset="-122"/>
                <a:ea typeface="楷体_GB2312" pitchFamily="49" charset="-122"/>
              </a:rPr>
              <a:t>sno</a:t>
            </a:r>
            <a:r>
              <a:rPr kumimoji="1"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='001111';</a:t>
            </a:r>
            <a:endParaRPr kumimoji="1" lang="zh-CN" altLang="en-US" sz="20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18" name="Text Box 5">
            <a:extLst>
              <a:ext uri="{FF2B5EF4-FFF2-40B4-BE49-F238E27FC236}">
                <a16:creationId xmlns:a16="http://schemas.microsoft.com/office/drawing/2014/main" id="{02930C0F-4482-9F8B-CE46-7A5015AF0307}"/>
              </a:ext>
            </a:extLst>
          </p:cNvPr>
          <p:cNvSpPr txBox="1">
            <a:spLocks noChangeArrowheads="1"/>
          </p:cNvSpPr>
          <p:nvPr/>
        </p:nvSpPr>
        <p:spPr bwMode="auto">
          <a:xfrm>
            <a:off x="6736746" y="1988900"/>
            <a:ext cx="5461604" cy="533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先后调入内存的页：</a:t>
            </a:r>
            <a:r>
              <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rPr>
              <a:t>根页</a:t>
            </a:r>
            <a:r>
              <a:rPr kumimoji="1" lang="en-US" altLang="zh-CN" sz="2000" b="1" dirty="0">
                <a:solidFill>
                  <a:srgbClr val="C00000"/>
                </a:solidFill>
                <a:effectLst>
                  <a:outerShdw blurRad="38100" dist="38100" dir="2700000" algn="tl">
                    <a:srgbClr val="C0C0C0"/>
                  </a:outerShdw>
                </a:effectLst>
                <a:latin typeface="楷体_GB2312" pitchFamily="49" charset="-122"/>
                <a:ea typeface="楷体_GB2312" pitchFamily="49" charset="-122"/>
              </a:rPr>
              <a:t>1</a:t>
            </a:r>
            <a:r>
              <a:rPr kumimoji="1"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rPr>
              <a:t>目录页</a:t>
            </a:r>
            <a:r>
              <a:rPr kumimoji="1" lang="en-US" altLang="zh-CN" sz="2000" b="1" dirty="0">
                <a:solidFill>
                  <a:srgbClr val="C00000"/>
                </a:solidFill>
                <a:effectLst>
                  <a:outerShdw blurRad="38100" dist="38100" dir="2700000" algn="tl">
                    <a:srgbClr val="C0C0C0"/>
                  </a:outerShdw>
                </a:effectLst>
                <a:latin typeface="楷体_GB2312" pitchFamily="49" charset="-122"/>
                <a:ea typeface="楷体_GB2312" pitchFamily="49" charset="-122"/>
              </a:rPr>
              <a:t>2</a:t>
            </a:r>
            <a:r>
              <a:rPr kumimoji="1"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rPr>
              <a:t>数据页</a:t>
            </a:r>
            <a:r>
              <a:rPr kumimoji="1" lang="en-US" altLang="zh-CN" sz="2000" b="1" dirty="0">
                <a:solidFill>
                  <a:srgbClr val="C00000"/>
                </a:solidFill>
                <a:effectLst>
                  <a:outerShdw blurRad="38100" dist="38100" dir="2700000" algn="tl">
                    <a:srgbClr val="C0C0C0"/>
                  </a:outerShdw>
                </a:effectLst>
                <a:latin typeface="楷体_GB2312" pitchFamily="49" charset="-122"/>
                <a:ea typeface="楷体_GB2312" pitchFamily="49" charset="-122"/>
              </a:rPr>
              <a:t>7</a:t>
            </a:r>
            <a:endParaRPr kumimoji="1" lang="zh-CN" altLang="en-US" sz="2000" b="1" kern="1200" cap="none" spc="0" normalizeH="0" baseline="0" noProof="0" dirty="0">
              <a:solidFill>
                <a:srgbClr val="C00000"/>
              </a:solidFill>
              <a:effectLst>
                <a:outerShdw blurRad="38100" dist="38100" dir="2700000" algn="tl">
                  <a:srgbClr val="C0C0C0"/>
                </a:outerShdw>
              </a:effectLst>
              <a:latin typeface="楷体_GB2312" pitchFamily="49" charset="-122"/>
              <a:ea typeface="楷体_GB2312" pitchFamily="49" charset="-122"/>
            </a:endParaRPr>
          </a:p>
        </p:txBody>
      </p:sp>
    </p:spTree>
    <p:extLst>
      <p:ext uri="{BB962C8B-B14F-4D97-AF65-F5344CB8AC3E}">
        <p14:creationId xmlns:p14="http://schemas.microsoft.com/office/powerpoint/2010/main" val="341709381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2"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2"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2"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4" grpId="2"/>
      <p:bldP spid="16" grpId="0"/>
      <p:bldP spid="16" grpId="1"/>
      <p:bldP spid="16" grpId="2"/>
      <p:bldP spid="18" grpId="0"/>
      <p:bldP spid="18" grpId="1"/>
      <p:bldP spid="18" grpId="2"/>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在聚集索引中查询数据</a:t>
            </a: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761" y="1178505"/>
            <a:ext cx="7824148" cy="5274706"/>
          </a:xfrm>
          <a:prstGeom prst="rect">
            <a:avLst/>
          </a:prstGeom>
        </p:spPr>
      </p:pic>
      <p:sp>
        <p:nvSpPr>
          <p:cNvPr id="15" name="Text Box 5"/>
          <p:cNvSpPr txBox="1">
            <a:spLocks noChangeArrowheads="1"/>
          </p:cNvSpPr>
          <p:nvPr/>
        </p:nvSpPr>
        <p:spPr bwMode="auto">
          <a:xfrm>
            <a:off x="7264529" y="1079169"/>
            <a:ext cx="4392305" cy="938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0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000" b="1" dirty="0">
                <a:effectLst>
                  <a:outerShdw blurRad="38100" dist="38100" dir="2700000" algn="tl">
                    <a:srgbClr val="C0C0C0"/>
                  </a:outerShdw>
                </a:effectLst>
                <a:latin typeface="楷体_GB2312" pitchFamily="49" charset="-122"/>
                <a:ea typeface="楷体_GB2312" pitchFamily="49" charset="-122"/>
              </a:rPr>
              <a:t>2:</a:t>
            </a:r>
            <a:r>
              <a:rPr kumimoji="1" lang="zh-CN" altLang="en-US" sz="2000" b="1" dirty="0">
                <a:effectLst>
                  <a:outerShdw blurRad="38100" dist="38100" dir="2700000" algn="tl">
                    <a:srgbClr val="C0C0C0"/>
                  </a:outerShdw>
                </a:effectLst>
                <a:latin typeface="楷体_GB2312" pitchFamily="49" charset="-122"/>
                <a:ea typeface="楷体_GB2312" pitchFamily="49" charset="-122"/>
              </a:rPr>
              <a:t>查询学号大于</a:t>
            </a:r>
            <a:r>
              <a:rPr kumimoji="1" lang="en-US" altLang="zh-CN" sz="2000" b="1" dirty="0">
                <a:effectLst>
                  <a:outerShdw blurRad="38100" dist="38100" dir="2700000" algn="tl">
                    <a:srgbClr val="C0C0C0"/>
                  </a:outerShdw>
                </a:effectLst>
                <a:latin typeface="楷体_GB2312" pitchFamily="49" charset="-122"/>
                <a:ea typeface="楷体_GB2312" pitchFamily="49" charset="-122"/>
              </a:rPr>
              <a:t>‘001111’ </a:t>
            </a:r>
            <a:r>
              <a:rPr kumimoji="1" lang="zh-CN" altLang="en-US" sz="2000" b="1" dirty="0">
                <a:effectLst>
                  <a:outerShdw blurRad="38100" dist="38100" dir="2700000" algn="tl">
                    <a:srgbClr val="C0C0C0"/>
                  </a:outerShdw>
                </a:effectLst>
                <a:latin typeface="楷体_GB2312" pitchFamily="49" charset="-122"/>
                <a:ea typeface="楷体_GB2312" pitchFamily="49" charset="-122"/>
              </a:rPr>
              <a:t>且小于</a:t>
            </a:r>
            <a:r>
              <a:rPr kumimoji="1" lang="en-US" altLang="zh-CN" sz="2000" b="1" dirty="0">
                <a:effectLst>
                  <a:outerShdw blurRad="38100" dist="38100" dir="2700000" algn="tl">
                    <a:srgbClr val="C0C0C0"/>
                  </a:outerShdw>
                </a:effectLst>
                <a:latin typeface="楷体_GB2312" pitchFamily="49" charset="-122"/>
                <a:ea typeface="楷体_GB2312" pitchFamily="49" charset="-122"/>
              </a:rPr>
              <a:t>‘001206’</a:t>
            </a:r>
            <a:r>
              <a:rPr kumimoji="1" lang="zh-CN" altLang="en-US" sz="2000" b="1" dirty="0">
                <a:effectLst>
                  <a:outerShdw blurRad="38100" dist="38100" dir="2700000" algn="tl">
                    <a:srgbClr val="C0C0C0"/>
                  </a:outerShdw>
                </a:effectLst>
                <a:latin typeface="楷体_GB2312" pitchFamily="49" charset="-122"/>
                <a:ea typeface="楷体_GB2312" pitchFamily="49" charset="-122"/>
              </a:rPr>
              <a:t>的所有学生。</a:t>
            </a:r>
            <a:endParaRPr kumimoji="1" lang="zh-CN" altLang="en-US" sz="2000" b="1" kern="1200" cap="none" spc="0" normalizeH="0" baseline="0" noProof="0" dirty="0">
              <a:effectLst>
                <a:outerShdw blurRad="38100" dist="38100" dir="2700000" algn="tl">
                  <a:srgbClr val="C0C0C0"/>
                </a:outerShdw>
              </a:effectLst>
              <a:latin typeface="楷体_GB2312" pitchFamily="49" charset="-122"/>
              <a:ea typeface="楷体_GB2312" pitchFamily="49" charset="-122"/>
            </a:endParaRPr>
          </a:p>
        </p:txBody>
      </p:sp>
      <p:sp>
        <p:nvSpPr>
          <p:cNvPr id="17" name="Text Box 5"/>
          <p:cNvSpPr txBox="1">
            <a:spLocks noChangeArrowheads="1"/>
          </p:cNvSpPr>
          <p:nvPr/>
        </p:nvSpPr>
        <p:spPr bwMode="auto">
          <a:xfrm>
            <a:off x="7251255" y="1916895"/>
            <a:ext cx="4320537" cy="938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SELECT * FROM student WHERE </a:t>
            </a:r>
            <a:r>
              <a:rPr kumimoji="1" lang="en-US" altLang="zh-CN" sz="2000" b="1" dirty="0" err="1">
                <a:solidFill>
                  <a:srgbClr val="002060"/>
                </a:solidFill>
                <a:effectLst>
                  <a:outerShdw blurRad="38100" dist="38100" dir="2700000" algn="tl">
                    <a:srgbClr val="C0C0C0"/>
                  </a:outerShdw>
                </a:effectLst>
                <a:latin typeface="楷体_GB2312" pitchFamily="49" charset="-122"/>
                <a:ea typeface="楷体_GB2312" pitchFamily="49" charset="-122"/>
              </a:rPr>
              <a:t>sno</a:t>
            </a:r>
            <a:r>
              <a:rPr kumimoji="1"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&gt;'001111' AND </a:t>
            </a:r>
            <a:r>
              <a:rPr kumimoji="1" lang="en-US" altLang="zh-CN" sz="2000" b="1" dirty="0" err="1">
                <a:solidFill>
                  <a:srgbClr val="002060"/>
                </a:solidFill>
                <a:effectLst>
                  <a:outerShdw blurRad="38100" dist="38100" dir="2700000" algn="tl">
                    <a:srgbClr val="C0C0C0"/>
                  </a:outerShdw>
                </a:effectLst>
                <a:latin typeface="楷体_GB2312" pitchFamily="49" charset="-122"/>
                <a:ea typeface="楷体_GB2312" pitchFamily="49" charset="-122"/>
              </a:rPr>
              <a:t>sno</a:t>
            </a:r>
            <a:r>
              <a:rPr kumimoji="1"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&lt;'001206';</a:t>
            </a:r>
            <a:endParaRPr kumimoji="1" lang="zh-CN" altLang="en-US" sz="20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19" name="Text Box 5"/>
          <p:cNvSpPr txBox="1">
            <a:spLocks noChangeArrowheads="1"/>
          </p:cNvSpPr>
          <p:nvPr/>
        </p:nvSpPr>
        <p:spPr bwMode="auto">
          <a:xfrm>
            <a:off x="7264529" y="2831615"/>
            <a:ext cx="4281685" cy="148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先后调入内存的页：</a:t>
            </a:r>
            <a:r>
              <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rPr>
              <a:t>根页</a:t>
            </a:r>
            <a:r>
              <a:rPr kumimoji="1" lang="en-US" altLang="zh-CN" sz="2000" b="1" dirty="0">
                <a:solidFill>
                  <a:srgbClr val="C00000"/>
                </a:solidFill>
                <a:effectLst>
                  <a:outerShdw blurRad="38100" dist="38100" dir="2700000" algn="tl">
                    <a:srgbClr val="C0C0C0"/>
                  </a:outerShdw>
                </a:effectLst>
                <a:latin typeface="楷体_GB2312" pitchFamily="49" charset="-122"/>
                <a:ea typeface="楷体_GB2312" pitchFamily="49" charset="-122"/>
              </a:rPr>
              <a:t>1</a:t>
            </a:r>
            <a:r>
              <a:rPr kumimoji="1"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rPr>
              <a:t>目录页</a:t>
            </a:r>
            <a:r>
              <a:rPr kumimoji="1" lang="en-US" altLang="zh-CN" sz="2000" b="1" dirty="0">
                <a:solidFill>
                  <a:srgbClr val="C00000"/>
                </a:solidFill>
                <a:effectLst>
                  <a:outerShdw blurRad="38100" dist="38100" dir="2700000" algn="tl">
                    <a:srgbClr val="C0C0C0"/>
                  </a:outerShdw>
                </a:effectLst>
                <a:latin typeface="楷体_GB2312" pitchFamily="49" charset="-122"/>
                <a:ea typeface="楷体_GB2312" pitchFamily="49" charset="-122"/>
              </a:rPr>
              <a:t>2</a:t>
            </a:r>
            <a:r>
              <a:rPr kumimoji="1"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rPr>
              <a:t>数据页</a:t>
            </a:r>
            <a:r>
              <a:rPr kumimoji="1" lang="en-US" altLang="zh-CN" sz="2000" b="1" dirty="0">
                <a:solidFill>
                  <a:srgbClr val="C00000"/>
                </a:solidFill>
                <a:effectLst>
                  <a:outerShdw blurRad="38100" dist="38100" dir="2700000" algn="tl">
                    <a:srgbClr val="C0C0C0"/>
                  </a:outerShdw>
                </a:effectLst>
                <a:latin typeface="楷体_GB2312" pitchFamily="49" charset="-122"/>
                <a:ea typeface="楷体_GB2312" pitchFamily="49" charset="-122"/>
              </a:rPr>
              <a:t>7</a:t>
            </a:r>
            <a:r>
              <a:rPr kumimoji="1"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rPr>
              <a:t>数据页</a:t>
            </a:r>
            <a:r>
              <a:rPr kumimoji="1" lang="en-US" altLang="zh-CN" sz="2000" b="1" dirty="0">
                <a:solidFill>
                  <a:srgbClr val="C00000"/>
                </a:solidFill>
                <a:effectLst>
                  <a:outerShdw blurRad="38100" dist="38100" dir="2700000" algn="tl">
                    <a:srgbClr val="C0C0C0"/>
                  </a:outerShdw>
                </a:effectLst>
                <a:latin typeface="楷体_GB2312" pitchFamily="49" charset="-122"/>
                <a:ea typeface="楷体_GB2312" pitchFamily="49" charset="-122"/>
              </a:rPr>
              <a:t>8</a:t>
            </a:r>
            <a:r>
              <a:rPr kumimoji="1"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rPr>
              <a:t>数据页</a:t>
            </a:r>
            <a:r>
              <a:rPr kumimoji="1" lang="en-US" altLang="zh-CN" sz="2000" b="1" dirty="0">
                <a:solidFill>
                  <a:srgbClr val="C00000"/>
                </a:solidFill>
                <a:effectLst>
                  <a:outerShdw blurRad="38100" dist="38100" dir="2700000" algn="tl">
                    <a:srgbClr val="C0C0C0"/>
                  </a:outerShdw>
                </a:effectLst>
                <a:latin typeface="楷体_GB2312" pitchFamily="49" charset="-122"/>
                <a:ea typeface="楷体_GB2312" pitchFamily="49" charset="-122"/>
              </a:rPr>
              <a:t>9</a:t>
            </a:r>
            <a:endPar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endParaRPr>
          </a:p>
          <a:p>
            <a:pPr>
              <a:lnSpc>
                <a:spcPct val="110000"/>
              </a:lnSpc>
              <a:buClr>
                <a:srgbClr val="32C6CA"/>
              </a:buClr>
              <a:buSzPct val="80000"/>
              <a:defRPr/>
            </a:pPr>
            <a:endParaRPr kumimoji="1" lang="zh-CN" altLang="en-US" sz="2000" b="1" kern="1200" cap="none" spc="0" normalizeH="0" baseline="0" noProof="0" dirty="0">
              <a:solidFill>
                <a:srgbClr val="C00000"/>
              </a:solidFill>
              <a:effectLst>
                <a:outerShdw blurRad="38100" dist="38100" dir="2700000" algn="tl">
                  <a:srgbClr val="C0C0C0"/>
                </a:outerShdw>
              </a:effectLst>
              <a:latin typeface="楷体_GB2312" pitchFamily="49" charset="-122"/>
              <a:ea typeface="楷体_GB2312" pitchFamily="49" charset="-122"/>
            </a:endParaRPr>
          </a:p>
        </p:txBody>
      </p:sp>
    </p:spTree>
    <p:extLst>
      <p:ext uri="{BB962C8B-B14F-4D97-AF65-F5344CB8AC3E}">
        <p14:creationId xmlns:p14="http://schemas.microsoft.com/office/powerpoint/2010/main" val="23749179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2"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2"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2"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P spid="15" grpId="2"/>
      <p:bldP spid="17" grpId="0"/>
      <p:bldP spid="17" grpId="1"/>
      <p:bldP spid="17" grpId="2"/>
      <p:bldP spid="19" grpId="0"/>
      <p:bldP spid="19" grpId="1"/>
      <p:bldP spid="19" grpId="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在聚集索引中查询数据</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775" y="1196845"/>
            <a:ext cx="7527925" cy="51086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 Box 5"/>
          <p:cNvSpPr txBox="1">
            <a:spLocks noChangeArrowheads="1"/>
          </p:cNvSpPr>
          <p:nvPr/>
        </p:nvSpPr>
        <p:spPr bwMode="auto">
          <a:xfrm>
            <a:off x="6631073" y="1124417"/>
            <a:ext cx="5307459" cy="533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若</a:t>
            </a:r>
            <a:r>
              <a:rPr kumimoji="1"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1</a:t>
            </a:r>
            <a:r>
              <a:rPr kumimoji="1"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个目录页中可存放</a:t>
            </a:r>
            <a:r>
              <a:rPr kumimoji="1"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8</a:t>
            </a:r>
            <a:r>
              <a:rPr kumimoji="1"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行，则</a:t>
            </a:r>
            <a:r>
              <a:rPr kumimoji="1"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B+</a:t>
            </a:r>
            <a:r>
              <a:rPr kumimoji="1"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树变为左图；</a:t>
            </a:r>
            <a:endParaRPr kumimoji="1" lang="zh-CN" altLang="en-US" sz="20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16" name="Text Box 5"/>
          <p:cNvSpPr txBox="1">
            <a:spLocks noChangeArrowheads="1"/>
          </p:cNvSpPr>
          <p:nvPr/>
        </p:nvSpPr>
        <p:spPr bwMode="auto">
          <a:xfrm>
            <a:off x="6963234" y="1613636"/>
            <a:ext cx="4669548" cy="533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0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000" b="1" dirty="0">
                <a:effectLst>
                  <a:outerShdw blurRad="38100" dist="38100" dir="2700000" algn="tl">
                    <a:srgbClr val="C0C0C0"/>
                  </a:outerShdw>
                </a:effectLst>
                <a:latin typeface="楷体_GB2312" pitchFamily="49" charset="-122"/>
                <a:ea typeface="楷体_GB2312" pitchFamily="49" charset="-122"/>
              </a:rPr>
              <a:t>1:</a:t>
            </a:r>
            <a:r>
              <a:rPr kumimoji="1" lang="zh-CN" altLang="en-US" sz="2000" b="1" dirty="0">
                <a:effectLst>
                  <a:outerShdw blurRad="38100" dist="38100" dir="2700000" algn="tl">
                    <a:srgbClr val="C0C0C0"/>
                  </a:outerShdw>
                </a:effectLst>
                <a:latin typeface="楷体_GB2312" pitchFamily="49" charset="-122"/>
                <a:ea typeface="楷体_GB2312" pitchFamily="49" charset="-122"/>
              </a:rPr>
              <a:t>查询学号为</a:t>
            </a:r>
            <a:r>
              <a:rPr kumimoji="1" lang="en-US" altLang="zh-CN" sz="2000" b="1" dirty="0">
                <a:effectLst>
                  <a:outerShdw blurRad="38100" dist="38100" dir="2700000" algn="tl">
                    <a:srgbClr val="C0C0C0"/>
                  </a:outerShdw>
                </a:effectLst>
                <a:latin typeface="楷体_GB2312" pitchFamily="49" charset="-122"/>
                <a:ea typeface="楷体_GB2312" pitchFamily="49" charset="-122"/>
              </a:rPr>
              <a:t>‘001111’</a:t>
            </a:r>
            <a:r>
              <a:rPr kumimoji="1" lang="zh-CN" altLang="en-US" sz="2000" b="1" dirty="0">
                <a:effectLst>
                  <a:outerShdw blurRad="38100" dist="38100" dir="2700000" algn="tl">
                    <a:srgbClr val="C0C0C0"/>
                  </a:outerShdw>
                </a:effectLst>
                <a:latin typeface="楷体_GB2312" pitchFamily="49" charset="-122"/>
                <a:ea typeface="楷体_GB2312" pitchFamily="49" charset="-122"/>
              </a:rPr>
              <a:t>的学生。</a:t>
            </a:r>
            <a:endParaRPr kumimoji="1" lang="zh-CN" altLang="en-US" sz="2000" b="1" kern="1200" cap="none" spc="0" normalizeH="0" baseline="0" noProof="0" dirty="0">
              <a:effectLst>
                <a:outerShdw blurRad="38100" dist="38100" dir="2700000" algn="tl">
                  <a:srgbClr val="C0C0C0"/>
                </a:outerShdw>
              </a:effectLst>
              <a:latin typeface="楷体_GB2312" pitchFamily="49" charset="-122"/>
              <a:ea typeface="楷体_GB2312" pitchFamily="49" charset="-122"/>
            </a:endParaRPr>
          </a:p>
        </p:txBody>
      </p:sp>
      <p:sp>
        <p:nvSpPr>
          <p:cNvPr id="17" name="Text Box 5"/>
          <p:cNvSpPr txBox="1">
            <a:spLocks noChangeArrowheads="1"/>
          </p:cNvSpPr>
          <p:nvPr/>
        </p:nvSpPr>
        <p:spPr bwMode="auto">
          <a:xfrm>
            <a:off x="7179250" y="2673466"/>
            <a:ext cx="4655847" cy="938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0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000" b="1" dirty="0">
                <a:effectLst>
                  <a:outerShdw blurRad="38100" dist="38100" dir="2700000" algn="tl">
                    <a:srgbClr val="C0C0C0"/>
                  </a:outerShdw>
                </a:effectLst>
                <a:latin typeface="楷体_GB2312" pitchFamily="49" charset="-122"/>
                <a:ea typeface="楷体_GB2312" pitchFamily="49" charset="-122"/>
              </a:rPr>
              <a:t>2:</a:t>
            </a:r>
            <a:r>
              <a:rPr kumimoji="1" lang="zh-CN" altLang="en-US" sz="2000" b="1" dirty="0">
                <a:effectLst>
                  <a:outerShdw blurRad="38100" dist="38100" dir="2700000" algn="tl">
                    <a:srgbClr val="C0C0C0"/>
                  </a:outerShdw>
                </a:effectLst>
                <a:latin typeface="楷体_GB2312" pitchFamily="49" charset="-122"/>
                <a:ea typeface="楷体_GB2312" pitchFamily="49" charset="-122"/>
              </a:rPr>
              <a:t>查询学号大于</a:t>
            </a:r>
            <a:r>
              <a:rPr kumimoji="1" lang="en-US" altLang="zh-CN" sz="2000" b="1" dirty="0">
                <a:effectLst>
                  <a:outerShdw blurRad="38100" dist="38100" dir="2700000" algn="tl">
                    <a:srgbClr val="C0C0C0"/>
                  </a:outerShdw>
                </a:effectLst>
                <a:latin typeface="楷体_GB2312" pitchFamily="49" charset="-122"/>
                <a:ea typeface="楷体_GB2312" pitchFamily="49" charset="-122"/>
              </a:rPr>
              <a:t>‘001111’ </a:t>
            </a:r>
            <a:r>
              <a:rPr kumimoji="1" lang="zh-CN" altLang="en-US" sz="2000" b="1" dirty="0">
                <a:effectLst>
                  <a:outerShdw blurRad="38100" dist="38100" dir="2700000" algn="tl">
                    <a:srgbClr val="C0C0C0"/>
                  </a:outerShdw>
                </a:effectLst>
                <a:latin typeface="楷体_GB2312" pitchFamily="49" charset="-122"/>
                <a:ea typeface="楷体_GB2312" pitchFamily="49" charset="-122"/>
              </a:rPr>
              <a:t>且小于</a:t>
            </a:r>
            <a:r>
              <a:rPr kumimoji="1" lang="en-US" altLang="zh-CN" sz="2000" b="1" dirty="0">
                <a:effectLst>
                  <a:outerShdw blurRad="38100" dist="38100" dir="2700000" algn="tl">
                    <a:srgbClr val="C0C0C0"/>
                  </a:outerShdw>
                </a:effectLst>
                <a:latin typeface="楷体_GB2312" pitchFamily="49" charset="-122"/>
                <a:ea typeface="楷体_GB2312" pitchFamily="49" charset="-122"/>
              </a:rPr>
              <a:t>‘001206’</a:t>
            </a:r>
            <a:r>
              <a:rPr kumimoji="1" lang="zh-CN" altLang="en-US" sz="2000" b="1" dirty="0">
                <a:effectLst>
                  <a:outerShdw blurRad="38100" dist="38100" dir="2700000" algn="tl">
                    <a:srgbClr val="C0C0C0"/>
                  </a:outerShdw>
                </a:effectLst>
                <a:latin typeface="楷体_GB2312" pitchFamily="49" charset="-122"/>
                <a:ea typeface="楷体_GB2312" pitchFamily="49" charset="-122"/>
              </a:rPr>
              <a:t>的所有学生。</a:t>
            </a:r>
            <a:endParaRPr kumimoji="1" lang="zh-CN" altLang="en-US" sz="2000" b="1" kern="1200" cap="none" spc="0" normalizeH="0" baseline="0" noProof="0" dirty="0">
              <a:effectLst>
                <a:outerShdw blurRad="38100" dist="38100" dir="2700000" algn="tl">
                  <a:srgbClr val="C0C0C0"/>
                </a:outerShdw>
              </a:effectLst>
              <a:latin typeface="楷体_GB2312" pitchFamily="49" charset="-122"/>
              <a:ea typeface="楷体_GB2312" pitchFamily="49" charset="-122"/>
            </a:endParaRPr>
          </a:p>
        </p:txBody>
      </p:sp>
      <p:sp>
        <p:nvSpPr>
          <p:cNvPr id="18" name="Text Box 5"/>
          <p:cNvSpPr txBox="1">
            <a:spLocks noChangeArrowheads="1"/>
          </p:cNvSpPr>
          <p:nvPr/>
        </p:nvSpPr>
        <p:spPr bwMode="auto">
          <a:xfrm>
            <a:off x="6989914" y="2140234"/>
            <a:ext cx="4589778" cy="533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先后调入内存的页：</a:t>
            </a:r>
            <a:r>
              <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rPr>
              <a:t>根页</a:t>
            </a:r>
            <a:r>
              <a:rPr kumimoji="1" lang="en-US" altLang="zh-CN" sz="2000" b="1" dirty="0">
                <a:solidFill>
                  <a:srgbClr val="C00000"/>
                </a:solidFill>
                <a:effectLst>
                  <a:outerShdw blurRad="38100" dist="38100" dir="2700000" algn="tl">
                    <a:srgbClr val="C0C0C0"/>
                  </a:outerShdw>
                </a:effectLst>
                <a:latin typeface="楷体_GB2312" pitchFamily="49" charset="-122"/>
                <a:ea typeface="楷体_GB2312" pitchFamily="49" charset="-122"/>
              </a:rPr>
              <a:t>1</a:t>
            </a:r>
            <a:r>
              <a:rPr kumimoji="1"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rPr>
              <a:t>数据页</a:t>
            </a:r>
            <a:r>
              <a:rPr kumimoji="1" lang="en-US" altLang="zh-CN" sz="2000" b="1" dirty="0">
                <a:solidFill>
                  <a:srgbClr val="C00000"/>
                </a:solidFill>
                <a:effectLst>
                  <a:outerShdw blurRad="38100" dist="38100" dir="2700000" algn="tl">
                    <a:srgbClr val="C0C0C0"/>
                  </a:outerShdw>
                </a:effectLst>
                <a:latin typeface="楷体_GB2312" pitchFamily="49" charset="-122"/>
                <a:ea typeface="楷体_GB2312" pitchFamily="49" charset="-122"/>
              </a:rPr>
              <a:t>7</a:t>
            </a:r>
            <a:endParaRPr kumimoji="1" lang="zh-CN" altLang="en-US" sz="2000" b="1" kern="1200" cap="none" spc="0" normalizeH="0" baseline="0" noProof="0" dirty="0">
              <a:solidFill>
                <a:srgbClr val="C00000"/>
              </a:solidFill>
              <a:effectLst>
                <a:outerShdw blurRad="38100" dist="38100" dir="2700000" algn="tl">
                  <a:srgbClr val="C0C0C0"/>
                </a:outerShdw>
              </a:effectLst>
              <a:latin typeface="楷体_GB2312" pitchFamily="49" charset="-122"/>
              <a:ea typeface="楷体_GB2312" pitchFamily="49" charset="-122"/>
            </a:endParaRPr>
          </a:p>
        </p:txBody>
      </p:sp>
      <p:sp>
        <p:nvSpPr>
          <p:cNvPr id="19" name="Text Box 5"/>
          <p:cNvSpPr txBox="1">
            <a:spLocks noChangeArrowheads="1"/>
          </p:cNvSpPr>
          <p:nvPr/>
        </p:nvSpPr>
        <p:spPr bwMode="auto">
          <a:xfrm>
            <a:off x="7556979" y="3429000"/>
            <a:ext cx="4281685" cy="792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先后调入内存的页：</a:t>
            </a:r>
            <a:r>
              <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rPr>
              <a:t>根页</a:t>
            </a:r>
            <a:r>
              <a:rPr kumimoji="1" lang="en-US" altLang="zh-CN" sz="2000" b="1" dirty="0">
                <a:solidFill>
                  <a:srgbClr val="C00000"/>
                </a:solidFill>
                <a:effectLst>
                  <a:outerShdw blurRad="38100" dist="38100" dir="2700000" algn="tl">
                    <a:srgbClr val="C0C0C0"/>
                  </a:outerShdw>
                </a:effectLst>
                <a:latin typeface="楷体_GB2312" pitchFamily="49" charset="-122"/>
                <a:ea typeface="楷体_GB2312" pitchFamily="49" charset="-122"/>
              </a:rPr>
              <a:t>1</a:t>
            </a:r>
            <a:r>
              <a:rPr kumimoji="1"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rPr>
              <a:t>数据页</a:t>
            </a:r>
            <a:r>
              <a:rPr kumimoji="1" lang="en-US" altLang="zh-CN" sz="2000" b="1" dirty="0">
                <a:solidFill>
                  <a:srgbClr val="C00000"/>
                </a:solidFill>
                <a:effectLst>
                  <a:outerShdw blurRad="38100" dist="38100" dir="2700000" algn="tl">
                    <a:srgbClr val="C0C0C0"/>
                  </a:outerShdw>
                </a:effectLst>
                <a:latin typeface="楷体_GB2312" pitchFamily="49" charset="-122"/>
                <a:ea typeface="楷体_GB2312" pitchFamily="49" charset="-122"/>
              </a:rPr>
              <a:t>7</a:t>
            </a:r>
            <a:r>
              <a:rPr kumimoji="1"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rPr>
              <a:t>数据页</a:t>
            </a:r>
            <a:r>
              <a:rPr kumimoji="1" lang="en-US" altLang="zh-CN" sz="2000" b="1" dirty="0">
                <a:solidFill>
                  <a:srgbClr val="C00000"/>
                </a:solidFill>
                <a:effectLst>
                  <a:outerShdw blurRad="38100" dist="38100" dir="2700000" algn="tl">
                    <a:srgbClr val="C0C0C0"/>
                  </a:outerShdw>
                </a:effectLst>
                <a:latin typeface="楷体_GB2312" pitchFamily="49" charset="-122"/>
                <a:ea typeface="楷体_GB2312" pitchFamily="49" charset="-122"/>
              </a:rPr>
              <a:t>8</a:t>
            </a:r>
            <a:r>
              <a:rPr kumimoji="1" lang="en-US" altLang="zh-CN" sz="20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rPr>
              <a:t>数据页</a:t>
            </a:r>
            <a:r>
              <a:rPr kumimoji="1" lang="en-US" altLang="zh-CN" sz="2000" b="1" dirty="0">
                <a:solidFill>
                  <a:srgbClr val="C00000"/>
                </a:solidFill>
                <a:effectLst>
                  <a:outerShdw blurRad="38100" dist="38100" dir="2700000" algn="tl">
                    <a:srgbClr val="C0C0C0"/>
                  </a:outerShdw>
                </a:effectLst>
                <a:latin typeface="楷体_GB2312" pitchFamily="49" charset="-122"/>
                <a:ea typeface="楷体_GB2312" pitchFamily="49" charset="-122"/>
              </a:rPr>
              <a:t>9</a:t>
            </a:r>
            <a:endPar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endParaRPr>
          </a:p>
          <a:p>
            <a:pPr>
              <a:lnSpc>
                <a:spcPct val="110000"/>
              </a:lnSpc>
              <a:buClr>
                <a:srgbClr val="32C6CA"/>
              </a:buClr>
              <a:buSzPct val="80000"/>
              <a:defRPr/>
            </a:pPr>
            <a:endParaRPr kumimoji="1" lang="zh-CN" altLang="en-US" sz="2000" b="1" kern="1200" cap="none" spc="0" normalizeH="0" baseline="0" noProof="0" dirty="0">
              <a:solidFill>
                <a:srgbClr val="C00000"/>
              </a:solidFill>
              <a:effectLst>
                <a:outerShdw blurRad="38100" dist="38100" dir="2700000" algn="tl">
                  <a:srgbClr val="C0C0C0"/>
                </a:outerShdw>
              </a:effectLst>
              <a:latin typeface="楷体_GB2312" pitchFamily="49" charset="-122"/>
              <a:ea typeface="楷体_GB2312" pitchFamily="49" charset="-122"/>
            </a:endParaRPr>
          </a:p>
        </p:txBody>
      </p:sp>
      <p:sp>
        <p:nvSpPr>
          <p:cNvPr id="20" name="Text Box 5"/>
          <p:cNvSpPr txBox="1">
            <a:spLocks noChangeArrowheads="1"/>
          </p:cNvSpPr>
          <p:nvPr/>
        </p:nvSpPr>
        <p:spPr bwMode="auto">
          <a:xfrm>
            <a:off x="7916665" y="4221055"/>
            <a:ext cx="4281685" cy="57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rPr>
              <a:t>结论</a:t>
            </a:r>
            <a:r>
              <a:rPr kumimoji="1" lang="en-US" altLang="zh-CN" sz="20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kumimoji="1"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rPr>
              <a:t>树的高度直接影响查询效率</a:t>
            </a:r>
            <a:endParaRPr kumimoji="1" lang="zh-CN" altLang="en-US" sz="20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21" name="Text Box 5"/>
          <p:cNvSpPr txBox="1">
            <a:spLocks noChangeArrowheads="1"/>
          </p:cNvSpPr>
          <p:nvPr/>
        </p:nvSpPr>
        <p:spPr bwMode="auto">
          <a:xfrm>
            <a:off x="7977000" y="4797095"/>
            <a:ext cx="3968397" cy="57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000" b="1" dirty="0">
                <a:solidFill>
                  <a:srgbClr val="FF0000"/>
                </a:solidFill>
                <a:effectLst>
                  <a:outerShdw blurRad="38100" dist="38100" dir="2700000" algn="tl">
                    <a:srgbClr val="C0C0C0"/>
                  </a:outerShdw>
                </a:effectLst>
                <a:latin typeface="楷体_GB2312" pitchFamily="49" charset="-122"/>
                <a:ea typeface="楷体_GB2312" pitchFamily="49" charset="-122"/>
              </a:rPr>
              <a:t>问题</a:t>
            </a:r>
            <a:r>
              <a:rPr kumimoji="1" lang="en-US" altLang="zh-CN" sz="2000" b="1" dirty="0">
                <a:solidFill>
                  <a:srgbClr val="FF0000"/>
                </a:solidFill>
                <a:effectLst>
                  <a:outerShdw blurRad="38100" dist="38100" dir="2700000" algn="tl">
                    <a:srgbClr val="C0C0C0"/>
                  </a:outerShdw>
                </a:effectLst>
                <a:latin typeface="楷体_GB2312" pitchFamily="49" charset="-122"/>
                <a:ea typeface="楷体_GB2312" pitchFamily="49" charset="-122"/>
              </a:rPr>
              <a:t>:</a:t>
            </a:r>
            <a:r>
              <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rPr>
              <a:t>如何才能降低树的高度呢</a:t>
            </a:r>
            <a:r>
              <a:rPr kumimoji="1" lang="en-US" altLang="zh-CN" sz="2000" b="1" dirty="0">
                <a:solidFill>
                  <a:srgbClr val="C00000"/>
                </a:solidFill>
                <a:effectLst>
                  <a:outerShdw blurRad="38100" dist="38100" dir="2700000" algn="tl">
                    <a:srgbClr val="C0C0C0"/>
                  </a:outerShdw>
                </a:effectLst>
                <a:latin typeface="楷体_GB2312" pitchFamily="49" charset="-122"/>
                <a:ea typeface="楷体_GB2312" pitchFamily="49" charset="-122"/>
              </a:rPr>
              <a:t>?</a:t>
            </a:r>
            <a:endParaRPr kumimoji="1" lang="zh-CN" altLang="en-US" sz="20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12" name="Text Box 5"/>
          <p:cNvSpPr txBox="1">
            <a:spLocks noChangeArrowheads="1"/>
          </p:cNvSpPr>
          <p:nvPr/>
        </p:nvSpPr>
        <p:spPr bwMode="auto">
          <a:xfrm>
            <a:off x="8073350" y="5373135"/>
            <a:ext cx="3968314" cy="458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000" b="1" kern="1200" cap="none" spc="0" normalizeH="0" baseline="0" noProof="0" dirty="0">
                <a:solidFill>
                  <a:srgbClr val="C00000"/>
                </a:solidFill>
                <a:effectLst>
                  <a:outerShdw blurRad="38100" dist="38100" dir="2700000" algn="tl">
                    <a:srgbClr val="C0C0C0"/>
                  </a:outerShdw>
                </a:effectLst>
                <a:latin typeface="楷体_GB2312" pitchFamily="49" charset="-122"/>
                <a:ea typeface="楷体_GB2312" pitchFamily="49" charset="-122"/>
              </a:rPr>
              <a:t>答：尽量降低主键的存储空间</a:t>
            </a:r>
          </a:p>
        </p:txBody>
      </p:sp>
      <p:sp>
        <p:nvSpPr>
          <p:cNvPr id="13" name="Text Box 5"/>
          <p:cNvSpPr txBox="1">
            <a:spLocks noChangeArrowheads="1"/>
          </p:cNvSpPr>
          <p:nvPr/>
        </p:nvSpPr>
        <p:spPr bwMode="auto">
          <a:xfrm>
            <a:off x="7897877" y="5949175"/>
            <a:ext cx="4177713" cy="458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000" b="1" kern="1200" cap="none" spc="0" normalizeH="0" baseline="0" noProof="0" dirty="0">
                <a:solidFill>
                  <a:srgbClr val="C00000"/>
                </a:solidFill>
                <a:effectLst>
                  <a:outerShdw blurRad="38100" dist="38100" dir="2700000" algn="tl">
                    <a:srgbClr val="C0C0C0"/>
                  </a:outerShdw>
                </a:effectLst>
                <a:latin typeface="楷体_GB2312" pitchFamily="49" charset="-122"/>
                <a:ea typeface="楷体_GB2312" pitchFamily="49" charset="-122"/>
              </a:rPr>
              <a:t>思考：</a:t>
            </a:r>
            <a:r>
              <a:rPr kumimoji="1" lang="zh-CN" altLang="en-US" sz="20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rPr>
              <a:t>存储字符串‘</a:t>
            </a:r>
            <a:r>
              <a:rPr kumimoji="1" lang="en-US" altLang="zh-CN" sz="20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rPr>
              <a:t>123456789</a:t>
            </a:r>
            <a:r>
              <a:rPr kumimoji="1" lang="zh-CN" altLang="en-US" sz="20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rPr>
              <a:t>’和存储整数</a:t>
            </a:r>
            <a:r>
              <a:rPr kumimoji="1" lang="en-US" altLang="zh-CN" sz="20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rPr>
              <a:t>123456789</a:t>
            </a:r>
            <a:r>
              <a:rPr kumimoji="1" lang="zh-CN" altLang="en-US" sz="20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rPr>
              <a:t>，哪个空间大？</a:t>
            </a:r>
          </a:p>
        </p:txBody>
      </p:sp>
    </p:spTree>
    <p:extLst>
      <p:ext uri="{BB962C8B-B14F-4D97-AF65-F5344CB8AC3E}">
        <p14:creationId xmlns:p14="http://schemas.microsoft.com/office/powerpoint/2010/main" val="293102329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2"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2"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2"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2"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2"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2"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2"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2"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2"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4" grpId="2"/>
      <p:bldP spid="16" grpId="0"/>
      <p:bldP spid="16" grpId="1"/>
      <p:bldP spid="16" grpId="2"/>
      <p:bldP spid="17" grpId="0"/>
      <p:bldP spid="17" grpId="1"/>
      <p:bldP spid="17" grpId="2"/>
      <p:bldP spid="18" grpId="0"/>
      <p:bldP spid="18" grpId="1"/>
      <p:bldP spid="18" grpId="2"/>
      <p:bldP spid="19" grpId="0"/>
      <p:bldP spid="19" grpId="1"/>
      <p:bldP spid="19" grpId="2"/>
      <p:bldP spid="20" grpId="0"/>
      <p:bldP spid="20" grpId="1"/>
      <p:bldP spid="20" grpId="2"/>
      <p:bldP spid="21" grpId="0"/>
      <p:bldP spid="21" grpId="1"/>
      <p:bldP spid="21" grpId="2"/>
      <p:bldP spid="12" grpId="0"/>
      <p:bldP spid="12" grpId="1"/>
      <p:bldP spid="12" grpId="2"/>
      <p:bldP spid="13" grpId="0"/>
      <p:bldP spid="13" grpId="1"/>
      <p:bldP spid="13" grpId="2"/>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zh-CN" altLang="en-US" sz="4000" b="1" dirty="0">
                <a:solidFill>
                  <a:schemeClr val="bg1"/>
                </a:solidFill>
                <a:latin typeface="+mn-ea"/>
                <a:ea typeface="+mn-ea"/>
                <a:sym typeface="Impact" panose="020B0806030902050204" pitchFamily="34" charset="0"/>
              </a:rPr>
              <a:t>创建</a:t>
            </a: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聚集索引</a:t>
            </a:r>
          </a:p>
        </p:txBody>
      </p:sp>
      <p:sp>
        <p:nvSpPr>
          <p:cNvPr id="4" name="Text Box 5"/>
          <p:cNvSpPr txBox="1">
            <a:spLocks noChangeArrowheads="1"/>
          </p:cNvSpPr>
          <p:nvPr/>
        </p:nvSpPr>
        <p:spPr bwMode="auto">
          <a:xfrm>
            <a:off x="701055" y="1052835"/>
            <a:ext cx="5307459" cy="533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800" b="1" kern="1200" cap="none" spc="0" normalizeH="0" baseline="0" noProof="0" dirty="0">
                <a:solidFill>
                  <a:srgbClr val="C00000"/>
                </a:solidFill>
                <a:effectLst>
                  <a:outerShdw blurRad="38100" dist="38100" dir="2700000" algn="tl">
                    <a:srgbClr val="C0C0C0"/>
                  </a:outerShdw>
                </a:effectLst>
                <a:latin typeface="楷体_GB2312" pitchFamily="49" charset="-122"/>
                <a:ea typeface="楷体_GB2312" pitchFamily="49" charset="-122"/>
              </a:rPr>
              <a:t>创建方式一：</a:t>
            </a:r>
            <a:r>
              <a:rPr kumimoji="1" lang="zh-CN" altLang="en-US" sz="28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rPr>
              <a:t>在建表时定义主键</a:t>
            </a:r>
          </a:p>
        </p:txBody>
      </p:sp>
      <p:sp>
        <p:nvSpPr>
          <p:cNvPr id="16" name="Text Box 5"/>
          <p:cNvSpPr txBox="1">
            <a:spLocks noChangeArrowheads="1"/>
          </p:cNvSpPr>
          <p:nvPr/>
        </p:nvSpPr>
        <p:spPr bwMode="auto">
          <a:xfrm>
            <a:off x="1203151" y="4106242"/>
            <a:ext cx="6984248" cy="533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ALTER TABLE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stu</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ADD PRIMARY KEY(</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sno</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endParaRPr kumimoji="1" lang="zh-CN" altLang="en-US" sz="24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11" name="Text Box 5"/>
          <p:cNvSpPr txBox="1">
            <a:spLocks noChangeArrowheads="1"/>
          </p:cNvSpPr>
          <p:nvPr/>
        </p:nvSpPr>
        <p:spPr bwMode="auto">
          <a:xfrm>
            <a:off x="710461" y="4762851"/>
            <a:ext cx="7272505" cy="674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400" b="1" dirty="0">
                <a:solidFill>
                  <a:srgbClr val="FF0000"/>
                </a:solidFill>
                <a:effectLst>
                  <a:outerShdw blurRad="38100" dist="38100" dir="2700000" algn="tl">
                    <a:srgbClr val="C0C0C0"/>
                  </a:outerShdw>
                </a:effectLst>
                <a:latin typeface="楷体_GB2312" pitchFamily="49" charset="-122"/>
                <a:ea typeface="楷体_GB2312" pitchFamily="49" charset="-122"/>
              </a:rPr>
              <a:t>问题</a:t>
            </a:r>
            <a:r>
              <a:rPr kumimoji="1" lang="en-US" altLang="zh-CN" sz="2400" b="1" dirty="0">
                <a:solidFill>
                  <a:srgbClr val="FF0000"/>
                </a:solidFill>
                <a:effectLst>
                  <a:outerShdw blurRad="38100" dist="38100" dir="2700000" algn="tl">
                    <a:srgbClr val="C0C0C0"/>
                  </a:outerShdw>
                </a:effectLst>
                <a:latin typeface="楷体_GB2312" pitchFamily="49" charset="-122"/>
                <a:ea typeface="楷体_GB2312" pitchFamily="49" charset="-122"/>
              </a:rPr>
              <a:t>:</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如果不定义主键能否创建聚集索引？</a:t>
            </a:r>
            <a:endParaRPr kumimoji="1" lang="zh-CN" altLang="en-US" sz="24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12" name="Text Box 5"/>
          <p:cNvSpPr txBox="1">
            <a:spLocks noChangeArrowheads="1"/>
          </p:cNvSpPr>
          <p:nvPr/>
        </p:nvSpPr>
        <p:spPr bwMode="auto">
          <a:xfrm>
            <a:off x="482785" y="5437608"/>
            <a:ext cx="11304785" cy="1294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marL="342900" indent="-342900">
              <a:lnSpc>
                <a:spcPct val="110000"/>
              </a:lnSpc>
              <a:buClr>
                <a:srgbClr val="32C6CA"/>
              </a:buClr>
              <a:buSzPct val="80000"/>
              <a:buFont typeface="Wingdings" panose="05000000000000000000" pitchFamily="2" charset="2"/>
              <a:buChar char="u"/>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如果不定义主键，系统将使用第一个唯一（</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UNIQUE</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）索引创建聚集索引。</a:t>
            </a:r>
          </a:p>
          <a:p>
            <a:pPr marL="342900" indent="-342900">
              <a:lnSpc>
                <a:spcPct val="110000"/>
              </a:lnSpc>
              <a:buClr>
                <a:srgbClr val="32C6CA"/>
              </a:buClr>
              <a:buSzPct val="80000"/>
              <a:buFont typeface="Wingdings" panose="05000000000000000000" pitchFamily="2" charset="2"/>
              <a:buChar char="u"/>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如果表没有主键，且没有唯一索引，则系统会自动生成一个</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rowid</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作为隐藏的聚集索引主键。</a:t>
            </a:r>
            <a:endParaRPr kumimoji="1" lang="zh-CN" altLang="en-US" sz="24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6870" y="1628875"/>
            <a:ext cx="4177080" cy="18535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ext Box 5"/>
          <p:cNvSpPr txBox="1">
            <a:spLocks noChangeArrowheads="1"/>
          </p:cNvSpPr>
          <p:nvPr/>
        </p:nvSpPr>
        <p:spPr bwMode="auto">
          <a:xfrm>
            <a:off x="701054" y="3501005"/>
            <a:ext cx="10150451" cy="533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800" b="1" kern="1200" cap="none" spc="0" normalizeH="0" baseline="0" noProof="0" dirty="0">
                <a:solidFill>
                  <a:srgbClr val="C00000"/>
                </a:solidFill>
                <a:effectLst>
                  <a:outerShdw blurRad="38100" dist="38100" dir="2700000" algn="tl">
                    <a:srgbClr val="C0C0C0"/>
                  </a:outerShdw>
                </a:effectLst>
                <a:latin typeface="楷体_GB2312" pitchFamily="49" charset="-122"/>
                <a:ea typeface="楷体_GB2312" pitchFamily="49" charset="-122"/>
              </a:rPr>
              <a:t>创建方式二：</a:t>
            </a:r>
            <a:r>
              <a:rPr kumimoji="1" lang="zh-CN" altLang="en-US" sz="28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rPr>
              <a:t>修改表时创建，如表是从外部导入的则没有主键。</a:t>
            </a:r>
          </a:p>
        </p:txBody>
      </p:sp>
      <p:sp>
        <p:nvSpPr>
          <p:cNvPr id="2" name="圆角矩形 1"/>
          <p:cNvSpPr/>
          <p:nvPr/>
        </p:nvSpPr>
        <p:spPr bwMode="auto">
          <a:xfrm>
            <a:off x="3795410" y="1916895"/>
            <a:ext cx="1799730" cy="360025"/>
          </a:xfrm>
          <a:prstGeom prst="roundRect">
            <a:avLst/>
          </a:prstGeom>
          <a:noFill/>
          <a:ln w="28575">
            <a:solidFill>
              <a:srgbClr val="FF0000"/>
            </a:solidFill>
          </a:ln>
        </p:spPr>
        <p:txBody>
          <a:bodyPr rtlCol="0" anchor="ctr"/>
          <a:lstStyle/>
          <a:p>
            <a:pPr algn="ct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2" name="圆角矩形 21"/>
          <p:cNvSpPr/>
          <p:nvPr/>
        </p:nvSpPr>
        <p:spPr bwMode="auto">
          <a:xfrm>
            <a:off x="2138899" y="2780955"/>
            <a:ext cx="2556375" cy="360025"/>
          </a:xfrm>
          <a:prstGeom prst="roundRect">
            <a:avLst/>
          </a:prstGeom>
          <a:noFill/>
          <a:ln w="28575">
            <a:solidFill>
              <a:srgbClr val="FF0000"/>
            </a:solidFill>
          </a:ln>
        </p:spPr>
        <p:txBody>
          <a:bodyPr rtlCol="0" anchor="ctr"/>
          <a:lstStyle/>
          <a:p>
            <a:pPr algn="ctr"/>
            <a:endParaRPr lang="zh-CN" altLang="en-US" sz="32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8121739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2"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wipe(down)">
                                      <p:cBhvr>
                                        <p:cTn id="12" dur="500"/>
                                        <p:tgtEl>
                                          <p:spTgt spid="10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down)">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2"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2"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2"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2"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4" grpId="2"/>
      <p:bldP spid="16" grpId="0"/>
      <p:bldP spid="16" grpId="1"/>
      <p:bldP spid="16" grpId="2"/>
      <p:bldP spid="11" grpId="0"/>
      <p:bldP spid="11" grpId="1"/>
      <p:bldP spid="11" grpId="2"/>
      <p:bldP spid="12" grpId="0"/>
      <p:bldP spid="12" grpId="1"/>
      <p:bldP spid="12" grpId="2"/>
      <p:bldP spid="14" grpId="0"/>
      <p:bldP spid="14" grpId="1"/>
      <p:bldP spid="14" grpId="2"/>
      <p:bldP spid="2" grpId="0" animBg="1"/>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创建二级索引</a:t>
            </a: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23010" y="1346450"/>
            <a:ext cx="7912074" cy="5274706"/>
          </a:xfrm>
          <a:prstGeom prst="rect">
            <a:avLst/>
          </a:prstGeom>
        </p:spPr>
      </p:pic>
      <p:sp>
        <p:nvSpPr>
          <p:cNvPr id="4" name="Text Box 5"/>
          <p:cNvSpPr txBox="1">
            <a:spLocks noChangeArrowheads="1"/>
          </p:cNvSpPr>
          <p:nvPr/>
        </p:nvSpPr>
        <p:spPr bwMode="auto">
          <a:xfrm>
            <a:off x="395690" y="1079834"/>
            <a:ext cx="5904410" cy="533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gn="r">
              <a:lnSpc>
                <a:spcPct val="110000"/>
              </a:lnSpc>
              <a:buClr>
                <a:srgbClr val="32C6CA"/>
              </a:buClr>
              <a:buSzPct val="80000"/>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二级索引是在</a:t>
            </a:r>
            <a:r>
              <a:rPr kumimoji="1" lang="zh-CN" altLang="en-US" sz="2400" b="1" dirty="0">
                <a:solidFill>
                  <a:schemeClr val="accent6"/>
                </a:solidFill>
                <a:effectLst>
                  <a:outerShdw blurRad="38100" dist="38100" dir="2700000" algn="tl">
                    <a:srgbClr val="C0C0C0"/>
                  </a:outerShdw>
                </a:effectLst>
                <a:latin typeface="楷体_GB2312" pitchFamily="49" charset="-122"/>
                <a:ea typeface="楷体_GB2312" pitchFamily="49" charset="-122"/>
              </a:rPr>
              <a:t>非主键字段</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上创建的索引；</a:t>
            </a:r>
            <a:endParaRPr kumimoji="1" lang="zh-CN" altLang="en-US" sz="24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5" name="Text Box 5"/>
          <p:cNvSpPr txBox="1">
            <a:spLocks noChangeArrowheads="1"/>
          </p:cNvSpPr>
          <p:nvPr/>
        </p:nvSpPr>
        <p:spPr bwMode="auto">
          <a:xfrm>
            <a:off x="266770" y="1874696"/>
            <a:ext cx="3312230" cy="4732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50000"/>
              </a:lnSpc>
              <a:buClr>
                <a:srgbClr val="32C6CA"/>
              </a:buClr>
              <a:buSzPct val="80000"/>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二级索引特点如下：</a:t>
            </a:r>
            <a:endPar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342900" indent="-342900">
              <a:lnSpc>
                <a:spcPct val="150000"/>
              </a:lnSpc>
              <a:buClr>
                <a:srgbClr val="32C6CA"/>
              </a:buClr>
              <a:buSzPct val="80000"/>
              <a:buFont typeface="Wingdings" panose="05000000000000000000" pitchFamily="2" charset="2"/>
              <a:buChar char="u"/>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数据页中按拼音顺序存储</a:t>
            </a:r>
            <a:r>
              <a:rPr kumimoji="1" lang="zh-CN" altLang="en-US" sz="2400" b="1" dirty="0">
                <a:solidFill>
                  <a:schemeClr val="accent6"/>
                </a:solidFill>
                <a:effectLst>
                  <a:outerShdw blurRad="38100" dist="38100" dir="2700000" algn="tl">
                    <a:srgbClr val="C0C0C0"/>
                  </a:outerShdw>
                </a:effectLst>
                <a:latin typeface="楷体_GB2312" pitchFamily="49" charset="-122"/>
                <a:ea typeface="楷体_GB2312" pitchFamily="49" charset="-122"/>
              </a:rPr>
              <a:t>索引键值</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，并存储相应的</a:t>
            </a:r>
            <a:r>
              <a:rPr kumimoji="1" lang="zh-CN" altLang="en-US" sz="2400" b="1" dirty="0">
                <a:solidFill>
                  <a:schemeClr val="accent6"/>
                </a:solidFill>
                <a:effectLst>
                  <a:outerShdw blurRad="38100" dist="38100" dir="2700000" algn="tl">
                    <a:srgbClr val="C0C0C0"/>
                  </a:outerShdw>
                </a:effectLst>
                <a:latin typeface="楷体_GB2312" pitchFamily="49" charset="-122"/>
                <a:ea typeface="楷体_GB2312" pitchFamily="49" charset="-122"/>
              </a:rPr>
              <a:t>主键值；</a:t>
            </a:r>
            <a:endParaRPr kumimoji="1" lang="en-US" altLang="zh-CN" sz="2400" b="1" dirty="0">
              <a:solidFill>
                <a:schemeClr val="accent6"/>
              </a:solidFill>
              <a:effectLst>
                <a:outerShdw blurRad="38100" dist="38100" dir="2700000" algn="tl">
                  <a:srgbClr val="C0C0C0"/>
                </a:outerShdw>
              </a:effectLst>
              <a:latin typeface="楷体_GB2312" pitchFamily="49" charset="-122"/>
              <a:ea typeface="楷体_GB2312" pitchFamily="49" charset="-122"/>
            </a:endParaRPr>
          </a:p>
          <a:p>
            <a:pPr marL="342900" indent="-342900">
              <a:lnSpc>
                <a:spcPct val="150000"/>
              </a:lnSpc>
              <a:buClr>
                <a:srgbClr val="32C6CA"/>
              </a:buClr>
              <a:buSzPct val="80000"/>
              <a:buFont typeface="Wingdings" panose="05000000000000000000" pitchFamily="2" charset="2"/>
              <a:buChar char="u"/>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目录页中存储</a:t>
            </a:r>
            <a:r>
              <a:rPr kumimoji="1" lang="zh-CN" altLang="en-US" sz="2400" b="1" dirty="0">
                <a:solidFill>
                  <a:schemeClr val="accent6"/>
                </a:solidFill>
                <a:effectLst>
                  <a:outerShdw blurRad="38100" dist="38100" dir="2700000" algn="tl">
                    <a:srgbClr val="C0C0C0"/>
                  </a:outerShdw>
                </a:effectLst>
                <a:latin typeface="楷体_GB2312" pitchFamily="49" charset="-122"/>
                <a:ea typeface="楷体_GB2312" pitchFamily="49" charset="-122"/>
              </a:rPr>
              <a:t>索引键值</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和</a:t>
            </a:r>
            <a:r>
              <a:rPr kumimoji="1" lang="zh-CN" altLang="en-US" sz="2400" b="1" dirty="0">
                <a:solidFill>
                  <a:schemeClr val="accent6"/>
                </a:solidFill>
                <a:effectLst>
                  <a:outerShdw blurRad="38100" dist="38100" dir="2700000" algn="tl">
                    <a:srgbClr val="C0C0C0"/>
                  </a:outerShdw>
                </a:effectLst>
                <a:latin typeface="楷体_GB2312" pitchFamily="49" charset="-122"/>
                <a:ea typeface="楷体_GB2312" pitchFamily="49" charset="-122"/>
              </a:rPr>
              <a:t>页指针</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endPar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342900" indent="-342900">
              <a:lnSpc>
                <a:spcPct val="150000"/>
              </a:lnSpc>
              <a:buClr>
                <a:srgbClr val="32C6CA"/>
              </a:buClr>
              <a:buSzPct val="80000"/>
              <a:buFont typeface="Wingdings" panose="05000000000000000000" pitchFamily="2" charset="2"/>
              <a:buChar char="u"/>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每张表有多个字段，可创建</a:t>
            </a:r>
            <a:r>
              <a:rPr kumimoji="1" lang="zh-CN" altLang="en-US" sz="2400" b="1" dirty="0">
                <a:solidFill>
                  <a:schemeClr val="accent6"/>
                </a:solidFill>
                <a:effectLst>
                  <a:outerShdw blurRad="38100" dist="38100" dir="2700000" algn="tl">
                    <a:srgbClr val="C0C0C0"/>
                  </a:outerShdw>
                </a:effectLst>
                <a:latin typeface="楷体_GB2312" pitchFamily="49" charset="-122"/>
                <a:ea typeface="楷体_GB2312" pitchFamily="49" charset="-122"/>
              </a:rPr>
              <a:t>多个二级索引</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endParaRPr kumimoji="1" lang="zh-CN" altLang="en-US" sz="20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Tree>
    <p:extLst>
      <p:ext uri="{BB962C8B-B14F-4D97-AF65-F5344CB8AC3E}">
        <p14:creationId xmlns:p14="http://schemas.microsoft.com/office/powerpoint/2010/main" val="266875447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2"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2"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xEl>
                                              <p:pRg st="0" end="0"/>
                                            </p:txEl>
                                          </p:spTgt>
                                        </p:tgtEl>
                                        <p:attrNameLst>
                                          <p:attrName>style.visibility</p:attrName>
                                        </p:attrNameLst>
                                      </p:cBhvr>
                                      <p:to>
                                        <p:strVal val="visible"/>
                                      </p:to>
                                    </p:set>
                                    <p:animEffect transition="in" filter="fade">
                                      <p:cBhvr>
                                        <p:cTn id="20" dur="500"/>
                                        <p:tgtEl>
                                          <p:spTgt spid="5">
                                            <p:txEl>
                                              <p:pRg st="0" end="0"/>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animEffect transition="in" filter="fade">
                                      <p:cBhvr>
                                        <p:cTn id="23" dur="500"/>
                                        <p:tgtEl>
                                          <p:spTgt spid="5">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
                                            <p:txEl>
                                              <p:pRg st="2" end="2"/>
                                            </p:txEl>
                                          </p:spTgt>
                                        </p:tgtEl>
                                        <p:attrNameLst>
                                          <p:attrName>style.visibility</p:attrName>
                                        </p:attrNameLst>
                                      </p:cBhvr>
                                      <p:to>
                                        <p:strVal val="visible"/>
                                      </p:to>
                                    </p:set>
                                    <p:animEffect transition="in" filter="fade">
                                      <p:cBhvr>
                                        <p:cTn id="28" dur="500"/>
                                        <p:tgtEl>
                                          <p:spTgt spid="5">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
                                            <p:txEl>
                                              <p:pRg st="3" end="3"/>
                                            </p:txEl>
                                          </p:spTgt>
                                        </p:tgtEl>
                                        <p:attrNameLst>
                                          <p:attrName>style.visibility</p:attrName>
                                        </p:attrNameLst>
                                      </p:cBhvr>
                                      <p:to>
                                        <p:strVal val="visible"/>
                                      </p:to>
                                    </p:set>
                                    <p:animEffect transition="in" filter="fade">
                                      <p:cBhvr>
                                        <p:cTn id="33"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4" grpId="2"/>
      <p:bldP spid="5" grpId="0"/>
      <p:bldP spid="5" grpId="1"/>
      <p:bldP spid="5" grpId="2"/>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86A0F-F5F4-0D2A-A4C0-520D2D894726}"/>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F55A445C-FEBB-A271-F78C-1AC4BBC1E11A}"/>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创建二级索引</a:t>
            </a:r>
          </a:p>
        </p:txBody>
      </p:sp>
      <p:sp>
        <p:nvSpPr>
          <p:cNvPr id="4" name="Text Box 5">
            <a:extLst>
              <a:ext uri="{FF2B5EF4-FFF2-40B4-BE49-F238E27FC236}">
                <a16:creationId xmlns:a16="http://schemas.microsoft.com/office/drawing/2014/main" id="{7DAF421B-E38E-2A5A-A579-D4A906F4E0B5}"/>
              </a:ext>
            </a:extLst>
          </p:cNvPr>
          <p:cNvSpPr txBox="1">
            <a:spLocks noChangeArrowheads="1"/>
          </p:cNvSpPr>
          <p:nvPr/>
        </p:nvSpPr>
        <p:spPr bwMode="auto">
          <a:xfrm>
            <a:off x="395690" y="1079834"/>
            <a:ext cx="5904410" cy="533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gn="r">
              <a:lnSpc>
                <a:spcPct val="110000"/>
              </a:lnSpc>
              <a:buClr>
                <a:srgbClr val="32C6CA"/>
              </a:buClr>
              <a:buSzPct val="80000"/>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二级索引是在非主键字段上创建的索引；</a:t>
            </a:r>
            <a:endParaRPr kumimoji="1" lang="zh-CN" altLang="en-US" sz="24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14" name="Text Box 5">
            <a:extLst>
              <a:ext uri="{FF2B5EF4-FFF2-40B4-BE49-F238E27FC236}">
                <a16:creationId xmlns:a16="http://schemas.microsoft.com/office/drawing/2014/main" id="{4869B264-12E0-1FB0-A449-DC107BC53DAD}"/>
              </a:ext>
            </a:extLst>
          </p:cNvPr>
          <p:cNvSpPr txBox="1">
            <a:spLocks noChangeArrowheads="1"/>
          </p:cNvSpPr>
          <p:nvPr/>
        </p:nvSpPr>
        <p:spPr bwMode="auto">
          <a:xfrm>
            <a:off x="395690" y="1600531"/>
            <a:ext cx="10167795" cy="3484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1</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CREATE TABLE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tudent</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p>
          <a:p>
            <a:pPr>
              <a:lnSpc>
                <a:spcPct val="110000"/>
              </a:lnSpc>
              <a:buClr>
                <a:srgbClr val="32C6CA"/>
              </a:buClr>
              <a:buSzPct val="80000"/>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a:t>
            </a:r>
          </a:p>
          <a:p>
            <a:pPr>
              <a:lnSpc>
                <a:spcPct val="110000"/>
              </a:lnSpc>
              <a:buClr>
                <a:srgbClr val="32C6CA"/>
              </a:buClr>
              <a:buSzPct val="80000"/>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INDEX </a:t>
            </a:r>
            <a:r>
              <a:rPr kumimoji="1" lang="en-US" altLang="zh-CN" sz="2400" b="1" dirty="0" err="1">
                <a:solidFill>
                  <a:srgbClr val="C00000"/>
                </a:solidFill>
                <a:effectLst>
                  <a:outerShdw blurRad="38100" dist="38100" dir="2700000" algn="tl">
                    <a:srgbClr val="C0C0C0"/>
                  </a:outerShdw>
                </a:effectLst>
                <a:latin typeface="楷体_GB2312" pitchFamily="49" charset="-122"/>
                <a:ea typeface="楷体_GB2312" pitchFamily="49" charset="-122"/>
              </a:rPr>
              <a:t>idx_sname</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err="1">
                <a:solidFill>
                  <a:srgbClr val="C00000"/>
                </a:solidFill>
                <a:effectLst>
                  <a:outerShdw blurRad="38100" dist="38100" dir="2700000" algn="tl">
                    <a:srgbClr val="C0C0C0"/>
                  </a:outerShdw>
                </a:effectLst>
                <a:latin typeface="楷体_GB2312" pitchFamily="49" charset="-122"/>
                <a:ea typeface="楷体_GB2312" pitchFamily="49" charset="-122"/>
              </a:rPr>
              <a:t>sname</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 </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a:t>
            </a:r>
          </a:p>
          <a:p>
            <a:pPr>
              <a:lnSpc>
                <a:spcPct val="110000"/>
              </a:lnSpc>
              <a:buClr>
                <a:srgbClr val="32C6CA"/>
              </a:buClr>
              <a:buSzPct val="80000"/>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a:t>
            </a:r>
          </a:p>
          <a:p>
            <a:pPr>
              <a:lnSpc>
                <a:spcPct val="110000"/>
              </a:lnSpc>
              <a:buClr>
                <a:srgbClr val="32C6CA"/>
              </a:buClr>
              <a:buSzPct val="80000"/>
              <a:defRPr/>
            </a:pPr>
            <a:r>
              <a:rPr kumimoji="1" lang="zh-CN" altLang="en-US" sz="24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rPr>
              <a:t>2</a:t>
            </a:r>
            <a:r>
              <a:rPr kumimoji="1" lang="zh-CN" altLang="en-US" sz="24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CREATE </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INDEX</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idx_sname</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ON</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student(</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sname</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endParaRPr kumimoji="1" lang="zh-CN" altLang="en-US" sz="24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Tree>
    <p:extLst>
      <p:ext uri="{BB962C8B-B14F-4D97-AF65-F5344CB8AC3E}">
        <p14:creationId xmlns:p14="http://schemas.microsoft.com/office/powerpoint/2010/main" val="335789400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2"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fade">
                                      <p:cBhvr>
                                        <p:cTn id="12" dur="500"/>
                                        <p:tgtEl>
                                          <p:spTgt spid="14">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4">
                                            <p:txEl>
                                              <p:pRg st="1" end="1"/>
                                            </p:txEl>
                                          </p:spTgt>
                                        </p:tgtEl>
                                        <p:attrNameLst>
                                          <p:attrName>style.visibility</p:attrName>
                                        </p:attrNameLst>
                                      </p:cBhvr>
                                      <p:to>
                                        <p:strVal val="visible"/>
                                      </p:to>
                                    </p:set>
                                    <p:animEffect transition="in" filter="fade">
                                      <p:cBhvr>
                                        <p:cTn id="15" dur="500"/>
                                        <p:tgtEl>
                                          <p:spTgt spid="14">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xEl>
                                              <p:pRg st="2" end="2"/>
                                            </p:txEl>
                                          </p:spTgt>
                                        </p:tgtEl>
                                        <p:attrNameLst>
                                          <p:attrName>style.visibility</p:attrName>
                                        </p:attrNameLst>
                                      </p:cBhvr>
                                      <p:to>
                                        <p:strVal val="visible"/>
                                      </p:to>
                                    </p:set>
                                    <p:animEffect transition="in" filter="fade">
                                      <p:cBhvr>
                                        <p:cTn id="18" dur="500"/>
                                        <p:tgtEl>
                                          <p:spTgt spid="14">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xEl>
                                              <p:pRg st="3" end="3"/>
                                            </p:txEl>
                                          </p:spTgt>
                                        </p:tgtEl>
                                        <p:attrNameLst>
                                          <p:attrName>style.visibility</p:attrName>
                                        </p:attrNameLst>
                                      </p:cBhvr>
                                      <p:to>
                                        <p:strVal val="visible"/>
                                      </p:to>
                                    </p:set>
                                    <p:animEffect transition="in" filter="fade">
                                      <p:cBhvr>
                                        <p:cTn id="21" dur="500"/>
                                        <p:tgtEl>
                                          <p:spTgt spid="14">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2"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xEl>
                                              <p:pRg st="4" end="4"/>
                                            </p:txEl>
                                          </p:spTgt>
                                        </p:tgtEl>
                                        <p:attrNameLst>
                                          <p:attrName>style.visibility</p:attrName>
                                        </p:attrNameLst>
                                      </p:cBhvr>
                                      <p:to>
                                        <p:strVal val="visible"/>
                                      </p:to>
                                    </p:set>
                                    <p:animEffect transition="in" filter="fade">
                                      <p:cBhvr>
                                        <p:cTn id="31" dur="500"/>
                                        <p:tgtEl>
                                          <p:spTgt spid="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4" grpId="2"/>
      <p:bldP spid="14" grpId="0"/>
      <p:bldP spid="14" grpId="1"/>
      <p:bldP spid="14" grpId="2"/>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使用二级索引查询</a:t>
            </a: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5115" y="1332279"/>
            <a:ext cx="6831999" cy="5274706"/>
          </a:xfrm>
          <a:prstGeom prst="rect">
            <a:avLst/>
          </a:prstGeom>
        </p:spPr>
      </p:pic>
      <p:sp>
        <p:nvSpPr>
          <p:cNvPr id="4" name="Text Box 5"/>
          <p:cNvSpPr txBox="1">
            <a:spLocks noChangeArrowheads="1"/>
          </p:cNvSpPr>
          <p:nvPr/>
        </p:nvSpPr>
        <p:spPr bwMode="auto">
          <a:xfrm>
            <a:off x="395688" y="1282825"/>
            <a:ext cx="6783562" cy="533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gn="r">
              <a:lnSpc>
                <a:spcPct val="110000"/>
              </a:lnSpc>
              <a:buClr>
                <a:srgbClr val="32C6CA"/>
              </a:buClr>
              <a:buSzPct val="80000"/>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SELECT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sno</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FROM student WHERE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sname</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王林</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endParaRPr kumimoji="1" lang="zh-CN" altLang="en-US" sz="24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5" name="Text Box 5"/>
          <p:cNvSpPr txBox="1">
            <a:spLocks noChangeArrowheads="1"/>
          </p:cNvSpPr>
          <p:nvPr/>
        </p:nvSpPr>
        <p:spPr bwMode="auto">
          <a:xfrm>
            <a:off x="405309" y="1916895"/>
            <a:ext cx="4839426" cy="936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先后调入内存的页：</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目录页</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1→</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目录页</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2 →</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数据页</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7→</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数据页</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6</a:t>
            </a:r>
            <a:endPar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endParaRPr>
          </a:p>
        </p:txBody>
      </p:sp>
      <p:sp>
        <p:nvSpPr>
          <p:cNvPr id="7" name="Text Box 5"/>
          <p:cNvSpPr txBox="1">
            <a:spLocks noChangeArrowheads="1"/>
          </p:cNvSpPr>
          <p:nvPr/>
        </p:nvSpPr>
        <p:spPr bwMode="auto">
          <a:xfrm>
            <a:off x="395687" y="3003537"/>
            <a:ext cx="4983437" cy="533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查询任务在二级索引中就能完成；</a:t>
            </a:r>
            <a:endParaRPr kumimoji="1" lang="zh-CN" altLang="en-US" sz="24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8" name="Text Box 5"/>
          <p:cNvSpPr txBox="1">
            <a:spLocks noChangeArrowheads="1"/>
          </p:cNvSpPr>
          <p:nvPr/>
        </p:nvSpPr>
        <p:spPr bwMode="auto">
          <a:xfrm>
            <a:off x="194765" y="3789025"/>
            <a:ext cx="5049970" cy="1584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思考：</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SELECT * FROM student WHERE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sname</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王林</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p>
          <a:p>
            <a:pPr>
              <a:lnSpc>
                <a:spcPct val="110000"/>
              </a:lnSpc>
              <a:buClr>
                <a:srgbClr val="32C6CA"/>
              </a:buClr>
              <a:buSzPct val="80000"/>
              <a:defRPr/>
            </a:pPr>
            <a:r>
              <a:rPr kumimoji="1" lang="zh-CN" altLang="en-US" sz="2400" b="1" kern="1200" cap="none" spc="0" normalizeH="0" baseline="0" noProof="0" dirty="0">
                <a:solidFill>
                  <a:srgbClr val="C00000"/>
                </a:solidFill>
                <a:effectLst>
                  <a:outerShdw blurRad="38100" dist="38100" dir="2700000" algn="tl">
                    <a:srgbClr val="C0C0C0"/>
                  </a:outerShdw>
                </a:effectLst>
                <a:latin typeface="楷体_GB2312" pitchFamily="49" charset="-122"/>
                <a:ea typeface="楷体_GB2312" pitchFamily="49" charset="-122"/>
              </a:rPr>
              <a:t>这个查询在二级索引中能否完成？</a:t>
            </a:r>
          </a:p>
        </p:txBody>
      </p:sp>
    </p:spTree>
    <p:extLst>
      <p:ext uri="{BB962C8B-B14F-4D97-AF65-F5344CB8AC3E}">
        <p14:creationId xmlns:p14="http://schemas.microsoft.com/office/powerpoint/2010/main" val="241903768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2"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2"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2"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2"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4" grpId="2"/>
      <p:bldP spid="5" grpId="0"/>
      <p:bldP spid="5" grpId="1"/>
      <p:bldP spid="5" grpId="2"/>
      <p:bldP spid="7" grpId="0"/>
      <p:bldP spid="7" grpId="1"/>
      <p:bldP spid="7" grpId="2"/>
      <p:bldP spid="8" grpId="0"/>
      <p:bldP spid="8" grpId="1"/>
      <p:bldP spid="8" grpId="2"/>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zh-CN" altLang="en-US" sz="4000" b="1" dirty="0">
                <a:solidFill>
                  <a:schemeClr val="bg1"/>
                </a:solidFill>
                <a:latin typeface="+mn-ea"/>
                <a:ea typeface="+mn-ea"/>
                <a:sym typeface="Impact" panose="020B0806030902050204" pitchFamily="34" charset="0"/>
              </a:rPr>
              <a:t>回表查询</a:t>
            </a:r>
            <a:endPar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75216"/>
            <a:ext cx="11899160" cy="4392306"/>
          </a:xfrm>
          <a:prstGeom prst="rect">
            <a:avLst/>
          </a:prstGeom>
        </p:spPr>
      </p:pic>
      <p:sp>
        <p:nvSpPr>
          <p:cNvPr id="11" name="Text Box 5"/>
          <p:cNvSpPr txBox="1">
            <a:spLocks noChangeArrowheads="1"/>
          </p:cNvSpPr>
          <p:nvPr/>
        </p:nvSpPr>
        <p:spPr bwMode="auto">
          <a:xfrm>
            <a:off x="522370" y="5661739"/>
            <a:ext cx="11265200" cy="50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10000"/>
              </a:lnSpc>
              <a:buClr>
                <a:srgbClr val="32C6CA"/>
              </a:buClr>
              <a:buSzPct val="80000"/>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思考</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为什么在写</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SELECT</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语句时，</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SELECT</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后面尽量写字段名而不用“</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endParaRPr kumimoji="1" lang="zh-CN" altLang="en-US" sz="2400" b="1" kern="1200" cap="none" spc="0" normalizeH="0" baseline="0" noProof="0"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Tree>
    <p:extLst>
      <p:ext uri="{BB962C8B-B14F-4D97-AF65-F5344CB8AC3E}">
        <p14:creationId xmlns:p14="http://schemas.microsoft.com/office/powerpoint/2010/main" val="300191418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2"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1" grpId="2"/>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索引的设计原则</a:t>
            </a:r>
          </a:p>
        </p:txBody>
      </p:sp>
      <p:sp>
        <p:nvSpPr>
          <p:cNvPr id="100" name="文本框 99"/>
          <p:cNvSpPr txBox="1"/>
          <p:nvPr/>
        </p:nvSpPr>
        <p:spPr>
          <a:xfrm>
            <a:off x="363220" y="1112520"/>
            <a:ext cx="11580495" cy="523220"/>
          </a:xfrm>
          <a:prstGeom prst="rect">
            <a:avLst/>
          </a:prstGeom>
          <a:noFill/>
          <a:ln w="9525">
            <a:noFill/>
          </a:ln>
        </p:spPr>
        <p:txBody>
          <a:bodyPr wrap="square">
            <a:spAutoFit/>
          </a:bodyPr>
          <a:lstStyle/>
          <a:p>
            <a:pPr indent="266700"/>
            <a:r>
              <a:rPr kumimoji="1" lang="zh-CN" altLang="en-US" sz="2800" b="1" noProof="0" dirty="0">
                <a:solidFill>
                  <a:srgbClr val="002060"/>
                </a:solidFill>
                <a:effectLst>
                  <a:outerShdw blurRad="38100" dist="38100" dir="2700000" algn="tl">
                    <a:srgbClr val="C0C0C0"/>
                  </a:outerShdw>
                </a:effectLst>
                <a:latin typeface="楷体_GB2312" pitchFamily="49" charset="-122"/>
                <a:ea typeface="楷体_GB2312" pitchFamily="49" charset="-122"/>
              </a:rPr>
              <a:t>为使索引的使用效率更高，在创建索引时，通常遵循以下设计原则：</a:t>
            </a:r>
          </a:p>
        </p:txBody>
      </p:sp>
      <p:sp>
        <p:nvSpPr>
          <p:cNvPr id="3" name="文本框 2"/>
          <p:cNvSpPr txBox="1"/>
          <p:nvPr/>
        </p:nvSpPr>
        <p:spPr>
          <a:xfrm>
            <a:off x="842810" y="1772885"/>
            <a:ext cx="5080000" cy="521970"/>
          </a:xfrm>
          <a:prstGeom prst="rect">
            <a:avLst/>
          </a:prstGeom>
          <a:noFill/>
          <a:ln w="9525">
            <a:noFill/>
          </a:ln>
        </p:spPr>
        <p:txBody>
          <a:bodyPr>
            <a:spAutoFit/>
          </a:bodyPr>
          <a:lstStyle/>
          <a:p>
            <a:pPr algn="l"/>
            <a:r>
              <a:rPr lang="zh-CN" altLang="en-US" sz="2800" b="1" dirty="0">
                <a:solidFill>
                  <a:srgbClr val="002060"/>
                </a:solidFill>
                <a:latin typeface="Times New Roman" panose="02020603050405020304" charset="0"/>
                <a:ea typeface="宋体" panose="02010600030101010101" pitchFamily="2" charset="-122"/>
              </a:rPr>
              <a:t>（</a:t>
            </a:r>
            <a:r>
              <a:rPr lang="en-US" altLang="zh-CN" sz="2800" b="1" dirty="0">
                <a:solidFill>
                  <a:srgbClr val="002060"/>
                </a:solidFill>
                <a:latin typeface="Times New Roman" panose="02020603050405020304" charset="0"/>
                <a:ea typeface="宋体" panose="02010600030101010101" pitchFamily="2" charset="-122"/>
              </a:rPr>
              <a:t>1</a:t>
            </a:r>
            <a:r>
              <a:rPr lang="zh-CN" altLang="en-US" sz="2800" b="1" dirty="0">
                <a:solidFill>
                  <a:srgbClr val="002060"/>
                </a:solidFill>
                <a:latin typeface="Times New Roman" panose="02020603050405020304" charset="0"/>
                <a:ea typeface="宋体" panose="02010600030101010101" pitchFamily="2" charset="-122"/>
              </a:rPr>
              <a:t>）</a:t>
            </a:r>
            <a:r>
              <a:rPr lang="zh-CN" sz="2800" b="1" dirty="0">
                <a:solidFill>
                  <a:srgbClr val="002060"/>
                </a:solidFill>
                <a:latin typeface="Times New Roman" panose="02020603050405020304" charset="0"/>
                <a:ea typeface="宋体" panose="02010600030101010101" pitchFamily="2" charset="-122"/>
              </a:rPr>
              <a:t>索引命名符合规范</a:t>
            </a:r>
            <a:r>
              <a:rPr lang="zh-CN" altLang="en-US" sz="2800" b="1" dirty="0">
                <a:solidFill>
                  <a:srgbClr val="002060"/>
                </a:solidFill>
                <a:latin typeface="Times New Roman" panose="02020603050405020304" charset="0"/>
                <a:ea typeface="宋体" panose="02010600030101010101" pitchFamily="2" charset="-122"/>
              </a:rPr>
              <a:t>；</a:t>
            </a:r>
          </a:p>
        </p:txBody>
      </p:sp>
      <p:sp>
        <p:nvSpPr>
          <p:cNvPr id="9" name="文本框 2"/>
          <p:cNvSpPr txBox="1"/>
          <p:nvPr/>
        </p:nvSpPr>
        <p:spPr>
          <a:xfrm>
            <a:off x="549710" y="2348925"/>
            <a:ext cx="10589815" cy="1303177"/>
          </a:xfrm>
          <a:prstGeom prst="rect">
            <a:avLst/>
          </a:prstGeom>
          <a:noFill/>
          <a:ln w="9525">
            <a:noFill/>
          </a:ln>
        </p:spPr>
        <p:txBody>
          <a:bodyPr wrap="square">
            <a:spAutoFit/>
          </a:bodyPr>
          <a:lstStyle/>
          <a:p>
            <a:pPr>
              <a:lnSpc>
                <a:spcPct val="150000"/>
              </a:lnSpc>
            </a:pPr>
            <a:r>
              <a:rPr lang="zh-CN" altLang="en-US" sz="2800" b="1" dirty="0">
                <a:solidFill>
                  <a:srgbClr val="002060"/>
                </a:solidFill>
                <a:latin typeface="Times New Roman" panose="02020603050405020304" charset="0"/>
              </a:rPr>
              <a:t>     主键索引名为 </a:t>
            </a:r>
            <a:r>
              <a:rPr lang="en-US" altLang="zh-CN" sz="2800" b="1" dirty="0" err="1">
                <a:solidFill>
                  <a:srgbClr val="C00000"/>
                </a:solidFill>
                <a:latin typeface="Times New Roman" panose="02020603050405020304" charset="0"/>
              </a:rPr>
              <a:t>pk</a:t>
            </a:r>
            <a:r>
              <a:rPr lang="en-US" altLang="zh-CN" sz="2800" b="1" dirty="0">
                <a:solidFill>
                  <a:srgbClr val="C00000"/>
                </a:solidFill>
                <a:latin typeface="Times New Roman" panose="02020603050405020304" charset="0"/>
              </a:rPr>
              <a:t>_</a:t>
            </a:r>
            <a:r>
              <a:rPr lang="zh-CN" altLang="en-US" sz="2800" b="1" dirty="0">
                <a:solidFill>
                  <a:srgbClr val="C00000"/>
                </a:solidFill>
                <a:latin typeface="Times New Roman" panose="02020603050405020304" charset="0"/>
              </a:rPr>
              <a:t>字段名</a:t>
            </a:r>
            <a:r>
              <a:rPr lang="zh-CN" altLang="en-US" sz="2800" b="1" dirty="0">
                <a:solidFill>
                  <a:srgbClr val="002060"/>
                </a:solidFill>
                <a:latin typeface="Times New Roman" panose="02020603050405020304" charset="0"/>
              </a:rPr>
              <a:t>；唯一索引名为 </a:t>
            </a:r>
            <a:r>
              <a:rPr lang="en-US" altLang="zh-CN" sz="2800" b="1" dirty="0" err="1">
                <a:solidFill>
                  <a:srgbClr val="C00000"/>
                </a:solidFill>
                <a:latin typeface="Times New Roman" panose="02020603050405020304" charset="0"/>
              </a:rPr>
              <a:t>uk</a:t>
            </a:r>
            <a:r>
              <a:rPr lang="en-US" altLang="zh-CN" sz="2800" b="1" dirty="0">
                <a:solidFill>
                  <a:srgbClr val="C00000"/>
                </a:solidFill>
                <a:latin typeface="Times New Roman" panose="02020603050405020304" charset="0"/>
              </a:rPr>
              <a:t>_</a:t>
            </a:r>
            <a:r>
              <a:rPr lang="zh-CN" altLang="en-US" sz="2800" b="1" dirty="0">
                <a:solidFill>
                  <a:srgbClr val="C00000"/>
                </a:solidFill>
                <a:latin typeface="Times New Roman" panose="02020603050405020304" charset="0"/>
              </a:rPr>
              <a:t>字段名</a:t>
            </a:r>
            <a:r>
              <a:rPr lang="zh-CN" altLang="en-US" sz="2800" b="1" dirty="0">
                <a:solidFill>
                  <a:srgbClr val="002060"/>
                </a:solidFill>
                <a:latin typeface="Times New Roman" panose="02020603050405020304" charset="0"/>
              </a:rPr>
              <a:t>；普通索引名为 </a:t>
            </a:r>
            <a:r>
              <a:rPr lang="en-US" altLang="zh-CN" sz="2800" b="1" dirty="0" err="1">
                <a:solidFill>
                  <a:srgbClr val="C00000"/>
                </a:solidFill>
                <a:latin typeface="Times New Roman" panose="02020603050405020304" charset="0"/>
              </a:rPr>
              <a:t>idx</a:t>
            </a:r>
            <a:r>
              <a:rPr lang="en-US" altLang="zh-CN" sz="2800" b="1" dirty="0">
                <a:solidFill>
                  <a:srgbClr val="C00000"/>
                </a:solidFill>
                <a:latin typeface="Times New Roman" panose="02020603050405020304" charset="0"/>
              </a:rPr>
              <a:t>_</a:t>
            </a:r>
            <a:r>
              <a:rPr lang="zh-CN" altLang="en-US" sz="2800" b="1" dirty="0">
                <a:solidFill>
                  <a:srgbClr val="C00000"/>
                </a:solidFill>
                <a:latin typeface="Times New Roman" panose="02020603050405020304" charset="0"/>
              </a:rPr>
              <a:t>字段名</a:t>
            </a:r>
            <a:r>
              <a:rPr lang="zh-CN" altLang="en-US" sz="2800" b="1" dirty="0">
                <a:solidFill>
                  <a:srgbClr val="002060"/>
                </a:solidFill>
                <a:latin typeface="Times New Roman" panose="02020603050405020304" charset="0"/>
              </a:rPr>
              <a:t>。</a:t>
            </a:r>
          </a:p>
        </p:txBody>
      </p:sp>
      <p:sp>
        <p:nvSpPr>
          <p:cNvPr id="12" name="文本框 2"/>
          <p:cNvSpPr txBox="1"/>
          <p:nvPr/>
        </p:nvSpPr>
        <p:spPr>
          <a:xfrm>
            <a:off x="390647" y="3915540"/>
            <a:ext cx="11064325" cy="2595839"/>
          </a:xfrm>
          <a:prstGeom prst="rect">
            <a:avLst/>
          </a:prstGeom>
          <a:noFill/>
          <a:ln w="9525">
            <a:noFill/>
          </a:ln>
        </p:spPr>
        <p:txBody>
          <a:bodyPr wrap="square">
            <a:spAutoFit/>
          </a:bodyPr>
          <a:lstStyle/>
          <a:p>
            <a:pPr>
              <a:lnSpc>
                <a:spcPct val="150000"/>
              </a:lnSpc>
            </a:pPr>
            <a:r>
              <a:rPr lang="zh-CN" altLang="en-US" sz="2800" b="1" dirty="0">
                <a:solidFill>
                  <a:srgbClr val="002060"/>
                </a:solidFill>
                <a:latin typeface="Times New Roman" panose="02020603050405020304" charset="0"/>
              </a:rPr>
              <a:t>     （</a:t>
            </a:r>
            <a:r>
              <a:rPr lang="en-US" altLang="zh-CN" sz="2800" b="1" dirty="0">
                <a:solidFill>
                  <a:srgbClr val="002060"/>
                </a:solidFill>
                <a:latin typeface="Times New Roman" panose="02020603050405020304" charset="0"/>
              </a:rPr>
              <a:t>2</a:t>
            </a:r>
            <a:r>
              <a:rPr lang="zh-CN" altLang="en-US" sz="2800" b="1" dirty="0">
                <a:solidFill>
                  <a:srgbClr val="002060"/>
                </a:solidFill>
                <a:latin typeface="Times New Roman" panose="02020603050405020304" charset="0"/>
              </a:rPr>
              <a:t>）条件子句中频繁使用的字段、数字型的字段、存储空间较小的字段适合建立索引；</a:t>
            </a:r>
            <a:endParaRPr lang="en-US" altLang="zh-CN" sz="2800" b="1" dirty="0">
              <a:solidFill>
                <a:srgbClr val="002060"/>
              </a:solidFill>
              <a:latin typeface="Times New Roman" panose="02020603050405020304" charset="0"/>
            </a:endParaRPr>
          </a:p>
          <a:p>
            <a:pPr>
              <a:lnSpc>
                <a:spcPct val="150000"/>
              </a:lnSpc>
            </a:pPr>
            <a:r>
              <a:rPr lang="zh-CN" altLang="en-US" sz="2800" b="1" dirty="0">
                <a:solidFill>
                  <a:srgbClr val="002060"/>
                </a:solidFill>
                <a:latin typeface="Times New Roman" panose="02020603050405020304" charset="0"/>
              </a:rPr>
              <a:t>       选择在</a:t>
            </a:r>
            <a:r>
              <a:rPr lang="en-US" altLang="zh-CN" sz="2800" b="1" dirty="0">
                <a:solidFill>
                  <a:srgbClr val="C00000"/>
                </a:solidFill>
                <a:latin typeface="Times New Roman" panose="02020603050405020304" charset="0"/>
              </a:rPr>
              <a:t>WHERE</a:t>
            </a:r>
            <a:r>
              <a:rPr lang="zh-CN" altLang="en-US" sz="2800" b="1" dirty="0">
                <a:solidFill>
                  <a:srgbClr val="C00000"/>
                </a:solidFill>
                <a:latin typeface="Times New Roman" panose="02020603050405020304" charset="0"/>
              </a:rPr>
              <a:t>子句</a:t>
            </a:r>
            <a:r>
              <a:rPr lang="zh-CN" altLang="en-US" sz="2800" b="1" dirty="0">
                <a:solidFill>
                  <a:srgbClr val="002060"/>
                </a:solidFill>
                <a:latin typeface="Times New Roman" panose="02020603050405020304" charset="0"/>
              </a:rPr>
              <a:t>、</a:t>
            </a:r>
            <a:r>
              <a:rPr lang="en-US" altLang="zh-CN" sz="2800" b="1" dirty="0">
                <a:solidFill>
                  <a:srgbClr val="C00000"/>
                </a:solidFill>
                <a:latin typeface="Times New Roman" panose="02020603050405020304" charset="0"/>
              </a:rPr>
              <a:t>GROUP BY</a:t>
            </a:r>
            <a:r>
              <a:rPr lang="zh-CN" altLang="en-US" sz="2800" b="1" dirty="0">
                <a:solidFill>
                  <a:srgbClr val="C00000"/>
                </a:solidFill>
                <a:latin typeface="Times New Roman" panose="02020603050405020304" charset="0"/>
              </a:rPr>
              <a:t>子句、</a:t>
            </a:r>
            <a:r>
              <a:rPr lang="en-US" altLang="zh-CN" sz="2800" b="1" dirty="0">
                <a:solidFill>
                  <a:srgbClr val="C00000"/>
                </a:solidFill>
                <a:latin typeface="Times New Roman" panose="02020603050405020304" charset="0"/>
              </a:rPr>
              <a:t>ORDER BY</a:t>
            </a:r>
            <a:r>
              <a:rPr lang="zh-CN" altLang="en-US" sz="2800" b="1" dirty="0">
                <a:solidFill>
                  <a:srgbClr val="C00000"/>
                </a:solidFill>
                <a:latin typeface="Times New Roman" panose="02020603050405020304" charset="0"/>
              </a:rPr>
              <a:t>子句</a:t>
            </a:r>
            <a:r>
              <a:rPr lang="zh-CN" altLang="en-US" sz="2800" b="1" dirty="0">
                <a:solidFill>
                  <a:srgbClr val="002060"/>
                </a:solidFill>
                <a:latin typeface="Times New Roman" panose="02020603050405020304" charset="0"/>
              </a:rPr>
              <a:t>或</a:t>
            </a:r>
            <a:r>
              <a:rPr lang="zh-CN" altLang="en-US" sz="2800" b="1" dirty="0">
                <a:solidFill>
                  <a:srgbClr val="C00000"/>
                </a:solidFill>
                <a:latin typeface="Times New Roman" panose="02020603050405020304" charset="0"/>
              </a:rPr>
              <a:t>表与表之间连接运算</a:t>
            </a:r>
            <a:r>
              <a:rPr lang="zh-CN" altLang="en-US" sz="2800" b="1" dirty="0">
                <a:solidFill>
                  <a:srgbClr val="002060"/>
                </a:solidFill>
                <a:latin typeface="Times New Roman" panose="02020603050405020304" charset="0"/>
              </a:rPr>
              <a:t>等频繁使用的字段上建立索引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0-#ppt_w/2"/>
                                          </p:val>
                                        </p:tav>
                                        <p:tav tm="100000">
                                          <p:val>
                                            <p:strVal val="#ppt_x"/>
                                          </p:val>
                                        </p:tav>
                                      </p:tavLst>
                                    </p:anim>
                                    <p:anim calcmode="lin" valueType="num">
                                      <p:cBhvr additive="base">
                                        <p:cTn id="14"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9"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0-#ppt_w/2"/>
                                          </p:val>
                                        </p:tav>
                                        <p:tav tm="100000">
                                          <p:val>
                                            <p:strVal val="#ppt_x"/>
                                          </p:val>
                                        </p:tav>
                                      </p:tavLst>
                                    </p:anim>
                                    <p:anim calcmode="lin" valueType="num">
                                      <p:cBhvr additive="base">
                                        <p:cTn id="20"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9" grpId="0"/>
      <p:bldP spid="9" grpId="1"/>
      <p:bldP spid="12" grpId="0"/>
      <p:bldP spid="12"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AA81D-6386-D1F6-4455-78FF194E575C}"/>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219F7D70-43CF-4199-00FF-A9D6770CBEB4}"/>
              </a:ext>
            </a:extLst>
          </p:cNvPr>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索引的设计原则</a:t>
            </a:r>
          </a:p>
        </p:txBody>
      </p:sp>
      <p:sp>
        <p:nvSpPr>
          <p:cNvPr id="100" name="文本框 99">
            <a:extLst>
              <a:ext uri="{FF2B5EF4-FFF2-40B4-BE49-F238E27FC236}">
                <a16:creationId xmlns:a16="http://schemas.microsoft.com/office/drawing/2014/main" id="{12E3F82A-9D53-DD37-8C59-03EB4A501659}"/>
              </a:ext>
            </a:extLst>
          </p:cNvPr>
          <p:cNvSpPr txBox="1"/>
          <p:nvPr/>
        </p:nvSpPr>
        <p:spPr>
          <a:xfrm>
            <a:off x="363220" y="1112520"/>
            <a:ext cx="11580495" cy="523220"/>
          </a:xfrm>
          <a:prstGeom prst="rect">
            <a:avLst/>
          </a:prstGeom>
          <a:noFill/>
          <a:ln w="9525">
            <a:noFill/>
          </a:ln>
        </p:spPr>
        <p:txBody>
          <a:bodyPr wrap="square">
            <a:spAutoFit/>
          </a:bodyPr>
          <a:lstStyle/>
          <a:p>
            <a:pPr indent="266700"/>
            <a:r>
              <a:rPr kumimoji="1" lang="zh-CN" altLang="en-US" sz="2800" b="1" noProof="0" dirty="0">
                <a:solidFill>
                  <a:srgbClr val="002060"/>
                </a:solidFill>
                <a:effectLst>
                  <a:outerShdw blurRad="38100" dist="38100" dir="2700000" algn="tl">
                    <a:srgbClr val="C0C0C0"/>
                  </a:outerShdw>
                </a:effectLst>
                <a:latin typeface="楷体_GB2312" pitchFamily="49" charset="-122"/>
                <a:ea typeface="楷体_GB2312" pitchFamily="49" charset="-122"/>
              </a:rPr>
              <a:t>为使索引的使用效率更高，在创建索引时，通常遵循以下设计原则：</a:t>
            </a:r>
          </a:p>
        </p:txBody>
      </p:sp>
      <p:sp>
        <p:nvSpPr>
          <p:cNvPr id="13" name="文本框 2">
            <a:extLst>
              <a:ext uri="{FF2B5EF4-FFF2-40B4-BE49-F238E27FC236}">
                <a16:creationId xmlns:a16="http://schemas.microsoft.com/office/drawing/2014/main" id="{2433ED96-0DB3-4514-CE46-7E3352111A6D}"/>
              </a:ext>
            </a:extLst>
          </p:cNvPr>
          <p:cNvSpPr txBox="1"/>
          <p:nvPr/>
        </p:nvSpPr>
        <p:spPr>
          <a:xfrm>
            <a:off x="122760" y="2204915"/>
            <a:ext cx="11064325" cy="523220"/>
          </a:xfrm>
          <a:prstGeom prst="rect">
            <a:avLst/>
          </a:prstGeom>
          <a:noFill/>
          <a:ln w="9525">
            <a:noFill/>
          </a:ln>
        </p:spPr>
        <p:txBody>
          <a:bodyPr wrap="square">
            <a:spAutoFit/>
          </a:bodyPr>
          <a:lstStyle/>
          <a:p>
            <a:r>
              <a:rPr lang="zh-CN" altLang="en-US" sz="2800" b="1" dirty="0">
                <a:solidFill>
                  <a:srgbClr val="002060"/>
                </a:solidFill>
                <a:latin typeface="Times New Roman" panose="02020603050405020304" charset="0"/>
                <a:ea typeface="宋体" panose="02010600030101010101" pitchFamily="2" charset="-122"/>
              </a:rPr>
              <a:t>     （</a:t>
            </a:r>
            <a:r>
              <a:rPr lang="en-US" altLang="zh-CN" sz="2800" b="1" dirty="0">
                <a:solidFill>
                  <a:srgbClr val="002060"/>
                </a:solidFill>
                <a:latin typeface="Times New Roman" panose="02020603050405020304" charset="0"/>
                <a:ea typeface="宋体" panose="02010600030101010101" pitchFamily="2" charset="-122"/>
              </a:rPr>
              <a:t>3</a:t>
            </a:r>
            <a:r>
              <a:rPr lang="zh-CN" altLang="en-US" sz="2800" b="1" dirty="0">
                <a:solidFill>
                  <a:srgbClr val="002060"/>
                </a:solidFill>
                <a:latin typeface="Times New Roman" panose="02020603050405020304" charset="0"/>
              </a:rPr>
              <a:t>）重复值较高的字段、更新频繁的字段不适合建立索引；</a:t>
            </a:r>
          </a:p>
        </p:txBody>
      </p:sp>
      <p:sp>
        <p:nvSpPr>
          <p:cNvPr id="14" name="文本框 2">
            <a:extLst>
              <a:ext uri="{FF2B5EF4-FFF2-40B4-BE49-F238E27FC236}">
                <a16:creationId xmlns:a16="http://schemas.microsoft.com/office/drawing/2014/main" id="{1D4D0877-F537-F0BC-D4B3-7544144E1D0F}"/>
              </a:ext>
            </a:extLst>
          </p:cNvPr>
          <p:cNvSpPr txBox="1"/>
          <p:nvPr/>
        </p:nvSpPr>
        <p:spPr>
          <a:xfrm>
            <a:off x="122759" y="3033544"/>
            <a:ext cx="11064325" cy="1307537"/>
          </a:xfrm>
          <a:prstGeom prst="rect">
            <a:avLst/>
          </a:prstGeom>
          <a:noFill/>
          <a:ln w="9525">
            <a:noFill/>
          </a:ln>
        </p:spPr>
        <p:txBody>
          <a:bodyPr wrap="square">
            <a:spAutoFit/>
          </a:bodyPr>
          <a:lstStyle/>
          <a:p>
            <a:pPr>
              <a:lnSpc>
                <a:spcPct val="150000"/>
              </a:lnSpc>
            </a:pPr>
            <a:r>
              <a:rPr lang="zh-CN" altLang="en-US" sz="2800" b="1" dirty="0">
                <a:solidFill>
                  <a:srgbClr val="002060"/>
                </a:solidFill>
                <a:latin typeface="Times New Roman" panose="02020603050405020304" charset="0"/>
                <a:ea typeface="宋体" panose="02010600030101010101" pitchFamily="2" charset="-122"/>
              </a:rPr>
              <a:t>     （</a:t>
            </a:r>
            <a:r>
              <a:rPr lang="en-US" altLang="zh-CN" sz="2800" b="1" dirty="0">
                <a:solidFill>
                  <a:srgbClr val="002060"/>
                </a:solidFill>
                <a:latin typeface="Times New Roman" panose="02020603050405020304" charset="0"/>
                <a:ea typeface="宋体" panose="02010600030101010101" pitchFamily="2" charset="-122"/>
              </a:rPr>
              <a:t>4</a:t>
            </a:r>
            <a:r>
              <a:rPr lang="zh-CN" altLang="en-US" sz="2800" b="1" dirty="0">
                <a:solidFill>
                  <a:srgbClr val="002060"/>
                </a:solidFill>
                <a:latin typeface="Times New Roman" panose="02020603050405020304" charset="0"/>
              </a:rPr>
              <a:t>）索引字段的值很长，最好使用字段值的前缀建立索引；</a:t>
            </a:r>
            <a:endParaRPr lang="en-US" altLang="zh-CN" sz="2800" b="1" dirty="0">
              <a:solidFill>
                <a:srgbClr val="002060"/>
              </a:solidFill>
              <a:latin typeface="Times New Roman" panose="02020603050405020304" charset="0"/>
            </a:endParaRPr>
          </a:p>
          <a:p>
            <a:pPr>
              <a:lnSpc>
                <a:spcPct val="150000"/>
              </a:lnSpc>
            </a:pPr>
            <a:r>
              <a:rPr lang="en-US" altLang="zh-CN" sz="2800" b="1" dirty="0">
                <a:solidFill>
                  <a:srgbClr val="002060"/>
                </a:solidFill>
                <a:latin typeface="Times New Roman" panose="02020603050405020304" charset="0"/>
              </a:rPr>
              <a:t>               </a:t>
            </a:r>
            <a:r>
              <a:rPr lang="en-US" altLang="zh-CN" sz="2400" b="1" dirty="0">
                <a:solidFill>
                  <a:srgbClr val="002060"/>
                </a:solidFill>
                <a:latin typeface="Times New Roman" panose="02020603050405020304" charset="0"/>
              </a:rPr>
              <a:t>CREATE INDEX </a:t>
            </a:r>
            <a:r>
              <a:rPr lang="en-US" altLang="zh-CN" sz="2400" b="1" dirty="0" err="1">
                <a:solidFill>
                  <a:srgbClr val="002060"/>
                </a:solidFill>
                <a:latin typeface="Times New Roman" panose="02020603050405020304" charset="0"/>
              </a:rPr>
              <a:t>idx_came</a:t>
            </a:r>
            <a:r>
              <a:rPr lang="en-US" altLang="zh-CN" sz="2400" b="1" dirty="0">
                <a:solidFill>
                  <a:srgbClr val="002060"/>
                </a:solidFill>
                <a:latin typeface="Times New Roman" panose="02020603050405020304" charset="0"/>
              </a:rPr>
              <a:t> ON  </a:t>
            </a:r>
            <a:r>
              <a:rPr lang="en-US" altLang="zh-CN" sz="2400" b="1" dirty="0">
                <a:solidFill>
                  <a:srgbClr val="C00000"/>
                </a:solidFill>
                <a:latin typeface="Times New Roman" panose="02020603050405020304" charset="0"/>
              </a:rPr>
              <a:t>course(</a:t>
            </a:r>
            <a:r>
              <a:rPr lang="en-US" altLang="zh-CN" sz="2400" b="1" dirty="0" err="1">
                <a:solidFill>
                  <a:srgbClr val="C00000"/>
                </a:solidFill>
                <a:latin typeface="Times New Roman" panose="02020603050405020304" charset="0"/>
              </a:rPr>
              <a:t>cname</a:t>
            </a:r>
            <a:r>
              <a:rPr lang="en-US" altLang="zh-CN" sz="2400" b="1" dirty="0">
                <a:solidFill>
                  <a:srgbClr val="C00000"/>
                </a:solidFill>
                <a:latin typeface="Times New Roman" panose="02020603050405020304" charset="0"/>
              </a:rPr>
              <a:t>(6))</a:t>
            </a:r>
            <a:r>
              <a:rPr lang="en-US" altLang="zh-CN" sz="2400" b="1" dirty="0">
                <a:solidFill>
                  <a:srgbClr val="002060"/>
                </a:solidFill>
                <a:latin typeface="Times New Roman" panose="02020603050405020304" charset="0"/>
              </a:rPr>
              <a:t>;</a:t>
            </a:r>
            <a:endParaRPr lang="zh-CN" altLang="en-US" sz="2400" b="1" dirty="0">
              <a:solidFill>
                <a:srgbClr val="002060"/>
              </a:solidFill>
              <a:latin typeface="Times New Roman" panose="02020603050405020304" charset="0"/>
            </a:endParaRPr>
          </a:p>
        </p:txBody>
      </p:sp>
      <p:sp>
        <p:nvSpPr>
          <p:cNvPr id="16" name="文本框 2">
            <a:extLst>
              <a:ext uri="{FF2B5EF4-FFF2-40B4-BE49-F238E27FC236}">
                <a16:creationId xmlns:a16="http://schemas.microsoft.com/office/drawing/2014/main" id="{553C8162-30CF-EC9F-F926-0EBACD75E23C}"/>
              </a:ext>
            </a:extLst>
          </p:cNvPr>
          <p:cNvSpPr txBox="1"/>
          <p:nvPr/>
        </p:nvSpPr>
        <p:spPr>
          <a:xfrm>
            <a:off x="122759" y="4725090"/>
            <a:ext cx="11064325" cy="523220"/>
          </a:xfrm>
          <a:prstGeom prst="rect">
            <a:avLst/>
          </a:prstGeom>
          <a:noFill/>
          <a:ln w="9525">
            <a:noFill/>
          </a:ln>
        </p:spPr>
        <p:txBody>
          <a:bodyPr wrap="square">
            <a:spAutoFit/>
          </a:bodyPr>
          <a:lstStyle/>
          <a:p>
            <a:r>
              <a:rPr lang="zh-CN" altLang="en-US" sz="2800" b="1" dirty="0">
                <a:solidFill>
                  <a:srgbClr val="002060"/>
                </a:solidFill>
                <a:latin typeface="Times New Roman" panose="02020603050405020304" charset="0"/>
                <a:ea typeface="宋体" panose="02010600030101010101" pitchFamily="2" charset="-122"/>
              </a:rPr>
              <a:t>     （</a:t>
            </a:r>
            <a:r>
              <a:rPr lang="en-US" altLang="zh-CN" sz="2800" b="1" dirty="0">
                <a:solidFill>
                  <a:srgbClr val="002060"/>
                </a:solidFill>
                <a:latin typeface="Times New Roman" panose="02020603050405020304" charset="0"/>
                <a:ea typeface="宋体" panose="02010600030101010101" pitchFamily="2" charset="-122"/>
              </a:rPr>
              <a:t>5</a:t>
            </a:r>
            <a:r>
              <a:rPr lang="zh-CN" altLang="en-US" sz="2800" b="1" dirty="0">
                <a:solidFill>
                  <a:srgbClr val="002060"/>
                </a:solidFill>
                <a:latin typeface="Times New Roman" panose="02020603050405020304" charset="0"/>
              </a:rPr>
              <a:t>）限制索引的数量，否则会降低系统效率；</a:t>
            </a:r>
          </a:p>
        </p:txBody>
      </p:sp>
    </p:spTree>
    <p:extLst>
      <p:ext uri="{BB962C8B-B14F-4D97-AF65-F5344CB8AC3E}">
        <p14:creationId xmlns:p14="http://schemas.microsoft.com/office/powerpoint/2010/main" val="10954948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0-#ppt_w/2"/>
                                          </p:val>
                                        </p:tav>
                                        <p:tav tm="100000">
                                          <p:val>
                                            <p:strVal val="#ppt_x"/>
                                          </p:val>
                                        </p:tav>
                                      </p:tavLst>
                                    </p:anim>
                                    <p:anim calcmode="lin" valueType="num">
                                      <p:cBhvr additive="base">
                                        <p:cTn id="14"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9"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0-#ppt_w/2"/>
                                          </p:val>
                                        </p:tav>
                                        <p:tav tm="100000">
                                          <p:val>
                                            <p:strVal val="#ppt_x"/>
                                          </p:val>
                                        </p:tav>
                                      </p:tavLst>
                                    </p:anim>
                                    <p:anim calcmode="lin" valueType="num">
                                      <p:cBhvr additive="base">
                                        <p:cTn id="20"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P spid="14" grpId="0"/>
      <p:bldP spid="14" grpId="1"/>
      <p:bldP spid="16" grpId="0"/>
      <p:bldP spid="16"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980" y="78423"/>
            <a:ext cx="6179820"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创建索引</a:t>
            </a:r>
          </a:p>
        </p:txBody>
      </p:sp>
      <p:sp>
        <p:nvSpPr>
          <p:cNvPr id="10" name="文本框 9"/>
          <p:cNvSpPr txBox="1"/>
          <p:nvPr/>
        </p:nvSpPr>
        <p:spPr>
          <a:xfrm>
            <a:off x="698800" y="1196844"/>
            <a:ext cx="6096000" cy="566309"/>
          </a:xfrm>
          <a:prstGeom prst="rect">
            <a:avLst/>
          </a:prstGeom>
          <a:noFill/>
        </p:spPr>
        <p:txBody>
          <a:bodyPr wrap="square" rtlCol="0" anchor="t">
            <a:spAutoFit/>
          </a:bodyPr>
          <a:lstStyle/>
          <a:p>
            <a:pPr>
              <a:lnSpc>
                <a:spcPct val="110000"/>
              </a:lnSpc>
              <a:buClr>
                <a:srgbClr val="32C6CA"/>
              </a:buClr>
              <a:buSzPct val="80000"/>
              <a:buFont typeface="Wingdings" panose="05000000000000000000" pitchFamily="2" charset="2"/>
              <a:defRPr/>
            </a:pPr>
            <a:r>
              <a:rPr kumimoji="1" lang="en-US" altLang="zh-CN" sz="2800" b="1" noProof="0"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1.</a:t>
            </a:r>
            <a:r>
              <a:rPr kumimoji="1" lang="zh-CN" altLang="en-US" sz="2800" b="1" noProof="0"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建表时创建索引</a:t>
            </a:r>
          </a:p>
        </p:txBody>
      </p:sp>
      <p:sp>
        <p:nvSpPr>
          <p:cNvPr id="8" name="文本框 99"/>
          <p:cNvSpPr txBox="1"/>
          <p:nvPr/>
        </p:nvSpPr>
        <p:spPr>
          <a:xfrm>
            <a:off x="626795" y="1916895"/>
            <a:ext cx="10933430" cy="1456361"/>
          </a:xfrm>
          <a:prstGeom prst="rect">
            <a:avLst/>
          </a:prstGeom>
          <a:noFill/>
          <a:ln w="9525">
            <a:noFill/>
          </a:ln>
        </p:spPr>
        <p:txBody>
          <a:bodyPr wrap="square">
            <a:spAutoFit/>
          </a:bodyPr>
          <a:lstStyle/>
          <a:p>
            <a:pPr>
              <a:lnSpc>
                <a:spcPct val="110000"/>
              </a:lnSpc>
              <a:buClr>
                <a:srgbClr val="32C6CA"/>
              </a:buClr>
              <a:buSzPct val="80000"/>
              <a:buFont typeface="Wingdings" panose="05000000000000000000" pitchFamily="2" charset="2"/>
              <a:defRPr/>
            </a:pP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CREATE TABLE </a:t>
            </a:r>
            <a:r>
              <a:rPr kumimoji="1" lang="zh-CN"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表名（字段列表，[UNIQUE | FULLTEXT | SPATIAL] </a:t>
            </a:r>
            <a:r>
              <a:rPr kumimoji="1" lang="zh-CN" altLang="zh-CN" sz="2800" b="1" dirty="0">
                <a:solidFill>
                  <a:srgbClr val="FF0000"/>
                </a:solidFill>
                <a:effectLst>
                  <a:outerShdw blurRad="38100" dist="38100" dir="2700000" algn="tl">
                    <a:srgbClr val="C0C0C0"/>
                  </a:outerShdw>
                </a:effectLst>
                <a:latin typeface="楷体_GB2312" pitchFamily="49" charset="-122"/>
                <a:ea typeface="楷体_GB2312" pitchFamily="49" charset="-122"/>
                <a:sym typeface="+mn-ea"/>
              </a:rPr>
              <a:t>INDEX | KEY </a:t>
            </a:r>
            <a:r>
              <a:rPr kumimoji="1" lang="zh-CN"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&lt;index_name&gt;</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 </a:t>
            </a:r>
            <a:r>
              <a:rPr kumimoji="1" lang="zh-CN"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(&lt;column_name&gt;[(length)] [ASC | DESC] ,…… )）</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a:t>
            </a:r>
          </a:p>
        </p:txBody>
      </p:sp>
      <p:sp>
        <p:nvSpPr>
          <p:cNvPr id="9" name="文本框 99"/>
          <p:cNvSpPr txBox="1"/>
          <p:nvPr/>
        </p:nvSpPr>
        <p:spPr>
          <a:xfrm>
            <a:off x="626795" y="4581080"/>
            <a:ext cx="10933430" cy="1988237"/>
          </a:xfrm>
          <a:prstGeom prst="rect">
            <a:avLst/>
          </a:prstGeom>
          <a:noFill/>
          <a:ln w="9525">
            <a:noFill/>
          </a:ln>
        </p:spPr>
        <p:txBody>
          <a:bodyPr wrap="square">
            <a:spAutoFit/>
          </a:bodyPr>
          <a:lstStyle/>
          <a:p>
            <a:pPr>
              <a:lnSpc>
                <a:spcPct val="110000"/>
              </a:lnSpc>
              <a:buClr>
                <a:srgbClr val="32C6CA"/>
              </a:buClr>
              <a:buSzPct val="80000"/>
              <a:buFont typeface="Wingdings" panose="05000000000000000000" pitchFamily="2" charset="2"/>
              <a:defRPr/>
            </a:pP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CREATE TABLE student(</a:t>
            </a:r>
          </a:p>
          <a:p>
            <a:pPr>
              <a:lnSpc>
                <a:spcPct val="110000"/>
              </a:lnSpc>
              <a:buClr>
                <a:srgbClr val="32C6CA"/>
              </a:buClr>
              <a:buSzPct val="80000"/>
              <a:buFont typeface="Wingdings" panose="05000000000000000000" pitchFamily="2" charset="2"/>
              <a:defRPr/>
            </a:pP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a:t>
            </a:r>
          </a:p>
          <a:p>
            <a:pPr>
              <a:lnSpc>
                <a:spcPct val="110000"/>
              </a:lnSpc>
              <a:buClr>
                <a:srgbClr val="32C6CA"/>
              </a:buClr>
              <a:buSzPct val="80000"/>
              <a:buFont typeface="Wingdings" panose="05000000000000000000" pitchFamily="2" charset="2"/>
              <a:defRPr/>
            </a:pP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INDEX </a:t>
            </a:r>
            <a:r>
              <a:rPr kumimoji="1" lang="en-US" altLang="zh-CN" sz="2800" b="1" dirty="0" err="1">
                <a:solidFill>
                  <a:srgbClr val="C00000"/>
                </a:solidFill>
                <a:effectLst>
                  <a:outerShdw blurRad="38100" dist="38100" dir="2700000" algn="tl">
                    <a:srgbClr val="C0C0C0"/>
                  </a:outerShdw>
                </a:effectLst>
                <a:latin typeface="楷体_GB2312" pitchFamily="49" charset="-122"/>
                <a:ea typeface="楷体_GB2312" pitchFamily="49" charset="-122"/>
                <a:sym typeface="+mn-ea"/>
              </a:rPr>
              <a:t>idx_sname_dept</a:t>
            </a: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a:t>
            </a:r>
            <a:r>
              <a:rPr kumimoji="1" lang="en-US" altLang="zh-CN" sz="2800" b="1" dirty="0" err="1">
                <a:solidFill>
                  <a:srgbClr val="C00000"/>
                </a:solidFill>
                <a:effectLst>
                  <a:outerShdw blurRad="38100" dist="38100" dir="2700000" algn="tl">
                    <a:srgbClr val="C0C0C0"/>
                  </a:outerShdw>
                </a:effectLst>
                <a:latin typeface="楷体_GB2312" pitchFamily="49" charset="-122"/>
                <a:ea typeface="楷体_GB2312" pitchFamily="49" charset="-122"/>
                <a:sym typeface="+mn-ea"/>
              </a:rPr>
              <a:t>sname,dept</a:t>
            </a: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a:t>
            </a:r>
          </a:p>
          <a:p>
            <a:pPr>
              <a:lnSpc>
                <a:spcPct val="110000"/>
              </a:lnSpc>
              <a:buClr>
                <a:srgbClr val="32C6CA"/>
              </a:buClr>
              <a:buSzPct val="80000"/>
              <a:buFont typeface="Wingdings" panose="05000000000000000000" pitchFamily="2" charset="2"/>
              <a:defRPr/>
            </a:pPr>
            <a:r>
              <a:rPr kumimoji="1" lang="en-US" altLang="zh-CN" sz="2800" b="1" dirty="0" err="1">
                <a:solidFill>
                  <a:srgbClr val="C00000"/>
                </a:solidFill>
                <a:effectLst>
                  <a:outerShdw blurRad="38100" dist="38100" dir="2700000" algn="tl">
                    <a:srgbClr val="C0C0C0"/>
                  </a:outerShdw>
                </a:effectLst>
                <a:latin typeface="楷体_GB2312" pitchFamily="49" charset="-122"/>
                <a:ea typeface="楷体_GB2312" pitchFamily="49" charset="-122"/>
                <a:sym typeface="+mn-ea"/>
              </a:rPr>
              <a:t>FULLTEXT</a:t>
            </a: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 </a:t>
            </a:r>
            <a:r>
              <a:rPr kumimoji="1" lang="en-US" altLang="zh-CN" sz="2800" b="1" dirty="0" err="1">
                <a:solidFill>
                  <a:srgbClr val="C00000"/>
                </a:solidFill>
                <a:effectLst>
                  <a:outerShdw blurRad="38100" dist="38100" dir="2700000" algn="tl">
                    <a:srgbClr val="C0C0C0"/>
                  </a:outerShdw>
                </a:effectLst>
                <a:latin typeface="楷体_GB2312" pitchFamily="49" charset="-122"/>
                <a:ea typeface="楷体_GB2312" pitchFamily="49" charset="-122"/>
                <a:sym typeface="+mn-ea"/>
              </a:rPr>
              <a:t>ft_remarks</a:t>
            </a: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(remarks)) ;</a:t>
            </a:r>
          </a:p>
        </p:txBody>
      </p:sp>
      <p:sp>
        <p:nvSpPr>
          <p:cNvPr id="13" name="文本框 99"/>
          <p:cNvSpPr txBox="1"/>
          <p:nvPr/>
        </p:nvSpPr>
        <p:spPr>
          <a:xfrm>
            <a:off x="372390" y="3359940"/>
            <a:ext cx="11520799" cy="1040285"/>
          </a:xfrm>
          <a:prstGeom prst="rect">
            <a:avLst/>
          </a:prstGeom>
          <a:noFill/>
          <a:ln w="9525">
            <a:noFill/>
          </a:ln>
        </p:spPr>
        <p:txBody>
          <a:bodyPr wrap="square">
            <a:spAutoFit/>
          </a:bodyPr>
          <a:lstStyle/>
          <a:p>
            <a:pPr>
              <a:lnSpc>
                <a:spcPct val="110000"/>
              </a:lnSpc>
              <a:buClr>
                <a:srgbClr val="32C6CA"/>
              </a:buClr>
              <a:buSzPct val="80000"/>
              <a:buFont typeface="Wingdings" panose="05000000000000000000" pitchFamily="2" charset="2"/>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7.1】</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1</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）在</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sname</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字段和</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dept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字段上创建联合索引</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idx_sname_dept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a:t>
            </a:r>
          </a:p>
          <a:p>
            <a:pPr>
              <a:lnSpc>
                <a:spcPct val="110000"/>
              </a:lnSpc>
              <a:buClr>
                <a:srgbClr val="32C6CA"/>
              </a:buClr>
              <a:buSzPct val="80000"/>
              <a:buFont typeface="Wingdings" panose="05000000000000000000" pitchFamily="2" charset="2"/>
              <a:defRPr/>
            </a:pP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2</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）在</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remarks</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字段上创建全文索引</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ft_remarks</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1"/>
      <p:bldP spid="9" grpId="0"/>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980" y="78423"/>
            <a:ext cx="6179820"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创建索引</a:t>
            </a:r>
          </a:p>
        </p:txBody>
      </p:sp>
      <p:sp>
        <p:nvSpPr>
          <p:cNvPr id="10" name="文本框 9"/>
          <p:cNvSpPr txBox="1"/>
          <p:nvPr/>
        </p:nvSpPr>
        <p:spPr>
          <a:xfrm>
            <a:off x="698800" y="1196844"/>
            <a:ext cx="6096000" cy="566309"/>
          </a:xfrm>
          <a:prstGeom prst="rect">
            <a:avLst/>
          </a:prstGeom>
          <a:noFill/>
        </p:spPr>
        <p:txBody>
          <a:bodyPr wrap="square" rtlCol="0" anchor="t">
            <a:spAutoFit/>
          </a:bodyPr>
          <a:lstStyle/>
          <a:p>
            <a:pPr>
              <a:lnSpc>
                <a:spcPct val="110000"/>
              </a:lnSpc>
              <a:buClr>
                <a:srgbClr val="32C6CA"/>
              </a:buClr>
              <a:buSzPct val="80000"/>
              <a:buFont typeface="Wingdings" panose="05000000000000000000" pitchFamily="2" charset="2"/>
              <a:defRPr/>
            </a:pPr>
            <a:r>
              <a:rPr kumimoji="1" lang="en-US" altLang="zh-CN" sz="2800" b="1" noProof="0"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2.</a:t>
            </a:r>
            <a:r>
              <a:rPr kumimoji="1" lang="zh-CN" altLang="en-US" sz="2800" b="1" noProof="0"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建表后创建索引</a:t>
            </a:r>
          </a:p>
        </p:txBody>
      </p:sp>
      <p:sp>
        <p:nvSpPr>
          <p:cNvPr id="8" name="文本框 99"/>
          <p:cNvSpPr txBox="1"/>
          <p:nvPr/>
        </p:nvSpPr>
        <p:spPr>
          <a:xfrm>
            <a:off x="626795" y="1916895"/>
            <a:ext cx="10933430" cy="1040285"/>
          </a:xfrm>
          <a:prstGeom prst="rect">
            <a:avLst/>
          </a:prstGeom>
          <a:noFill/>
          <a:ln w="9525">
            <a:noFill/>
          </a:ln>
        </p:spPr>
        <p:txBody>
          <a:bodyPr wrap="square">
            <a:spAutoFit/>
          </a:bodyPr>
          <a:lstStyle/>
          <a:p>
            <a:pPr>
              <a:lnSpc>
                <a:spcPct val="110000"/>
              </a:lnSpc>
              <a:buClr>
                <a:srgbClr val="32C6CA"/>
              </a:buClr>
              <a:buSzPct val="80000"/>
              <a:buFont typeface="Wingdings" panose="05000000000000000000" pitchFamily="2" charset="2"/>
              <a:defRPr/>
            </a:pP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CREATE [UNIQUE | </a:t>
            </a:r>
            <a:r>
              <a:rPr kumimoji="1" lang="en-US" altLang="zh-CN" sz="2800" b="1" dirty="0" err="1">
                <a:solidFill>
                  <a:srgbClr val="000066"/>
                </a:solidFill>
                <a:effectLst>
                  <a:outerShdw blurRad="38100" dist="38100" dir="2700000" algn="tl">
                    <a:srgbClr val="C0C0C0"/>
                  </a:outerShdw>
                </a:effectLst>
                <a:latin typeface="楷体_GB2312" pitchFamily="49" charset="-122"/>
                <a:ea typeface="楷体_GB2312" pitchFamily="49" charset="-122"/>
                <a:sym typeface="+mn-ea"/>
              </a:rPr>
              <a:t>FULLTEXT</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 | SPATIAL] INDEX &lt;</a:t>
            </a:r>
            <a:r>
              <a:rPr kumimoji="1" lang="en-US" altLang="zh-CN" sz="2800" b="1" dirty="0" err="1">
                <a:solidFill>
                  <a:srgbClr val="000066"/>
                </a:solidFill>
                <a:effectLst>
                  <a:outerShdw blurRad="38100" dist="38100" dir="2700000" algn="tl">
                    <a:srgbClr val="C0C0C0"/>
                  </a:outerShdw>
                </a:effectLst>
                <a:latin typeface="楷体_GB2312" pitchFamily="49" charset="-122"/>
                <a:ea typeface="楷体_GB2312" pitchFamily="49" charset="-122"/>
                <a:sym typeface="+mn-ea"/>
              </a:rPr>
              <a:t>index_name</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&gt; ON &lt;</a:t>
            </a:r>
            <a:r>
              <a:rPr kumimoji="1" lang="en-US" altLang="zh-CN" sz="2800" b="1" dirty="0" err="1">
                <a:solidFill>
                  <a:srgbClr val="000066"/>
                </a:solidFill>
                <a:effectLst>
                  <a:outerShdw blurRad="38100" dist="38100" dir="2700000" algn="tl">
                    <a:srgbClr val="C0C0C0"/>
                  </a:outerShdw>
                </a:effectLst>
                <a:latin typeface="楷体_GB2312" pitchFamily="49" charset="-122"/>
                <a:ea typeface="楷体_GB2312" pitchFamily="49" charset="-122"/>
                <a:sym typeface="+mn-ea"/>
              </a:rPr>
              <a:t>table_name</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&gt; (&lt;</a:t>
            </a:r>
            <a:r>
              <a:rPr kumimoji="1" lang="en-US" altLang="zh-CN" sz="2800" b="1" dirty="0" err="1">
                <a:solidFill>
                  <a:srgbClr val="000066"/>
                </a:solidFill>
                <a:effectLst>
                  <a:outerShdw blurRad="38100" dist="38100" dir="2700000" algn="tl">
                    <a:srgbClr val="C0C0C0"/>
                  </a:outerShdw>
                </a:effectLst>
                <a:latin typeface="楷体_GB2312" pitchFamily="49" charset="-122"/>
                <a:ea typeface="楷体_GB2312" pitchFamily="49" charset="-122"/>
                <a:sym typeface="+mn-ea"/>
              </a:rPr>
              <a:t>column_name</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&gt;[(length)] [ASC | </a:t>
            </a:r>
            <a:r>
              <a:rPr kumimoji="1" lang="en-US" altLang="zh-CN" sz="2800" b="1" dirty="0" err="1">
                <a:solidFill>
                  <a:srgbClr val="000066"/>
                </a:solidFill>
                <a:effectLst>
                  <a:outerShdw blurRad="38100" dist="38100" dir="2700000" algn="tl">
                    <a:srgbClr val="C0C0C0"/>
                  </a:outerShdw>
                </a:effectLst>
                <a:latin typeface="楷体_GB2312" pitchFamily="49" charset="-122"/>
                <a:ea typeface="楷体_GB2312" pitchFamily="49" charset="-122"/>
                <a:sym typeface="+mn-ea"/>
              </a:rPr>
              <a:t>DESC</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 …… ) ;</a:t>
            </a:r>
          </a:p>
        </p:txBody>
      </p:sp>
      <p:sp>
        <p:nvSpPr>
          <p:cNvPr id="9" name="文本框 99"/>
          <p:cNvSpPr txBox="1"/>
          <p:nvPr/>
        </p:nvSpPr>
        <p:spPr>
          <a:xfrm>
            <a:off x="771795" y="3933035"/>
            <a:ext cx="10401446" cy="566309"/>
          </a:xfrm>
          <a:prstGeom prst="rect">
            <a:avLst/>
          </a:prstGeom>
          <a:noFill/>
          <a:ln w="9525">
            <a:noFill/>
          </a:ln>
        </p:spPr>
        <p:txBody>
          <a:bodyPr wrap="square">
            <a:spAutoFit/>
          </a:bodyPr>
          <a:lstStyle/>
          <a:p>
            <a:pPr>
              <a:lnSpc>
                <a:spcPct val="110000"/>
              </a:lnSpc>
              <a:buClr>
                <a:srgbClr val="32C6CA"/>
              </a:buClr>
              <a:buSzPct val="80000"/>
              <a:buFont typeface="Wingdings" panose="05000000000000000000" pitchFamily="2" charset="2"/>
              <a:defRPr/>
            </a:pP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CREATE UNIQUE INDEX </a:t>
            </a:r>
            <a:r>
              <a:rPr kumimoji="1" lang="en-US" altLang="zh-CN" sz="2800" b="1" dirty="0" err="1">
                <a:solidFill>
                  <a:srgbClr val="000066"/>
                </a:solidFill>
                <a:effectLst>
                  <a:outerShdw blurRad="38100" dist="38100" dir="2700000" algn="tl">
                    <a:srgbClr val="C0C0C0"/>
                  </a:outerShdw>
                </a:effectLst>
                <a:latin typeface="楷体_GB2312" pitchFamily="49" charset="-122"/>
                <a:ea typeface="楷体_GB2312" pitchFamily="49" charset="-122"/>
                <a:sym typeface="+mn-ea"/>
              </a:rPr>
              <a:t>uk_cname</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 ON course (</a:t>
            </a:r>
            <a:r>
              <a:rPr kumimoji="1" lang="en-US" altLang="zh-CN" sz="2800" b="1" dirty="0" err="1">
                <a:solidFill>
                  <a:srgbClr val="000066"/>
                </a:solidFill>
                <a:effectLst>
                  <a:outerShdw blurRad="38100" dist="38100" dir="2700000" algn="tl">
                    <a:srgbClr val="C0C0C0"/>
                  </a:outerShdw>
                </a:effectLst>
                <a:latin typeface="楷体_GB2312" pitchFamily="49" charset="-122"/>
                <a:ea typeface="楷体_GB2312" pitchFamily="49" charset="-122"/>
                <a:sym typeface="+mn-ea"/>
              </a:rPr>
              <a:t>cname</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a:t>
            </a:r>
            <a:endPar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endParaRPr>
          </a:p>
        </p:txBody>
      </p:sp>
      <p:sp>
        <p:nvSpPr>
          <p:cNvPr id="13" name="文本框 99"/>
          <p:cNvSpPr txBox="1"/>
          <p:nvPr/>
        </p:nvSpPr>
        <p:spPr>
          <a:xfrm>
            <a:off x="749221" y="3212985"/>
            <a:ext cx="10767135" cy="566309"/>
          </a:xfrm>
          <a:prstGeom prst="rect">
            <a:avLst/>
          </a:prstGeom>
          <a:noFill/>
          <a:ln w="9525">
            <a:noFill/>
          </a:ln>
        </p:spPr>
        <p:txBody>
          <a:bodyPr wrap="square">
            <a:spAutoFit/>
          </a:bodyPr>
          <a:lstStyle/>
          <a:p>
            <a:pPr>
              <a:lnSpc>
                <a:spcPct val="110000"/>
              </a:lnSpc>
              <a:buClr>
                <a:srgbClr val="32C6CA"/>
              </a:buClr>
              <a:buSzPct val="80000"/>
              <a:buFont typeface="Wingdings" panose="05000000000000000000" pitchFamily="2" charset="2"/>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7.2】</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在</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course</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表的</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cname</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字段上创建唯一索引</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uk_cname</a:t>
            </a:r>
            <a:endPar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endParaRPr>
          </a:p>
        </p:txBody>
      </p:sp>
      <p:sp>
        <p:nvSpPr>
          <p:cNvPr id="7" name="文本框 99"/>
          <p:cNvSpPr txBox="1"/>
          <p:nvPr/>
        </p:nvSpPr>
        <p:spPr>
          <a:xfrm>
            <a:off x="932065" y="5301130"/>
            <a:ext cx="10401446" cy="566309"/>
          </a:xfrm>
          <a:prstGeom prst="rect">
            <a:avLst/>
          </a:prstGeom>
          <a:noFill/>
          <a:ln w="9525">
            <a:noFill/>
          </a:ln>
        </p:spPr>
        <p:txBody>
          <a:bodyPr wrap="square">
            <a:spAutoFit/>
          </a:bodyPr>
          <a:lstStyle/>
          <a:p>
            <a:pPr>
              <a:lnSpc>
                <a:spcPct val="110000"/>
              </a:lnSpc>
              <a:buClr>
                <a:srgbClr val="32C6CA"/>
              </a:buClr>
              <a:buSzPct val="80000"/>
              <a:buFont typeface="Wingdings" panose="05000000000000000000" pitchFamily="2" charset="2"/>
              <a:defRPr/>
            </a:pP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CREATE INDEX </a:t>
            </a:r>
            <a:r>
              <a:rPr kumimoji="1" lang="en-US" altLang="zh-CN" sz="2800" b="1" dirty="0" err="1">
                <a:solidFill>
                  <a:srgbClr val="000066"/>
                </a:solidFill>
                <a:effectLst>
                  <a:outerShdw blurRad="38100" dist="38100" dir="2700000" algn="tl">
                    <a:srgbClr val="C0C0C0"/>
                  </a:outerShdw>
                </a:effectLst>
                <a:latin typeface="楷体_GB2312" pitchFamily="49" charset="-122"/>
                <a:ea typeface="楷体_GB2312" pitchFamily="49" charset="-122"/>
                <a:sym typeface="+mn-ea"/>
              </a:rPr>
              <a:t>pf_cname</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 ON course ( </a:t>
            </a:r>
            <a:r>
              <a:rPr kumimoji="1" lang="en-US" altLang="zh-CN" sz="2800" b="1" dirty="0" err="1">
                <a:solidFill>
                  <a:srgbClr val="000066"/>
                </a:solidFill>
                <a:effectLst>
                  <a:outerShdw blurRad="38100" dist="38100" dir="2700000" algn="tl">
                    <a:srgbClr val="C0C0C0"/>
                  </a:outerShdw>
                </a:effectLst>
                <a:latin typeface="楷体_GB2312" pitchFamily="49" charset="-122"/>
                <a:ea typeface="楷体_GB2312" pitchFamily="49" charset="-122"/>
                <a:sym typeface="+mn-ea"/>
              </a:rPr>
              <a:t>cname</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(4) );</a:t>
            </a:r>
            <a:endPar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endParaRPr>
          </a:p>
        </p:txBody>
      </p:sp>
      <p:sp>
        <p:nvSpPr>
          <p:cNvPr id="11" name="文本框 99"/>
          <p:cNvSpPr txBox="1"/>
          <p:nvPr/>
        </p:nvSpPr>
        <p:spPr>
          <a:xfrm>
            <a:off x="806248" y="4581080"/>
            <a:ext cx="10767135" cy="566309"/>
          </a:xfrm>
          <a:prstGeom prst="rect">
            <a:avLst/>
          </a:prstGeom>
          <a:noFill/>
          <a:ln w="9525">
            <a:noFill/>
          </a:ln>
        </p:spPr>
        <p:txBody>
          <a:bodyPr wrap="square">
            <a:spAutoFit/>
          </a:bodyPr>
          <a:lstStyle/>
          <a:p>
            <a:pPr>
              <a:lnSpc>
                <a:spcPct val="110000"/>
              </a:lnSpc>
              <a:buClr>
                <a:srgbClr val="32C6CA"/>
              </a:buClr>
              <a:buSzPct val="80000"/>
              <a:buFont typeface="Wingdings" panose="05000000000000000000" pitchFamily="2" charset="2"/>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7.3】</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在</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course</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表的</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cname</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字段上创建前缀索引</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pf_cname</a:t>
            </a:r>
            <a:endPar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endParaRPr>
          </a:p>
        </p:txBody>
      </p:sp>
      <p:sp>
        <p:nvSpPr>
          <p:cNvPr id="12" name="文本框 99"/>
          <p:cNvSpPr txBox="1"/>
          <p:nvPr/>
        </p:nvSpPr>
        <p:spPr>
          <a:xfrm>
            <a:off x="806367" y="6021180"/>
            <a:ext cx="10401446" cy="566309"/>
          </a:xfrm>
          <a:prstGeom prst="rect">
            <a:avLst/>
          </a:prstGeom>
          <a:noFill/>
          <a:ln w="9525">
            <a:noFill/>
          </a:ln>
        </p:spPr>
        <p:txBody>
          <a:bodyPr wrap="square">
            <a:spAutoFit/>
          </a:bodyPr>
          <a:lstStyle/>
          <a:p>
            <a:pPr>
              <a:lnSpc>
                <a:spcPct val="110000"/>
              </a:lnSpc>
              <a:buClr>
                <a:srgbClr val="32C6CA"/>
              </a:buClr>
              <a:buSzPct val="80000"/>
              <a:buFont typeface="Wingdings" panose="05000000000000000000" pitchFamily="2" charset="2"/>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思考：</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CREATE INDEX </a:t>
            </a:r>
            <a:r>
              <a:rPr kumimoji="1" lang="zh-CN" altLang="en-US"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命令能创建主索引吗？</a:t>
            </a:r>
          </a:p>
        </p:txBody>
      </p:sp>
    </p:spTree>
    <p:extLst>
      <p:ext uri="{BB962C8B-B14F-4D97-AF65-F5344CB8AC3E}">
        <p14:creationId xmlns:p14="http://schemas.microsoft.com/office/powerpoint/2010/main" val="376898822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P spid="13" grpId="0"/>
      <p:bldP spid="7" grpId="0"/>
      <p:bldP spid="11"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980" y="78423"/>
            <a:ext cx="6179820"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创建索引</a:t>
            </a:r>
          </a:p>
        </p:txBody>
      </p:sp>
      <p:sp>
        <p:nvSpPr>
          <p:cNvPr id="10" name="文本框 9"/>
          <p:cNvSpPr txBox="1"/>
          <p:nvPr/>
        </p:nvSpPr>
        <p:spPr>
          <a:xfrm>
            <a:off x="698800" y="1196844"/>
            <a:ext cx="6096000" cy="566309"/>
          </a:xfrm>
          <a:prstGeom prst="rect">
            <a:avLst/>
          </a:prstGeom>
          <a:noFill/>
        </p:spPr>
        <p:txBody>
          <a:bodyPr wrap="square" rtlCol="0" anchor="t">
            <a:spAutoFit/>
          </a:bodyPr>
          <a:lstStyle/>
          <a:p>
            <a:pPr>
              <a:lnSpc>
                <a:spcPct val="110000"/>
              </a:lnSpc>
              <a:buClr>
                <a:srgbClr val="32C6CA"/>
              </a:buClr>
              <a:buSzPct val="80000"/>
              <a:buFont typeface="Wingdings" panose="05000000000000000000" pitchFamily="2" charset="2"/>
              <a:defRPr/>
            </a:pPr>
            <a:r>
              <a:rPr kumimoji="1" lang="en-US" altLang="zh-CN" sz="2800" b="1" noProof="0"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3.</a:t>
            </a:r>
            <a:r>
              <a:rPr kumimoji="1" lang="zh-CN" altLang="en-US" sz="2800" b="1" noProof="0"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修改表结构添加索引</a:t>
            </a:r>
          </a:p>
        </p:txBody>
      </p:sp>
      <p:sp>
        <p:nvSpPr>
          <p:cNvPr id="8" name="文本框 99"/>
          <p:cNvSpPr txBox="1"/>
          <p:nvPr/>
        </p:nvSpPr>
        <p:spPr>
          <a:xfrm>
            <a:off x="626795" y="1916895"/>
            <a:ext cx="10889562" cy="1514261"/>
          </a:xfrm>
          <a:prstGeom prst="rect">
            <a:avLst/>
          </a:prstGeom>
          <a:noFill/>
          <a:ln w="9525">
            <a:noFill/>
          </a:ln>
        </p:spPr>
        <p:txBody>
          <a:bodyPr wrap="square">
            <a:spAutoFit/>
          </a:bodyPr>
          <a:lstStyle/>
          <a:p>
            <a:pPr>
              <a:lnSpc>
                <a:spcPct val="110000"/>
              </a:lnSpc>
              <a:buClr>
                <a:srgbClr val="32C6CA"/>
              </a:buClr>
              <a:buSzPct val="80000"/>
              <a:buFont typeface="Wingdings" panose="05000000000000000000" pitchFamily="2" charset="2"/>
              <a:defRPr/>
            </a:pP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ALTER TABLE &lt;</a:t>
            </a:r>
            <a:r>
              <a:rPr kumimoji="1" lang="en-US" altLang="zh-CN" sz="2800" b="1" dirty="0" err="1">
                <a:solidFill>
                  <a:srgbClr val="000066"/>
                </a:solidFill>
                <a:effectLst>
                  <a:outerShdw blurRad="38100" dist="38100" dir="2700000" algn="tl">
                    <a:srgbClr val="C0C0C0"/>
                  </a:outerShdw>
                </a:effectLst>
                <a:latin typeface="楷体_GB2312" pitchFamily="49" charset="-122"/>
                <a:ea typeface="楷体_GB2312" pitchFamily="49" charset="-122"/>
                <a:sym typeface="+mn-ea"/>
              </a:rPr>
              <a:t>table_name</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&gt; ADD [UNIQUE | </a:t>
            </a:r>
            <a:r>
              <a:rPr kumimoji="1" lang="en-US" altLang="zh-CN" sz="2800" b="1" dirty="0" err="1">
                <a:solidFill>
                  <a:srgbClr val="000066"/>
                </a:solidFill>
                <a:effectLst>
                  <a:outerShdw blurRad="38100" dist="38100" dir="2700000" algn="tl">
                    <a:srgbClr val="C0C0C0"/>
                  </a:outerShdw>
                </a:effectLst>
                <a:latin typeface="楷体_GB2312" pitchFamily="49" charset="-122"/>
                <a:ea typeface="楷体_GB2312" pitchFamily="49" charset="-122"/>
                <a:sym typeface="+mn-ea"/>
              </a:rPr>
              <a:t>FULLTEXT</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 | SPATIAL] INDEX &lt;</a:t>
            </a:r>
            <a:r>
              <a:rPr kumimoji="1" lang="en-US" altLang="zh-CN" sz="2800" b="1" dirty="0" err="1">
                <a:solidFill>
                  <a:srgbClr val="000066"/>
                </a:solidFill>
                <a:effectLst>
                  <a:outerShdw blurRad="38100" dist="38100" dir="2700000" algn="tl">
                    <a:srgbClr val="C0C0C0"/>
                  </a:outerShdw>
                </a:effectLst>
                <a:latin typeface="楷体_GB2312" pitchFamily="49" charset="-122"/>
                <a:ea typeface="楷体_GB2312" pitchFamily="49" charset="-122"/>
                <a:sym typeface="+mn-ea"/>
              </a:rPr>
              <a:t>index_name</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&gt; (&lt;</a:t>
            </a:r>
            <a:r>
              <a:rPr kumimoji="1" lang="en-US" altLang="zh-CN" sz="2800" b="1" dirty="0" err="1">
                <a:solidFill>
                  <a:srgbClr val="000066"/>
                </a:solidFill>
                <a:effectLst>
                  <a:outerShdw blurRad="38100" dist="38100" dir="2700000" algn="tl">
                    <a:srgbClr val="C0C0C0"/>
                  </a:outerShdw>
                </a:effectLst>
                <a:latin typeface="楷体_GB2312" pitchFamily="49" charset="-122"/>
                <a:ea typeface="楷体_GB2312" pitchFamily="49" charset="-122"/>
                <a:sym typeface="+mn-ea"/>
              </a:rPr>
              <a:t>column_name</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&gt;[(length)] [ASC | </a:t>
            </a:r>
            <a:r>
              <a:rPr kumimoji="1" lang="en-US" altLang="zh-CN" sz="2800" b="1" dirty="0" err="1">
                <a:solidFill>
                  <a:srgbClr val="000066"/>
                </a:solidFill>
                <a:effectLst>
                  <a:outerShdw blurRad="38100" dist="38100" dir="2700000" algn="tl">
                    <a:srgbClr val="C0C0C0"/>
                  </a:outerShdw>
                </a:effectLst>
                <a:latin typeface="楷体_GB2312" pitchFamily="49" charset="-122"/>
                <a:ea typeface="楷体_GB2312" pitchFamily="49" charset="-122"/>
                <a:sym typeface="+mn-ea"/>
              </a:rPr>
              <a:t>DESC</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 ;</a:t>
            </a:r>
          </a:p>
        </p:txBody>
      </p:sp>
      <p:sp>
        <p:nvSpPr>
          <p:cNvPr id="9" name="文本框 99"/>
          <p:cNvSpPr txBox="1"/>
          <p:nvPr/>
        </p:nvSpPr>
        <p:spPr>
          <a:xfrm>
            <a:off x="749221" y="4581080"/>
            <a:ext cx="10966344" cy="566309"/>
          </a:xfrm>
          <a:prstGeom prst="rect">
            <a:avLst/>
          </a:prstGeom>
          <a:noFill/>
          <a:ln w="9525">
            <a:noFill/>
          </a:ln>
        </p:spPr>
        <p:txBody>
          <a:bodyPr wrap="square">
            <a:spAutoFit/>
          </a:bodyPr>
          <a:lstStyle/>
          <a:p>
            <a:pPr>
              <a:lnSpc>
                <a:spcPct val="110000"/>
              </a:lnSpc>
              <a:buClr>
                <a:srgbClr val="32C6CA"/>
              </a:buClr>
              <a:buSzPct val="80000"/>
              <a:buFont typeface="Wingdings" panose="05000000000000000000" pitchFamily="2" charset="2"/>
              <a:defRPr/>
            </a:pP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ALTER TABLE score ADD UNIQUE INDEX </a:t>
            </a:r>
            <a:r>
              <a:rPr kumimoji="1" lang="en-US" altLang="zh-CN" sz="2800" b="1" dirty="0" err="1">
                <a:solidFill>
                  <a:srgbClr val="000066"/>
                </a:solidFill>
                <a:effectLst>
                  <a:outerShdw blurRad="38100" dist="38100" dir="2700000" algn="tl">
                    <a:srgbClr val="C0C0C0"/>
                  </a:outerShdw>
                </a:effectLst>
                <a:latin typeface="楷体_GB2312" pitchFamily="49" charset="-122"/>
                <a:ea typeface="楷体_GB2312" pitchFamily="49" charset="-122"/>
                <a:sym typeface="+mn-ea"/>
              </a:rPr>
              <a:t>idx_sno_cno</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 </a:t>
            </a:r>
            <a:r>
              <a:rPr kumimoji="1" lang="en-US" altLang="zh-CN" sz="2800" b="1" dirty="0" err="1">
                <a:solidFill>
                  <a:srgbClr val="000066"/>
                </a:solidFill>
                <a:effectLst>
                  <a:outerShdw blurRad="38100" dist="38100" dir="2700000" algn="tl">
                    <a:srgbClr val="C0C0C0"/>
                  </a:outerShdw>
                </a:effectLst>
                <a:latin typeface="楷体_GB2312" pitchFamily="49" charset="-122"/>
                <a:ea typeface="楷体_GB2312" pitchFamily="49" charset="-122"/>
                <a:sym typeface="+mn-ea"/>
              </a:rPr>
              <a:t>sno</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 </a:t>
            </a:r>
            <a:r>
              <a:rPr kumimoji="1" lang="en-US" altLang="zh-CN" sz="2800" b="1" dirty="0" err="1">
                <a:solidFill>
                  <a:srgbClr val="000066"/>
                </a:solidFill>
                <a:effectLst>
                  <a:outerShdw blurRad="38100" dist="38100" dir="2700000" algn="tl">
                    <a:srgbClr val="C0C0C0"/>
                  </a:outerShdw>
                </a:effectLst>
                <a:latin typeface="楷体_GB2312" pitchFamily="49" charset="-122"/>
                <a:ea typeface="楷体_GB2312" pitchFamily="49" charset="-122"/>
                <a:sym typeface="+mn-ea"/>
              </a:rPr>
              <a:t>cno</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 );</a:t>
            </a:r>
            <a:endPar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endParaRPr>
          </a:p>
        </p:txBody>
      </p:sp>
      <p:sp>
        <p:nvSpPr>
          <p:cNvPr id="13" name="文本框 99"/>
          <p:cNvSpPr txBox="1"/>
          <p:nvPr/>
        </p:nvSpPr>
        <p:spPr>
          <a:xfrm>
            <a:off x="749221" y="3431156"/>
            <a:ext cx="10767135" cy="982385"/>
          </a:xfrm>
          <a:prstGeom prst="rect">
            <a:avLst/>
          </a:prstGeom>
          <a:noFill/>
          <a:ln w="9525">
            <a:noFill/>
          </a:ln>
        </p:spPr>
        <p:txBody>
          <a:bodyPr wrap="square">
            <a:spAutoFit/>
          </a:bodyPr>
          <a:lstStyle/>
          <a:p>
            <a:pPr>
              <a:lnSpc>
                <a:spcPct val="110000"/>
              </a:lnSpc>
              <a:buClr>
                <a:srgbClr val="32C6CA"/>
              </a:buClr>
              <a:buSzPct val="80000"/>
              <a:buFont typeface="Wingdings" panose="05000000000000000000" pitchFamily="2" charset="2"/>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7.3】</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在</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score</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表的</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sno</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字段和</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cno</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字段创建组合唯一索引，约束同一个学生的同一门课成绩只能出现一次。</a:t>
            </a:r>
          </a:p>
        </p:txBody>
      </p:sp>
    </p:spTree>
    <p:extLst>
      <p:ext uri="{BB962C8B-B14F-4D97-AF65-F5344CB8AC3E}">
        <p14:creationId xmlns:p14="http://schemas.microsoft.com/office/powerpoint/2010/main" val="111586095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05514" y="1196845"/>
            <a:ext cx="10974131" cy="523220"/>
          </a:xfrm>
          <a:prstGeom prst="rect">
            <a:avLst/>
          </a:prstGeom>
          <a:noFill/>
          <a:ln w="9525">
            <a:noFill/>
          </a:ln>
        </p:spPr>
        <p:txBody>
          <a:bodyPr wrap="square">
            <a:spAutoFit/>
          </a:bodyPr>
          <a:lstStyle/>
          <a:p>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sym typeface="+mn-ea"/>
              </a:rPr>
              <a:t>可以通过</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sym typeface="+mn-ea"/>
              </a:rPr>
              <a:t>ALTER TABLE</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sym typeface="+mn-ea"/>
              </a:rPr>
              <a:t>语句和</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sym typeface="+mn-ea"/>
              </a:rPr>
              <a:t>DROP INDEX</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sym typeface="+mn-ea"/>
              </a:rPr>
              <a:t>语句两种方式删除索引。</a:t>
            </a:r>
          </a:p>
        </p:txBody>
      </p:sp>
      <p:sp>
        <p:nvSpPr>
          <p:cNvPr id="5" name="TextBox 6"/>
          <p:cNvSpPr>
            <a:spLocks noChangeArrowheads="1"/>
          </p:cNvSpPr>
          <p:nvPr/>
        </p:nvSpPr>
        <p:spPr bwMode="auto">
          <a:xfrm>
            <a:off x="1490980" y="78423"/>
            <a:ext cx="6179820"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删除索引</a:t>
            </a:r>
          </a:p>
        </p:txBody>
      </p:sp>
      <p:sp>
        <p:nvSpPr>
          <p:cNvPr id="7" name="文本框 1"/>
          <p:cNvSpPr txBox="1"/>
          <p:nvPr/>
        </p:nvSpPr>
        <p:spPr>
          <a:xfrm>
            <a:off x="873760" y="2924965"/>
            <a:ext cx="10625790" cy="523220"/>
          </a:xfrm>
          <a:prstGeom prst="rect">
            <a:avLst/>
          </a:prstGeom>
          <a:noFill/>
          <a:ln w="9525">
            <a:noFill/>
          </a:ln>
        </p:spPr>
        <p:txBody>
          <a:bodyPr wrap="square">
            <a:spAutoFit/>
          </a:bodyPr>
          <a:lstStyle/>
          <a:p>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7.7】</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删除</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student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表中的</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idx_sname_dept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索引。</a:t>
            </a:r>
          </a:p>
        </p:txBody>
      </p:sp>
      <p:sp>
        <p:nvSpPr>
          <p:cNvPr id="8" name="文本框 1"/>
          <p:cNvSpPr txBox="1"/>
          <p:nvPr/>
        </p:nvSpPr>
        <p:spPr>
          <a:xfrm>
            <a:off x="877643" y="3789025"/>
            <a:ext cx="9936690" cy="523220"/>
          </a:xfrm>
          <a:prstGeom prst="rect">
            <a:avLst/>
          </a:prstGeom>
          <a:noFill/>
          <a:ln w="9525">
            <a:noFill/>
          </a:ln>
        </p:spPr>
        <p:txBody>
          <a:bodyPr wrap="square">
            <a:spAutoFit/>
          </a:bodyPr>
          <a:lstStyle/>
          <a:p>
            <a:r>
              <a:rPr lang="en-US" altLang="zh-CN" sz="2800" dirty="0">
                <a:solidFill>
                  <a:srgbClr val="002060"/>
                </a:solidFill>
              </a:rPr>
              <a:t>ALTER TABLE </a:t>
            </a:r>
            <a:r>
              <a:rPr lang="en-US" altLang="zh-CN" sz="2800" dirty="0" err="1">
                <a:solidFill>
                  <a:srgbClr val="002060"/>
                </a:solidFill>
              </a:rPr>
              <a:t>student1</a:t>
            </a:r>
            <a:r>
              <a:rPr lang="en-US" altLang="zh-CN" sz="2800" dirty="0">
                <a:solidFill>
                  <a:srgbClr val="002060"/>
                </a:solidFill>
              </a:rPr>
              <a:t> DROP INDEX </a:t>
            </a:r>
            <a:r>
              <a:rPr lang="en-US" altLang="zh-CN" sz="2800" dirty="0" err="1">
                <a:solidFill>
                  <a:srgbClr val="002060"/>
                </a:solidFill>
              </a:rPr>
              <a:t>idx_sname_dept</a:t>
            </a:r>
            <a:r>
              <a:rPr lang="en-US" altLang="zh-CN" sz="2800" dirty="0">
                <a:solidFill>
                  <a:srgbClr val="002060"/>
                </a:solidFill>
              </a:rPr>
              <a:t>;</a:t>
            </a:r>
            <a:endPar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sym typeface="+mn-ea"/>
            </a:endParaRPr>
          </a:p>
        </p:txBody>
      </p:sp>
      <p:sp>
        <p:nvSpPr>
          <p:cNvPr id="9" name="文本框 1"/>
          <p:cNvSpPr txBox="1"/>
          <p:nvPr/>
        </p:nvSpPr>
        <p:spPr>
          <a:xfrm>
            <a:off x="705513" y="1844890"/>
            <a:ext cx="10974131" cy="954107"/>
          </a:xfrm>
          <a:prstGeom prst="rect">
            <a:avLst/>
          </a:prstGeom>
          <a:noFill/>
          <a:ln w="9525">
            <a:noFill/>
          </a:ln>
        </p:spPr>
        <p:txBody>
          <a:bodyPr wrap="square">
            <a:spAutoFit/>
          </a:bodyPr>
          <a:lstStyle/>
          <a:p>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ALTER TABLE &lt;</a:t>
            </a:r>
            <a:r>
              <a:rPr kumimoji="1" lang="en-US" altLang="zh-CN" sz="2800" b="1" dirty="0" err="1">
                <a:solidFill>
                  <a:srgbClr val="C00000"/>
                </a:solidFill>
                <a:effectLst>
                  <a:outerShdw blurRad="38100" dist="38100" dir="2700000" algn="tl">
                    <a:srgbClr val="C0C0C0"/>
                  </a:outerShdw>
                </a:effectLst>
                <a:latin typeface="楷体_GB2312" pitchFamily="49" charset="-122"/>
                <a:ea typeface="楷体_GB2312" pitchFamily="49" charset="-122"/>
                <a:sym typeface="+mn-ea"/>
              </a:rPr>
              <a:t>table_name</a:t>
            </a: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&gt; DROP INDEX &lt;</a:t>
            </a:r>
            <a:r>
              <a:rPr kumimoji="1" lang="en-US" altLang="zh-CN" sz="2800" b="1" dirty="0" err="1">
                <a:solidFill>
                  <a:srgbClr val="C00000"/>
                </a:solidFill>
                <a:effectLst>
                  <a:outerShdw blurRad="38100" dist="38100" dir="2700000" algn="tl">
                    <a:srgbClr val="C0C0C0"/>
                  </a:outerShdw>
                </a:effectLst>
                <a:latin typeface="楷体_GB2312" pitchFamily="49" charset="-122"/>
                <a:ea typeface="楷体_GB2312" pitchFamily="49" charset="-122"/>
                <a:sym typeface="+mn-ea"/>
              </a:rPr>
              <a:t>index_name</a:t>
            </a: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&gt;</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a:t>
            </a: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 </a:t>
            </a:r>
          </a:p>
          <a:p>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DROP INDEX &lt;</a:t>
            </a:r>
            <a:r>
              <a:rPr kumimoji="1" lang="en-US" altLang="zh-CN" sz="2800" b="1" dirty="0" err="1">
                <a:solidFill>
                  <a:srgbClr val="C00000"/>
                </a:solidFill>
                <a:effectLst>
                  <a:outerShdw blurRad="38100" dist="38100" dir="2700000" algn="tl">
                    <a:srgbClr val="C0C0C0"/>
                  </a:outerShdw>
                </a:effectLst>
                <a:latin typeface="楷体_GB2312" pitchFamily="49" charset="-122"/>
                <a:ea typeface="楷体_GB2312" pitchFamily="49" charset="-122"/>
                <a:sym typeface="+mn-ea"/>
              </a:rPr>
              <a:t>index_name</a:t>
            </a: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&gt; ON &lt;</a:t>
            </a:r>
            <a:r>
              <a:rPr kumimoji="1" lang="en-US" altLang="zh-CN" sz="2800" b="1" dirty="0" err="1">
                <a:solidFill>
                  <a:srgbClr val="C00000"/>
                </a:solidFill>
                <a:effectLst>
                  <a:outerShdw blurRad="38100" dist="38100" dir="2700000" algn="tl">
                    <a:srgbClr val="C0C0C0"/>
                  </a:outerShdw>
                </a:effectLst>
                <a:latin typeface="楷体_GB2312" pitchFamily="49" charset="-122"/>
                <a:ea typeface="楷体_GB2312" pitchFamily="49" charset="-122"/>
                <a:sym typeface="+mn-ea"/>
              </a:rPr>
              <a:t>table_name</a:t>
            </a: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&gt; ;</a:t>
            </a:r>
            <a:endPar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endParaRPr>
          </a:p>
        </p:txBody>
      </p:sp>
      <p:sp>
        <p:nvSpPr>
          <p:cNvPr id="10" name="文本框 1"/>
          <p:cNvSpPr txBox="1"/>
          <p:nvPr/>
        </p:nvSpPr>
        <p:spPr>
          <a:xfrm>
            <a:off x="889313" y="4581080"/>
            <a:ext cx="9530161" cy="523220"/>
          </a:xfrm>
          <a:prstGeom prst="rect">
            <a:avLst/>
          </a:prstGeom>
          <a:noFill/>
          <a:ln w="9525">
            <a:noFill/>
          </a:ln>
        </p:spPr>
        <p:txBody>
          <a:bodyPr wrap="square">
            <a:spAutoFit/>
          </a:bodyPr>
          <a:lstStyle/>
          <a:p>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7.8】</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删除</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score</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表中的</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uk_sno_cno</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索引。</a:t>
            </a:r>
          </a:p>
        </p:txBody>
      </p:sp>
      <p:sp>
        <p:nvSpPr>
          <p:cNvPr id="11" name="文本框 1"/>
          <p:cNvSpPr txBox="1"/>
          <p:nvPr/>
        </p:nvSpPr>
        <p:spPr>
          <a:xfrm>
            <a:off x="893197" y="5445140"/>
            <a:ext cx="9936690" cy="523220"/>
          </a:xfrm>
          <a:prstGeom prst="rect">
            <a:avLst/>
          </a:prstGeom>
          <a:noFill/>
          <a:ln w="9525">
            <a:noFill/>
          </a:ln>
        </p:spPr>
        <p:txBody>
          <a:bodyPr wrap="square">
            <a:spAutoFit/>
          </a:bodyPr>
          <a:lstStyle/>
          <a:p>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sym typeface="+mn-ea"/>
              </a:rPr>
              <a:t>DROP INDEX </a:t>
            </a: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sym typeface="+mn-ea"/>
              </a:rPr>
              <a:t>uk_sno_cno</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sym typeface="+mn-ea"/>
              </a:rPr>
              <a:t> ON score;</a:t>
            </a:r>
            <a:endPar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sym typeface="+mn-ea"/>
            </a:endParaRPr>
          </a:p>
        </p:txBody>
      </p:sp>
    </p:spTree>
    <p:extLst>
      <p:ext uri="{BB962C8B-B14F-4D97-AF65-F5344CB8AC3E}">
        <p14:creationId xmlns:p14="http://schemas.microsoft.com/office/powerpoint/2010/main" val="28918930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索引总结</a:t>
            </a:r>
          </a:p>
        </p:txBody>
      </p:sp>
      <p:sp>
        <p:nvSpPr>
          <p:cNvPr id="28" name="Text Box 5"/>
          <p:cNvSpPr txBox="1">
            <a:spLocks noChangeArrowheads="1"/>
          </p:cNvSpPr>
          <p:nvPr/>
        </p:nvSpPr>
        <p:spPr bwMode="auto">
          <a:xfrm>
            <a:off x="662751" y="1229115"/>
            <a:ext cx="10890369"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R="0" defTabSz="914400">
              <a:lnSpc>
                <a:spcPct val="150000"/>
              </a:lnSpc>
              <a:spcBef>
                <a:spcPts val="0"/>
              </a:spcBef>
              <a:spcAft>
                <a:spcPts val="1200"/>
              </a:spcAft>
              <a:buClr>
                <a:srgbClr val="32C6CA"/>
              </a:buClr>
              <a:buSzPct val="80000"/>
              <a:buFont typeface="Wingdings" panose="05000000000000000000" pitchFamily="2" charset="2"/>
              <a:buNone/>
              <a:defRPr/>
            </a:pPr>
            <a:r>
              <a:rPr kumimoji="1" lang="zh-CN" altLang="en-US" sz="2800" b="1" noProof="0" dirty="0">
                <a:solidFill>
                  <a:srgbClr val="FF0000"/>
                </a:solidFill>
                <a:effectLst>
                  <a:outerShdw blurRad="38100" dist="38100" dir="2700000" algn="tl">
                    <a:srgbClr val="C0C0C0"/>
                  </a:outerShdw>
                </a:effectLst>
                <a:latin typeface="楷体_GB2312" pitchFamily="49" charset="-122"/>
                <a:ea typeface="楷体_GB2312" pitchFamily="49" charset="-122"/>
                <a:sym typeface="+mn-ea"/>
              </a:rPr>
              <a:t>    优点</a:t>
            </a:r>
            <a:r>
              <a:rPr kumimoji="1" lang="zh-CN" altLang="en-US" sz="2800" b="1" noProof="0"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：使用索引，可以在查询的过程中，提高系统的性能。</a:t>
            </a:r>
          </a:p>
        </p:txBody>
      </p:sp>
      <p:sp>
        <p:nvSpPr>
          <p:cNvPr id="10246" name="椭圆 14"/>
          <p:cNvSpPr/>
          <p:nvPr/>
        </p:nvSpPr>
        <p:spPr>
          <a:xfrm>
            <a:off x="482600" y="4454525"/>
            <a:ext cx="792163" cy="558800"/>
          </a:xfrm>
          <a:prstGeom prst="ellipse">
            <a:avLst/>
          </a:prstGeom>
          <a:noFill/>
          <a:ln w="9525">
            <a:noFill/>
          </a:ln>
        </p:spPr>
        <p:txBody>
          <a:bodyPr anchor="ctr" anchorCtr="0"/>
          <a:lstStyle/>
          <a:p>
            <a:pPr algn="ctr" eaLnBrk="0" hangingPunct="0"/>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93609" y="2132910"/>
            <a:ext cx="10805606" cy="2031325"/>
          </a:xfrm>
          <a:prstGeom prst="rect">
            <a:avLst/>
          </a:prstGeom>
          <a:noFill/>
        </p:spPr>
        <p:txBody>
          <a:bodyPr wrap="square" rtlCol="0" anchor="t">
            <a:spAutoFit/>
          </a:bodyPr>
          <a:lstStyle/>
          <a:p>
            <a:pPr marR="0" defTabSz="914400">
              <a:lnSpc>
                <a:spcPct val="150000"/>
              </a:lnSpc>
              <a:spcBef>
                <a:spcPts val="0"/>
              </a:spcBef>
              <a:spcAft>
                <a:spcPts val="1200"/>
              </a:spcAft>
              <a:buClr>
                <a:srgbClr val="32C6CA"/>
              </a:buClr>
              <a:buSzPct val="80000"/>
              <a:buFont typeface="Wingdings" panose="05000000000000000000" pitchFamily="2" charset="2"/>
              <a:buNone/>
              <a:defRPr/>
            </a:pPr>
            <a:r>
              <a:rPr kumimoji="1" lang="zh-CN" altLang="en-US" sz="2800" b="1" noProof="0" dirty="0">
                <a:solidFill>
                  <a:srgbClr val="FF0000"/>
                </a:solidFill>
                <a:effectLst>
                  <a:outerShdw blurRad="38100" dist="38100" dir="2700000" algn="tl">
                    <a:srgbClr val="C0C0C0"/>
                  </a:outerShdw>
                </a:effectLst>
                <a:latin typeface="楷体_GB2312" pitchFamily="49" charset="-122"/>
                <a:ea typeface="楷体_GB2312" pitchFamily="49" charset="-122"/>
                <a:sym typeface="+mn-ea"/>
              </a:rPr>
              <a:t>    缺点</a:t>
            </a:r>
            <a:r>
              <a:rPr kumimoji="1" lang="zh-CN" altLang="en-US" sz="2800" b="1" noProof="0"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：占用更多的存储空间；索引的维护成本很高，每次新增、删除数据都需要整理B+树结构（结点分裂、合并）拖慢了增删改的速度。</a:t>
            </a:r>
          </a:p>
        </p:txBody>
      </p:sp>
      <p:sp>
        <p:nvSpPr>
          <p:cNvPr id="7" name="文本框 1"/>
          <p:cNvSpPr txBox="1"/>
          <p:nvPr/>
        </p:nvSpPr>
        <p:spPr>
          <a:xfrm>
            <a:off x="487900" y="4005040"/>
            <a:ext cx="10836465" cy="2123658"/>
          </a:xfrm>
          <a:prstGeom prst="rect">
            <a:avLst/>
          </a:prstGeom>
          <a:noFill/>
          <a:ln w="9525">
            <a:noFill/>
          </a:ln>
        </p:spPr>
        <p:txBody>
          <a:bodyPr wrap="square">
            <a:spAutoFit/>
          </a:bodyPr>
          <a:lstStyle/>
          <a:p>
            <a:pPr>
              <a:lnSpc>
                <a:spcPct val="150000"/>
              </a:lnSpc>
            </a:pPr>
            <a:r>
              <a:rPr kumimoji="1" lang="en-US" altLang="zh-CN" sz="3200" b="1" noProof="0" dirty="0">
                <a:solidFill>
                  <a:srgbClr val="000066"/>
                </a:solidFill>
                <a:effectLst>
                  <a:outerShdw blurRad="38100" dist="38100" dir="2700000" algn="tl">
                    <a:srgbClr val="C0C0C0"/>
                  </a:outerShdw>
                </a:effectLst>
                <a:latin typeface="楷体_GB2312" pitchFamily="49" charset="-122"/>
                <a:ea typeface="楷体_GB2312" pitchFamily="49" charset="-122"/>
              </a:rPr>
              <a:t>    </a:t>
            </a:r>
            <a:r>
              <a:rPr kumimoji="1" lang="zh-CN" altLang="en-US" sz="2800" b="1" noProof="0" dirty="0">
                <a:solidFill>
                  <a:srgbClr val="FF0000"/>
                </a:solidFill>
                <a:effectLst>
                  <a:outerShdw blurRad="38100" dist="38100" dir="2700000" algn="tl">
                    <a:srgbClr val="C0C0C0"/>
                  </a:outerShdw>
                </a:effectLst>
                <a:latin typeface="楷体_GB2312" pitchFamily="49" charset="-122"/>
                <a:ea typeface="楷体_GB2312" pitchFamily="49" charset="-122"/>
              </a:rPr>
              <a:t>索引</a:t>
            </a:r>
            <a:r>
              <a:rPr kumimoji="1" lang="zh-CN" altLang="en-US" sz="2800" b="1" noProof="0" dirty="0">
                <a:solidFill>
                  <a:srgbClr val="000066"/>
                </a:solidFill>
                <a:effectLst>
                  <a:outerShdw blurRad="38100" dist="38100" dir="2700000" algn="tl">
                    <a:srgbClr val="C0C0C0"/>
                  </a:outerShdw>
                </a:effectLst>
                <a:latin typeface="楷体_GB2312" pitchFamily="49" charset="-122"/>
                <a:ea typeface="楷体_GB2312" pitchFamily="49" charset="-122"/>
              </a:rPr>
              <a:t>必须根据表中的</a:t>
            </a:r>
            <a:r>
              <a:rPr kumimoji="1" lang="zh-CN" altLang="en-US" sz="2800" b="1" noProof="0" dirty="0">
                <a:solidFill>
                  <a:srgbClr val="FF0000"/>
                </a:solidFill>
                <a:effectLst>
                  <a:outerShdw blurRad="38100" dist="38100" dir="2700000" algn="tl">
                    <a:srgbClr val="C0C0C0"/>
                  </a:outerShdw>
                </a:effectLst>
                <a:latin typeface="楷体_GB2312" pitchFamily="49" charset="-122"/>
                <a:ea typeface="楷体_GB2312" pitchFamily="49" charset="-122"/>
              </a:rPr>
              <a:t>列数据</a:t>
            </a:r>
            <a:r>
              <a:rPr kumimoji="1" lang="zh-CN" altLang="en-US" sz="2800" b="1" noProof="0" dirty="0">
                <a:solidFill>
                  <a:srgbClr val="000066"/>
                </a:solidFill>
                <a:effectLst>
                  <a:outerShdw blurRad="38100" dist="38100" dir="2700000" algn="tl">
                    <a:srgbClr val="C0C0C0"/>
                  </a:outerShdw>
                </a:effectLst>
                <a:latin typeface="楷体_GB2312" pitchFamily="49" charset="-122"/>
                <a:ea typeface="楷体_GB2312" pitchFamily="49" charset="-122"/>
              </a:rPr>
              <a:t>的</a:t>
            </a:r>
            <a:r>
              <a:rPr kumimoji="1" lang="zh-CN" altLang="en-US" sz="2800" b="1" noProof="0" dirty="0">
                <a:solidFill>
                  <a:srgbClr val="FF0000"/>
                </a:solidFill>
                <a:effectLst>
                  <a:outerShdw blurRad="38100" dist="38100" dir="2700000" algn="tl">
                    <a:srgbClr val="C0C0C0"/>
                  </a:outerShdw>
                </a:effectLst>
                <a:latin typeface="楷体_GB2312" pitchFamily="49" charset="-122"/>
                <a:ea typeface="楷体_GB2312" pitchFamily="49" charset="-122"/>
              </a:rPr>
              <a:t>使用特性</a:t>
            </a:r>
            <a:r>
              <a:rPr kumimoji="1" lang="zh-CN" altLang="en-US" sz="2800" b="1" noProof="0" dirty="0">
                <a:solidFill>
                  <a:srgbClr val="000066"/>
                </a:solidFill>
                <a:effectLst>
                  <a:outerShdw blurRad="38100" dist="38100" dir="2700000" algn="tl">
                    <a:srgbClr val="C0C0C0"/>
                  </a:outerShdw>
                </a:effectLst>
                <a:latin typeface="楷体_GB2312" pitchFamily="49" charset="-122"/>
                <a:ea typeface="楷体_GB2312" pitchFamily="49" charset="-122"/>
              </a:rPr>
              <a:t>进行创建，而不能随意建立，在什么情况下使用索引、使用什么类型的索引以及在什么情况下不使用索引，需要根据数据库的设计需求或使用经验来判断。</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视图概述</a:t>
            </a:r>
          </a:p>
        </p:txBody>
      </p:sp>
      <p:sp>
        <p:nvSpPr>
          <p:cNvPr id="5" name="Rectangle 2"/>
          <p:cNvSpPr>
            <a:spLocks noChangeArrowheads="1"/>
          </p:cNvSpPr>
          <p:nvPr/>
        </p:nvSpPr>
        <p:spPr bwMode="auto">
          <a:xfrm>
            <a:off x="571500" y="1120775"/>
            <a:ext cx="10926445"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lvl="0" indent="-457200" eaLnBrk="0" hangingPunct="0">
              <a:spcBef>
                <a:spcPct val="50000"/>
              </a:spcBef>
              <a:buFont typeface="Wingdings" panose="05000000000000000000" pitchFamily="2" charset="2"/>
              <a:buChar char="Ø"/>
              <a:defRPr/>
            </a:pPr>
            <a:r>
              <a:rPr lang="zh-CN" altLang="en-US" sz="2800" b="1" dirty="0">
                <a:solidFill>
                  <a:srgbClr val="C00000"/>
                </a:solidFill>
                <a:effectLst>
                  <a:outerShdw blurRad="38100" dist="38100" dir="2700000" algn="tl">
                    <a:srgbClr val="C0C0C0"/>
                  </a:outerShdw>
                </a:effectLst>
              </a:rPr>
              <a:t>为什么要使用视图？</a:t>
            </a:r>
            <a:endParaRPr lang="en-US" altLang="zh-CN" sz="2800" b="1" dirty="0">
              <a:solidFill>
                <a:srgbClr val="C00000"/>
              </a:solidFill>
              <a:effectLst>
                <a:outerShdw blurRad="38100" dist="38100" dir="2700000" algn="tl">
                  <a:srgbClr val="C0C0C0"/>
                </a:outerShdw>
              </a:effectLst>
            </a:endParaRPr>
          </a:p>
          <a:p>
            <a:pPr lvl="0" eaLnBrk="0" hangingPunct="0">
              <a:spcBef>
                <a:spcPct val="50000"/>
              </a:spcBef>
              <a:defRPr/>
            </a:pPr>
            <a:r>
              <a:rPr lang="en-US" altLang="zh-CN" sz="2800" b="1" dirty="0">
                <a:effectLst>
                  <a:outerShdw blurRad="38100" dist="38100" dir="2700000" algn="tl">
                    <a:srgbClr val="C0C0C0"/>
                  </a:outerShdw>
                </a:effectLst>
              </a:rPr>
              <a:t>     </a:t>
            </a:r>
            <a:r>
              <a:rPr lang="zh-CN" altLang="en-US" sz="2800" b="1" dirty="0">
                <a:effectLst>
                  <a:outerShdw blurRad="38100" dist="38100" dir="2700000" algn="tl">
                    <a:srgbClr val="C0C0C0"/>
                  </a:outerShdw>
                </a:effectLst>
              </a:rPr>
              <a:t>三级模式</a:t>
            </a:r>
          </a:p>
        </p:txBody>
      </p:sp>
    </p:spTree>
  </p:cSld>
  <p:clrMapOvr>
    <a:masterClrMapping/>
  </p:clrMapOvr>
  <p:transition spd="slow">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FDF28-00D1-9367-5C07-EEC281E082BA}"/>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89C3CF34-9E53-C994-7EF8-AD1D4AFC9BF6}"/>
              </a:ext>
            </a:extLst>
          </p:cNvPr>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视图概述</a:t>
            </a:r>
          </a:p>
        </p:txBody>
      </p:sp>
      <p:sp>
        <p:nvSpPr>
          <p:cNvPr id="5" name="Rectangle 2">
            <a:extLst>
              <a:ext uri="{FF2B5EF4-FFF2-40B4-BE49-F238E27FC236}">
                <a16:creationId xmlns:a16="http://schemas.microsoft.com/office/drawing/2014/main" id="{85E70163-1491-A8E6-FCD0-E84F649DE9C0}"/>
              </a:ext>
            </a:extLst>
          </p:cNvPr>
          <p:cNvSpPr>
            <a:spLocks noChangeArrowheads="1"/>
          </p:cNvSpPr>
          <p:nvPr/>
        </p:nvSpPr>
        <p:spPr bwMode="auto">
          <a:xfrm>
            <a:off x="571500" y="1120775"/>
            <a:ext cx="1121607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lvl="0" indent="-457200" eaLnBrk="0" hangingPunct="0">
              <a:spcBef>
                <a:spcPct val="50000"/>
              </a:spcBef>
              <a:buFont typeface="Wingdings" panose="05000000000000000000" pitchFamily="2" charset="2"/>
              <a:buChar char="Ø"/>
              <a:defRPr/>
            </a:pPr>
            <a:r>
              <a:rPr lang="zh-CN" altLang="en-US" sz="2800" b="1" dirty="0">
                <a:effectLst>
                  <a:outerShdw blurRad="38100" dist="38100" dir="2700000" algn="tl">
                    <a:srgbClr val="C0C0C0"/>
                  </a:outerShdw>
                </a:effectLst>
              </a:rPr>
              <a:t>视图是从</a:t>
            </a:r>
            <a:r>
              <a:rPr lang="zh-CN" altLang="en-US" sz="2800" b="1" dirty="0">
                <a:solidFill>
                  <a:srgbClr val="C00000"/>
                </a:solidFill>
                <a:effectLst>
                  <a:outerShdw blurRad="38100" dist="38100" dir="2700000" algn="tl">
                    <a:srgbClr val="C0C0C0"/>
                  </a:outerShdw>
                </a:effectLst>
              </a:rPr>
              <a:t>一个或几个基本表（或视图）</a:t>
            </a:r>
            <a:r>
              <a:rPr lang="zh-CN" altLang="en-US" sz="2800" b="1" dirty="0">
                <a:effectLst>
                  <a:outerShdw blurRad="38100" dist="38100" dir="2700000" algn="tl">
                    <a:srgbClr val="C0C0C0"/>
                  </a:outerShdw>
                </a:effectLst>
              </a:rPr>
              <a:t>导出的</a:t>
            </a:r>
            <a:r>
              <a:rPr lang="zh-CN" altLang="en-US" sz="2800" b="1" dirty="0">
                <a:solidFill>
                  <a:srgbClr val="C00000"/>
                </a:solidFill>
                <a:effectLst>
                  <a:outerShdw blurRad="38100" dist="38100" dir="2700000" algn="tl">
                    <a:srgbClr val="C0C0C0"/>
                  </a:outerShdw>
                </a:effectLst>
              </a:rPr>
              <a:t>“虚拟表”</a:t>
            </a:r>
            <a:r>
              <a:rPr lang="zh-CN" altLang="en-US" sz="2800" b="1" dirty="0">
                <a:solidFill>
                  <a:srgbClr val="002060"/>
                </a:solidFill>
                <a:effectLst>
                  <a:outerShdw blurRad="38100" dist="38100" dir="2700000" algn="tl">
                    <a:srgbClr val="C0C0C0"/>
                  </a:outerShdw>
                </a:effectLst>
              </a:rPr>
              <a:t>。</a:t>
            </a:r>
          </a:p>
          <a:p>
            <a:pPr marL="457200" lvl="0" indent="-457200" eaLnBrk="0" hangingPunct="0">
              <a:spcBef>
                <a:spcPct val="50000"/>
              </a:spcBef>
              <a:buFont typeface="Wingdings" panose="05000000000000000000" pitchFamily="2" charset="2"/>
              <a:buChar char="Ø"/>
              <a:defRPr/>
            </a:pPr>
            <a:r>
              <a:rPr lang="zh-CN" altLang="en-US" sz="2800" b="1" dirty="0">
                <a:solidFill>
                  <a:srgbClr val="002060"/>
                </a:solidFill>
                <a:effectLst>
                  <a:outerShdw blurRad="38100" dist="38100" dir="2700000" algn="tl">
                    <a:srgbClr val="C0C0C0"/>
                  </a:outerShdw>
                </a:effectLst>
              </a:rPr>
              <a:t>数据库中只存储</a:t>
            </a:r>
            <a:r>
              <a:rPr lang="zh-CN" altLang="en-US" sz="2800" b="1" dirty="0">
                <a:solidFill>
                  <a:srgbClr val="C00000"/>
                </a:solidFill>
                <a:effectLst>
                  <a:outerShdw blurRad="38100" dist="38100" dir="2700000" algn="tl">
                    <a:srgbClr val="C0C0C0"/>
                  </a:outerShdw>
                </a:effectLst>
              </a:rPr>
              <a:t>视图的定义（</a:t>
            </a:r>
            <a:r>
              <a:rPr lang="en-US" altLang="zh-CN" sz="2800" b="1" dirty="0">
                <a:solidFill>
                  <a:srgbClr val="C00000"/>
                </a:solidFill>
                <a:effectLst>
                  <a:outerShdw blurRad="38100" dist="38100" dir="2700000" algn="tl">
                    <a:srgbClr val="C0C0C0"/>
                  </a:outerShdw>
                </a:effectLst>
              </a:rPr>
              <a:t>select</a:t>
            </a:r>
            <a:r>
              <a:rPr lang="zh-CN" altLang="en-US" sz="2800" b="1" dirty="0">
                <a:solidFill>
                  <a:srgbClr val="C00000"/>
                </a:solidFill>
                <a:effectLst>
                  <a:outerShdw blurRad="38100" dist="38100" dir="2700000" algn="tl">
                    <a:srgbClr val="C0C0C0"/>
                  </a:outerShdw>
                </a:effectLst>
              </a:rPr>
              <a:t>语句）</a:t>
            </a:r>
            <a:r>
              <a:rPr lang="zh-CN" altLang="en-US" sz="2800" b="1" dirty="0">
                <a:solidFill>
                  <a:srgbClr val="002060"/>
                </a:solidFill>
                <a:effectLst>
                  <a:outerShdw blurRad="38100" dist="38100" dir="2700000" algn="tl">
                    <a:srgbClr val="C0C0C0"/>
                  </a:outerShdw>
                </a:effectLst>
              </a:rPr>
              <a:t>。</a:t>
            </a:r>
            <a:endParaRPr lang="en-US" altLang="zh-CN" sz="2800" b="1" dirty="0">
              <a:solidFill>
                <a:srgbClr val="002060"/>
              </a:solidFill>
              <a:effectLst>
                <a:outerShdw blurRad="38100" dist="38100" dir="2700000" algn="tl">
                  <a:srgbClr val="C0C0C0"/>
                </a:outerShdw>
              </a:effectLst>
            </a:endParaRPr>
          </a:p>
          <a:p>
            <a:pPr marL="457200" lvl="0" indent="-457200" eaLnBrk="0" hangingPunct="0">
              <a:spcBef>
                <a:spcPct val="50000"/>
              </a:spcBef>
              <a:buFont typeface="Wingdings" panose="05000000000000000000" pitchFamily="2" charset="2"/>
              <a:buChar char="Ø"/>
              <a:defRPr/>
            </a:pPr>
            <a:r>
              <a:rPr lang="zh-CN" altLang="en-US" sz="2800" b="1" dirty="0">
                <a:solidFill>
                  <a:srgbClr val="002060"/>
                </a:solidFill>
                <a:effectLst>
                  <a:outerShdw blurRad="38100" dist="38100" dir="2700000" algn="tl">
                    <a:srgbClr val="C0C0C0"/>
                  </a:outerShdw>
                </a:effectLst>
              </a:rPr>
              <a:t>视图与基本表一样，可以对数据进行增删改查，但</a:t>
            </a:r>
            <a:r>
              <a:rPr lang="zh-CN" altLang="en-US" sz="2800" b="1" dirty="0">
                <a:solidFill>
                  <a:srgbClr val="C00000"/>
                </a:solidFill>
                <a:effectLst>
                  <a:outerShdw blurRad="38100" dist="38100" dir="2700000" algn="tl">
                    <a:srgbClr val="C0C0C0"/>
                  </a:outerShdw>
                </a:effectLst>
              </a:rPr>
              <a:t>有一定的限制</a:t>
            </a:r>
            <a:r>
              <a:rPr lang="zh-CN" altLang="en-US" sz="2800" b="1" dirty="0">
                <a:solidFill>
                  <a:srgbClr val="002060"/>
                </a:solidFill>
                <a:effectLst>
                  <a:outerShdw blurRad="38100" dist="38100" dir="2700000" algn="tl">
                    <a:srgbClr val="C0C0C0"/>
                  </a:outerShdw>
                </a:effectLst>
              </a:rPr>
              <a:t>。 </a:t>
            </a:r>
          </a:p>
        </p:txBody>
      </p:sp>
      <p:grpSp>
        <p:nvGrpSpPr>
          <p:cNvPr id="37" name="组合 36">
            <a:extLst>
              <a:ext uri="{FF2B5EF4-FFF2-40B4-BE49-F238E27FC236}">
                <a16:creationId xmlns:a16="http://schemas.microsoft.com/office/drawing/2014/main" id="{E28B26F2-34B0-E841-FD87-8DD1293568AF}"/>
              </a:ext>
            </a:extLst>
          </p:cNvPr>
          <p:cNvGrpSpPr>
            <a:grpSpLocks/>
          </p:cNvGrpSpPr>
          <p:nvPr/>
        </p:nvGrpSpPr>
        <p:grpSpPr bwMode="auto">
          <a:xfrm>
            <a:off x="2930954" y="3402814"/>
            <a:ext cx="5832405" cy="2834381"/>
            <a:chOff x="3774185" y="3671005"/>
            <a:chExt cx="4629150" cy="3138000"/>
          </a:xfrm>
        </p:grpSpPr>
        <p:sp>
          <p:nvSpPr>
            <p:cNvPr id="38" name="Text Box 2">
              <a:extLst>
                <a:ext uri="{FF2B5EF4-FFF2-40B4-BE49-F238E27FC236}">
                  <a16:creationId xmlns:a16="http://schemas.microsoft.com/office/drawing/2014/main" id="{3BB08095-3128-28AA-C30D-F05542E4E215}"/>
                </a:ext>
              </a:extLst>
            </p:cNvPr>
            <p:cNvSpPr txBox="1">
              <a:spLocks noChangeArrowheads="1"/>
            </p:cNvSpPr>
            <p:nvPr/>
          </p:nvSpPr>
          <p:spPr bwMode="auto">
            <a:xfrm>
              <a:off x="4898075" y="3671005"/>
              <a:ext cx="1161644" cy="566785"/>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Arial" charset="0"/>
                <a:buNone/>
                <a:defRPr/>
              </a:pPr>
              <a:r>
                <a:rPr lang="zh-CN" altLang="en-US" b="1" dirty="0">
                  <a:effectLst>
                    <a:outerShdw blurRad="38100" dist="38100" dir="2700000" algn="tl">
                      <a:srgbClr val="C0C0C0"/>
                    </a:outerShdw>
                  </a:effectLst>
                  <a:ea typeface="宋体" pitchFamily="2" charset="-122"/>
                </a:rPr>
                <a:t>视图</a:t>
              </a:r>
              <a:r>
                <a:rPr lang="en-US" altLang="zh-CN" b="1" dirty="0">
                  <a:effectLst>
                    <a:outerShdw blurRad="38100" dist="38100" dir="2700000" algn="tl">
                      <a:srgbClr val="C0C0C0"/>
                    </a:outerShdw>
                  </a:effectLst>
                  <a:ea typeface="宋体" pitchFamily="2" charset="-122"/>
                </a:rPr>
                <a:t>2</a:t>
              </a:r>
            </a:p>
          </p:txBody>
        </p:sp>
        <p:sp>
          <p:nvSpPr>
            <p:cNvPr id="39" name="Text Box 6">
              <a:extLst>
                <a:ext uri="{FF2B5EF4-FFF2-40B4-BE49-F238E27FC236}">
                  <a16:creationId xmlns:a16="http://schemas.microsoft.com/office/drawing/2014/main" id="{ADA2F8CF-BFEC-0A1B-A6A9-D169B8C7986F}"/>
                </a:ext>
              </a:extLst>
            </p:cNvPr>
            <p:cNvSpPr txBox="1">
              <a:spLocks noChangeArrowheads="1"/>
            </p:cNvSpPr>
            <p:nvPr/>
          </p:nvSpPr>
          <p:spPr bwMode="auto">
            <a:xfrm>
              <a:off x="6251390" y="4909176"/>
              <a:ext cx="1161644" cy="566787"/>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Arial" charset="0"/>
                <a:buNone/>
                <a:defRPr/>
              </a:pPr>
              <a:r>
                <a:rPr lang="zh-CN" altLang="en-US" b="1" dirty="0">
                  <a:effectLst>
                    <a:outerShdw blurRad="38100" dist="38100" dir="2700000" algn="tl">
                      <a:srgbClr val="C0C0C0"/>
                    </a:outerShdw>
                  </a:effectLst>
                  <a:ea typeface="宋体" pitchFamily="2" charset="-122"/>
                </a:rPr>
                <a:t>视图</a:t>
              </a:r>
              <a:r>
                <a:rPr lang="en-US" altLang="zh-CN" b="1" dirty="0">
                  <a:effectLst>
                    <a:outerShdw blurRad="38100" dist="38100" dir="2700000" algn="tl">
                      <a:srgbClr val="C0C0C0"/>
                    </a:outerShdw>
                  </a:effectLst>
                  <a:ea typeface="宋体" pitchFamily="2" charset="-122"/>
                </a:rPr>
                <a:t>1</a:t>
              </a:r>
            </a:p>
          </p:txBody>
        </p:sp>
        <p:sp>
          <p:nvSpPr>
            <p:cNvPr id="40" name="Text Box 9">
              <a:extLst>
                <a:ext uri="{FF2B5EF4-FFF2-40B4-BE49-F238E27FC236}">
                  <a16:creationId xmlns:a16="http://schemas.microsoft.com/office/drawing/2014/main" id="{19D3CB02-FC30-6B0A-336C-25E5BC5A21D0}"/>
                </a:ext>
              </a:extLst>
            </p:cNvPr>
            <p:cNvSpPr txBox="1">
              <a:spLocks noChangeArrowheads="1"/>
            </p:cNvSpPr>
            <p:nvPr/>
          </p:nvSpPr>
          <p:spPr bwMode="auto">
            <a:xfrm>
              <a:off x="3774185" y="6242218"/>
              <a:ext cx="1391068" cy="566787"/>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Arial" charset="0"/>
                <a:buNone/>
                <a:defRPr/>
              </a:pPr>
              <a:r>
                <a:rPr lang="zh-CN" altLang="en-US" b="1">
                  <a:effectLst>
                    <a:outerShdw blurRad="38100" dist="38100" dir="2700000" algn="tl">
                      <a:srgbClr val="C0C0C0"/>
                    </a:outerShdw>
                  </a:effectLst>
                  <a:ea typeface="宋体" pitchFamily="2" charset="-122"/>
                </a:rPr>
                <a:t>基本表</a:t>
              </a:r>
              <a:r>
                <a:rPr lang="en-US" altLang="zh-CN" b="1">
                  <a:effectLst>
                    <a:outerShdw blurRad="38100" dist="38100" dir="2700000" algn="tl">
                      <a:srgbClr val="C0C0C0"/>
                    </a:outerShdw>
                  </a:effectLst>
                  <a:ea typeface="宋体" pitchFamily="2" charset="-122"/>
                </a:rPr>
                <a:t>1</a:t>
              </a:r>
            </a:p>
          </p:txBody>
        </p:sp>
        <p:sp>
          <p:nvSpPr>
            <p:cNvPr id="41" name="Text Box 10">
              <a:extLst>
                <a:ext uri="{FF2B5EF4-FFF2-40B4-BE49-F238E27FC236}">
                  <a16:creationId xmlns:a16="http://schemas.microsoft.com/office/drawing/2014/main" id="{0AE7CC43-58FE-754B-0780-F77264C72D55}"/>
                </a:ext>
              </a:extLst>
            </p:cNvPr>
            <p:cNvSpPr txBox="1">
              <a:spLocks noChangeArrowheads="1"/>
            </p:cNvSpPr>
            <p:nvPr/>
          </p:nvSpPr>
          <p:spPr bwMode="auto">
            <a:xfrm>
              <a:off x="5393226" y="6242218"/>
              <a:ext cx="1391068" cy="566787"/>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Arial" charset="0"/>
                <a:buNone/>
                <a:defRPr/>
              </a:pPr>
              <a:r>
                <a:rPr lang="zh-CN" altLang="en-US" b="1">
                  <a:effectLst>
                    <a:outerShdw blurRad="38100" dist="38100" dir="2700000" algn="tl">
                      <a:srgbClr val="C0C0C0"/>
                    </a:outerShdw>
                  </a:effectLst>
                  <a:ea typeface="宋体" pitchFamily="2" charset="-122"/>
                </a:rPr>
                <a:t>基本表</a:t>
              </a:r>
              <a:r>
                <a:rPr lang="en-US" altLang="zh-CN" b="1">
                  <a:effectLst>
                    <a:outerShdw blurRad="38100" dist="38100" dir="2700000" algn="tl">
                      <a:srgbClr val="C0C0C0"/>
                    </a:outerShdw>
                  </a:effectLst>
                  <a:ea typeface="宋体" pitchFamily="2" charset="-122"/>
                </a:rPr>
                <a:t>2</a:t>
              </a:r>
            </a:p>
          </p:txBody>
        </p:sp>
        <p:sp>
          <p:nvSpPr>
            <p:cNvPr id="42" name="Text Box 11">
              <a:extLst>
                <a:ext uri="{FF2B5EF4-FFF2-40B4-BE49-F238E27FC236}">
                  <a16:creationId xmlns:a16="http://schemas.microsoft.com/office/drawing/2014/main" id="{60F7B63F-A521-C603-AA17-0B7FD23C3892}"/>
                </a:ext>
              </a:extLst>
            </p:cNvPr>
            <p:cNvSpPr txBox="1">
              <a:spLocks noChangeArrowheads="1"/>
            </p:cNvSpPr>
            <p:nvPr/>
          </p:nvSpPr>
          <p:spPr bwMode="auto">
            <a:xfrm>
              <a:off x="7031144" y="6242218"/>
              <a:ext cx="1372191" cy="566787"/>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Arial" charset="0"/>
                <a:buNone/>
                <a:defRPr/>
              </a:pPr>
              <a:r>
                <a:rPr lang="zh-CN" altLang="en-US" b="1" dirty="0">
                  <a:effectLst>
                    <a:outerShdw blurRad="38100" dist="38100" dir="2700000" algn="tl">
                      <a:srgbClr val="C0C0C0"/>
                    </a:outerShdw>
                  </a:effectLst>
                  <a:ea typeface="宋体" pitchFamily="2" charset="-122"/>
                </a:rPr>
                <a:t>基本表</a:t>
              </a:r>
              <a:r>
                <a:rPr lang="en-US" altLang="zh-CN" b="1" dirty="0">
                  <a:effectLst>
                    <a:outerShdw blurRad="38100" dist="38100" dir="2700000" algn="tl">
                      <a:srgbClr val="C0C0C0"/>
                    </a:outerShdw>
                  </a:effectLst>
                  <a:ea typeface="宋体" pitchFamily="2" charset="-122"/>
                </a:rPr>
                <a:t>3</a:t>
              </a:r>
            </a:p>
          </p:txBody>
        </p:sp>
        <p:sp>
          <p:nvSpPr>
            <p:cNvPr id="43" name="Line 19">
              <a:extLst>
                <a:ext uri="{FF2B5EF4-FFF2-40B4-BE49-F238E27FC236}">
                  <a16:creationId xmlns:a16="http://schemas.microsoft.com/office/drawing/2014/main" id="{F6B0F3F3-3C66-A248-392E-8D14B8EC6E55}"/>
                </a:ext>
              </a:extLst>
            </p:cNvPr>
            <p:cNvSpPr>
              <a:spLocks noChangeShapeType="1"/>
            </p:cNvSpPr>
            <p:nvPr/>
          </p:nvSpPr>
          <p:spPr bwMode="auto">
            <a:xfrm flipV="1">
              <a:off x="4478432" y="4223195"/>
              <a:ext cx="762328" cy="1999563"/>
            </a:xfrm>
            <a:prstGeom prst="line">
              <a:avLst/>
            </a:prstGeom>
            <a:noFill/>
            <a:ln w="38100">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Font typeface="Arial" charset="0"/>
                <a:buNone/>
                <a:defRPr/>
              </a:pPr>
              <a:endParaRPr lang="zh-CN" altLang="en-US" b="1">
                <a:effectLst>
                  <a:outerShdw blurRad="38100" dist="38100" dir="2700000" algn="tl">
                    <a:srgbClr val="000000">
                      <a:alpha val="43137"/>
                    </a:srgbClr>
                  </a:outerShdw>
                </a:effectLst>
                <a:ea typeface="宋体" pitchFamily="2" charset="-122"/>
              </a:endParaRPr>
            </a:p>
          </p:txBody>
        </p:sp>
        <p:sp>
          <p:nvSpPr>
            <p:cNvPr id="44" name="Line 22">
              <a:extLst>
                <a:ext uri="{FF2B5EF4-FFF2-40B4-BE49-F238E27FC236}">
                  <a16:creationId xmlns:a16="http://schemas.microsoft.com/office/drawing/2014/main" id="{42E1FC0D-6B7B-3618-94C8-EA4CEA46D383}"/>
                </a:ext>
              </a:extLst>
            </p:cNvPr>
            <p:cNvSpPr>
              <a:spLocks noChangeShapeType="1"/>
            </p:cNvSpPr>
            <p:nvPr/>
          </p:nvSpPr>
          <p:spPr bwMode="auto">
            <a:xfrm flipV="1">
              <a:off x="6078596" y="5441907"/>
              <a:ext cx="628739" cy="800311"/>
            </a:xfrm>
            <a:prstGeom prst="line">
              <a:avLst/>
            </a:prstGeom>
            <a:noFill/>
            <a:ln w="38100">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Font typeface="Arial" charset="0"/>
                <a:buNone/>
                <a:defRPr/>
              </a:pPr>
              <a:endParaRPr lang="zh-CN" altLang="en-US" b="1">
                <a:effectLst>
                  <a:outerShdw blurRad="38100" dist="38100" dir="2700000" algn="tl">
                    <a:srgbClr val="000000">
                      <a:alpha val="43137"/>
                    </a:srgbClr>
                  </a:outerShdw>
                </a:effectLst>
                <a:ea typeface="宋体" pitchFamily="2" charset="-122"/>
              </a:endParaRPr>
            </a:p>
          </p:txBody>
        </p:sp>
        <p:sp>
          <p:nvSpPr>
            <p:cNvPr id="45" name="Line 23">
              <a:extLst>
                <a:ext uri="{FF2B5EF4-FFF2-40B4-BE49-F238E27FC236}">
                  <a16:creationId xmlns:a16="http://schemas.microsoft.com/office/drawing/2014/main" id="{E9B6ADB0-D7CE-A2D7-5C23-B10D7A171789}"/>
                </a:ext>
              </a:extLst>
            </p:cNvPr>
            <p:cNvSpPr>
              <a:spLocks noChangeShapeType="1"/>
            </p:cNvSpPr>
            <p:nvPr/>
          </p:nvSpPr>
          <p:spPr bwMode="auto">
            <a:xfrm flipH="1" flipV="1">
              <a:off x="7070349" y="5461368"/>
              <a:ext cx="647616" cy="761390"/>
            </a:xfrm>
            <a:prstGeom prst="line">
              <a:avLst/>
            </a:prstGeom>
            <a:noFill/>
            <a:ln w="38100">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Font typeface="Arial" charset="0"/>
                <a:buNone/>
                <a:defRPr/>
              </a:pPr>
              <a:endParaRPr lang="zh-CN" altLang="en-US" b="1">
                <a:effectLst>
                  <a:outerShdw blurRad="38100" dist="38100" dir="2700000" algn="tl">
                    <a:srgbClr val="000000">
                      <a:alpha val="43137"/>
                    </a:srgbClr>
                  </a:outerShdw>
                </a:effectLst>
                <a:ea typeface="宋体" pitchFamily="2" charset="-122"/>
              </a:endParaRPr>
            </a:p>
          </p:txBody>
        </p:sp>
        <p:sp>
          <p:nvSpPr>
            <p:cNvPr id="46" name="Line 25">
              <a:extLst>
                <a:ext uri="{FF2B5EF4-FFF2-40B4-BE49-F238E27FC236}">
                  <a16:creationId xmlns:a16="http://schemas.microsoft.com/office/drawing/2014/main" id="{FB008A70-C7AA-204B-0F7B-E7E26AF016C9}"/>
                </a:ext>
              </a:extLst>
            </p:cNvPr>
            <p:cNvSpPr>
              <a:spLocks noChangeShapeType="1"/>
            </p:cNvSpPr>
            <p:nvPr/>
          </p:nvSpPr>
          <p:spPr bwMode="auto">
            <a:xfrm flipH="1" flipV="1">
              <a:off x="5717034" y="4203734"/>
              <a:ext cx="914794" cy="685981"/>
            </a:xfrm>
            <a:prstGeom prst="line">
              <a:avLst/>
            </a:prstGeom>
            <a:noFill/>
            <a:ln w="38100">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Font typeface="Arial" charset="0"/>
                <a:buNone/>
                <a:defRPr/>
              </a:pPr>
              <a:endParaRPr lang="zh-CN" altLang="en-US" b="1">
                <a:effectLst>
                  <a:outerShdw blurRad="38100" dist="38100" dir="2700000" algn="tl">
                    <a:srgbClr val="000000">
                      <a:alpha val="43137"/>
                    </a:srgbClr>
                  </a:outerShdw>
                </a:effectLst>
                <a:ea typeface="宋体" pitchFamily="2" charset="-122"/>
              </a:endParaRPr>
            </a:p>
          </p:txBody>
        </p:sp>
      </p:grpSp>
    </p:spTree>
    <p:extLst>
      <p:ext uri="{BB962C8B-B14F-4D97-AF65-F5344CB8AC3E}">
        <p14:creationId xmlns:p14="http://schemas.microsoft.com/office/powerpoint/2010/main" val="30959502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13428-615F-26FB-C1CC-6DD0D5D30914}"/>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69D390AB-3965-069E-8865-E1E30C358080}"/>
              </a:ext>
            </a:extLst>
          </p:cNvPr>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视图概述</a:t>
            </a:r>
          </a:p>
        </p:txBody>
      </p:sp>
      <p:sp>
        <p:nvSpPr>
          <p:cNvPr id="5" name="Rectangle 2">
            <a:extLst>
              <a:ext uri="{FF2B5EF4-FFF2-40B4-BE49-F238E27FC236}">
                <a16:creationId xmlns:a16="http://schemas.microsoft.com/office/drawing/2014/main" id="{835C5C31-72AA-242A-D7C1-A76DD833C6A4}"/>
              </a:ext>
            </a:extLst>
          </p:cNvPr>
          <p:cNvSpPr>
            <a:spLocks noChangeArrowheads="1"/>
          </p:cNvSpPr>
          <p:nvPr/>
        </p:nvSpPr>
        <p:spPr bwMode="auto">
          <a:xfrm>
            <a:off x="571500" y="1120775"/>
            <a:ext cx="11216070"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lvl="0" indent="-457200" eaLnBrk="0" hangingPunct="0">
              <a:spcBef>
                <a:spcPct val="50000"/>
              </a:spcBef>
              <a:buFont typeface="Wingdings" panose="05000000000000000000" pitchFamily="2" charset="2"/>
              <a:buChar char="Ø"/>
              <a:defRPr/>
            </a:pPr>
            <a:r>
              <a:rPr lang="zh-CN" altLang="en-US" sz="2800" b="1" dirty="0">
                <a:solidFill>
                  <a:schemeClr val="accent2"/>
                </a:solidFill>
                <a:effectLst>
                  <a:outerShdw blurRad="38100" dist="38100" dir="2700000" algn="tl">
                    <a:srgbClr val="C0C0C0"/>
                  </a:outerShdw>
                </a:effectLst>
              </a:rPr>
              <a:t>视图的分类</a:t>
            </a:r>
            <a:endParaRPr lang="en-US" altLang="zh-CN" sz="2800" b="1" dirty="0">
              <a:solidFill>
                <a:schemeClr val="accent2"/>
              </a:solidFill>
              <a:effectLst>
                <a:outerShdw blurRad="38100" dist="38100" dir="2700000" algn="tl">
                  <a:srgbClr val="C0C0C0"/>
                </a:outerShdw>
              </a:effectLst>
            </a:endParaRPr>
          </a:p>
          <a:p>
            <a:pPr marL="914400" lvl="1" indent="-457200" eaLnBrk="0" hangingPunct="0">
              <a:spcBef>
                <a:spcPct val="50000"/>
              </a:spcBef>
              <a:buFont typeface="Wingdings" panose="05000000000000000000" pitchFamily="2" charset="2"/>
              <a:buChar char="l"/>
              <a:defRPr/>
            </a:pPr>
            <a:r>
              <a:rPr lang="zh-CN" altLang="en-US" sz="2800" b="1" dirty="0">
                <a:solidFill>
                  <a:srgbClr val="002060"/>
                </a:solidFill>
                <a:effectLst>
                  <a:outerShdw blurRad="38100" dist="38100" dir="2700000" algn="tl">
                    <a:srgbClr val="C0C0C0"/>
                  </a:outerShdw>
                </a:effectLst>
              </a:rPr>
              <a:t>基于单表、多表、视图、表与视图</a:t>
            </a:r>
          </a:p>
          <a:p>
            <a:pPr marL="457200" lvl="0" indent="-457200" eaLnBrk="0" hangingPunct="0">
              <a:spcBef>
                <a:spcPct val="50000"/>
              </a:spcBef>
              <a:buFont typeface="Wingdings" panose="05000000000000000000" pitchFamily="2" charset="2"/>
              <a:buChar char="Ø"/>
              <a:defRPr/>
            </a:pPr>
            <a:r>
              <a:rPr lang="zh-CN" altLang="en-US" sz="2800" b="1" dirty="0">
                <a:solidFill>
                  <a:schemeClr val="accent2"/>
                </a:solidFill>
                <a:effectLst>
                  <a:outerShdw blurRad="38100" dist="38100" dir="2700000" algn="tl">
                    <a:srgbClr val="C0C0C0"/>
                  </a:outerShdw>
                </a:effectLst>
              </a:rPr>
              <a:t>视图的存储</a:t>
            </a:r>
            <a:endParaRPr lang="en-US" altLang="zh-CN" sz="2800" b="1" dirty="0">
              <a:solidFill>
                <a:schemeClr val="accent2"/>
              </a:solidFill>
              <a:effectLst>
                <a:outerShdw blurRad="38100" dist="38100" dir="2700000" algn="tl">
                  <a:srgbClr val="C0C0C0"/>
                </a:outerShdw>
              </a:effectLst>
            </a:endParaRPr>
          </a:p>
          <a:p>
            <a:pPr marL="914400" lvl="1" indent="-457200" eaLnBrk="0" hangingPunct="0">
              <a:spcBef>
                <a:spcPct val="50000"/>
              </a:spcBef>
              <a:buFont typeface="Wingdings" panose="05000000000000000000" pitchFamily="2" charset="2"/>
              <a:buChar char="l"/>
              <a:defRPr/>
            </a:pPr>
            <a:r>
              <a:rPr lang="zh-CN" altLang="en-US" sz="2800" b="1" dirty="0">
                <a:solidFill>
                  <a:srgbClr val="002060"/>
                </a:solidFill>
                <a:effectLst>
                  <a:outerShdw blurRad="38100" dist="38100" dir="2700000" algn="tl">
                    <a:srgbClr val="C0C0C0"/>
                  </a:outerShdw>
                </a:effectLst>
              </a:rPr>
              <a:t>只存储定义，不存储数据</a:t>
            </a:r>
            <a:endParaRPr lang="en-US" altLang="zh-CN" sz="2800" b="1" dirty="0">
              <a:solidFill>
                <a:srgbClr val="002060"/>
              </a:solidFill>
              <a:effectLst>
                <a:outerShdw blurRad="38100" dist="38100" dir="2700000" algn="tl">
                  <a:srgbClr val="C0C0C0"/>
                </a:outerShdw>
              </a:effectLst>
            </a:endParaRPr>
          </a:p>
          <a:p>
            <a:pPr marL="457200" lvl="0" indent="-457200" eaLnBrk="0" hangingPunct="0">
              <a:spcBef>
                <a:spcPct val="50000"/>
              </a:spcBef>
              <a:buFont typeface="Wingdings" panose="05000000000000000000" pitchFamily="2" charset="2"/>
              <a:buChar char="Ø"/>
              <a:defRPr/>
            </a:pPr>
            <a:r>
              <a:rPr lang="zh-CN" altLang="en-US" sz="2800" b="1" dirty="0">
                <a:solidFill>
                  <a:schemeClr val="accent2"/>
                </a:solidFill>
                <a:effectLst>
                  <a:outerShdw blurRad="38100" dist="38100" dir="2700000" algn="tl">
                    <a:srgbClr val="C0C0C0"/>
                  </a:outerShdw>
                </a:effectLst>
              </a:rPr>
              <a:t>视图的优点</a:t>
            </a:r>
            <a:endParaRPr lang="en-US" altLang="zh-CN" sz="2800" b="1" dirty="0">
              <a:solidFill>
                <a:schemeClr val="accent2"/>
              </a:solidFill>
              <a:effectLst>
                <a:outerShdw blurRad="38100" dist="38100" dir="2700000" algn="tl">
                  <a:srgbClr val="C0C0C0"/>
                </a:outerShdw>
              </a:effectLst>
            </a:endParaRPr>
          </a:p>
          <a:p>
            <a:pPr marL="914400" lvl="1" indent="-457200" eaLnBrk="0" hangingPunct="0">
              <a:spcBef>
                <a:spcPct val="50000"/>
              </a:spcBef>
              <a:buFont typeface="Wingdings" panose="05000000000000000000" pitchFamily="2" charset="2"/>
              <a:buChar char="l"/>
              <a:defRPr/>
            </a:pPr>
            <a:r>
              <a:rPr lang="zh-CN" altLang="en-US" sz="2800" b="1" dirty="0">
                <a:solidFill>
                  <a:srgbClr val="002060"/>
                </a:solidFill>
                <a:effectLst>
                  <a:outerShdw blurRad="38100" dist="38100" dir="2700000" algn="tl">
                    <a:srgbClr val="C0C0C0"/>
                  </a:outerShdw>
                </a:effectLst>
              </a:rPr>
              <a:t>简化用户操作</a:t>
            </a:r>
            <a:endParaRPr lang="en-US" altLang="zh-CN" sz="2800" b="1" dirty="0">
              <a:solidFill>
                <a:srgbClr val="002060"/>
              </a:solidFill>
              <a:effectLst>
                <a:outerShdw blurRad="38100" dist="38100" dir="2700000" algn="tl">
                  <a:srgbClr val="C0C0C0"/>
                </a:outerShdw>
              </a:effectLst>
            </a:endParaRPr>
          </a:p>
          <a:p>
            <a:pPr marL="914400" lvl="1" indent="-457200" eaLnBrk="0" hangingPunct="0">
              <a:spcBef>
                <a:spcPct val="50000"/>
              </a:spcBef>
              <a:buFont typeface="Wingdings" panose="05000000000000000000" pitchFamily="2" charset="2"/>
              <a:buChar char="l"/>
              <a:defRPr/>
            </a:pPr>
            <a:r>
              <a:rPr lang="zh-CN" altLang="en-US" sz="2800" b="1" dirty="0">
                <a:solidFill>
                  <a:srgbClr val="002060"/>
                </a:solidFill>
                <a:effectLst>
                  <a:outerShdw blurRad="38100" dist="38100" dir="2700000" algn="tl">
                    <a:srgbClr val="C0C0C0"/>
                  </a:outerShdw>
                </a:effectLst>
              </a:rPr>
              <a:t>逻辑独立性</a:t>
            </a:r>
            <a:endParaRPr lang="en-US" altLang="zh-CN" sz="2800" b="1" dirty="0">
              <a:solidFill>
                <a:srgbClr val="002060"/>
              </a:solidFill>
              <a:effectLst>
                <a:outerShdw blurRad="38100" dist="38100" dir="2700000" algn="tl">
                  <a:srgbClr val="C0C0C0"/>
                </a:outerShdw>
              </a:effectLst>
            </a:endParaRPr>
          </a:p>
          <a:p>
            <a:pPr marL="914400" lvl="1" indent="-457200" eaLnBrk="0" hangingPunct="0">
              <a:spcBef>
                <a:spcPct val="50000"/>
              </a:spcBef>
              <a:buFont typeface="Wingdings" panose="05000000000000000000" pitchFamily="2" charset="2"/>
              <a:buChar char="l"/>
              <a:defRPr/>
            </a:pPr>
            <a:r>
              <a:rPr lang="zh-CN" altLang="en-US" sz="2800" b="1" dirty="0">
                <a:solidFill>
                  <a:srgbClr val="002060"/>
                </a:solidFill>
                <a:effectLst>
                  <a:outerShdw blurRad="38100" dist="38100" dir="2700000" algn="tl">
                    <a:srgbClr val="C0C0C0"/>
                  </a:outerShdw>
                </a:effectLst>
              </a:rPr>
              <a:t>安全性</a:t>
            </a:r>
          </a:p>
        </p:txBody>
      </p:sp>
    </p:spTree>
    <p:extLst>
      <p:ext uri="{BB962C8B-B14F-4D97-AF65-F5344CB8AC3E}">
        <p14:creationId xmlns:p14="http://schemas.microsoft.com/office/powerpoint/2010/main" val="259454706"/>
      </p:ext>
    </p:extLst>
  </p:cSld>
  <p:clrMapOvr>
    <a:masterClrMapping/>
  </p:clrMapOvr>
  <p:transition spd="slow">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1378A-B824-2581-BB2D-01E16131CF6E}"/>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AA05D0F5-A488-2DFA-E1D9-5EBDF759DEFB}"/>
              </a:ext>
            </a:extLst>
          </p:cNvPr>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视图概述</a:t>
            </a:r>
          </a:p>
        </p:txBody>
      </p:sp>
      <p:sp>
        <p:nvSpPr>
          <p:cNvPr id="5" name="Rectangle 2">
            <a:extLst>
              <a:ext uri="{FF2B5EF4-FFF2-40B4-BE49-F238E27FC236}">
                <a16:creationId xmlns:a16="http://schemas.microsoft.com/office/drawing/2014/main" id="{BFACF3EC-8E76-1FD9-2F91-BA56FDC0CFDE}"/>
              </a:ext>
            </a:extLst>
          </p:cNvPr>
          <p:cNvSpPr>
            <a:spLocks noChangeArrowheads="1"/>
          </p:cNvSpPr>
          <p:nvPr/>
        </p:nvSpPr>
        <p:spPr bwMode="auto">
          <a:xfrm>
            <a:off x="571500" y="1120775"/>
            <a:ext cx="1121607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lvl="0" indent="-457200" eaLnBrk="0" hangingPunct="0">
              <a:spcBef>
                <a:spcPct val="50000"/>
              </a:spcBef>
              <a:buFont typeface="Wingdings" panose="05000000000000000000" pitchFamily="2" charset="2"/>
              <a:buChar char="Ø"/>
              <a:defRPr/>
            </a:pPr>
            <a:r>
              <a:rPr lang="zh-CN" altLang="en-US" sz="2800" b="1" dirty="0">
                <a:solidFill>
                  <a:schemeClr val="accent2"/>
                </a:solidFill>
                <a:effectLst>
                  <a:outerShdw blurRad="38100" dist="38100" dir="2700000" algn="tl">
                    <a:srgbClr val="C0C0C0"/>
                  </a:outerShdw>
                </a:effectLst>
              </a:rPr>
              <a:t>视图的工作机制</a:t>
            </a:r>
            <a:endParaRPr lang="en-US" altLang="zh-CN" sz="2800" b="1" dirty="0">
              <a:solidFill>
                <a:schemeClr val="accent2"/>
              </a:solidFill>
              <a:effectLst>
                <a:outerShdw blurRad="38100" dist="38100" dir="2700000" algn="tl">
                  <a:srgbClr val="C0C0C0"/>
                </a:outerShdw>
              </a:effectLst>
            </a:endParaRPr>
          </a:p>
          <a:p>
            <a:pPr marL="971550" lvl="1" indent="-514350" eaLnBrk="0" hangingPunct="0">
              <a:spcBef>
                <a:spcPct val="50000"/>
              </a:spcBef>
              <a:buFont typeface="+mj-lt"/>
              <a:buAutoNum type="arabicPeriod"/>
              <a:defRPr/>
            </a:pPr>
            <a:r>
              <a:rPr lang="zh-CN" altLang="en-US" sz="2800" b="1" dirty="0">
                <a:solidFill>
                  <a:schemeClr val="tx1">
                    <a:lumMod val="65000"/>
                    <a:lumOff val="35000"/>
                  </a:schemeClr>
                </a:solidFill>
                <a:effectLst>
                  <a:outerShdw blurRad="38100" dist="38100" dir="2700000" algn="tl">
                    <a:srgbClr val="C0C0C0"/>
                  </a:outerShdw>
                </a:effectLst>
              </a:rPr>
              <a:t>有效性检查</a:t>
            </a:r>
            <a:endParaRPr lang="en-US" altLang="zh-CN" sz="2800" b="1" dirty="0">
              <a:solidFill>
                <a:schemeClr val="tx1">
                  <a:lumMod val="65000"/>
                  <a:lumOff val="35000"/>
                </a:schemeClr>
              </a:solidFill>
              <a:effectLst>
                <a:outerShdw blurRad="38100" dist="38100" dir="2700000" algn="tl">
                  <a:srgbClr val="C0C0C0"/>
                </a:outerShdw>
              </a:effectLst>
            </a:endParaRPr>
          </a:p>
          <a:p>
            <a:pPr marL="971550" lvl="1" indent="-514350" eaLnBrk="0" hangingPunct="0">
              <a:spcBef>
                <a:spcPct val="50000"/>
              </a:spcBef>
              <a:buFont typeface="+mj-lt"/>
              <a:buAutoNum type="arabicPeriod"/>
              <a:defRPr/>
            </a:pPr>
            <a:r>
              <a:rPr lang="zh-CN" altLang="en-US" sz="2800" b="1" dirty="0">
                <a:solidFill>
                  <a:schemeClr val="tx1">
                    <a:lumMod val="65000"/>
                    <a:lumOff val="35000"/>
                  </a:schemeClr>
                </a:solidFill>
                <a:effectLst>
                  <a:outerShdw blurRad="38100" dist="38100" dir="2700000" algn="tl">
                    <a:srgbClr val="C0C0C0"/>
                  </a:outerShdw>
                </a:effectLst>
              </a:rPr>
              <a:t>最终转化为对基本表的查询</a:t>
            </a:r>
            <a:endParaRPr lang="en-US" altLang="zh-CN" sz="2800" b="1" dirty="0">
              <a:solidFill>
                <a:schemeClr val="tx1">
                  <a:lumMod val="65000"/>
                  <a:lumOff val="35000"/>
                </a:schemeClr>
              </a:solidFill>
              <a:effectLst>
                <a:outerShdw blurRad="38100" dist="38100" dir="2700000" algn="tl">
                  <a:srgbClr val="C0C0C0"/>
                </a:outerShdw>
              </a:effectLst>
            </a:endParaRPr>
          </a:p>
          <a:p>
            <a:pPr marL="457200" indent="-457200" eaLnBrk="0" hangingPunct="0">
              <a:spcBef>
                <a:spcPct val="50000"/>
              </a:spcBef>
              <a:buFont typeface="Wingdings" panose="05000000000000000000" pitchFamily="2" charset="2"/>
              <a:buChar char="Ø"/>
              <a:defRPr/>
            </a:pPr>
            <a:r>
              <a:rPr lang="zh-CN" altLang="en-US" sz="2800" b="1" dirty="0">
                <a:solidFill>
                  <a:schemeClr val="accent2"/>
                </a:solidFill>
                <a:effectLst>
                  <a:outerShdw blurRad="38100" dist="38100" dir="2700000" algn="tl">
                    <a:srgbClr val="C0C0C0"/>
                  </a:outerShdw>
                </a:effectLst>
              </a:rPr>
              <a:t>视图的依赖性</a:t>
            </a:r>
            <a:endParaRPr lang="en-US" altLang="zh-CN" sz="2800" b="1" dirty="0">
              <a:solidFill>
                <a:schemeClr val="accent2"/>
              </a:solidFill>
              <a:effectLst>
                <a:outerShdw blurRad="38100" dist="38100" dir="2700000" algn="tl">
                  <a:srgbClr val="C0C0C0"/>
                </a:outerShdw>
              </a:effectLst>
            </a:endParaRPr>
          </a:p>
          <a:p>
            <a:pPr lvl="1" eaLnBrk="0" hangingPunct="0">
              <a:spcBef>
                <a:spcPct val="50000"/>
              </a:spcBef>
              <a:defRPr/>
            </a:pPr>
            <a:r>
              <a:rPr lang="zh-CN" altLang="en-US" sz="2800" b="1" dirty="0">
                <a:solidFill>
                  <a:schemeClr val="tx1">
                    <a:lumMod val="65000"/>
                    <a:lumOff val="35000"/>
                  </a:schemeClr>
                </a:solidFill>
                <a:effectLst>
                  <a:outerShdw blurRad="38100" dist="38100" dir="2700000" algn="tl">
                    <a:srgbClr val="C0C0C0"/>
                  </a:outerShdw>
                </a:effectLst>
              </a:rPr>
              <a:t>依赖于基本表</a:t>
            </a:r>
            <a:endParaRPr lang="en-US" altLang="zh-CN" sz="2800" b="1" dirty="0">
              <a:solidFill>
                <a:schemeClr val="tx1">
                  <a:lumMod val="65000"/>
                  <a:lumOff val="35000"/>
                </a:schemeClr>
              </a:solidFill>
              <a:effectLst>
                <a:outerShdw blurRad="38100" dist="38100" dir="2700000" algn="tl">
                  <a:srgbClr val="C0C0C0"/>
                </a:outerShdw>
              </a:effectLst>
            </a:endParaRPr>
          </a:p>
        </p:txBody>
      </p:sp>
    </p:spTree>
    <p:extLst>
      <p:ext uri="{BB962C8B-B14F-4D97-AF65-F5344CB8AC3E}">
        <p14:creationId xmlns:p14="http://schemas.microsoft.com/office/powerpoint/2010/main" val="3575261661"/>
      </p:ext>
    </p:extLst>
  </p:cSld>
  <p:clrMapOvr>
    <a:masterClrMapping/>
  </p:clrMapOvr>
  <p:transition spd="slow">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视图</a:t>
            </a: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定义</a:t>
            </a:r>
            <a:endPar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endParaRPr>
          </a:p>
        </p:txBody>
      </p:sp>
      <p:sp>
        <p:nvSpPr>
          <p:cNvPr id="5" name="Rectangle 2"/>
          <p:cNvSpPr>
            <a:spLocks noChangeArrowheads="1"/>
          </p:cNvSpPr>
          <p:nvPr/>
        </p:nvSpPr>
        <p:spPr bwMode="auto">
          <a:xfrm>
            <a:off x="571500" y="1120775"/>
            <a:ext cx="10926445" cy="4465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spcBef>
                <a:spcPct val="50000"/>
              </a:spcBef>
              <a:defRPr/>
            </a:pPr>
            <a:r>
              <a:rPr lang="en-US" altLang="zh-CN" sz="2800" b="1" dirty="0">
                <a:solidFill>
                  <a:srgbClr val="C00000"/>
                </a:solidFill>
              </a:rPr>
              <a:t>CREATE</a:t>
            </a:r>
            <a:r>
              <a:rPr lang="en-US" altLang="zh-CN" sz="2800" b="1" dirty="0">
                <a:solidFill>
                  <a:schemeClr val="tx2"/>
                </a:solidFill>
              </a:rPr>
              <a:t> [</a:t>
            </a:r>
            <a:r>
              <a:rPr lang="en-US" altLang="zh-CN" sz="2800" b="1" dirty="0">
                <a:solidFill>
                  <a:srgbClr val="C00000"/>
                </a:solidFill>
              </a:rPr>
              <a:t>OR REPLACE</a:t>
            </a:r>
            <a:r>
              <a:rPr lang="en-US" altLang="zh-CN" sz="2800" b="1" dirty="0">
                <a:solidFill>
                  <a:schemeClr val="tx2"/>
                </a:solidFill>
              </a:rPr>
              <a:t>] </a:t>
            </a:r>
            <a:r>
              <a:rPr lang="en-US" altLang="zh-CN" sz="2800" b="1" dirty="0">
                <a:solidFill>
                  <a:srgbClr val="C00000"/>
                </a:solidFill>
              </a:rPr>
              <a:t>VIEW</a:t>
            </a:r>
            <a:r>
              <a:rPr lang="en-US" altLang="zh-CN" sz="2800" b="1" dirty="0">
                <a:solidFill>
                  <a:schemeClr val="tx2"/>
                </a:solidFill>
              </a:rPr>
              <a:t> &lt;</a:t>
            </a:r>
            <a:r>
              <a:rPr lang="zh-CN" altLang="en-US" sz="2800" b="1" dirty="0">
                <a:solidFill>
                  <a:schemeClr val="tx2"/>
                </a:solidFill>
              </a:rPr>
              <a:t>视图名</a:t>
            </a:r>
            <a:r>
              <a:rPr lang="en-US" altLang="zh-CN" sz="2800" b="1" dirty="0">
                <a:solidFill>
                  <a:schemeClr val="tx2"/>
                </a:solidFill>
              </a:rPr>
              <a:t>&gt;</a:t>
            </a:r>
          </a:p>
          <a:p>
            <a:pPr>
              <a:lnSpc>
                <a:spcPct val="90000"/>
              </a:lnSpc>
              <a:spcBef>
                <a:spcPct val="50000"/>
              </a:spcBef>
              <a:defRPr/>
            </a:pPr>
            <a:r>
              <a:rPr lang="en-US" altLang="zh-CN" sz="2800" b="1" dirty="0">
                <a:solidFill>
                  <a:schemeClr val="tx2"/>
                </a:solidFill>
              </a:rPr>
              <a:t>     </a:t>
            </a:r>
            <a:r>
              <a:rPr lang="en-US" altLang="zh-CN" sz="2800" b="1" dirty="0">
                <a:solidFill>
                  <a:srgbClr val="C00000"/>
                </a:solidFill>
              </a:rPr>
              <a:t>AS</a:t>
            </a:r>
            <a:r>
              <a:rPr lang="en-US" altLang="zh-CN" sz="2800" b="1" dirty="0">
                <a:solidFill>
                  <a:schemeClr val="tx2"/>
                </a:solidFill>
              </a:rPr>
              <a:t> &lt;</a:t>
            </a:r>
            <a:r>
              <a:rPr lang="zh-CN" altLang="en-US" sz="2800" b="1" dirty="0">
                <a:solidFill>
                  <a:schemeClr val="tx2"/>
                </a:solidFill>
              </a:rPr>
              <a:t>子查询</a:t>
            </a:r>
            <a:r>
              <a:rPr lang="en-US" altLang="zh-CN" sz="2800" b="1" dirty="0">
                <a:solidFill>
                  <a:schemeClr val="tx2"/>
                </a:solidFill>
              </a:rPr>
              <a:t>&gt;</a:t>
            </a:r>
          </a:p>
          <a:p>
            <a:pPr>
              <a:lnSpc>
                <a:spcPct val="90000"/>
              </a:lnSpc>
              <a:spcBef>
                <a:spcPct val="50000"/>
              </a:spcBef>
              <a:defRPr/>
            </a:pPr>
            <a:r>
              <a:rPr lang="en-US" altLang="zh-CN" sz="2800" b="1" dirty="0">
                <a:solidFill>
                  <a:srgbClr val="C00000"/>
                </a:solidFill>
              </a:rPr>
              <a:t>[WITH CHECK OPTION]</a:t>
            </a:r>
          </a:p>
          <a:p>
            <a:pPr>
              <a:lnSpc>
                <a:spcPct val="90000"/>
              </a:lnSpc>
              <a:spcBef>
                <a:spcPct val="50000"/>
              </a:spcBef>
              <a:defRPr/>
            </a:pP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执行</a:t>
            </a:r>
            <a:r>
              <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rPr>
              <a:t>CREATE VIEW</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语句时只是把视图定义存入数据字典，并不执行其中的</a:t>
            </a:r>
            <a:r>
              <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rPr>
              <a:t>SELECT</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语句。 </a:t>
            </a:r>
          </a:p>
          <a:p>
            <a:pPr>
              <a:lnSpc>
                <a:spcPct val="105000"/>
              </a:lnSpc>
              <a:spcBef>
                <a:spcPct val="50000"/>
              </a:spcBef>
              <a:buClr>
                <a:srgbClr val="FF0000"/>
              </a:buClr>
              <a:buSzPct val="110000"/>
              <a:buFont typeface="Wingdings" pitchFamily="2" charset="2"/>
              <a:buChar char="F"/>
              <a:defRPr/>
            </a:pPr>
            <a:r>
              <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rPr>
              <a:t>WITH CHECK OPTION</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表示对视图进行</a:t>
            </a:r>
            <a:r>
              <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rPr>
              <a:t>UPDATE, INSERT</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和</a:t>
            </a:r>
            <a:r>
              <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rPr>
              <a:t>DELETE</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操作时要保证更新、插入和删除的行满足视图定义中的谓词条件。</a:t>
            </a:r>
          </a:p>
          <a:p>
            <a:pPr>
              <a:lnSpc>
                <a:spcPct val="105000"/>
              </a:lnSpc>
              <a:spcBef>
                <a:spcPct val="50000"/>
              </a:spcBef>
              <a:buClr>
                <a:srgbClr val="FF0000"/>
              </a:buClr>
              <a:buSzPct val="110000"/>
              <a:buFont typeface="Wingdings" pitchFamily="2" charset="2"/>
              <a:buChar char="F"/>
              <a:defRPr/>
            </a:pP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如果子查询中包含有计算列，须指定列名（别名）。</a:t>
            </a:r>
          </a:p>
        </p:txBody>
      </p:sp>
    </p:spTree>
    <p:extLst>
      <p:ext uri="{BB962C8B-B14F-4D97-AF65-F5344CB8AC3E}">
        <p14:creationId xmlns:p14="http://schemas.microsoft.com/office/powerpoint/2010/main" val="1136092204"/>
      </p:ext>
    </p:extLst>
  </p:cSld>
  <p:clrMapOvr>
    <a:masterClrMapping/>
  </p:clrMapOvr>
  <p:transition spd="slow">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视图</a:t>
            </a: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定义</a:t>
            </a:r>
            <a:endPar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endParaRPr>
          </a:p>
        </p:txBody>
      </p:sp>
      <p:sp>
        <p:nvSpPr>
          <p:cNvPr id="4" name="文本框 1"/>
          <p:cNvSpPr txBox="1"/>
          <p:nvPr/>
        </p:nvSpPr>
        <p:spPr>
          <a:xfrm>
            <a:off x="858374" y="1268850"/>
            <a:ext cx="10625790" cy="523220"/>
          </a:xfrm>
          <a:prstGeom prst="rect">
            <a:avLst/>
          </a:prstGeom>
          <a:noFill/>
          <a:ln w="9525">
            <a:noFill/>
          </a:ln>
        </p:spPr>
        <p:txBody>
          <a:bodyPr wrap="square">
            <a:spAutoFit/>
          </a:bodyPr>
          <a:lstStyle/>
          <a:p>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7.9】</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建立视图</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view_dept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，包含专业信息。</a:t>
            </a:r>
          </a:p>
        </p:txBody>
      </p:sp>
      <p:sp>
        <p:nvSpPr>
          <p:cNvPr id="7" name="文本框 1"/>
          <p:cNvSpPr txBox="1"/>
          <p:nvPr/>
        </p:nvSpPr>
        <p:spPr>
          <a:xfrm>
            <a:off x="862257" y="1871300"/>
            <a:ext cx="9936690" cy="1384995"/>
          </a:xfrm>
          <a:prstGeom prst="rect">
            <a:avLst/>
          </a:prstGeom>
          <a:noFill/>
          <a:ln w="9525">
            <a:noFill/>
          </a:ln>
        </p:spPr>
        <p:txBody>
          <a:bodyPr wrap="square">
            <a:spAutoFit/>
          </a:bodyPr>
          <a:lstStyle/>
          <a:p>
            <a:r>
              <a:rPr lang="en-US" altLang="zh-CN" sz="2800" b="1" dirty="0">
                <a:solidFill>
                  <a:srgbClr val="002060"/>
                </a:solidFill>
              </a:rPr>
              <a:t>CREATE VIEW </a:t>
            </a:r>
            <a:r>
              <a:rPr lang="en-US" altLang="zh-CN" sz="2800" b="1" dirty="0" err="1">
                <a:solidFill>
                  <a:srgbClr val="002060"/>
                </a:solidFill>
              </a:rPr>
              <a:t>view_dept</a:t>
            </a:r>
            <a:endParaRPr lang="en-US" altLang="zh-CN" sz="2800" b="1" dirty="0">
              <a:solidFill>
                <a:srgbClr val="002060"/>
              </a:solidFill>
            </a:endParaRPr>
          </a:p>
          <a:p>
            <a:r>
              <a:rPr lang="en-US" altLang="zh-CN" sz="2800" b="1" dirty="0">
                <a:solidFill>
                  <a:srgbClr val="002060"/>
                </a:solidFill>
              </a:rPr>
              <a:t>AS</a:t>
            </a:r>
          </a:p>
          <a:p>
            <a:r>
              <a:rPr lang="en-US" altLang="zh-CN" sz="2800" b="1" dirty="0">
                <a:solidFill>
                  <a:srgbClr val="002060"/>
                </a:solidFill>
              </a:rPr>
              <a:t>SELECT distinct </a:t>
            </a:r>
            <a:r>
              <a:rPr lang="en-US" altLang="zh-CN" sz="2800" b="1" dirty="0" err="1">
                <a:solidFill>
                  <a:srgbClr val="002060"/>
                </a:solidFill>
              </a:rPr>
              <a:t>dept</a:t>
            </a:r>
            <a:r>
              <a:rPr lang="en-US" altLang="zh-CN" sz="2800" b="1" dirty="0">
                <a:solidFill>
                  <a:srgbClr val="002060"/>
                </a:solidFill>
              </a:rPr>
              <a:t> FROM student;</a:t>
            </a:r>
          </a:p>
        </p:txBody>
      </p:sp>
      <p:sp>
        <p:nvSpPr>
          <p:cNvPr id="8" name="文本框 1"/>
          <p:cNvSpPr txBox="1"/>
          <p:nvPr/>
        </p:nvSpPr>
        <p:spPr>
          <a:xfrm>
            <a:off x="866067" y="3429000"/>
            <a:ext cx="10625790" cy="523220"/>
          </a:xfrm>
          <a:prstGeom prst="rect">
            <a:avLst/>
          </a:prstGeom>
          <a:noFill/>
          <a:ln w="9525">
            <a:noFill/>
          </a:ln>
        </p:spPr>
        <p:txBody>
          <a:bodyPr wrap="square">
            <a:spAutoFit/>
          </a:bodyPr>
          <a:lstStyle/>
          <a:p>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7.10】</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建立计算机系学生的视图</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view_cs</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a:t>
            </a:r>
          </a:p>
        </p:txBody>
      </p:sp>
      <p:sp>
        <p:nvSpPr>
          <p:cNvPr id="9" name="文本框 1"/>
          <p:cNvSpPr txBox="1"/>
          <p:nvPr/>
        </p:nvSpPr>
        <p:spPr>
          <a:xfrm>
            <a:off x="986820" y="4110194"/>
            <a:ext cx="9936690" cy="1384995"/>
          </a:xfrm>
          <a:prstGeom prst="rect">
            <a:avLst/>
          </a:prstGeom>
          <a:noFill/>
          <a:ln w="9525">
            <a:noFill/>
          </a:ln>
        </p:spPr>
        <p:txBody>
          <a:bodyPr wrap="square">
            <a:spAutoFit/>
          </a:bodyPr>
          <a:lstStyle/>
          <a:p>
            <a:r>
              <a:rPr lang="en-US" altLang="zh-CN" sz="2800" b="1" dirty="0">
                <a:solidFill>
                  <a:srgbClr val="002060"/>
                </a:solidFill>
              </a:rPr>
              <a:t>CREATE VIEW </a:t>
            </a:r>
            <a:r>
              <a:rPr lang="en-US" altLang="zh-CN" sz="2800" b="1" dirty="0" err="1">
                <a:solidFill>
                  <a:srgbClr val="002060"/>
                </a:solidFill>
              </a:rPr>
              <a:t>view_cs</a:t>
            </a:r>
            <a:endParaRPr lang="en-US" altLang="zh-CN" sz="2800" b="1" dirty="0">
              <a:solidFill>
                <a:srgbClr val="002060"/>
              </a:solidFill>
            </a:endParaRPr>
          </a:p>
          <a:p>
            <a:r>
              <a:rPr lang="en-US" altLang="zh-CN" sz="2800" b="1" dirty="0">
                <a:solidFill>
                  <a:srgbClr val="002060"/>
                </a:solidFill>
              </a:rPr>
              <a:t>AS</a:t>
            </a:r>
          </a:p>
          <a:p>
            <a:r>
              <a:rPr lang="en-US" altLang="zh-CN" sz="2800" b="1" dirty="0">
                <a:solidFill>
                  <a:srgbClr val="002060"/>
                </a:solidFill>
              </a:rPr>
              <a:t>SELECT * FROM student    WHERE </a:t>
            </a:r>
            <a:r>
              <a:rPr lang="en-US" altLang="zh-CN" sz="2800" b="1" dirty="0" err="1">
                <a:solidFill>
                  <a:srgbClr val="002060"/>
                </a:solidFill>
              </a:rPr>
              <a:t>dept</a:t>
            </a:r>
            <a:r>
              <a:rPr lang="en-US" altLang="zh-CN" sz="2800" b="1" dirty="0">
                <a:solidFill>
                  <a:srgbClr val="002060"/>
                </a:solidFill>
              </a:rPr>
              <a:t>='</a:t>
            </a:r>
            <a:r>
              <a:rPr lang="zh-CN" altLang="en-US" sz="2800" b="1" dirty="0">
                <a:solidFill>
                  <a:srgbClr val="002060"/>
                </a:solidFill>
              </a:rPr>
              <a:t>计算机</a:t>
            </a:r>
            <a:r>
              <a:rPr lang="en-US" altLang="zh-CN" sz="2800" b="1" dirty="0">
                <a:solidFill>
                  <a:srgbClr val="002060"/>
                </a:solidFill>
              </a:rPr>
              <a:t>';</a:t>
            </a:r>
          </a:p>
        </p:txBody>
      </p:sp>
      <p:sp>
        <p:nvSpPr>
          <p:cNvPr id="10" name="文本框 1"/>
          <p:cNvSpPr txBox="1"/>
          <p:nvPr/>
        </p:nvSpPr>
        <p:spPr>
          <a:xfrm>
            <a:off x="447491" y="5541701"/>
            <a:ext cx="11073384" cy="1200329"/>
          </a:xfrm>
          <a:prstGeom prst="rect">
            <a:avLst/>
          </a:prstGeom>
          <a:noFill/>
          <a:ln w="9525">
            <a:noFill/>
          </a:ln>
        </p:spPr>
        <p:txBody>
          <a:bodyPr wrap="square">
            <a:spAutoFit/>
          </a:bodyPr>
          <a:lstStyle/>
          <a:p>
            <a:r>
              <a:rPr lang="zh-CN" altLang="en-US" sz="2400" b="1" dirty="0">
                <a:solidFill>
                  <a:srgbClr val="FF0000"/>
                </a:solidFill>
                <a:effectLst>
                  <a:outerShdw blurRad="38100" dist="38100" dir="2700000" algn="tl">
                    <a:srgbClr val="000000">
                      <a:alpha val="43137"/>
                    </a:srgbClr>
                  </a:outerShdw>
                </a:effectLst>
              </a:rPr>
              <a:t>注意：</a:t>
            </a:r>
            <a:endParaRPr lang="en-US" altLang="zh-CN" sz="2400" b="1" dirty="0">
              <a:solidFill>
                <a:srgbClr val="FF0000"/>
              </a:solidFill>
              <a:effectLst>
                <a:outerShdw blurRad="38100" dist="38100" dir="2700000" algn="tl">
                  <a:srgbClr val="000000">
                    <a:alpha val="43137"/>
                  </a:srgbClr>
                </a:outerShdw>
              </a:effectLst>
            </a:endParaRPr>
          </a:p>
          <a:p>
            <a:r>
              <a:rPr lang="en-US" altLang="zh-CN" sz="2400" b="1" dirty="0">
                <a:solidFill>
                  <a:srgbClr val="002060"/>
                </a:solidFill>
                <a:effectLst>
                  <a:outerShdw blurRad="38100" dist="38100" dir="2700000" algn="tl">
                    <a:srgbClr val="000000">
                      <a:alpha val="43137"/>
                    </a:srgbClr>
                  </a:outerShdw>
                </a:effectLst>
              </a:rPr>
              <a:t>INSERT INTO view_cs1(</a:t>
            </a:r>
            <a:r>
              <a:rPr lang="en-US" altLang="zh-CN" sz="2400" b="1" dirty="0" err="1">
                <a:solidFill>
                  <a:srgbClr val="002060"/>
                </a:solidFill>
                <a:effectLst>
                  <a:outerShdw blurRad="38100" dist="38100" dir="2700000" algn="tl">
                    <a:srgbClr val="000000">
                      <a:alpha val="43137"/>
                    </a:srgbClr>
                  </a:outerShdw>
                </a:effectLst>
              </a:rPr>
              <a:t>sno,sname,dept</a:t>
            </a:r>
            <a:r>
              <a:rPr lang="en-US" altLang="zh-CN" sz="2400" b="1" dirty="0">
                <a:solidFill>
                  <a:srgbClr val="002060"/>
                </a:solidFill>
                <a:effectLst>
                  <a:outerShdw blurRad="38100" dist="38100" dir="2700000" algn="tl">
                    <a:srgbClr val="000000">
                      <a:alpha val="43137"/>
                    </a:srgbClr>
                  </a:outerShdw>
                </a:effectLst>
              </a:rPr>
              <a:t>) VALUES(</a:t>
            </a:r>
            <a:r>
              <a:rPr lang="en-US" altLang="zh-CN" sz="2400" b="1" dirty="0">
                <a:solidFill>
                  <a:srgbClr val="002060"/>
                </a:solidFill>
              </a:rPr>
              <a:t>'</a:t>
            </a:r>
            <a:r>
              <a:rPr lang="en-US" altLang="zh-CN" sz="2400" b="1" dirty="0">
                <a:solidFill>
                  <a:srgbClr val="002060"/>
                </a:solidFill>
                <a:effectLst>
                  <a:outerShdw blurRad="38100" dist="38100" dir="2700000" algn="tl">
                    <a:srgbClr val="000000">
                      <a:alpha val="43137"/>
                    </a:srgbClr>
                  </a:outerShdw>
                </a:effectLst>
              </a:rPr>
              <a:t>111111</a:t>
            </a:r>
            <a:r>
              <a:rPr lang="en-US" altLang="zh-CN" sz="2400" b="1" dirty="0">
                <a:solidFill>
                  <a:srgbClr val="002060"/>
                </a:solidFill>
              </a:rPr>
              <a:t>'</a:t>
            </a:r>
            <a:r>
              <a:rPr lang="en-US" altLang="zh-CN" sz="2400" b="1" dirty="0">
                <a:solidFill>
                  <a:srgbClr val="002060"/>
                </a:solidFill>
                <a:effectLst>
                  <a:outerShdw blurRad="38100" dist="38100" dir="2700000" algn="tl">
                    <a:srgbClr val="000000">
                      <a:alpha val="43137"/>
                    </a:srgbClr>
                  </a:outerShdw>
                </a:effectLst>
              </a:rPr>
              <a:t>,</a:t>
            </a:r>
            <a:r>
              <a:rPr lang="en-US" altLang="zh-CN" sz="2400" b="1" dirty="0">
                <a:solidFill>
                  <a:srgbClr val="002060"/>
                </a:solidFill>
              </a:rPr>
              <a:t> '</a:t>
            </a:r>
            <a:r>
              <a:rPr lang="en-US" altLang="zh-CN" sz="2400" b="1" dirty="0" err="1">
                <a:solidFill>
                  <a:srgbClr val="002060"/>
                </a:solidFill>
                <a:effectLst>
                  <a:outerShdw blurRad="38100" dist="38100" dir="2700000" algn="tl">
                    <a:srgbClr val="000000">
                      <a:alpha val="43137"/>
                    </a:srgbClr>
                  </a:outerShdw>
                </a:effectLst>
              </a:rPr>
              <a:t>abc</a:t>
            </a:r>
            <a:r>
              <a:rPr lang="en-US" altLang="zh-CN" sz="2400" b="1" dirty="0">
                <a:solidFill>
                  <a:srgbClr val="002060"/>
                </a:solidFill>
              </a:rPr>
              <a:t>'</a:t>
            </a:r>
            <a:r>
              <a:rPr lang="en-US" altLang="zh-CN" sz="2400" b="1" dirty="0">
                <a:solidFill>
                  <a:srgbClr val="002060"/>
                </a:solidFill>
                <a:effectLst>
                  <a:outerShdw blurRad="38100" dist="38100" dir="2700000" algn="tl">
                    <a:srgbClr val="000000">
                      <a:alpha val="43137"/>
                    </a:srgbClr>
                  </a:outerShdw>
                </a:effectLst>
              </a:rPr>
              <a:t>,</a:t>
            </a:r>
            <a:r>
              <a:rPr lang="en-US" altLang="zh-CN" sz="2400" b="1" dirty="0">
                <a:solidFill>
                  <a:srgbClr val="002060"/>
                </a:solidFill>
              </a:rPr>
              <a:t> '</a:t>
            </a:r>
            <a:r>
              <a:rPr lang="zh-CN" altLang="en-US" sz="2400" b="1" dirty="0">
                <a:solidFill>
                  <a:srgbClr val="002060"/>
                </a:solidFill>
                <a:effectLst>
                  <a:outerShdw blurRad="38100" dist="38100" dir="2700000" algn="tl">
                    <a:srgbClr val="000000">
                      <a:alpha val="43137"/>
                    </a:srgbClr>
                  </a:outerShdw>
                </a:effectLst>
              </a:rPr>
              <a:t>通信工程</a:t>
            </a:r>
            <a:r>
              <a:rPr lang="en-US" altLang="zh-CN" sz="2400" b="1" dirty="0">
                <a:solidFill>
                  <a:srgbClr val="002060"/>
                </a:solidFill>
              </a:rPr>
              <a:t>'</a:t>
            </a:r>
            <a:r>
              <a:rPr lang="en-US" altLang="zh-CN" sz="2400" b="1" dirty="0">
                <a:solidFill>
                  <a:srgbClr val="002060"/>
                </a:solidFill>
                <a:effectLst>
                  <a:outerShdw blurRad="38100" dist="38100" dir="2700000" algn="tl">
                    <a:srgbClr val="000000">
                      <a:alpha val="43137"/>
                    </a:srgbClr>
                  </a:outerShdw>
                </a:effectLst>
              </a:rPr>
              <a:t>);</a:t>
            </a:r>
          </a:p>
          <a:p>
            <a:r>
              <a:rPr lang="zh-CN" altLang="en-US" sz="2400" b="1" dirty="0">
                <a:solidFill>
                  <a:srgbClr val="C00000"/>
                </a:solidFill>
                <a:effectLst>
                  <a:outerShdw blurRad="38100" dist="38100" dir="2700000" algn="tl">
                    <a:srgbClr val="000000">
                      <a:alpha val="43137"/>
                    </a:srgbClr>
                  </a:outerShdw>
                </a:effectLst>
              </a:rPr>
              <a:t>这条语句能否执行？</a:t>
            </a:r>
            <a:endParaRPr lang="en-US" altLang="zh-CN" sz="2400" b="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2528012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视图</a:t>
            </a: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定义</a:t>
            </a:r>
            <a:endPar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endParaRPr>
          </a:p>
        </p:txBody>
      </p:sp>
      <p:sp>
        <p:nvSpPr>
          <p:cNvPr id="4" name="文本框 1"/>
          <p:cNvSpPr txBox="1"/>
          <p:nvPr/>
        </p:nvSpPr>
        <p:spPr>
          <a:xfrm>
            <a:off x="858374" y="1268850"/>
            <a:ext cx="10625790" cy="954107"/>
          </a:xfrm>
          <a:prstGeom prst="rect">
            <a:avLst/>
          </a:prstGeom>
          <a:noFill/>
          <a:ln w="9525">
            <a:noFill/>
          </a:ln>
        </p:spPr>
        <p:txBody>
          <a:bodyPr wrap="square">
            <a:spAutoFit/>
          </a:bodyPr>
          <a:lstStyle/>
          <a:p>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7.11】</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建立通信工程系学生的视图</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view_ce</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，并要求进行修改和插入操作时仍需保证该视图只有通信工程系的学生。</a:t>
            </a:r>
          </a:p>
        </p:txBody>
      </p:sp>
      <p:sp>
        <p:nvSpPr>
          <p:cNvPr id="7" name="文本框 1"/>
          <p:cNvSpPr txBox="1"/>
          <p:nvPr/>
        </p:nvSpPr>
        <p:spPr>
          <a:xfrm>
            <a:off x="1202924" y="2492935"/>
            <a:ext cx="9936690" cy="1815882"/>
          </a:xfrm>
          <a:prstGeom prst="rect">
            <a:avLst/>
          </a:prstGeom>
          <a:noFill/>
          <a:ln w="9525">
            <a:noFill/>
          </a:ln>
        </p:spPr>
        <p:txBody>
          <a:bodyPr wrap="square">
            <a:spAutoFit/>
          </a:bodyPr>
          <a:lstStyle/>
          <a:p>
            <a:r>
              <a:rPr lang="en-US" altLang="zh-CN" sz="2800" b="1" dirty="0">
                <a:solidFill>
                  <a:srgbClr val="002060"/>
                </a:solidFill>
              </a:rPr>
              <a:t>CREATE VIEW </a:t>
            </a:r>
            <a:r>
              <a:rPr lang="en-US" altLang="zh-CN" sz="2800" b="1" dirty="0" err="1">
                <a:solidFill>
                  <a:srgbClr val="002060"/>
                </a:solidFill>
              </a:rPr>
              <a:t>view_ce</a:t>
            </a:r>
            <a:endParaRPr lang="en-US" altLang="zh-CN" sz="2800" b="1" dirty="0">
              <a:solidFill>
                <a:srgbClr val="002060"/>
              </a:solidFill>
            </a:endParaRPr>
          </a:p>
          <a:p>
            <a:r>
              <a:rPr lang="en-US" altLang="zh-CN" sz="2800" b="1" dirty="0">
                <a:solidFill>
                  <a:srgbClr val="002060"/>
                </a:solidFill>
              </a:rPr>
              <a:t>AS</a:t>
            </a:r>
          </a:p>
          <a:p>
            <a:r>
              <a:rPr lang="en-US" altLang="zh-CN" sz="2800" b="1" dirty="0">
                <a:solidFill>
                  <a:srgbClr val="002060"/>
                </a:solidFill>
              </a:rPr>
              <a:t>SELECT * FROM student WHERE </a:t>
            </a:r>
            <a:r>
              <a:rPr lang="en-US" altLang="zh-CN" sz="2800" b="1" dirty="0" err="1">
                <a:solidFill>
                  <a:srgbClr val="002060"/>
                </a:solidFill>
              </a:rPr>
              <a:t>dept</a:t>
            </a:r>
            <a:r>
              <a:rPr lang="en-US" altLang="zh-CN" sz="2800" b="1" dirty="0">
                <a:solidFill>
                  <a:srgbClr val="002060"/>
                </a:solidFill>
              </a:rPr>
              <a:t>='</a:t>
            </a:r>
            <a:r>
              <a:rPr lang="zh-CN" altLang="en-US" sz="2800" b="1" dirty="0">
                <a:solidFill>
                  <a:srgbClr val="002060"/>
                </a:solidFill>
              </a:rPr>
              <a:t>通信工程</a:t>
            </a:r>
            <a:r>
              <a:rPr lang="en-US" altLang="zh-CN" sz="2800" b="1" dirty="0">
                <a:solidFill>
                  <a:srgbClr val="002060"/>
                </a:solidFill>
              </a:rPr>
              <a:t>'</a:t>
            </a:r>
          </a:p>
          <a:p>
            <a:r>
              <a:rPr lang="en-US" altLang="zh-CN" sz="2800" b="1" dirty="0">
                <a:solidFill>
                  <a:srgbClr val="002060"/>
                </a:solidFill>
              </a:rPr>
              <a:t>WITH CHECK OPTION ;</a:t>
            </a:r>
          </a:p>
        </p:txBody>
      </p:sp>
      <p:sp>
        <p:nvSpPr>
          <p:cNvPr id="10" name="文本框 1"/>
          <p:cNvSpPr txBox="1"/>
          <p:nvPr/>
        </p:nvSpPr>
        <p:spPr>
          <a:xfrm>
            <a:off x="955543" y="4509075"/>
            <a:ext cx="10528621" cy="1682577"/>
          </a:xfrm>
          <a:prstGeom prst="rect">
            <a:avLst/>
          </a:prstGeom>
          <a:noFill/>
          <a:ln w="9525">
            <a:noFill/>
          </a:ln>
        </p:spPr>
        <p:txBody>
          <a:bodyPr wrap="square">
            <a:spAutoFit/>
          </a:bodyPr>
          <a:lstStyle/>
          <a:p>
            <a:pPr>
              <a:lnSpc>
                <a:spcPct val="150000"/>
              </a:lnSpc>
            </a:pPr>
            <a:r>
              <a:rPr lang="zh-CN" altLang="en-US" sz="2400" b="1" dirty="0">
                <a:solidFill>
                  <a:srgbClr val="FF0000"/>
                </a:solidFill>
                <a:effectLst>
                  <a:outerShdw blurRad="38100" dist="38100" dir="2700000" algn="tl">
                    <a:srgbClr val="000000">
                      <a:alpha val="43137"/>
                    </a:srgbClr>
                  </a:outerShdw>
                </a:effectLst>
              </a:rPr>
              <a:t>注意：</a:t>
            </a:r>
            <a:endParaRPr lang="en-US" altLang="zh-CN" sz="2400" b="1" dirty="0">
              <a:solidFill>
                <a:srgbClr val="FF0000"/>
              </a:solidFill>
              <a:effectLst>
                <a:outerShdw blurRad="38100" dist="38100" dir="2700000" algn="tl">
                  <a:srgbClr val="000000">
                    <a:alpha val="43137"/>
                  </a:srgbClr>
                </a:outerShdw>
              </a:effectLst>
            </a:endParaRPr>
          </a:p>
          <a:p>
            <a:pPr>
              <a:lnSpc>
                <a:spcPct val="150000"/>
              </a:lnSpc>
            </a:pPr>
            <a:r>
              <a:rPr lang="en-US" altLang="zh-CN" sz="2400" b="1" dirty="0">
                <a:solidFill>
                  <a:srgbClr val="002060"/>
                </a:solidFill>
                <a:effectLst>
                  <a:outerShdw blurRad="38100" dist="38100" dir="2700000" algn="tl">
                    <a:srgbClr val="000000">
                      <a:alpha val="43137"/>
                    </a:srgbClr>
                  </a:outerShdw>
                </a:effectLst>
              </a:rPr>
              <a:t>INSERT INTO </a:t>
            </a:r>
            <a:r>
              <a:rPr lang="en-US" altLang="zh-CN" sz="2400" b="1" dirty="0" err="1">
                <a:solidFill>
                  <a:srgbClr val="002060"/>
                </a:solidFill>
                <a:effectLst>
                  <a:outerShdw blurRad="38100" dist="38100" dir="2700000" algn="tl">
                    <a:srgbClr val="000000">
                      <a:alpha val="43137"/>
                    </a:srgbClr>
                  </a:outerShdw>
                </a:effectLst>
              </a:rPr>
              <a:t>view_ce</a:t>
            </a:r>
            <a:r>
              <a:rPr lang="en-US" altLang="zh-CN" sz="2400" b="1" dirty="0">
                <a:solidFill>
                  <a:srgbClr val="002060"/>
                </a:solidFill>
                <a:effectLst>
                  <a:outerShdw blurRad="38100" dist="38100" dir="2700000" algn="tl">
                    <a:srgbClr val="000000">
                      <a:alpha val="43137"/>
                    </a:srgbClr>
                  </a:outerShdw>
                </a:effectLst>
              </a:rPr>
              <a:t>(</a:t>
            </a:r>
            <a:r>
              <a:rPr lang="en-US" altLang="zh-CN" sz="2400" b="1" dirty="0" err="1">
                <a:solidFill>
                  <a:srgbClr val="002060"/>
                </a:solidFill>
                <a:effectLst>
                  <a:outerShdw blurRad="38100" dist="38100" dir="2700000" algn="tl">
                    <a:srgbClr val="000000">
                      <a:alpha val="43137"/>
                    </a:srgbClr>
                  </a:outerShdw>
                </a:effectLst>
              </a:rPr>
              <a:t>sno,sname,dept</a:t>
            </a:r>
            <a:r>
              <a:rPr lang="en-US" altLang="zh-CN" sz="2400" b="1" dirty="0">
                <a:solidFill>
                  <a:srgbClr val="002060"/>
                </a:solidFill>
                <a:effectLst>
                  <a:outerShdw blurRad="38100" dist="38100" dir="2700000" algn="tl">
                    <a:srgbClr val="000000">
                      <a:alpha val="43137"/>
                    </a:srgbClr>
                  </a:outerShdw>
                </a:effectLst>
              </a:rPr>
              <a:t>) VALUES('111110','</a:t>
            </a:r>
            <a:r>
              <a:rPr lang="en-US" altLang="zh-CN" sz="2400" b="1" dirty="0" err="1">
                <a:solidFill>
                  <a:srgbClr val="002060"/>
                </a:solidFill>
                <a:effectLst>
                  <a:outerShdw blurRad="38100" dist="38100" dir="2700000" algn="tl">
                    <a:srgbClr val="000000">
                      <a:alpha val="43137"/>
                    </a:srgbClr>
                  </a:outerShdw>
                </a:effectLst>
              </a:rPr>
              <a:t>abc</a:t>
            </a:r>
            <a:r>
              <a:rPr lang="en-US" altLang="zh-CN" sz="2400" b="1" dirty="0">
                <a:solidFill>
                  <a:srgbClr val="002060"/>
                </a:solidFill>
                <a:effectLst>
                  <a:outerShdw blurRad="38100" dist="38100" dir="2700000" algn="tl">
                    <a:srgbClr val="000000">
                      <a:alpha val="43137"/>
                    </a:srgbClr>
                  </a:outerShdw>
                </a:effectLst>
              </a:rPr>
              <a:t>','</a:t>
            </a:r>
            <a:r>
              <a:rPr lang="zh-CN" altLang="en-US" sz="2400" b="1" dirty="0">
                <a:solidFill>
                  <a:srgbClr val="002060"/>
                </a:solidFill>
                <a:effectLst>
                  <a:outerShdw blurRad="38100" dist="38100" dir="2700000" algn="tl">
                    <a:srgbClr val="000000">
                      <a:alpha val="43137"/>
                    </a:srgbClr>
                  </a:outerShdw>
                </a:effectLst>
              </a:rPr>
              <a:t>计算机</a:t>
            </a:r>
            <a:r>
              <a:rPr lang="en-US" altLang="zh-CN" sz="2400" b="1" dirty="0">
                <a:solidFill>
                  <a:srgbClr val="002060"/>
                </a:solidFill>
                <a:effectLst>
                  <a:outerShdw blurRad="38100" dist="38100" dir="2700000" algn="tl">
                    <a:srgbClr val="000000">
                      <a:alpha val="43137"/>
                    </a:srgbClr>
                  </a:outerShdw>
                </a:effectLst>
              </a:rPr>
              <a:t>');</a:t>
            </a:r>
            <a:r>
              <a:rPr lang="zh-CN" altLang="en-US" sz="2400" b="1" dirty="0">
                <a:solidFill>
                  <a:srgbClr val="C00000"/>
                </a:solidFill>
                <a:effectLst>
                  <a:outerShdw blurRad="38100" dist="38100" dir="2700000" algn="tl">
                    <a:srgbClr val="000000">
                      <a:alpha val="43137"/>
                    </a:srgbClr>
                  </a:outerShdw>
                </a:effectLst>
              </a:rPr>
              <a:t>这条语句能否执行？</a:t>
            </a:r>
            <a:endParaRPr lang="en-US" altLang="zh-CN" sz="2400" b="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1767547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视图</a:t>
            </a: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定义</a:t>
            </a:r>
            <a:endPar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endParaRPr>
          </a:p>
        </p:txBody>
      </p:sp>
      <p:sp>
        <p:nvSpPr>
          <p:cNvPr id="4" name="文本框 1"/>
          <p:cNvSpPr txBox="1"/>
          <p:nvPr/>
        </p:nvSpPr>
        <p:spPr>
          <a:xfrm>
            <a:off x="858374" y="1268850"/>
            <a:ext cx="10625790" cy="954107"/>
          </a:xfrm>
          <a:prstGeom prst="rect">
            <a:avLst/>
          </a:prstGeom>
          <a:noFill/>
          <a:ln w="9525">
            <a:noFill/>
          </a:ln>
        </p:spPr>
        <p:txBody>
          <a:bodyPr wrap="square">
            <a:spAutoFit/>
          </a:bodyPr>
          <a:lstStyle/>
          <a:p>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7.12】</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建立反映学生年龄的视图</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view_age</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，包含</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sno</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sname</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age</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a:t>
            </a:r>
          </a:p>
        </p:txBody>
      </p:sp>
      <p:sp>
        <p:nvSpPr>
          <p:cNvPr id="7" name="文本框 1"/>
          <p:cNvSpPr txBox="1"/>
          <p:nvPr/>
        </p:nvSpPr>
        <p:spPr>
          <a:xfrm>
            <a:off x="955543" y="2492935"/>
            <a:ext cx="10184071" cy="1815882"/>
          </a:xfrm>
          <a:prstGeom prst="rect">
            <a:avLst/>
          </a:prstGeom>
          <a:noFill/>
          <a:ln w="9525">
            <a:noFill/>
          </a:ln>
        </p:spPr>
        <p:txBody>
          <a:bodyPr wrap="square">
            <a:spAutoFit/>
          </a:bodyPr>
          <a:lstStyle/>
          <a:p>
            <a:r>
              <a:rPr lang="en-US" altLang="zh-CN" sz="2800" b="1" dirty="0">
                <a:solidFill>
                  <a:srgbClr val="002060"/>
                </a:solidFill>
              </a:rPr>
              <a:t>CREATE VIEW </a:t>
            </a:r>
            <a:r>
              <a:rPr lang="en-US" altLang="zh-CN" sz="2800" b="1" dirty="0" err="1">
                <a:solidFill>
                  <a:srgbClr val="002060"/>
                </a:solidFill>
              </a:rPr>
              <a:t>view_age</a:t>
            </a:r>
            <a:r>
              <a:rPr lang="en-US" altLang="zh-CN" sz="2800" b="1" dirty="0">
                <a:solidFill>
                  <a:srgbClr val="002060"/>
                </a:solidFill>
              </a:rPr>
              <a:t>(</a:t>
            </a:r>
            <a:r>
              <a:rPr lang="en-US" altLang="zh-CN" sz="2800" b="1" dirty="0" err="1">
                <a:solidFill>
                  <a:srgbClr val="002060"/>
                </a:solidFill>
              </a:rPr>
              <a:t>sno,sname,</a:t>
            </a:r>
            <a:r>
              <a:rPr lang="en-US" altLang="zh-CN" sz="2800" b="1" dirty="0" err="1">
                <a:solidFill>
                  <a:srgbClr val="C00000"/>
                </a:solidFill>
              </a:rPr>
              <a:t>age</a:t>
            </a:r>
            <a:r>
              <a:rPr lang="en-US" altLang="zh-CN" sz="2800" b="1" dirty="0">
                <a:solidFill>
                  <a:srgbClr val="002060"/>
                </a:solidFill>
              </a:rPr>
              <a:t>)</a:t>
            </a:r>
          </a:p>
          <a:p>
            <a:r>
              <a:rPr lang="en-US" altLang="zh-CN" sz="2800" b="1" dirty="0">
                <a:solidFill>
                  <a:srgbClr val="002060"/>
                </a:solidFill>
              </a:rPr>
              <a:t>AS</a:t>
            </a:r>
          </a:p>
          <a:p>
            <a:r>
              <a:rPr lang="en-US" altLang="zh-CN" sz="2800" b="1" dirty="0">
                <a:solidFill>
                  <a:srgbClr val="002060"/>
                </a:solidFill>
              </a:rPr>
              <a:t>SELECT </a:t>
            </a:r>
            <a:r>
              <a:rPr lang="en-US" altLang="zh-CN" sz="2800" b="1" dirty="0" err="1">
                <a:solidFill>
                  <a:srgbClr val="002060"/>
                </a:solidFill>
              </a:rPr>
              <a:t>sno,sname,YEAR</a:t>
            </a:r>
            <a:r>
              <a:rPr lang="en-US" altLang="zh-CN" sz="2800" b="1" dirty="0">
                <a:solidFill>
                  <a:srgbClr val="002060"/>
                </a:solidFill>
              </a:rPr>
              <a:t>(</a:t>
            </a:r>
            <a:r>
              <a:rPr lang="en-US" altLang="zh-CN" sz="2800" b="1" dirty="0" err="1">
                <a:solidFill>
                  <a:srgbClr val="002060"/>
                </a:solidFill>
              </a:rPr>
              <a:t>CURDATE</a:t>
            </a:r>
            <a:r>
              <a:rPr lang="en-US" altLang="zh-CN" sz="2800" b="1" dirty="0">
                <a:solidFill>
                  <a:srgbClr val="002060"/>
                </a:solidFill>
              </a:rPr>
              <a:t>()) - YEAR(birthday)</a:t>
            </a:r>
          </a:p>
          <a:p>
            <a:r>
              <a:rPr lang="en-US" altLang="zh-CN" sz="2800" b="1" dirty="0">
                <a:solidFill>
                  <a:srgbClr val="002060"/>
                </a:solidFill>
              </a:rPr>
              <a:t>FROM student;</a:t>
            </a:r>
          </a:p>
        </p:txBody>
      </p:sp>
      <p:sp>
        <p:nvSpPr>
          <p:cNvPr id="9" name="文本框 1"/>
          <p:cNvSpPr txBox="1"/>
          <p:nvPr/>
        </p:nvSpPr>
        <p:spPr>
          <a:xfrm>
            <a:off x="828555" y="4533236"/>
            <a:ext cx="10528621" cy="1682577"/>
          </a:xfrm>
          <a:prstGeom prst="rect">
            <a:avLst/>
          </a:prstGeom>
          <a:noFill/>
          <a:ln w="9525">
            <a:noFill/>
          </a:ln>
        </p:spPr>
        <p:txBody>
          <a:bodyPr wrap="square">
            <a:spAutoFit/>
          </a:bodyPr>
          <a:lstStyle/>
          <a:p>
            <a:pPr>
              <a:lnSpc>
                <a:spcPct val="150000"/>
              </a:lnSpc>
            </a:pPr>
            <a:r>
              <a:rPr lang="zh-CN" altLang="en-US" sz="2400" b="1" dirty="0">
                <a:solidFill>
                  <a:srgbClr val="FF0000"/>
                </a:solidFill>
                <a:effectLst>
                  <a:outerShdw blurRad="38100" dist="38100" dir="2700000" algn="tl">
                    <a:srgbClr val="000000">
                      <a:alpha val="43137"/>
                    </a:srgbClr>
                  </a:outerShdw>
                </a:effectLst>
              </a:rPr>
              <a:t>注意：</a:t>
            </a:r>
            <a:endParaRPr lang="en-US" altLang="zh-CN" sz="2400" b="1" dirty="0">
              <a:solidFill>
                <a:srgbClr val="FF0000"/>
              </a:solidFill>
              <a:effectLst>
                <a:outerShdw blurRad="38100" dist="38100" dir="2700000" algn="tl">
                  <a:srgbClr val="000000">
                    <a:alpha val="43137"/>
                  </a:srgbClr>
                </a:outerShdw>
              </a:effectLst>
            </a:endParaRPr>
          </a:p>
          <a:p>
            <a:pPr algn="ctr">
              <a:lnSpc>
                <a:spcPct val="150000"/>
              </a:lnSpc>
            </a:pPr>
            <a:r>
              <a:rPr lang="en-US" altLang="zh-CN" sz="2400" b="1" dirty="0">
                <a:solidFill>
                  <a:srgbClr val="002060"/>
                </a:solidFill>
                <a:effectLst>
                  <a:outerShdw blurRad="38100" dist="38100" dir="2700000" algn="tl">
                    <a:srgbClr val="000000">
                      <a:alpha val="43137"/>
                    </a:srgbClr>
                  </a:outerShdw>
                </a:effectLst>
              </a:rPr>
              <a:t>INSERT INTO </a:t>
            </a:r>
            <a:r>
              <a:rPr lang="en-US" altLang="zh-CN" sz="2400" b="1" dirty="0" err="1">
                <a:solidFill>
                  <a:srgbClr val="002060"/>
                </a:solidFill>
                <a:effectLst>
                  <a:outerShdw blurRad="38100" dist="38100" dir="2700000" algn="tl">
                    <a:srgbClr val="000000">
                      <a:alpha val="43137"/>
                    </a:srgbClr>
                  </a:outerShdw>
                </a:effectLst>
              </a:rPr>
              <a:t>view_age</a:t>
            </a:r>
            <a:r>
              <a:rPr lang="en-US" altLang="zh-CN" sz="2400" b="1" dirty="0">
                <a:solidFill>
                  <a:srgbClr val="002060"/>
                </a:solidFill>
                <a:effectLst>
                  <a:outerShdw blurRad="38100" dist="38100" dir="2700000" algn="tl">
                    <a:srgbClr val="000000">
                      <a:alpha val="43137"/>
                    </a:srgbClr>
                  </a:outerShdw>
                </a:effectLst>
              </a:rPr>
              <a:t> VALUES('111101','</a:t>
            </a:r>
            <a:r>
              <a:rPr lang="en-US" altLang="zh-CN" sz="2400" b="1" dirty="0" err="1">
                <a:solidFill>
                  <a:srgbClr val="002060"/>
                </a:solidFill>
                <a:effectLst>
                  <a:outerShdw blurRad="38100" dist="38100" dir="2700000" algn="tl">
                    <a:srgbClr val="000000">
                      <a:alpha val="43137"/>
                    </a:srgbClr>
                  </a:outerShdw>
                </a:effectLst>
              </a:rPr>
              <a:t>abc</a:t>
            </a:r>
            <a:r>
              <a:rPr lang="en-US" altLang="zh-CN" sz="2400" b="1" dirty="0">
                <a:solidFill>
                  <a:srgbClr val="002060"/>
                </a:solidFill>
                <a:effectLst>
                  <a:outerShdw blurRad="38100" dist="38100" dir="2700000" algn="tl">
                    <a:srgbClr val="000000">
                      <a:alpha val="43137"/>
                    </a:srgbClr>
                  </a:outerShdw>
                </a:effectLst>
              </a:rPr>
              <a:t>',20);</a:t>
            </a:r>
          </a:p>
          <a:p>
            <a:pPr>
              <a:lnSpc>
                <a:spcPct val="150000"/>
              </a:lnSpc>
            </a:pPr>
            <a:r>
              <a:rPr lang="zh-CN" altLang="en-US" sz="2400" b="1" dirty="0">
                <a:solidFill>
                  <a:srgbClr val="C00000"/>
                </a:solidFill>
                <a:effectLst>
                  <a:outerShdw blurRad="38100" dist="38100" dir="2700000" algn="tl">
                    <a:srgbClr val="000000">
                      <a:alpha val="43137"/>
                    </a:srgbClr>
                  </a:outerShdw>
                </a:effectLst>
              </a:rPr>
              <a:t>这条语句能否执行？</a:t>
            </a:r>
            <a:endParaRPr lang="en-US" altLang="zh-CN" sz="2400" b="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6595088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视图</a:t>
            </a: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定义</a:t>
            </a:r>
            <a:endPar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endParaRPr>
          </a:p>
        </p:txBody>
      </p:sp>
      <p:sp>
        <p:nvSpPr>
          <p:cNvPr id="4" name="文本框 1"/>
          <p:cNvSpPr txBox="1"/>
          <p:nvPr/>
        </p:nvSpPr>
        <p:spPr>
          <a:xfrm>
            <a:off x="834220" y="1268850"/>
            <a:ext cx="10649944" cy="954107"/>
          </a:xfrm>
          <a:prstGeom prst="rect">
            <a:avLst/>
          </a:prstGeom>
          <a:noFill/>
          <a:ln w="9525">
            <a:noFill/>
          </a:ln>
        </p:spPr>
        <p:txBody>
          <a:bodyPr wrap="square">
            <a:spAutoFit/>
          </a:bodyPr>
          <a:lstStyle/>
          <a:p>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7.13】</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建立反映学生平均成绩的视图</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view_avgscore</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，包含</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sno</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avg_score</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a:t>
            </a:r>
          </a:p>
        </p:txBody>
      </p:sp>
      <p:sp>
        <p:nvSpPr>
          <p:cNvPr id="7" name="文本框 1"/>
          <p:cNvSpPr txBox="1"/>
          <p:nvPr/>
        </p:nvSpPr>
        <p:spPr>
          <a:xfrm>
            <a:off x="955543" y="2348925"/>
            <a:ext cx="10184071" cy="2246769"/>
          </a:xfrm>
          <a:prstGeom prst="rect">
            <a:avLst/>
          </a:prstGeom>
          <a:noFill/>
          <a:ln w="9525">
            <a:noFill/>
          </a:ln>
        </p:spPr>
        <p:txBody>
          <a:bodyPr wrap="square">
            <a:spAutoFit/>
          </a:bodyPr>
          <a:lstStyle/>
          <a:p>
            <a:r>
              <a:rPr lang="en-US" altLang="zh-CN" sz="2800" b="1" dirty="0">
                <a:solidFill>
                  <a:srgbClr val="002060"/>
                </a:solidFill>
              </a:rPr>
              <a:t>CREATE VIEW </a:t>
            </a:r>
            <a:r>
              <a:rPr lang="en-US" altLang="zh-CN" sz="2800" b="1" dirty="0" err="1">
                <a:solidFill>
                  <a:srgbClr val="002060"/>
                </a:solidFill>
              </a:rPr>
              <a:t>view_avgscore</a:t>
            </a:r>
            <a:r>
              <a:rPr lang="en-US" altLang="zh-CN" sz="2800" b="1" dirty="0">
                <a:solidFill>
                  <a:srgbClr val="002060"/>
                </a:solidFill>
              </a:rPr>
              <a:t>(</a:t>
            </a:r>
            <a:r>
              <a:rPr lang="en-US" altLang="zh-CN" sz="2800" b="1" dirty="0" err="1">
                <a:solidFill>
                  <a:srgbClr val="002060"/>
                </a:solidFill>
              </a:rPr>
              <a:t>sno,avg_score</a:t>
            </a:r>
            <a:r>
              <a:rPr lang="en-US" altLang="zh-CN" sz="2800" b="1" dirty="0">
                <a:solidFill>
                  <a:srgbClr val="002060"/>
                </a:solidFill>
              </a:rPr>
              <a:t>)</a:t>
            </a:r>
          </a:p>
          <a:p>
            <a:r>
              <a:rPr lang="en-US" altLang="zh-CN" sz="2800" b="1" dirty="0">
                <a:solidFill>
                  <a:srgbClr val="002060"/>
                </a:solidFill>
              </a:rPr>
              <a:t>AS</a:t>
            </a:r>
          </a:p>
          <a:p>
            <a:r>
              <a:rPr lang="en-US" altLang="zh-CN" sz="2800" b="1" dirty="0">
                <a:solidFill>
                  <a:srgbClr val="002060"/>
                </a:solidFill>
              </a:rPr>
              <a:t>SELECT </a:t>
            </a:r>
            <a:r>
              <a:rPr lang="en-US" altLang="zh-CN" sz="2800" b="1" dirty="0" err="1">
                <a:solidFill>
                  <a:srgbClr val="002060"/>
                </a:solidFill>
              </a:rPr>
              <a:t>sno,AVG</a:t>
            </a:r>
            <a:r>
              <a:rPr lang="en-US" altLang="zh-CN" sz="2800" b="1" dirty="0">
                <a:solidFill>
                  <a:srgbClr val="002060"/>
                </a:solidFill>
              </a:rPr>
              <a:t>(grade)</a:t>
            </a:r>
          </a:p>
          <a:p>
            <a:r>
              <a:rPr lang="en-US" altLang="zh-CN" sz="2800" b="1" dirty="0">
                <a:solidFill>
                  <a:srgbClr val="002060"/>
                </a:solidFill>
              </a:rPr>
              <a:t>FROM score</a:t>
            </a:r>
          </a:p>
          <a:p>
            <a:r>
              <a:rPr lang="en-US" altLang="zh-CN" sz="2800" b="1" dirty="0">
                <a:solidFill>
                  <a:srgbClr val="002060"/>
                </a:solidFill>
              </a:rPr>
              <a:t>GROUP BY </a:t>
            </a:r>
            <a:r>
              <a:rPr lang="en-US" altLang="zh-CN" sz="2800" b="1" dirty="0" err="1">
                <a:solidFill>
                  <a:srgbClr val="002060"/>
                </a:solidFill>
              </a:rPr>
              <a:t>sno</a:t>
            </a:r>
            <a:r>
              <a:rPr lang="en-US" altLang="zh-CN" sz="2800" b="1" dirty="0">
                <a:solidFill>
                  <a:srgbClr val="002060"/>
                </a:solidFill>
              </a:rPr>
              <a:t>;</a:t>
            </a:r>
          </a:p>
        </p:txBody>
      </p:sp>
      <p:sp>
        <p:nvSpPr>
          <p:cNvPr id="9" name="文本框 1"/>
          <p:cNvSpPr txBox="1"/>
          <p:nvPr/>
        </p:nvSpPr>
        <p:spPr>
          <a:xfrm>
            <a:off x="474294" y="4629501"/>
            <a:ext cx="11369795" cy="1682577"/>
          </a:xfrm>
          <a:prstGeom prst="rect">
            <a:avLst/>
          </a:prstGeom>
          <a:noFill/>
          <a:ln w="9525">
            <a:noFill/>
          </a:ln>
        </p:spPr>
        <p:txBody>
          <a:bodyPr wrap="square">
            <a:spAutoFit/>
          </a:bodyPr>
          <a:lstStyle/>
          <a:p>
            <a:pPr>
              <a:lnSpc>
                <a:spcPct val="150000"/>
              </a:lnSpc>
            </a:pPr>
            <a:r>
              <a:rPr lang="zh-CN" altLang="en-US" sz="2400" b="1" dirty="0">
                <a:solidFill>
                  <a:srgbClr val="FF0000"/>
                </a:solidFill>
                <a:effectLst>
                  <a:outerShdw blurRad="38100" dist="38100" dir="2700000" algn="tl">
                    <a:srgbClr val="000000">
                      <a:alpha val="43137"/>
                    </a:srgbClr>
                  </a:outerShdw>
                </a:effectLst>
              </a:rPr>
              <a:t>注意：</a:t>
            </a:r>
            <a:endParaRPr lang="en-US" altLang="zh-CN" sz="2400" b="1" dirty="0">
              <a:solidFill>
                <a:srgbClr val="FF0000"/>
              </a:solidFill>
              <a:effectLst>
                <a:outerShdw blurRad="38100" dist="38100" dir="2700000" algn="tl">
                  <a:srgbClr val="000000">
                    <a:alpha val="43137"/>
                  </a:srgbClr>
                </a:outerShdw>
              </a:effectLst>
            </a:endParaRPr>
          </a:p>
          <a:p>
            <a:pPr>
              <a:lnSpc>
                <a:spcPct val="150000"/>
              </a:lnSpc>
            </a:pPr>
            <a:r>
              <a:rPr lang="en-US" altLang="zh-CN" sz="2400" b="1" dirty="0">
                <a:solidFill>
                  <a:srgbClr val="002060"/>
                </a:solidFill>
                <a:effectLst>
                  <a:outerShdw blurRad="38100" dist="38100" dir="2700000" algn="tl">
                    <a:srgbClr val="000000">
                      <a:alpha val="43137"/>
                    </a:srgbClr>
                  </a:outerShdw>
                </a:effectLst>
              </a:rPr>
              <a:t>UPDATE </a:t>
            </a:r>
            <a:r>
              <a:rPr lang="en-US" altLang="zh-CN" sz="2400" b="1" dirty="0" err="1">
                <a:solidFill>
                  <a:srgbClr val="002060"/>
                </a:solidFill>
                <a:effectLst>
                  <a:outerShdw blurRad="38100" dist="38100" dir="2700000" algn="tl">
                    <a:srgbClr val="000000">
                      <a:alpha val="43137"/>
                    </a:srgbClr>
                  </a:outerShdw>
                </a:effectLst>
              </a:rPr>
              <a:t>view_avgscore</a:t>
            </a:r>
            <a:r>
              <a:rPr lang="en-US" altLang="zh-CN" sz="2400" b="1" dirty="0">
                <a:solidFill>
                  <a:srgbClr val="002060"/>
                </a:solidFill>
                <a:effectLst>
                  <a:outerShdw blurRad="38100" dist="38100" dir="2700000" algn="tl">
                    <a:srgbClr val="000000">
                      <a:alpha val="43137"/>
                    </a:srgbClr>
                  </a:outerShdw>
                </a:effectLst>
              </a:rPr>
              <a:t> SET </a:t>
            </a:r>
            <a:r>
              <a:rPr lang="en-US" altLang="zh-CN" sz="2400" b="1" dirty="0" err="1">
                <a:solidFill>
                  <a:srgbClr val="002060"/>
                </a:solidFill>
                <a:effectLst>
                  <a:outerShdw blurRad="38100" dist="38100" dir="2700000" algn="tl">
                    <a:srgbClr val="000000">
                      <a:alpha val="43137"/>
                    </a:srgbClr>
                  </a:outerShdw>
                </a:effectLst>
              </a:rPr>
              <a:t>avg_score</a:t>
            </a:r>
            <a:r>
              <a:rPr lang="en-US" altLang="zh-CN" sz="2400" b="1" dirty="0">
                <a:solidFill>
                  <a:srgbClr val="002060"/>
                </a:solidFill>
                <a:effectLst>
                  <a:outerShdw blurRad="38100" dist="38100" dir="2700000" algn="tl">
                    <a:srgbClr val="000000">
                      <a:alpha val="43137"/>
                    </a:srgbClr>
                  </a:outerShdw>
                </a:effectLst>
              </a:rPr>
              <a:t>=</a:t>
            </a:r>
            <a:r>
              <a:rPr lang="en-US" altLang="zh-CN" sz="2400" b="1" dirty="0" err="1">
                <a:solidFill>
                  <a:srgbClr val="002060"/>
                </a:solidFill>
                <a:effectLst>
                  <a:outerShdw blurRad="38100" dist="38100" dir="2700000" algn="tl">
                    <a:srgbClr val="000000">
                      <a:alpha val="43137"/>
                    </a:srgbClr>
                  </a:outerShdw>
                </a:effectLst>
              </a:rPr>
              <a:t>avg_score+10</a:t>
            </a:r>
            <a:r>
              <a:rPr lang="en-US" altLang="zh-CN" sz="2400" b="1" dirty="0">
                <a:solidFill>
                  <a:srgbClr val="002060"/>
                </a:solidFill>
                <a:effectLst>
                  <a:outerShdw blurRad="38100" dist="38100" dir="2700000" algn="tl">
                    <a:srgbClr val="000000">
                      <a:alpha val="43137"/>
                    </a:srgbClr>
                  </a:outerShdw>
                </a:effectLst>
              </a:rPr>
              <a:t> WHERE </a:t>
            </a:r>
            <a:r>
              <a:rPr lang="en-US" altLang="zh-CN" sz="2400" b="1" dirty="0" err="1">
                <a:solidFill>
                  <a:srgbClr val="002060"/>
                </a:solidFill>
                <a:effectLst>
                  <a:outerShdw blurRad="38100" dist="38100" dir="2700000" algn="tl">
                    <a:srgbClr val="000000">
                      <a:alpha val="43137"/>
                    </a:srgbClr>
                  </a:outerShdw>
                </a:effectLst>
              </a:rPr>
              <a:t>sno</a:t>
            </a:r>
            <a:r>
              <a:rPr lang="en-US" altLang="zh-CN" sz="2400" b="1" dirty="0">
                <a:solidFill>
                  <a:srgbClr val="002060"/>
                </a:solidFill>
                <a:effectLst>
                  <a:outerShdw blurRad="38100" dist="38100" dir="2700000" algn="tl">
                    <a:srgbClr val="000000">
                      <a:alpha val="43137"/>
                    </a:srgbClr>
                  </a:outerShdw>
                </a:effectLst>
              </a:rPr>
              <a:t>='001101';</a:t>
            </a:r>
          </a:p>
          <a:p>
            <a:pPr>
              <a:lnSpc>
                <a:spcPct val="150000"/>
              </a:lnSpc>
            </a:pPr>
            <a:r>
              <a:rPr lang="zh-CN" altLang="en-US" sz="2400" b="1" dirty="0">
                <a:solidFill>
                  <a:srgbClr val="C00000"/>
                </a:solidFill>
                <a:effectLst>
                  <a:outerShdw blurRad="38100" dist="38100" dir="2700000" algn="tl">
                    <a:srgbClr val="000000">
                      <a:alpha val="43137"/>
                    </a:srgbClr>
                  </a:outerShdw>
                </a:effectLst>
              </a:rPr>
              <a:t>这条语句能否执行？</a:t>
            </a:r>
            <a:endParaRPr lang="en-US" altLang="zh-CN" sz="2400" b="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70408577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视图</a:t>
            </a: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定义</a:t>
            </a:r>
            <a:endPar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endParaRPr>
          </a:p>
        </p:txBody>
      </p:sp>
      <p:sp>
        <p:nvSpPr>
          <p:cNvPr id="4" name="文本框 1"/>
          <p:cNvSpPr txBox="1"/>
          <p:nvPr/>
        </p:nvSpPr>
        <p:spPr>
          <a:xfrm>
            <a:off x="834220" y="1268850"/>
            <a:ext cx="10649944" cy="954107"/>
          </a:xfrm>
          <a:prstGeom prst="rect">
            <a:avLst/>
          </a:prstGeom>
          <a:noFill/>
          <a:ln w="9525">
            <a:noFill/>
          </a:ln>
        </p:spPr>
        <p:txBody>
          <a:bodyPr wrap="square">
            <a:spAutoFit/>
          </a:bodyPr>
          <a:lstStyle/>
          <a:p>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7.14】</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建立计算机系选修了</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102</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号课程的学生的视图</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view_cs_102</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，视图中包括</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sno</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sname</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grade</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a:t>
            </a:r>
          </a:p>
        </p:txBody>
      </p:sp>
      <p:sp>
        <p:nvSpPr>
          <p:cNvPr id="7" name="文本框 1"/>
          <p:cNvSpPr txBox="1"/>
          <p:nvPr/>
        </p:nvSpPr>
        <p:spPr>
          <a:xfrm>
            <a:off x="955543" y="2420930"/>
            <a:ext cx="10184071" cy="2677656"/>
          </a:xfrm>
          <a:prstGeom prst="rect">
            <a:avLst/>
          </a:prstGeom>
          <a:noFill/>
          <a:ln w="9525">
            <a:noFill/>
          </a:ln>
        </p:spPr>
        <p:txBody>
          <a:bodyPr wrap="square">
            <a:spAutoFit/>
          </a:bodyPr>
          <a:lstStyle/>
          <a:p>
            <a:r>
              <a:rPr lang="en-US" altLang="zh-CN" sz="2800" b="1" dirty="0">
                <a:solidFill>
                  <a:srgbClr val="002060"/>
                </a:solidFill>
              </a:rPr>
              <a:t>CREATE VIEW </a:t>
            </a:r>
            <a:r>
              <a:rPr lang="en-US" altLang="zh-CN" sz="2800" b="1" dirty="0" err="1">
                <a:solidFill>
                  <a:srgbClr val="002060"/>
                </a:solidFill>
              </a:rPr>
              <a:t>view_cs_102</a:t>
            </a:r>
            <a:endParaRPr lang="en-US" altLang="zh-CN" sz="2800" b="1" dirty="0">
              <a:solidFill>
                <a:srgbClr val="002060"/>
              </a:solidFill>
            </a:endParaRPr>
          </a:p>
          <a:p>
            <a:r>
              <a:rPr lang="en-US" altLang="zh-CN" sz="2800" b="1" dirty="0">
                <a:solidFill>
                  <a:srgbClr val="002060"/>
                </a:solidFill>
              </a:rPr>
              <a:t>AS</a:t>
            </a:r>
          </a:p>
          <a:p>
            <a:r>
              <a:rPr lang="en-US" altLang="zh-CN" sz="2800" b="1" dirty="0">
                <a:solidFill>
                  <a:srgbClr val="002060"/>
                </a:solidFill>
              </a:rPr>
              <a:t>SELECT </a:t>
            </a:r>
            <a:r>
              <a:rPr lang="en-US" altLang="zh-CN" sz="2800" b="1" dirty="0" err="1">
                <a:solidFill>
                  <a:srgbClr val="002060"/>
                </a:solidFill>
              </a:rPr>
              <a:t>student.sno,sname,grade</a:t>
            </a:r>
            <a:endParaRPr lang="en-US" altLang="zh-CN" sz="2800" b="1" dirty="0">
              <a:solidFill>
                <a:srgbClr val="002060"/>
              </a:solidFill>
            </a:endParaRPr>
          </a:p>
          <a:p>
            <a:r>
              <a:rPr lang="en-US" altLang="zh-CN" sz="2800" b="1" dirty="0">
                <a:solidFill>
                  <a:srgbClr val="002060"/>
                </a:solidFill>
              </a:rPr>
              <a:t>FROM </a:t>
            </a:r>
            <a:r>
              <a:rPr lang="en-US" altLang="zh-CN" sz="2800" b="1" dirty="0" err="1">
                <a:solidFill>
                  <a:srgbClr val="002060"/>
                </a:solidFill>
              </a:rPr>
              <a:t>student,score</a:t>
            </a:r>
            <a:endParaRPr lang="en-US" altLang="zh-CN" sz="2800" b="1" dirty="0">
              <a:solidFill>
                <a:srgbClr val="002060"/>
              </a:solidFill>
            </a:endParaRPr>
          </a:p>
          <a:p>
            <a:r>
              <a:rPr lang="en-US" altLang="zh-CN" sz="2800" b="1" dirty="0">
                <a:solidFill>
                  <a:srgbClr val="002060"/>
                </a:solidFill>
              </a:rPr>
              <a:t>WHERE </a:t>
            </a:r>
            <a:r>
              <a:rPr lang="en-US" altLang="zh-CN" sz="2800" b="1" dirty="0" err="1">
                <a:solidFill>
                  <a:srgbClr val="002060"/>
                </a:solidFill>
              </a:rPr>
              <a:t>student.sno</a:t>
            </a:r>
            <a:r>
              <a:rPr lang="en-US" altLang="zh-CN" sz="2800" b="1" dirty="0">
                <a:solidFill>
                  <a:srgbClr val="002060"/>
                </a:solidFill>
              </a:rPr>
              <a:t>=</a:t>
            </a:r>
            <a:r>
              <a:rPr lang="en-US" altLang="zh-CN" sz="2800" b="1" dirty="0" err="1">
                <a:solidFill>
                  <a:srgbClr val="002060"/>
                </a:solidFill>
              </a:rPr>
              <a:t>score.sno</a:t>
            </a:r>
            <a:r>
              <a:rPr lang="en-US" altLang="zh-CN" sz="2800" b="1" dirty="0">
                <a:solidFill>
                  <a:srgbClr val="002060"/>
                </a:solidFill>
              </a:rPr>
              <a:t> AND </a:t>
            </a:r>
            <a:r>
              <a:rPr lang="en-US" altLang="zh-CN" sz="2800" b="1" dirty="0" err="1">
                <a:solidFill>
                  <a:srgbClr val="002060"/>
                </a:solidFill>
              </a:rPr>
              <a:t>dept</a:t>
            </a:r>
            <a:r>
              <a:rPr lang="en-US" altLang="zh-CN" sz="2800" b="1" dirty="0">
                <a:solidFill>
                  <a:srgbClr val="002060"/>
                </a:solidFill>
              </a:rPr>
              <a:t>='</a:t>
            </a:r>
            <a:r>
              <a:rPr lang="zh-CN" altLang="en-US" sz="2800" b="1" dirty="0">
                <a:solidFill>
                  <a:srgbClr val="002060"/>
                </a:solidFill>
              </a:rPr>
              <a:t>计算机</a:t>
            </a:r>
            <a:r>
              <a:rPr lang="en-US" altLang="zh-CN" sz="2800" b="1" dirty="0">
                <a:solidFill>
                  <a:srgbClr val="002060"/>
                </a:solidFill>
              </a:rPr>
              <a:t>' AND </a:t>
            </a:r>
            <a:r>
              <a:rPr lang="en-US" altLang="zh-CN" sz="2800" b="1" dirty="0" err="1">
                <a:solidFill>
                  <a:srgbClr val="002060"/>
                </a:solidFill>
              </a:rPr>
              <a:t>cno</a:t>
            </a:r>
            <a:r>
              <a:rPr lang="en-US" altLang="zh-CN" sz="2800" b="1" dirty="0">
                <a:solidFill>
                  <a:srgbClr val="002060"/>
                </a:solidFill>
              </a:rPr>
              <a:t> ='102';</a:t>
            </a:r>
          </a:p>
        </p:txBody>
      </p:sp>
    </p:spTree>
    <p:extLst>
      <p:ext uri="{BB962C8B-B14F-4D97-AF65-F5344CB8AC3E}">
        <p14:creationId xmlns:p14="http://schemas.microsoft.com/office/powerpoint/2010/main" val="370419876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视图</a:t>
            </a: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定义</a:t>
            </a:r>
            <a:endPar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endParaRPr>
          </a:p>
        </p:txBody>
      </p:sp>
      <p:sp>
        <p:nvSpPr>
          <p:cNvPr id="4" name="文本框 1"/>
          <p:cNvSpPr txBox="1"/>
          <p:nvPr/>
        </p:nvSpPr>
        <p:spPr>
          <a:xfrm>
            <a:off x="834220" y="1268850"/>
            <a:ext cx="10649944" cy="954107"/>
          </a:xfrm>
          <a:prstGeom prst="rect">
            <a:avLst/>
          </a:prstGeom>
          <a:noFill/>
          <a:ln w="9525">
            <a:noFill/>
          </a:ln>
        </p:spPr>
        <p:txBody>
          <a:bodyPr wrap="square">
            <a:spAutoFit/>
          </a:bodyPr>
          <a:lstStyle/>
          <a:p>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7.15】</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建立计算机系选修了</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102</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号课程且成绩在</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90</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分以上（含</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90</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）的学生的视图</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view_cs_102_90</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，视图中包含学号、姓名、成绩。</a:t>
            </a:r>
          </a:p>
        </p:txBody>
      </p:sp>
      <p:sp>
        <p:nvSpPr>
          <p:cNvPr id="7" name="文本框 1"/>
          <p:cNvSpPr txBox="1"/>
          <p:nvPr/>
        </p:nvSpPr>
        <p:spPr>
          <a:xfrm>
            <a:off x="1067156" y="2420930"/>
            <a:ext cx="10184071" cy="2246769"/>
          </a:xfrm>
          <a:prstGeom prst="rect">
            <a:avLst/>
          </a:prstGeom>
          <a:noFill/>
          <a:ln w="9525">
            <a:noFill/>
          </a:ln>
        </p:spPr>
        <p:txBody>
          <a:bodyPr wrap="square">
            <a:spAutoFit/>
          </a:bodyPr>
          <a:lstStyle/>
          <a:p>
            <a:r>
              <a:rPr lang="en-US" altLang="zh-CN" sz="2800" b="1" dirty="0">
                <a:solidFill>
                  <a:srgbClr val="002060"/>
                </a:solidFill>
              </a:rPr>
              <a:t>CREATE VIEW </a:t>
            </a:r>
            <a:r>
              <a:rPr lang="en-US" altLang="zh-CN" sz="2800" b="1" dirty="0" err="1">
                <a:solidFill>
                  <a:srgbClr val="002060"/>
                </a:solidFill>
              </a:rPr>
              <a:t>view_cs_102_90</a:t>
            </a:r>
            <a:endParaRPr lang="en-US" altLang="zh-CN" sz="2800" b="1" dirty="0">
              <a:solidFill>
                <a:srgbClr val="002060"/>
              </a:solidFill>
            </a:endParaRPr>
          </a:p>
          <a:p>
            <a:r>
              <a:rPr lang="en-US" altLang="zh-CN" sz="2800" b="1" dirty="0">
                <a:solidFill>
                  <a:srgbClr val="002060"/>
                </a:solidFill>
              </a:rPr>
              <a:t>AS</a:t>
            </a:r>
          </a:p>
          <a:p>
            <a:r>
              <a:rPr lang="en-US" altLang="zh-CN" sz="2800" b="1" dirty="0">
                <a:solidFill>
                  <a:srgbClr val="002060"/>
                </a:solidFill>
              </a:rPr>
              <a:t>SELECT </a:t>
            </a:r>
            <a:r>
              <a:rPr lang="en-US" altLang="zh-CN" sz="2800" b="1" dirty="0" err="1">
                <a:solidFill>
                  <a:srgbClr val="002060"/>
                </a:solidFill>
              </a:rPr>
              <a:t>sno,sname,grade</a:t>
            </a:r>
            <a:endParaRPr lang="en-US" altLang="zh-CN" sz="2800" b="1" dirty="0">
              <a:solidFill>
                <a:srgbClr val="002060"/>
              </a:solidFill>
            </a:endParaRPr>
          </a:p>
          <a:p>
            <a:r>
              <a:rPr lang="en-US" altLang="zh-CN" sz="2800" b="1" dirty="0">
                <a:solidFill>
                  <a:srgbClr val="002060"/>
                </a:solidFill>
              </a:rPr>
              <a:t>FROM </a:t>
            </a:r>
            <a:r>
              <a:rPr lang="en-US" altLang="zh-CN" sz="2800" b="1" dirty="0" err="1">
                <a:solidFill>
                  <a:srgbClr val="002060"/>
                </a:solidFill>
              </a:rPr>
              <a:t>view_cs_102</a:t>
            </a:r>
            <a:endParaRPr lang="en-US" altLang="zh-CN" sz="2800" b="1" dirty="0">
              <a:solidFill>
                <a:srgbClr val="002060"/>
              </a:solidFill>
            </a:endParaRPr>
          </a:p>
          <a:p>
            <a:r>
              <a:rPr lang="en-US" altLang="zh-CN" sz="2800" b="1" dirty="0">
                <a:solidFill>
                  <a:srgbClr val="002060"/>
                </a:solidFill>
              </a:rPr>
              <a:t>WHERE grade&gt;=90;</a:t>
            </a:r>
          </a:p>
        </p:txBody>
      </p:sp>
      <p:sp>
        <p:nvSpPr>
          <p:cNvPr id="5" name="文本框 1"/>
          <p:cNvSpPr txBox="1"/>
          <p:nvPr/>
        </p:nvSpPr>
        <p:spPr>
          <a:xfrm>
            <a:off x="1055463" y="4872841"/>
            <a:ext cx="10184071" cy="954107"/>
          </a:xfrm>
          <a:prstGeom prst="rect">
            <a:avLst/>
          </a:prstGeom>
          <a:noFill/>
          <a:ln w="9525">
            <a:noFill/>
          </a:ln>
        </p:spPr>
        <p:txBody>
          <a:bodyPr wrap="square">
            <a:spAutoFit/>
          </a:bodyPr>
          <a:lstStyle/>
          <a:p>
            <a:r>
              <a:rPr lang="zh-CN" altLang="en-US" sz="2800" b="1" dirty="0">
                <a:solidFill>
                  <a:srgbClr val="C00000"/>
                </a:solidFill>
              </a:rPr>
              <a:t>也可以通过视图完成查询</a:t>
            </a:r>
            <a:r>
              <a:rPr lang="en-US" altLang="zh-CN" sz="2800" b="1" dirty="0">
                <a:solidFill>
                  <a:srgbClr val="C00000"/>
                </a:solidFill>
              </a:rPr>
              <a:t>:</a:t>
            </a:r>
          </a:p>
          <a:p>
            <a:r>
              <a:rPr lang="en-US" altLang="zh-CN" sz="2800" b="1" dirty="0">
                <a:solidFill>
                  <a:srgbClr val="002060"/>
                </a:solidFill>
              </a:rPr>
              <a:t>SELECT * FROM </a:t>
            </a:r>
            <a:r>
              <a:rPr lang="en-US" altLang="zh-CN" sz="2800" b="1" dirty="0" err="1">
                <a:solidFill>
                  <a:srgbClr val="002060"/>
                </a:solidFill>
              </a:rPr>
              <a:t>view_cs_102</a:t>
            </a:r>
            <a:r>
              <a:rPr lang="en-US" altLang="zh-CN" sz="2800" b="1" dirty="0">
                <a:solidFill>
                  <a:srgbClr val="002060"/>
                </a:solidFill>
              </a:rPr>
              <a:t> WHERE grade&gt;80;</a:t>
            </a:r>
          </a:p>
        </p:txBody>
      </p:sp>
    </p:spTree>
    <p:extLst>
      <p:ext uri="{BB962C8B-B14F-4D97-AF65-F5344CB8AC3E}">
        <p14:creationId xmlns:p14="http://schemas.microsoft.com/office/powerpoint/2010/main" val="239592224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视图</a:t>
            </a: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查看</a:t>
            </a:r>
            <a:endPar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endParaRPr>
          </a:p>
        </p:txBody>
      </p:sp>
      <p:sp>
        <p:nvSpPr>
          <p:cNvPr id="4" name="文本框 1"/>
          <p:cNvSpPr txBox="1"/>
          <p:nvPr/>
        </p:nvSpPr>
        <p:spPr>
          <a:xfrm>
            <a:off x="717627" y="1340855"/>
            <a:ext cx="10649944" cy="523220"/>
          </a:xfrm>
          <a:prstGeom prst="rect">
            <a:avLst/>
          </a:prstGeom>
          <a:noFill/>
          <a:ln w="9525">
            <a:noFill/>
          </a:ln>
        </p:spPr>
        <p:txBody>
          <a:bodyPr wrap="square">
            <a:spAutoFit/>
          </a:bodyPr>
          <a:lstStyle/>
          <a:p>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7.16】</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查看视图</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view_cs</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的字段信息</a:t>
            </a:r>
          </a:p>
        </p:txBody>
      </p:sp>
      <p:sp>
        <p:nvSpPr>
          <p:cNvPr id="7" name="文本框 1"/>
          <p:cNvSpPr txBox="1"/>
          <p:nvPr/>
        </p:nvSpPr>
        <p:spPr>
          <a:xfrm>
            <a:off x="1490663" y="2161249"/>
            <a:ext cx="5557908" cy="523220"/>
          </a:xfrm>
          <a:prstGeom prst="rect">
            <a:avLst/>
          </a:prstGeom>
          <a:noFill/>
          <a:ln w="9525">
            <a:noFill/>
          </a:ln>
        </p:spPr>
        <p:txBody>
          <a:bodyPr wrap="square">
            <a:spAutoFit/>
          </a:bodyPr>
          <a:lstStyle/>
          <a:p>
            <a:r>
              <a:rPr lang="en-US" altLang="zh-CN" sz="2800" b="1" dirty="0">
                <a:solidFill>
                  <a:srgbClr val="002060"/>
                </a:solidFill>
              </a:rPr>
              <a:t>DESCRIBE </a:t>
            </a:r>
            <a:r>
              <a:rPr lang="en-US" altLang="zh-CN" sz="2800" b="1" dirty="0" err="1">
                <a:solidFill>
                  <a:srgbClr val="002060"/>
                </a:solidFill>
              </a:rPr>
              <a:t>view_cs</a:t>
            </a:r>
            <a:r>
              <a:rPr lang="en-US" altLang="zh-CN" sz="2800" b="1" dirty="0">
                <a:solidFill>
                  <a:srgbClr val="002060"/>
                </a:solidFill>
              </a:rPr>
              <a:t>;</a:t>
            </a:r>
          </a:p>
        </p:txBody>
      </p:sp>
      <p:sp>
        <p:nvSpPr>
          <p:cNvPr id="8" name="文本框 1"/>
          <p:cNvSpPr txBox="1"/>
          <p:nvPr/>
        </p:nvSpPr>
        <p:spPr>
          <a:xfrm>
            <a:off x="717627" y="2924965"/>
            <a:ext cx="10649944" cy="523220"/>
          </a:xfrm>
          <a:prstGeom prst="rect">
            <a:avLst/>
          </a:prstGeom>
          <a:noFill/>
          <a:ln w="9525">
            <a:noFill/>
          </a:ln>
        </p:spPr>
        <p:txBody>
          <a:bodyPr wrap="square">
            <a:spAutoFit/>
          </a:bodyPr>
          <a:lstStyle/>
          <a:p>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7.17】</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查看视图</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view_ce</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的创建语句。</a:t>
            </a:r>
          </a:p>
        </p:txBody>
      </p:sp>
      <p:sp>
        <p:nvSpPr>
          <p:cNvPr id="9" name="文本框 1"/>
          <p:cNvSpPr txBox="1"/>
          <p:nvPr/>
        </p:nvSpPr>
        <p:spPr>
          <a:xfrm>
            <a:off x="1461411" y="3732897"/>
            <a:ext cx="8117738" cy="523220"/>
          </a:xfrm>
          <a:prstGeom prst="rect">
            <a:avLst/>
          </a:prstGeom>
          <a:noFill/>
          <a:ln w="9525">
            <a:noFill/>
          </a:ln>
        </p:spPr>
        <p:txBody>
          <a:bodyPr wrap="square">
            <a:spAutoFit/>
          </a:bodyPr>
          <a:lstStyle/>
          <a:p>
            <a:r>
              <a:rPr lang="en-US" altLang="zh-CN" sz="2800" b="1" dirty="0">
                <a:solidFill>
                  <a:srgbClr val="002060"/>
                </a:solidFill>
              </a:rPr>
              <a:t>SHOW CREATE VIEW </a:t>
            </a:r>
            <a:r>
              <a:rPr lang="en-US" altLang="zh-CN" sz="2800" b="1" dirty="0" err="1">
                <a:solidFill>
                  <a:srgbClr val="002060"/>
                </a:solidFill>
              </a:rPr>
              <a:t>view_ce</a:t>
            </a:r>
            <a:r>
              <a:rPr lang="en-US" altLang="zh-CN" sz="2800" b="1" dirty="0">
                <a:solidFill>
                  <a:srgbClr val="002060"/>
                </a:solidFill>
              </a:rPr>
              <a:t>;</a:t>
            </a:r>
          </a:p>
        </p:txBody>
      </p:sp>
      <p:sp>
        <p:nvSpPr>
          <p:cNvPr id="10" name="文本框 1"/>
          <p:cNvSpPr txBox="1"/>
          <p:nvPr/>
        </p:nvSpPr>
        <p:spPr>
          <a:xfrm>
            <a:off x="774203" y="4553538"/>
            <a:ext cx="10649944" cy="523220"/>
          </a:xfrm>
          <a:prstGeom prst="rect">
            <a:avLst/>
          </a:prstGeom>
          <a:noFill/>
          <a:ln w="9525">
            <a:noFill/>
          </a:ln>
        </p:spPr>
        <p:txBody>
          <a:bodyPr wrap="square">
            <a:spAutoFit/>
          </a:bodyPr>
          <a:lstStyle/>
          <a:p>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7.18】</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查看</a:t>
            </a:r>
            <a:r>
              <a:rPr lang="en-US" altLang="zh-CN" sz="2800" b="1" dirty="0" err="1">
                <a:effectLst>
                  <a:outerShdw blurRad="38100" dist="38100" dir="2700000" algn="tl">
                    <a:srgbClr val="000000">
                      <a:alpha val="43137"/>
                    </a:srgbClr>
                  </a:outerShdw>
                </a:effectLst>
                <a:latin typeface="宋体" panose="02010600030101010101" pitchFamily="2" charset="-122"/>
              </a:rPr>
              <a:t>information_schema</a:t>
            </a:r>
            <a:r>
              <a:rPr lang="zh-CN" altLang="en-US" sz="2800" b="1" dirty="0">
                <a:effectLst>
                  <a:outerShdw blurRad="38100" dist="38100" dir="2700000" algn="tl">
                    <a:srgbClr val="000000">
                      <a:alpha val="43137"/>
                    </a:srgbClr>
                  </a:outerShdw>
                </a:effectLst>
                <a:latin typeface="宋体" panose="02010600030101010101" pitchFamily="2" charset="-122"/>
              </a:rPr>
              <a:t>数据库下的</a:t>
            </a:r>
            <a:r>
              <a:rPr lang="en-US" altLang="zh-CN" sz="2800" b="1" dirty="0">
                <a:effectLst>
                  <a:outerShdw blurRad="38100" dist="38100" dir="2700000" algn="tl">
                    <a:srgbClr val="000000">
                      <a:alpha val="43137"/>
                    </a:srgbClr>
                  </a:outerShdw>
                </a:effectLst>
                <a:latin typeface="宋体" panose="02010600030101010101" pitchFamily="2" charset="-122"/>
              </a:rPr>
              <a:t>views</a:t>
            </a:r>
            <a:r>
              <a:rPr lang="zh-CN" altLang="en-US" sz="2800" b="1" dirty="0">
                <a:effectLst>
                  <a:outerShdw blurRad="38100" dist="38100" dir="2700000" algn="tl">
                    <a:srgbClr val="000000">
                      <a:alpha val="43137"/>
                    </a:srgbClr>
                  </a:outerShdw>
                </a:effectLst>
                <a:latin typeface="宋体" panose="02010600030101010101" pitchFamily="2" charset="-122"/>
              </a:rPr>
              <a:t>表</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a:t>
            </a:r>
          </a:p>
        </p:txBody>
      </p:sp>
      <p:sp>
        <p:nvSpPr>
          <p:cNvPr id="11" name="文本框 1"/>
          <p:cNvSpPr txBox="1"/>
          <p:nvPr/>
        </p:nvSpPr>
        <p:spPr>
          <a:xfrm>
            <a:off x="1346845" y="5361470"/>
            <a:ext cx="9036882" cy="523220"/>
          </a:xfrm>
          <a:prstGeom prst="rect">
            <a:avLst/>
          </a:prstGeom>
          <a:noFill/>
          <a:ln w="9525">
            <a:noFill/>
          </a:ln>
        </p:spPr>
        <p:txBody>
          <a:bodyPr wrap="square">
            <a:spAutoFit/>
          </a:bodyPr>
          <a:lstStyle/>
          <a:p>
            <a:r>
              <a:rPr lang="en-US" altLang="zh-CN" sz="2800" b="1" dirty="0">
                <a:solidFill>
                  <a:srgbClr val="002060"/>
                </a:solidFill>
              </a:rPr>
              <a:t>SELECT * FROM </a:t>
            </a:r>
            <a:r>
              <a:rPr lang="en-US" altLang="zh-CN" sz="2800" b="1" dirty="0" err="1">
                <a:solidFill>
                  <a:srgbClr val="002060"/>
                </a:solidFill>
              </a:rPr>
              <a:t>information_schema.views</a:t>
            </a:r>
            <a:r>
              <a:rPr lang="en-US" altLang="zh-CN" sz="2800" b="1" dirty="0">
                <a:solidFill>
                  <a:srgbClr val="002060"/>
                </a:solidFill>
              </a:rPr>
              <a:t> ;</a:t>
            </a:r>
          </a:p>
        </p:txBody>
      </p:sp>
    </p:spTree>
    <p:extLst>
      <p:ext uri="{BB962C8B-B14F-4D97-AF65-F5344CB8AC3E}">
        <p14:creationId xmlns:p14="http://schemas.microsoft.com/office/powerpoint/2010/main" val="194791918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视图</a:t>
            </a: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修改</a:t>
            </a:r>
            <a:endPar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endParaRPr>
          </a:p>
        </p:txBody>
      </p:sp>
      <p:sp>
        <p:nvSpPr>
          <p:cNvPr id="7" name="文本框 1"/>
          <p:cNvSpPr txBox="1"/>
          <p:nvPr/>
        </p:nvSpPr>
        <p:spPr>
          <a:xfrm>
            <a:off x="1188479" y="1619717"/>
            <a:ext cx="10184071" cy="1384995"/>
          </a:xfrm>
          <a:prstGeom prst="rect">
            <a:avLst/>
          </a:prstGeom>
          <a:noFill/>
          <a:ln w="9525">
            <a:noFill/>
          </a:ln>
        </p:spPr>
        <p:txBody>
          <a:bodyPr wrap="square">
            <a:spAutoFit/>
          </a:bodyPr>
          <a:lstStyle/>
          <a:p>
            <a:r>
              <a:rPr lang="en-US" altLang="zh-CN" sz="2800" b="1" dirty="0">
                <a:solidFill>
                  <a:srgbClr val="C00000"/>
                </a:solidFill>
              </a:rPr>
              <a:t>CREATE OR REPLACE VIEW ALTER VIEW &lt;</a:t>
            </a:r>
            <a:r>
              <a:rPr lang="zh-CN" altLang="en-US" sz="2800" b="1" dirty="0">
                <a:solidFill>
                  <a:srgbClr val="C00000"/>
                </a:solidFill>
              </a:rPr>
              <a:t>视图名</a:t>
            </a:r>
            <a:r>
              <a:rPr lang="en-US" altLang="zh-CN" sz="2800" b="1" dirty="0">
                <a:solidFill>
                  <a:srgbClr val="C00000"/>
                </a:solidFill>
              </a:rPr>
              <a:t>&gt;</a:t>
            </a:r>
          </a:p>
          <a:p>
            <a:r>
              <a:rPr lang="en-US" altLang="zh-CN" sz="2800" b="1" dirty="0">
                <a:solidFill>
                  <a:srgbClr val="C00000"/>
                </a:solidFill>
              </a:rPr>
              <a:t>AS</a:t>
            </a:r>
          </a:p>
          <a:p>
            <a:r>
              <a:rPr lang="en-US" altLang="zh-CN" sz="2800" b="1" dirty="0">
                <a:solidFill>
                  <a:srgbClr val="C00000"/>
                </a:solidFill>
              </a:rPr>
              <a:t>&lt;</a:t>
            </a:r>
            <a:r>
              <a:rPr lang="zh-CN" altLang="en-US" sz="2800" b="1" dirty="0">
                <a:solidFill>
                  <a:srgbClr val="C00000"/>
                </a:solidFill>
              </a:rPr>
              <a:t>子查询</a:t>
            </a:r>
            <a:r>
              <a:rPr lang="en-US" altLang="zh-CN" sz="2800" b="1" dirty="0">
                <a:solidFill>
                  <a:srgbClr val="C00000"/>
                </a:solidFill>
              </a:rPr>
              <a:t>&gt;</a:t>
            </a:r>
          </a:p>
        </p:txBody>
      </p:sp>
      <p:sp>
        <p:nvSpPr>
          <p:cNvPr id="5" name="文本框 1"/>
          <p:cNvSpPr txBox="1"/>
          <p:nvPr/>
        </p:nvSpPr>
        <p:spPr>
          <a:xfrm>
            <a:off x="722606" y="1096497"/>
            <a:ext cx="10848949" cy="523220"/>
          </a:xfrm>
          <a:prstGeom prst="rect">
            <a:avLst/>
          </a:prstGeom>
          <a:noFill/>
          <a:ln w="9525">
            <a:noFill/>
          </a:ln>
        </p:spPr>
        <p:txBody>
          <a:bodyPr wrap="square">
            <a:spAutoFit/>
          </a:bodyPr>
          <a:lstStyle/>
          <a:p>
            <a:pPr lvl="0" hangingPunct="0"/>
            <a:r>
              <a:rPr lang="zh-CN" altLang="en-US" sz="2800" b="1" dirty="0"/>
              <a:t>（</a:t>
            </a:r>
            <a:r>
              <a:rPr lang="en-US" altLang="zh-CN" sz="2800" b="1" dirty="0">
                <a:solidFill>
                  <a:srgbClr val="002060"/>
                </a:solidFill>
              </a:rPr>
              <a:t>1</a:t>
            </a:r>
            <a:r>
              <a:rPr lang="zh-CN" altLang="en-US" sz="2800" b="1" dirty="0">
                <a:solidFill>
                  <a:srgbClr val="002060"/>
                </a:solidFill>
              </a:rPr>
              <a:t>）</a:t>
            </a:r>
            <a:r>
              <a:rPr lang="zh-CN" altLang="zh-CN" sz="2800" b="1" dirty="0">
                <a:solidFill>
                  <a:srgbClr val="002060"/>
                </a:solidFill>
              </a:rPr>
              <a:t>使用</a:t>
            </a:r>
            <a:r>
              <a:rPr lang="en-US" altLang="zh-CN" sz="2800" b="1" dirty="0">
                <a:solidFill>
                  <a:srgbClr val="002060"/>
                </a:solidFill>
              </a:rPr>
              <a:t>CREATE OR REPLACE</a:t>
            </a:r>
            <a:r>
              <a:rPr lang="zh-CN" altLang="zh-CN" sz="2800" b="1" dirty="0">
                <a:solidFill>
                  <a:srgbClr val="002060"/>
                </a:solidFill>
              </a:rPr>
              <a:t>语句修改视图</a:t>
            </a:r>
            <a:endParaRPr lang="zh-CN" altLang="zh-CN" sz="2800" dirty="0">
              <a:solidFill>
                <a:srgbClr val="002060"/>
              </a:solidFill>
            </a:endParaRPr>
          </a:p>
        </p:txBody>
      </p:sp>
      <p:sp>
        <p:nvSpPr>
          <p:cNvPr id="10" name="文本框 1"/>
          <p:cNvSpPr txBox="1"/>
          <p:nvPr/>
        </p:nvSpPr>
        <p:spPr>
          <a:xfrm>
            <a:off x="722606" y="3004712"/>
            <a:ext cx="10649944" cy="523220"/>
          </a:xfrm>
          <a:prstGeom prst="rect">
            <a:avLst/>
          </a:prstGeom>
          <a:noFill/>
          <a:ln w="9525">
            <a:noFill/>
          </a:ln>
        </p:spPr>
        <p:txBody>
          <a:bodyPr wrap="square">
            <a:spAutoFit/>
          </a:bodyPr>
          <a:lstStyle/>
          <a:p>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7.19】</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修改视图</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view_cs</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，删除备注字段</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remarks</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a:t>
            </a:r>
          </a:p>
        </p:txBody>
      </p:sp>
      <p:sp>
        <p:nvSpPr>
          <p:cNvPr id="11" name="文本框 1"/>
          <p:cNvSpPr txBox="1"/>
          <p:nvPr/>
        </p:nvSpPr>
        <p:spPr>
          <a:xfrm>
            <a:off x="1516058" y="3549128"/>
            <a:ext cx="7187321" cy="2677656"/>
          </a:xfrm>
          <a:prstGeom prst="rect">
            <a:avLst/>
          </a:prstGeom>
          <a:noFill/>
          <a:ln w="9525">
            <a:noFill/>
          </a:ln>
        </p:spPr>
        <p:txBody>
          <a:bodyPr wrap="square">
            <a:spAutoFit/>
          </a:bodyPr>
          <a:lstStyle/>
          <a:p>
            <a:r>
              <a:rPr lang="en-US" altLang="zh-CN" sz="2800" b="1" dirty="0">
                <a:solidFill>
                  <a:srgbClr val="002060"/>
                </a:solidFill>
              </a:rPr>
              <a:t>CREATE OR REPLACE VIEW </a:t>
            </a:r>
            <a:r>
              <a:rPr lang="en-US" altLang="zh-CN" sz="2800" b="1" dirty="0" err="1">
                <a:solidFill>
                  <a:srgbClr val="002060"/>
                </a:solidFill>
              </a:rPr>
              <a:t>view_cs</a:t>
            </a:r>
            <a:endParaRPr lang="en-US" altLang="zh-CN" sz="2800" b="1" dirty="0">
              <a:solidFill>
                <a:srgbClr val="002060"/>
              </a:solidFill>
            </a:endParaRPr>
          </a:p>
          <a:p>
            <a:r>
              <a:rPr lang="en-US" altLang="zh-CN" sz="2800" b="1" dirty="0">
                <a:solidFill>
                  <a:srgbClr val="002060"/>
                </a:solidFill>
              </a:rPr>
              <a:t>AS</a:t>
            </a:r>
          </a:p>
          <a:p>
            <a:r>
              <a:rPr lang="en-US" altLang="zh-CN" sz="2800" b="1" dirty="0">
                <a:solidFill>
                  <a:srgbClr val="002060"/>
                </a:solidFill>
              </a:rPr>
              <a:t>SELECT </a:t>
            </a:r>
            <a:r>
              <a:rPr lang="en-US" altLang="zh-CN" sz="2800" b="1" dirty="0" err="1">
                <a:solidFill>
                  <a:srgbClr val="002060"/>
                </a:solidFill>
              </a:rPr>
              <a:t>sno,sname,dept,birthday,totalcredit</a:t>
            </a:r>
            <a:endParaRPr lang="en-US" altLang="zh-CN" sz="2800" b="1" dirty="0">
              <a:solidFill>
                <a:srgbClr val="002060"/>
              </a:solidFill>
            </a:endParaRPr>
          </a:p>
          <a:p>
            <a:r>
              <a:rPr lang="en-US" altLang="zh-CN" sz="2800" b="1" dirty="0">
                <a:solidFill>
                  <a:srgbClr val="002060"/>
                </a:solidFill>
              </a:rPr>
              <a:t>FROM student</a:t>
            </a:r>
          </a:p>
          <a:p>
            <a:r>
              <a:rPr lang="en-US" altLang="zh-CN" sz="2800" b="1" dirty="0">
                <a:solidFill>
                  <a:srgbClr val="002060"/>
                </a:solidFill>
              </a:rPr>
              <a:t>WHERE </a:t>
            </a:r>
            <a:r>
              <a:rPr lang="en-US" altLang="zh-CN" sz="2800" b="1" dirty="0" err="1">
                <a:solidFill>
                  <a:srgbClr val="002060"/>
                </a:solidFill>
              </a:rPr>
              <a:t>dept</a:t>
            </a:r>
            <a:r>
              <a:rPr lang="en-US" altLang="zh-CN" sz="2800" b="1" dirty="0">
                <a:solidFill>
                  <a:srgbClr val="002060"/>
                </a:solidFill>
              </a:rPr>
              <a:t>='</a:t>
            </a:r>
            <a:r>
              <a:rPr lang="zh-CN" altLang="en-US" sz="2800" b="1" dirty="0">
                <a:solidFill>
                  <a:srgbClr val="002060"/>
                </a:solidFill>
              </a:rPr>
              <a:t>计算机</a:t>
            </a:r>
            <a:r>
              <a:rPr lang="en-US" altLang="zh-CN" sz="2800" b="1" dirty="0">
                <a:solidFill>
                  <a:srgbClr val="002060"/>
                </a:solidFill>
              </a:rPr>
              <a:t>';</a:t>
            </a:r>
          </a:p>
        </p:txBody>
      </p:sp>
    </p:spTree>
    <p:extLst>
      <p:ext uri="{BB962C8B-B14F-4D97-AF65-F5344CB8AC3E}">
        <p14:creationId xmlns:p14="http://schemas.microsoft.com/office/powerpoint/2010/main" val="410716208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视图</a:t>
            </a: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修改</a:t>
            </a:r>
            <a:endPar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endParaRPr>
          </a:p>
        </p:txBody>
      </p:sp>
      <p:sp>
        <p:nvSpPr>
          <p:cNvPr id="8" name="文本框 1"/>
          <p:cNvSpPr txBox="1"/>
          <p:nvPr/>
        </p:nvSpPr>
        <p:spPr>
          <a:xfrm>
            <a:off x="842810" y="1079245"/>
            <a:ext cx="10848949" cy="523220"/>
          </a:xfrm>
          <a:prstGeom prst="rect">
            <a:avLst/>
          </a:prstGeom>
          <a:noFill/>
          <a:ln w="9525">
            <a:noFill/>
          </a:ln>
        </p:spPr>
        <p:txBody>
          <a:bodyPr wrap="square">
            <a:spAutoFit/>
          </a:bodyPr>
          <a:lstStyle/>
          <a:p>
            <a:pPr lvl="0" hangingPunct="0"/>
            <a:r>
              <a:rPr lang="zh-CN" altLang="en-US" sz="2800" b="1" dirty="0">
                <a:solidFill>
                  <a:srgbClr val="002060"/>
                </a:solidFill>
              </a:rPr>
              <a:t>（</a:t>
            </a:r>
            <a:r>
              <a:rPr lang="en-US" altLang="zh-CN" sz="2800" b="1" dirty="0">
                <a:solidFill>
                  <a:srgbClr val="002060"/>
                </a:solidFill>
              </a:rPr>
              <a:t>2</a:t>
            </a:r>
            <a:r>
              <a:rPr lang="zh-CN" altLang="en-US" sz="2800" b="1" dirty="0">
                <a:solidFill>
                  <a:srgbClr val="002060"/>
                </a:solidFill>
              </a:rPr>
              <a:t>）使用</a:t>
            </a:r>
            <a:r>
              <a:rPr lang="en-US" altLang="zh-CN" sz="2800" b="1" dirty="0">
                <a:solidFill>
                  <a:srgbClr val="002060"/>
                </a:solidFill>
              </a:rPr>
              <a:t>ALTER</a:t>
            </a:r>
            <a:r>
              <a:rPr lang="zh-CN" altLang="en-US" sz="2800" b="1" dirty="0">
                <a:solidFill>
                  <a:srgbClr val="002060"/>
                </a:solidFill>
              </a:rPr>
              <a:t>语句修改视图</a:t>
            </a:r>
            <a:endParaRPr lang="zh-CN" altLang="zh-CN" sz="2800" dirty="0">
              <a:solidFill>
                <a:srgbClr val="002060"/>
              </a:solidFill>
            </a:endParaRPr>
          </a:p>
        </p:txBody>
      </p:sp>
      <p:sp>
        <p:nvSpPr>
          <p:cNvPr id="9" name="文本框 1"/>
          <p:cNvSpPr txBox="1"/>
          <p:nvPr/>
        </p:nvSpPr>
        <p:spPr>
          <a:xfrm>
            <a:off x="1067355" y="1772885"/>
            <a:ext cx="10184071" cy="1384995"/>
          </a:xfrm>
          <a:prstGeom prst="rect">
            <a:avLst/>
          </a:prstGeom>
          <a:noFill/>
          <a:ln w="9525">
            <a:noFill/>
          </a:ln>
        </p:spPr>
        <p:txBody>
          <a:bodyPr wrap="square">
            <a:spAutoFit/>
          </a:bodyPr>
          <a:lstStyle/>
          <a:p>
            <a:r>
              <a:rPr lang="en-US" altLang="zh-CN" sz="2800" b="1" dirty="0">
                <a:solidFill>
                  <a:srgbClr val="C00000"/>
                </a:solidFill>
              </a:rPr>
              <a:t>ALTER VIEW &lt;</a:t>
            </a:r>
            <a:r>
              <a:rPr lang="zh-CN" altLang="en-US" sz="2800" b="1" dirty="0">
                <a:solidFill>
                  <a:srgbClr val="C00000"/>
                </a:solidFill>
              </a:rPr>
              <a:t>视图名</a:t>
            </a:r>
            <a:r>
              <a:rPr lang="en-US" altLang="zh-CN" sz="2800" b="1" dirty="0">
                <a:solidFill>
                  <a:srgbClr val="C00000"/>
                </a:solidFill>
              </a:rPr>
              <a:t>&gt;</a:t>
            </a:r>
          </a:p>
          <a:p>
            <a:r>
              <a:rPr lang="en-US" altLang="zh-CN" sz="2800" b="1" dirty="0">
                <a:solidFill>
                  <a:srgbClr val="C00000"/>
                </a:solidFill>
              </a:rPr>
              <a:t>AS</a:t>
            </a:r>
          </a:p>
          <a:p>
            <a:r>
              <a:rPr lang="en-US" altLang="zh-CN" sz="2800" b="1" dirty="0">
                <a:solidFill>
                  <a:srgbClr val="C00000"/>
                </a:solidFill>
              </a:rPr>
              <a:t>&lt;</a:t>
            </a:r>
            <a:r>
              <a:rPr lang="zh-CN" altLang="en-US" sz="2800" b="1" dirty="0">
                <a:solidFill>
                  <a:srgbClr val="C00000"/>
                </a:solidFill>
              </a:rPr>
              <a:t>子查询</a:t>
            </a:r>
            <a:r>
              <a:rPr lang="en-US" altLang="zh-CN" sz="2800" b="1" dirty="0">
                <a:solidFill>
                  <a:srgbClr val="C00000"/>
                </a:solidFill>
              </a:rPr>
              <a:t>&gt;</a:t>
            </a:r>
          </a:p>
        </p:txBody>
      </p:sp>
      <p:sp>
        <p:nvSpPr>
          <p:cNvPr id="10" name="文本框 1"/>
          <p:cNvSpPr txBox="1"/>
          <p:nvPr/>
        </p:nvSpPr>
        <p:spPr>
          <a:xfrm>
            <a:off x="842810" y="3163894"/>
            <a:ext cx="10649944" cy="523220"/>
          </a:xfrm>
          <a:prstGeom prst="rect">
            <a:avLst/>
          </a:prstGeom>
          <a:noFill/>
          <a:ln w="9525">
            <a:noFill/>
          </a:ln>
        </p:spPr>
        <p:txBody>
          <a:bodyPr wrap="square">
            <a:spAutoFit/>
          </a:bodyPr>
          <a:lstStyle/>
          <a:p>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7.20】</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修改视图</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view_cs</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，增加字段</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sex</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a:t>
            </a:r>
          </a:p>
        </p:txBody>
      </p:sp>
      <p:sp>
        <p:nvSpPr>
          <p:cNvPr id="11" name="文本框 1"/>
          <p:cNvSpPr txBox="1"/>
          <p:nvPr/>
        </p:nvSpPr>
        <p:spPr>
          <a:xfrm>
            <a:off x="1490662" y="3755271"/>
            <a:ext cx="7704727" cy="2677656"/>
          </a:xfrm>
          <a:prstGeom prst="rect">
            <a:avLst/>
          </a:prstGeom>
          <a:noFill/>
          <a:ln w="9525">
            <a:noFill/>
          </a:ln>
        </p:spPr>
        <p:txBody>
          <a:bodyPr wrap="square">
            <a:spAutoFit/>
          </a:bodyPr>
          <a:lstStyle/>
          <a:p>
            <a:r>
              <a:rPr lang="en-US" altLang="zh-CN" sz="2800" b="1" dirty="0">
                <a:solidFill>
                  <a:srgbClr val="002060"/>
                </a:solidFill>
              </a:rPr>
              <a:t>ALTER VIEW </a:t>
            </a:r>
            <a:r>
              <a:rPr lang="en-US" altLang="zh-CN" sz="2800" b="1" dirty="0" err="1">
                <a:solidFill>
                  <a:srgbClr val="002060"/>
                </a:solidFill>
              </a:rPr>
              <a:t>view_cs</a:t>
            </a:r>
            <a:endParaRPr lang="en-US" altLang="zh-CN" sz="2800" b="1" dirty="0">
              <a:solidFill>
                <a:srgbClr val="002060"/>
              </a:solidFill>
            </a:endParaRPr>
          </a:p>
          <a:p>
            <a:r>
              <a:rPr lang="en-US" altLang="zh-CN" sz="2800" b="1" dirty="0">
                <a:solidFill>
                  <a:srgbClr val="002060"/>
                </a:solidFill>
              </a:rPr>
              <a:t>AS</a:t>
            </a:r>
          </a:p>
          <a:p>
            <a:r>
              <a:rPr lang="en-US" altLang="zh-CN" sz="2800" b="1" dirty="0">
                <a:solidFill>
                  <a:srgbClr val="002060"/>
                </a:solidFill>
              </a:rPr>
              <a:t>SELECT </a:t>
            </a:r>
            <a:r>
              <a:rPr lang="en-US" altLang="zh-CN" sz="2800" b="1" dirty="0" err="1">
                <a:solidFill>
                  <a:srgbClr val="002060"/>
                </a:solidFill>
              </a:rPr>
              <a:t>sno,sname,dept,sex,birthday,totalcredit</a:t>
            </a:r>
            <a:endParaRPr lang="en-US" altLang="zh-CN" sz="2800" b="1" dirty="0">
              <a:solidFill>
                <a:srgbClr val="002060"/>
              </a:solidFill>
            </a:endParaRPr>
          </a:p>
          <a:p>
            <a:r>
              <a:rPr lang="en-US" altLang="zh-CN" sz="2800" b="1" dirty="0">
                <a:solidFill>
                  <a:srgbClr val="002060"/>
                </a:solidFill>
              </a:rPr>
              <a:t>FROM student</a:t>
            </a:r>
          </a:p>
          <a:p>
            <a:r>
              <a:rPr lang="en-US" altLang="zh-CN" sz="2800" b="1" dirty="0">
                <a:solidFill>
                  <a:srgbClr val="002060"/>
                </a:solidFill>
              </a:rPr>
              <a:t>WHERE </a:t>
            </a:r>
            <a:r>
              <a:rPr lang="en-US" altLang="zh-CN" sz="2800" b="1" dirty="0" err="1">
                <a:solidFill>
                  <a:srgbClr val="002060"/>
                </a:solidFill>
              </a:rPr>
              <a:t>dept</a:t>
            </a:r>
            <a:r>
              <a:rPr lang="en-US" altLang="zh-CN" sz="2800" b="1" dirty="0">
                <a:solidFill>
                  <a:srgbClr val="002060"/>
                </a:solidFill>
              </a:rPr>
              <a:t>='</a:t>
            </a:r>
            <a:r>
              <a:rPr lang="zh-CN" altLang="en-US" sz="2800" b="1" dirty="0">
                <a:solidFill>
                  <a:srgbClr val="002060"/>
                </a:solidFill>
              </a:rPr>
              <a:t>计算机</a:t>
            </a:r>
            <a:r>
              <a:rPr lang="en-US" altLang="zh-CN" sz="2800" b="1" dirty="0">
                <a:solidFill>
                  <a:srgbClr val="002060"/>
                </a:solidFill>
              </a:rPr>
              <a:t>';</a:t>
            </a:r>
          </a:p>
        </p:txBody>
      </p:sp>
    </p:spTree>
    <p:extLst>
      <p:ext uri="{BB962C8B-B14F-4D97-AF65-F5344CB8AC3E}">
        <p14:creationId xmlns:p14="http://schemas.microsoft.com/office/powerpoint/2010/main" val="239509294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zh-CN" sz="4000" b="1" noProof="0" dirty="0">
                <a:ln>
                  <a:noFill/>
                </a:ln>
                <a:solidFill>
                  <a:schemeClr val="bg1"/>
                </a:solidFill>
                <a:effectLst/>
                <a:uLnTx/>
                <a:uFillTx/>
                <a:latin typeface="+mn-ea"/>
                <a:ea typeface="+mn-ea"/>
                <a:sym typeface="Impact" panose="020B0806030902050204" pitchFamily="34" charset="0"/>
              </a:rPr>
              <a:t>更新</a:t>
            </a:r>
            <a:r>
              <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视图</a:t>
            </a: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数据</a:t>
            </a:r>
            <a:endPar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endParaRPr>
          </a:p>
        </p:txBody>
      </p:sp>
      <p:sp>
        <p:nvSpPr>
          <p:cNvPr id="5" name="Rectangle 2"/>
          <p:cNvSpPr>
            <a:spLocks noChangeArrowheads="1"/>
          </p:cNvSpPr>
          <p:nvPr/>
        </p:nvSpPr>
        <p:spPr bwMode="auto">
          <a:xfrm>
            <a:off x="578678" y="1052835"/>
            <a:ext cx="10863580" cy="1118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ts val="4000"/>
              </a:lnSpc>
              <a:spcBef>
                <a:spcPct val="50000"/>
              </a:spcBef>
              <a:spcAft>
                <a:spcPct val="0"/>
              </a:spcAft>
              <a:buClrTx/>
              <a:buSzTx/>
              <a:buFont typeface="Wingdings" panose="05000000000000000000" pitchFamily="2" charset="2"/>
              <a:buNone/>
              <a:defRPr/>
            </a:pPr>
            <a:r>
              <a:rPr kumimoji="1" lang="en-US" altLang="zh-CN" sz="2800" b="1" i="0" u="none" strike="noStrike" kern="1200" cap="none" spc="0" normalizeH="0" baseline="0" noProof="0" dirty="0">
                <a:solidFill>
                  <a:srgbClr val="000066"/>
                </a:solidFill>
                <a:effectLst>
                  <a:outerShdw blurRad="38100" dist="38100" dir="2700000" algn="tl">
                    <a:srgbClr val="C0C0C0"/>
                  </a:outerShdw>
                </a:effectLst>
                <a:latin typeface="楷体_GB2312" pitchFamily="49" charset="-122"/>
                <a:ea typeface="楷体_GB2312" pitchFamily="49" charset="-122"/>
                <a:cs typeface="+mn-cs"/>
              </a:rPr>
              <a:t>    </a:t>
            </a:r>
            <a:r>
              <a:rPr kumimoji="1" lang="en-US" altLang="zh-CN" sz="2800" b="1" i="0" u="none" strike="noStrike" kern="1200" cap="none" spc="0" normalizeH="0" baseline="0" noProof="0" dirty="0" err="1">
                <a:solidFill>
                  <a:srgbClr val="000066"/>
                </a:solidFill>
                <a:effectLst>
                  <a:outerShdw blurRad="38100" dist="38100" dir="2700000" algn="tl">
                    <a:srgbClr val="C0C0C0"/>
                  </a:outerShdw>
                </a:effectLst>
                <a:latin typeface="楷体_GB2312" pitchFamily="49" charset="-122"/>
                <a:ea typeface="楷体_GB2312" pitchFamily="49" charset="-122"/>
                <a:cs typeface="+mn-cs"/>
              </a:rPr>
              <a:t>当对视图中的数据进行</a:t>
            </a:r>
            <a:r>
              <a:rPr kumimoji="1" lang="en-US" altLang="zh-CN" sz="2800" b="1" i="0" u="none" strike="noStrike" kern="1200" cap="none" spc="0" normalizeH="0" baseline="0" noProof="0" dirty="0" err="1">
                <a:solidFill>
                  <a:srgbClr val="FF0000"/>
                </a:solidFill>
                <a:effectLst>
                  <a:outerShdw blurRad="38100" dist="38100" dir="2700000" algn="tl">
                    <a:srgbClr val="C0C0C0"/>
                  </a:outerShdw>
                </a:effectLst>
                <a:latin typeface="楷体_GB2312" pitchFamily="49" charset="-122"/>
                <a:ea typeface="楷体_GB2312" pitchFamily="49" charset="-122"/>
                <a:cs typeface="+mn-cs"/>
              </a:rPr>
              <a:t>增加</a:t>
            </a:r>
            <a:r>
              <a:rPr kumimoji="1" lang="en-US" altLang="zh-CN" sz="2800" b="1" i="0" u="none" strike="noStrike" kern="1200" cap="none" spc="0" normalizeH="0" baseline="0" noProof="0" dirty="0" err="1">
                <a:solidFill>
                  <a:srgbClr val="000066"/>
                </a:solidFill>
                <a:effectLst>
                  <a:outerShdw blurRad="38100" dist="38100" dir="2700000" algn="tl">
                    <a:srgbClr val="C0C0C0"/>
                  </a:outerShdw>
                </a:effectLst>
                <a:latin typeface="楷体_GB2312" pitchFamily="49" charset="-122"/>
                <a:ea typeface="楷体_GB2312" pitchFamily="49" charset="-122"/>
                <a:cs typeface="+mn-cs"/>
              </a:rPr>
              <a:t>、</a:t>
            </a:r>
            <a:r>
              <a:rPr kumimoji="1" lang="en-US" altLang="zh-CN" sz="2800" b="1" i="0" u="none" strike="noStrike" kern="1200" cap="none" spc="0" normalizeH="0" baseline="0" noProof="0" dirty="0" err="1">
                <a:solidFill>
                  <a:srgbClr val="FF0000"/>
                </a:solidFill>
                <a:effectLst>
                  <a:outerShdw blurRad="38100" dist="38100" dir="2700000" algn="tl">
                    <a:srgbClr val="C0C0C0"/>
                  </a:outerShdw>
                </a:effectLst>
                <a:latin typeface="楷体_GB2312" pitchFamily="49" charset="-122"/>
                <a:ea typeface="楷体_GB2312" pitchFamily="49" charset="-122"/>
                <a:cs typeface="+mn-cs"/>
              </a:rPr>
              <a:t>删除</a:t>
            </a:r>
            <a:r>
              <a:rPr kumimoji="1" lang="en-US" altLang="zh-CN" sz="2800" b="1" i="0" u="none" strike="noStrike" kern="1200" cap="none" spc="0" normalizeH="0" baseline="0" noProof="0" dirty="0" err="1">
                <a:solidFill>
                  <a:srgbClr val="000066"/>
                </a:solidFill>
                <a:effectLst>
                  <a:outerShdw blurRad="38100" dist="38100" dir="2700000" algn="tl">
                    <a:srgbClr val="C0C0C0"/>
                  </a:outerShdw>
                </a:effectLst>
                <a:latin typeface="楷体_GB2312" pitchFamily="49" charset="-122"/>
                <a:ea typeface="楷体_GB2312" pitchFamily="49" charset="-122"/>
                <a:cs typeface="+mn-cs"/>
              </a:rPr>
              <a:t>和</a:t>
            </a:r>
            <a:r>
              <a:rPr kumimoji="1" lang="en-US" altLang="zh-CN" sz="2800" b="1" i="0" u="none" strike="noStrike" kern="1200" cap="none" spc="0" normalizeH="0" baseline="0" noProof="0" dirty="0" err="1">
                <a:solidFill>
                  <a:srgbClr val="FF0000"/>
                </a:solidFill>
                <a:effectLst>
                  <a:outerShdw blurRad="38100" dist="38100" dir="2700000" algn="tl">
                    <a:srgbClr val="C0C0C0"/>
                  </a:outerShdw>
                </a:effectLst>
                <a:latin typeface="楷体_GB2312" pitchFamily="49" charset="-122"/>
                <a:ea typeface="楷体_GB2312" pitchFamily="49" charset="-122"/>
                <a:cs typeface="+mn-cs"/>
              </a:rPr>
              <a:t>修改</a:t>
            </a:r>
            <a:r>
              <a:rPr kumimoji="1" lang="en-US" altLang="zh-CN" sz="2800" b="1" i="0" u="none" strike="noStrike" kern="1200" cap="none" spc="0" normalizeH="0" baseline="0" noProof="0" dirty="0" err="1">
                <a:solidFill>
                  <a:srgbClr val="000066"/>
                </a:solidFill>
                <a:effectLst>
                  <a:outerShdw blurRad="38100" dist="38100" dir="2700000" algn="tl">
                    <a:srgbClr val="C0C0C0"/>
                  </a:outerShdw>
                </a:effectLst>
                <a:latin typeface="楷体_GB2312" pitchFamily="49" charset="-122"/>
                <a:ea typeface="楷体_GB2312" pitchFamily="49" charset="-122"/>
                <a:cs typeface="+mn-cs"/>
              </a:rPr>
              <a:t>操作时，基本表中的数据会相应地发生变化，反之亦然</a:t>
            </a:r>
            <a:r>
              <a:rPr kumimoji="1" lang="en-US" altLang="zh-CN" sz="2800" b="1" i="0" u="none" strike="noStrike" kern="1200" cap="none" spc="0" normalizeH="0" baseline="0" noProof="0" dirty="0">
                <a:solidFill>
                  <a:srgbClr val="000066"/>
                </a:solidFill>
                <a:effectLst>
                  <a:outerShdw blurRad="38100" dist="38100" dir="2700000" algn="tl">
                    <a:srgbClr val="C0C0C0"/>
                  </a:outerShdw>
                </a:effectLst>
                <a:latin typeface="楷体_GB2312" pitchFamily="49" charset="-122"/>
                <a:ea typeface="楷体_GB2312" pitchFamily="49" charset="-122"/>
                <a:cs typeface="+mn-cs"/>
              </a:rPr>
              <a:t>。</a:t>
            </a:r>
          </a:p>
        </p:txBody>
      </p:sp>
      <p:sp>
        <p:nvSpPr>
          <p:cNvPr id="100" name="文本框 99"/>
          <p:cNvSpPr txBox="1"/>
          <p:nvPr/>
        </p:nvSpPr>
        <p:spPr>
          <a:xfrm>
            <a:off x="648143" y="2177096"/>
            <a:ext cx="10369550" cy="1118255"/>
          </a:xfrm>
          <a:prstGeom prst="rect">
            <a:avLst/>
          </a:prstGeom>
          <a:noFill/>
          <a:ln w="9525">
            <a:noFill/>
          </a:ln>
        </p:spPr>
        <p:txBody>
          <a:bodyPr wrap="square">
            <a:spAutoFit/>
          </a:bodyPr>
          <a:lstStyle/>
          <a:p>
            <a:pPr>
              <a:lnSpc>
                <a:spcPts val="4000"/>
              </a:lnSpc>
            </a:pPr>
            <a:r>
              <a:rPr lang="en-US" sz="2800" b="1" noProof="0" dirty="0">
                <a:ln>
                  <a:noFill/>
                </a:ln>
                <a:solidFill>
                  <a:srgbClr val="002060"/>
                </a:solidFill>
                <a:effectLst>
                  <a:outerShdw blurRad="38100" dist="38100" dir="2700000" algn="tl">
                    <a:srgbClr val="C0C0C0"/>
                  </a:outerShdw>
                </a:effectLst>
                <a:uLnTx/>
                <a:uFillTx/>
              </a:rPr>
              <a:t>      </a:t>
            </a:r>
            <a:r>
              <a:rPr kumimoji="1" lang="en-US" altLang="zh-CN" sz="2800" b="1" noProof="0" dirty="0" err="1">
                <a:solidFill>
                  <a:srgbClr val="000066"/>
                </a:solidFill>
                <a:effectLst>
                  <a:outerShdw blurRad="38100" dist="38100" dir="2700000" algn="tl">
                    <a:srgbClr val="C0C0C0"/>
                  </a:outerShdw>
                </a:effectLst>
                <a:latin typeface="楷体_GB2312" pitchFamily="49" charset="-122"/>
                <a:ea typeface="楷体_GB2312" pitchFamily="49" charset="-122"/>
              </a:rPr>
              <a:t>要使视图可更新，视图中的行和</a:t>
            </a:r>
            <a:r>
              <a:rPr kumimoji="1" lang="zh-CN" altLang="en-US" sz="2800" b="1" noProof="0" dirty="0">
                <a:solidFill>
                  <a:srgbClr val="000066"/>
                </a:solidFill>
                <a:effectLst>
                  <a:outerShdw blurRad="38100" dist="38100" dir="2700000" algn="tl">
                    <a:srgbClr val="C0C0C0"/>
                  </a:outerShdw>
                </a:effectLst>
                <a:latin typeface="楷体_GB2312" pitchFamily="49" charset="-122"/>
                <a:ea typeface="楷体_GB2312" pitchFamily="49" charset="-122"/>
              </a:rPr>
              <a:t>列与</a:t>
            </a:r>
            <a:r>
              <a:rPr kumimoji="1" lang="en-US" altLang="zh-CN" sz="2800" b="1" noProof="0" dirty="0" err="1">
                <a:solidFill>
                  <a:srgbClr val="000066"/>
                </a:solidFill>
                <a:effectLst>
                  <a:outerShdw blurRad="38100" dist="38100" dir="2700000" algn="tl">
                    <a:srgbClr val="C0C0C0"/>
                  </a:outerShdw>
                </a:effectLst>
                <a:latin typeface="楷体_GB2312" pitchFamily="49" charset="-122"/>
                <a:ea typeface="楷体_GB2312" pitchFamily="49" charset="-122"/>
              </a:rPr>
              <a:t>底层基本表之间必须存在</a:t>
            </a:r>
            <a:r>
              <a:rPr kumimoji="1" lang="en-US" altLang="zh-CN" sz="2800" b="1" noProof="0" dirty="0" err="1">
                <a:solidFill>
                  <a:srgbClr val="FF0000"/>
                </a:solidFill>
                <a:effectLst>
                  <a:outerShdw blurRad="38100" dist="38100" dir="2700000" algn="tl">
                    <a:srgbClr val="C0C0C0"/>
                  </a:outerShdw>
                </a:effectLst>
                <a:latin typeface="楷体_GB2312" pitchFamily="49" charset="-122"/>
                <a:ea typeface="楷体_GB2312" pitchFamily="49" charset="-122"/>
              </a:rPr>
              <a:t>一对一</a:t>
            </a:r>
            <a:r>
              <a:rPr kumimoji="1" lang="en-US" altLang="zh-CN" sz="2800" b="1" noProof="0" dirty="0" err="1">
                <a:solidFill>
                  <a:srgbClr val="000066"/>
                </a:solidFill>
                <a:effectLst>
                  <a:outerShdw blurRad="38100" dist="38100" dir="2700000" algn="tl">
                    <a:srgbClr val="C0C0C0"/>
                  </a:outerShdw>
                </a:effectLst>
                <a:latin typeface="楷体_GB2312" pitchFamily="49" charset="-122"/>
                <a:ea typeface="楷体_GB2312" pitchFamily="49" charset="-122"/>
              </a:rPr>
              <a:t>的关系</a:t>
            </a:r>
            <a:r>
              <a:rPr kumimoji="1" lang="zh-CN" altLang="en-US" sz="2800" b="1" noProof="0" dirty="0">
                <a:solidFill>
                  <a:srgbClr val="000066"/>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noProof="0" dirty="0">
                <a:solidFill>
                  <a:srgbClr val="FF0000"/>
                </a:solidFill>
                <a:effectLst>
                  <a:outerShdw blurRad="38100" dist="38100" dir="2700000" algn="tl">
                    <a:srgbClr val="C0C0C0"/>
                  </a:outerShdw>
                </a:effectLst>
                <a:latin typeface="楷体_GB2312" pitchFamily="49" charset="-122"/>
                <a:ea typeface="楷体_GB2312" pitchFamily="49" charset="-122"/>
              </a:rPr>
              <a:t>行列子集视图</a:t>
            </a:r>
            <a:r>
              <a:rPr kumimoji="1" lang="zh-CN" altLang="en-US" sz="2800" b="1" noProof="0" dirty="0">
                <a:solidFill>
                  <a:srgbClr val="000066"/>
                </a:solidFill>
                <a:effectLst>
                  <a:outerShdw blurRad="38100" dist="38100" dir="2700000" algn="tl">
                    <a:srgbClr val="C0C0C0"/>
                  </a:outerShdw>
                </a:effectLst>
                <a:latin typeface="楷体_GB2312" pitchFamily="49" charset="-122"/>
                <a:ea typeface="楷体_GB2312" pitchFamily="49" charset="-122"/>
              </a:rPr>
              <a:t>是可更新的</a:t>
            </a:r>
            <a:r>
              <a:rPr kumimoji="1" lang="en-US" altLang="zh-CN" sz="2800" b="1" noProof="0" dirty="0">
                <a:solidFill>
                  <a:srgbClr val="000066"/>
                </a:solidFill>
                <a:effectLst>
                  <a:outerShdw blurRad="38100" dist="38100" dir="2700000" algn="tl">
                    <a:srgbClr val="C0C0C0"/>
                  </a:outerShdw>
                </a:effectLst>
                <a:latin typeface="楷体_GB2312" pitchFamily="49" charset="-122"/>
                <a:ea typeface="楷体_GB2312" pitchFamily="49" charset="-122"/>
              </a:rPr>
              <a:t>。</a:t>
            </a:r>
            <a:endParaRPr lang="zh-CN" sz="2800" b="1" noProof="0" dirty="0">
              <a:ln>
                <a:noFill/>
              </a:ln>
              <a:solidFill>
                <a:srgbClr val="002060"/>
              </a:solidFill>
              <a:effectLst>
                <a:outerShdw blurRad="38100" dist="38100" dir="2700000" algn="tl">
                  <a:srgbClr val="C0C0C0"/>
                </a:outerShdw>
              </a:effectLst>
              <a:uLnTx/>
              <a:uFillTx/>
            </a:endParaRPr>
          </a:p>
        </p:txBody>
      </p:sp>
      <p:sp>
        <p:nvSpPr>
          <p:cNvPr id="9" name="文本框 99"/>
          <p:cNvSpPr txBox="1"/>
          <p:nvPr/>
        </p:nvSpPr>
        <p:spPr>
          <a:xfrm>
            <a:off x="578677" y="3429000"/>
            <a:ext cx="10632853" cy="1631216"/>
          </a:xfrm>
          <a:prstGeom prst="rect">
            <a:avLst/>
          </a:prstGeom>
          <a:noFill/>
          <a:ln w="9525">
            <a:noFill/>
          </a:ln>
        </p:spPr>
        <p:txBody>
          <a:bodyPr wrap="square">
            <a:spAutoFit/>
          </a:bodyPr>
          <a:lstStyle/>
          <a:p>
            <a:pPr>
              <a:lnSpc>
                <a:spcPts val="4000"/>
              </a:lnSpc>
            </a:pPr>
            <a:r>
              <a:rPr lang="zh-CN" altLang="en-US" sz="2800" b="1" dirty="0">
                <a:solidFill>
                  <a:srgbClr val="002060"/>
                </a:solidFill>
                <a:effectLst>
                  <a:outerShdw blurRad="38100" dist="38100" dir="2700000" algn="tl">
                    <a:srgbClr val="C0C0C0"/>
                  </a:outerShdw>
                </a:effectLst>
              </a:rPr>
              <a:t>      在定义视图的</a:t>
            </a:r>
            <a:r>
              <a:rPr lang="en-US" sz="2800" b="1" dirty="0">
                <a:solidFill>
                  <a:srgbClr val="002060"/>
                </a:solidFill>
                <a:effectLst>
                  <a:outerShdw blurRad="38100" dist="38100" dir="2700000" algn="tl">
                    <a:srgbClr val="C0C0C0"/>
                  </a:outerShdw>
                </a:effectLst>
              </a:rPr>
              <a:t>SELECT</a:t>
            </a:r>
            <a:r>
              <a:rPr lang="zh-CN" altLang="en-US" sz="2800" b="1" dirty="0">
                <a:solidFill>
                  <a:srgbClr val="002060"/>
                </a:solidFill>
                <a:effectLst>
                  <a:outerShdw blurRad="38100" dist="38100" dir="2700000" algn="tl">
                    <a:srgbClr val="C0C0C0"/>
                  </a:outerShdw>
                </a:effectLst>
              </a:rPr>
              <a:t>语句后的字段列表中使用</a:t>
            </a:r>
            <a:r>
              <a:rPr lang="en-US" sz="2800" b="1" dirty="0">
                <a:solidFill>
                  <a:srgbClr val="C00000"/>
                </a:solidFill>
                <a:effectLst>
                  <a:outerShdw blurRad="38100" dist="38100" dir="2700000" algn="tl">
                    <a:srgbClr val="C0C0C0"/>
                  </a:outerShdw>
                </a:effectLst>
              </a:rPr>
              <a:t>DISTINCT</a:t>
            </a:r>
            <a:r>
              <a:rPr lang="en-US" sz="2800" b="1" dirty="0">
                <a:solidFill>
                  <a:srgbClr val="002060"/>
                </a:solidFill>
                <a:effectLst>
                  <a:outerShdw blurRad="38100" dist="38100" dir="2700000" algn="tl">
                    <a:srgbClr val="C0C0C0"/>
                  </a:outerShdw>
                </a:effectLst>
              </a:rPr>
              <a:t>、</a:t>
            </a:r>
            <a:r>
              <a:rPr lang="zh-CN" altLang="en-US" sz="2800" b="1" dirty="0">
                <a:solidFill>
                  <a:srgbClr val="C00000"/>
                </a:solidFill>
                <a:effectLst>
                  <a:outerShdw blurRad="38100" dist="38100" dir="2700000" algn="tl">
                    <a:srgbClr val="C0C0C0"/>
                  </a:outerShdw>
                </a:effectLst>
              </a:rPr>
              <a:t>聚合函数</a:t>
            </a:r>
            <a:r>
              <a:rPr lang="zh-CN" altLang="en-US" sz="2800" b="1" dirty="0">
                <a:solidFill>
                  <a:srgbClr val="002060"/>
                </a:solidFill>
                <a:effectLst>
                  <a:outerShdw blurRad="38100" dist="38100" dir="2700000" algn="tl">
                    <a:srgbClr val="C0C0C0"/>
                  </a:outerShdw>
                </a:effectLst>
              </a:rPr>
              <a:t>、子查询中有</a:t>
            </a:r>
            <a:r>
              <a:rPr lang="en-US" sz="2800" b="1" dirty="0">
                <a:solidFill>
                  <a:srgbClr val="C00000"/>
                </a:solidFill>
                <a:effectLst>
                  <a:outerShdw blurRad="38100" dist="38100" dir="2700000" algn="tl">
                    <a:srgbClr val="C0C0C0"/>
                  </a:outerShdw>
                </a:effectLst>
              </a:rPr>
              <a:t>GROUP </a:t>
            </a:r>
            <a:r>
              <a:rPr lang="en-US" sz="2800" b="1" dirty="0" err="1">
                <a:solidFill>
                  <a:srgbClr val="C00000"/>
                </a:solidFill>
                <a:effectLst>
                  <a:outerShdw blurRad="38100" dist="38100" dir="2700000" algn="tl">
                    <a:srgbClr val="C0C0C0"/>
                  </a:outerShdw>
                </a:effectLst>
              </a:rPr>
              <a:t>BY、HAVING、UNION</a:t>
            </a:r>
            <a:r>
              <a:rPr lang="zh-CN" altLang="en-US" sz="2800" b="1" dirty="0">
                <a:solidFill>
                  <a:srgbClr val="002060"/>
                </a:solidFill>
                <a:effectLst>
                  <a:outerShdw blurRad="38100" dist="38100" dir="2700000" algn="tl">
                    <a:srgbClr val="C0C0C0"/>
                  </a:outerShdw>
                </a:effectLst>
              </a:rPr>
              <a:t>短语等，视图不支持数据更新</a:t>
            </a:r>
            <a:r>
              <a:rPr lang="en-US" sz="2800" b="1" dirty="0">
                <a:solidFill>
                  <a:srgbClr val="002060"/>
                </a:solidFill>
                <a:effectLst>
                  <a:outerShdw blurRad="38100" dist="38100" dir="2700000" algn="tl">
                    <a:srgbClr val="C0C0C0"/>
                  </a:outerShdw>
                </a:effectLst>
              </a:rPr>
              <a:t>；</a:t>
            </a:r>
          </a:p>
        </p:txBody>
      </p:sp>
      <p:sp>
        <p:nvSpPr>
          <p:cNvPr id="11" name="文本框 99"/>
          <p:cNvSpPr txBox="1"/>
          <p:nvPr/>
        </p:nvSpPr>
        <p:spPr>
          <a:xfrm>
            <a:off x="594746" y="5574523"/>
            <a:ext cx="11283859" cy="554960"/>
          </a:xfrm>
          <a:prstGeom prst="rect">
            <a:avLst/>
          </a:prstGeom>
          <a:noFill/>
          <a:ln w="9525">
            <a:noFill/>
          </a:ln>
        </p:spPr>
        <p:txBody>
          <a:bodyPr wrap="square">
            <a:spAutoFit/>
          </a:bodyPr>
          <a:lstStyle/>
          <a:p>
            <a:pPr>
              <a:lnSpc>
                <a:spcPts val="4000"/>
              </a:lnSpc>
            </a:pPr>
            <a:r>
              <a:rPr lang="zh-CN" altLang="en-US" sz="2800" b="1" dirty="0">
                <a:solidFill>
                  <a:srgbClr val="FF0000"/>
                </a:solidFill>
                <a:effectLst>
                  <a:outerShdw blurRad="38100" dist="38100" dir="2700000" algn="tl">
                    <a:srgbClr val="C0C0C0"/>
                  </a:outerShdw>
                </a:effectLst>
              </a:rPr>
              <a:t>注意</a:t>
            </a:r>
            <a:r>
              <a:rPr lang="en-US" altLang="zh-CN" sz="2800" b="1" dirty="0">
                <a:solidFill>
                  <a:srgbClr val="FF0000"/>
                </a:solidFill>
                <a:effectLst>
                  <a:outerShdw blurRad="38100" dist="38100" dir="2700000" algn="tl">
                    <a:srgbClr val="C0C0C0"/>
                  </a:outerShdw>
                </a:effectLst>
              </a:rPr>
              <a:t>: </a:t>
            </a:r>
            <a:r>
              <a:rPr lang="zh-CN" altLang="en-US" sz="2800" b="1" dirty="0">
                <a:solidFill>
                  <a:srgbClr val="002060"/>
                </a:solidFill>
                <a:effectLst>
                  <a:outerShdw blurRad="38100" dist="38100" dir="2700000" algn="tl">
                    <a:srgbClr val="C0C0C0"/>
                  </a:outerShdw>
                </a:effectLst>
              </a:rPr>
              <a:t>视图一般用来简化查询工作</a:t>
            </a:r>
            <a:r>
              <a:rPr lang="en-US" altLang="zh-CN" sz="2800" b="1" dirty="0">
                <a:solidFill>
                  <a:srgbClr val="002060"/>
                </a:solidFill>
                <a:effectLst>
                  <a:outerShdw blurRad="38100" dist="38100" dir="2700000" algn="tl">
                    <a:srgbClr val="C0C0C0"/>
                  </a:outerShdw>
                </a:effectLst>
              </a:rPr>
              <a:t>, </a:t>
            </a:r>
            <a:r>
              <a:rPr lang="zh-CN" altLang="en-US" sz="2800" b="1" dirty="0">
                <a:solidFill>
                  <a:srgbClr val="002060"/>
                </a:solidFill>
                <a:effectLst>
                  <a:outerShdw blurRad="38100" dist="38100" dir="2700000" algn="tl">
                    <a:srgbClr val="C0C0C0"/>
                  </a:outerShdw>
                </a:effectLst>
              </a:rPr>
              <a:t>尽量不用视图做数据更新操作</a:t>
            </a:r>
            <a:r>
              <a:rPr lang="en-US" altLang="zh-CN" sz="2800" b="1" dirty="0">
                <a:solidFill>
                  <a:srgbClr val="002060"/>
                </a:solidFill>
                <a:effectLst>
                  <a:outerShdw blurRad="38100" dist="38100" dir="2700000" algn="tl">
                    <a:srgbClr val="C0C0C0"/>
                  </a:outerShdw>
                </a:effectLst>
              </a:rPr>
              <a:t>.</a:t>
            </a:r>
            <a:endParaRPr lang="en-US" sz="2800" b="1" dirty="0">
              <a:solidFill>
                <a:srgbClr val="002060"/>
              </a:solidFill>
              <a:effectLst>
                <a:outerShdw blurRad="38100" dist="38100" dir="2700000" algn="tl">
                  <a:srgbClr val="C0C0C0"/>
                </a:outerShdw>
              </a:effectLst>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additive="base">
                                        <p:cTn id="7" dur="500" fill="hold"/>
                                        <p:tgtEl>
                                          <p:spTgt spid="100"/>
                                        </p:tgtEl>
                                        <p:attrNameLst>
                                          <p:attrName>ppt_x</p:attrName>
                                        </p:attrNameLst>
                                      </p:cBhvr>
                                      <p:tavLst>
                                        <p:tav tm="0">
                                          <p:val>
                                            <p:strVal val="#ppt_x"/>
                                          </p:val>
                                        </p:tav>
                                        <p:tav tm="100000">
                                          <p:val>
                                            <p:strVal val="#ppt_x"/>
                                          </p:val>
                                        </p:tav>
                                      </p:tavLst>
                                    </p:anim>
                                    <p:anim calcmode="lin" valueType="num">
                                      <p:cBhvr additive="base">
                                        <p:cTn id="8"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00" grpId="1"/>
      <p:bldP spid="9" grpId="0"/>
      <p:bldP spid="9" grpId="1"/>
      <p:bldP spid="11" grpId="0"/>
      <p:bldP spid="11"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1"/>
          <p:cNvSpPr txBox="1"/>
          <p:nvPr/>
        </p:nvSpPr>
        <p:spPr>
          <a:xfrm>
            <a:off x="983687" y="1521924"/>
            <a:ext cx="10601026" cy="954107"/>
          </a:xfrm>
          <a:prstGeom prst="rect">
            <a:avLst/>
          </a:prstGeom>
          <a:noFill/>
          <a:ln w="9525">
            <a:noFill/>
          </a:ln>
        </p:spPr>
        <p:txBody>
          <a:bodyPr wrap="square">
            <a:spAutoFit/>
          </a:bodyPr>
          <a:lstStyle/>
          <a:p>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7.24】</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使用</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DELETE</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语句将通信工程系学生视图</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view_ce</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中</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sno</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为</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001203</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的学生删除。</a:t>
            </a:r>
          </a:p>
        </p:txBody>
      </p:sp>
      <p:sp>
        <p:nvSpPr>
          <p:cNvPr id="7" name="文本框 1"/>
          <p:cNvSpPr txBox="1"/>
          <p:nvPr/>
        </p:nvSpPr>
        <p:spPr>
          <a:xfrm>
            <a:off x="842811" y="2638087"/>
            <a:ext cx="10512730" cy="1384995"/>
          </a:xfrm>
          <a:prstGeom prst="rect">
            <a:avLst/>
          </a:prstGeom>
          <a:noFill/>
          <a:ln w="9525">
            <a:noFill/>
          </a:ln>
        </p:spPr>
        <p:txBody>
          <a:bodyPr wrap="square">
            <a:spAutoFit/>
          </a:bodyPr>
          <a:lstStyle/>
          <a:p>
            <a:r>
              <a:rPr lang="en-US" altLang="zh-CN" sz="2800" b="1" dirty="0">
                <a:solidFill>
                  <a:srgbClr val="002060"/>
                </a:solidFill>
              </a:rPr>
              <a:t>DELETE</a:t>
            </a:r>
          </a:p>
          <a:p>
            <a:r>
              <a:rPr lang="en-US" altLang="zh-CN" sz="2800" b="1" dirty="0">
                <a:solidFill>
                  <a:srgbClr val="002060"/>
                </a:solidFill>
              </a:rPr>
              <a:t>FROM </a:t>
            </a:r>
            <a:r>
              <a:rPr lang="en-US" altLang="zh-CN" sz="2800" b="1" dirty="0" err="1">
                <a:solidFill>
                  <a:srgbClr val="002060"/>
                </a:solidFill>
              </a:rPr>
              <a:t>view_ce</a:t>
            </a:r>
            <a:endParaRPr lang="en-US" altLang="zh-CN" sz="2800" b="1" dirty="0">
              <a:solidFill>
                <a:srgbClr val="002060"/>
              </a:solidFill>
            </a:endParaRPr>
          </a:p>
          <a:p>
            <a:r>
              <a:rPr lang="en-US" altLang="zh-CN" sz="2800" b="1" dirty="0">
                <a:solidFill>
                  <a:srgbClr val="002060"/>
                </a:solidFill>
              </a:rPr>
              <a:t>WHERE </a:t>
            </a:r>
            <a:r>
              <a:rPr lang="en-US" altLang="zh-CN" sz="2800" b="1" dirty="0" err="1">
                <a:solidFill>
                  <a:srgbClr val="002060"/>
                </a:solidFill>
              </a:rPr>
              <a:t>sno</a:t>
            </a:r>
            <a:r>
              <a:rPr lang="en-US" altLang="zh-CN" sz="2800" b="1" dirty="0">
                <a:solidFill>
                  <a:srgbClr val="002060"/>
                </a:solidFill>
              </a:rPr>
              <a:t>='001203';</a:t>
            </a:r>
          </a:p>
        </p:txBody>
      </p:sp>
      <p:sp>
        <p:nvSpPr>
          <p:cNvPr id="8" name="TextBox 6"/>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zh-CN" sz="4000" b="1" noProof="0" dirty="0">
                <a:ln>
                  <a:noFill/>
                </a:ln>
                <a:solidFill>
                  <a:schemeClr val="bg1"/>
                </a:solidFill>
                <a:effectLst/>
                <a:uLnTx/>
                <a:uFillTx/>
                <a:latin typeface="+mn-ea"/>
                <a:ea typeface="+mn-ea"/>
                <a:sym typeface="Impact" panose="020B0806030902050204" pitchFamily="34" charset="0"/>
              </a:rPr>
              <a:t>更新</a:t>
            </a:r>
            <a:r>
              <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视图</a:t>
            </a: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数据</a:t>
            </a:r>
            <a:endPar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endParaRPr>
          </a:p>
        </p:txBody>
      </p:sp>
      <p:sp>
        <p:nvSpPr>
          <p:cNvPr id="9" name="文本框 1"/>
          <p:cNvSpPr txBox="1"/>
          <p:nvPr/>
        </p:nvSpPr>
        <p:spPr>
          <a:xfrm>
            <a:off x="848818" y="4293060"/>
            <a:ext cx="10512730" cy="1384995"/>
          </a:xfrm>
          <a:prstGeom prst="rect">
            <a:avLst/>
          </a:prstGeom>
          <a:noFill/>
          <a:ln w="9525">
            <a:noFill/>
          </a:ln>
        </p:spPr>
        <p:txBody>
          <a:bodyPr wrap="square">
            <a:spAutoFit/>
          </a:bodyPr>
          <a:lstStyle/>
          <a:p>
            <a:r>
              <a:rPr lang="en-US" altLang="zh-CN" sz="2800" b="1" dirty="0">
                <a:solidFill>
                  <a:srgbClr val="002060"/>
                </a:solidFill>
              </a:rPr>
              <a:t>DELETE</a:t>
            </a:r>
          </a:p>
          <a:p>
            <a:r>
              <a:rPr lang="en-US" altLang="zh-CN" sz="2800" b="1" dirty="0">
                <a:solidFill>
                  <a:srgbClr val="002060"/>
                </a:solidFill>
              </a:rPr>
              <a:t>FROM student</a:t>
            </a:r>
          </a:p>
          <a:p>
            <a:r>
              <a:rPr lang="en-US" altLang="zh-CN" sz="2800" b="1" dirty="0">
                <a:solidFill>
                  <a:srgbClr val="002060"/>
                </a:solidFill>
              </a:rPr>
              <a:t>WHERE </a:t>
            </a:r>
            <a:r>
              <a:rPr lang="en-US" altLang="zh-CN" sz="2800" b="1" dirty="0" err="1">
                <a:solidFill>
                  <a:srgbClr val="002060"/>
                </a:solidFill>
              </a:rPr>
              <a:t>sno</a:t>
            </a:r>
            <a:r>
              <a:rPr lang="en-US" altLang="zh-CN" sz="2800" b="1" dirty="0">
                <a:solidFill>
                  <a:srgbClr val="002060"/>
                </a:solidFill>
              </a:rPr>
              <a:t>= '001203' AND </a:t>
            </a:r>
            <a:r>
              <a:rPr lang="en-US" altLang="zh-CN" sz="2800" b="1" dirty="0" err="1">
                <a:solidFill>
                  <a:srgbClr val="002060"/>
                </a:solidFill>
              </a:rPr>
              <a:t>dept</a:t>
            </a:r>
            <a:r>
              <a:rPr lang="en-US" altLang="zh-CN" sz="2800" b="1" dirty="0">
                <a:solidFill>
                  <a:srgbClr val="002060"/>
                </a:solidFill>
              </a:rPr>
              <a:t>='</a:t>
            </a:r>
            <a:r>
              <a:rPr lang="zh-CN" altLang="en-US" sz="2800" b="1" dirty="0">
                <a:solidFill>
                  <a:srgbClr val="002060"/>
                </a:solidFill>
              </a:rPr>
              <a:t>通信工程</a:t>
            </a:r>
            <a:r>
              <a:rPr lang="en-US" altLang="zh-CN" sz="2800" b="1" dirty="0">
                <a:solidFill>
                  <a:srgbClr val="002060"/>
                </a:solidFill>
              </a:rPr>
              <a:t>';</a:t>
            </a:r>
          </a:p>
        </p:txBody>
      </p:sp>
    </p:spTree>
    <p:extLst>
      <p:ext uri="{BB962C8B-B14F-4D97-AF65-F5344CB8AC3E}">
        <p14:creationId xmlns:p14="http://schemas.microsoft.com/office/powerpoint/2010/main" val="191212974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删除</a:t>
            </a:r>
            <a:r>
              <a:rPr kumimoji="0" lang="zh-CN"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视图</a:t>
            </a:r>
          </a:p>
        </p:txBody>
      </p:sp>
      <p:sp>
        <p:nvSpPr>
          <p:cNvPr id="4" name="文本框 1"/>
          <p:cNvSpPr txBox="1"/>
          <p:nvPr/>
        </p:nvSpPr>
        <p:spPr>
          <a:xfrm>
            <a:off x="970529" y="2420930"/>
            <a:ext cx="9088921" cy="523220"/>
          </a:xfrm>
          <a:prstGeom prst="rect">
            <a:avLst/>
          </a:prstGeom>
          <a:noFill/>
          <a:ln w="9525">
            <a:noFill/>
          </a:ln>
        </p:spPr>
        <p:txBody>
          <a:bodyPr wrap="square">
            <a:spAutoFit/>
          </a:bodyPr>
          <a:lstStyle/>
          <a:p>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sym typeface="+mn-ea"/>
              </a:rPr>
              <a:t>7.25】</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删除视图</a:t>
            </a:r>
            <a:r>
              <a:rPr kumimoji="1" lang="en-US" altLang="zh-CN" sz="2800" b="1" dirty="0" err="1">
                <a:effectLst>
                  <a:outerShdw blurRad="38100" dist="38100" dir="2700000" algn="tl">
                    <a:srgbClr val="C0C0C0"/>
                  </a:outerShdw>
                </a:effectLst>
                <a:latin typeface="楷体_GB2312" pitchFamily="49" charset="-122"/>
                <a:ea typeface="楷体_GB2312" pitchFamily="49" charset="-122"/>
                <a:sym typeface="+mn-ea"/>
              </a:rPr>
              <a:t>view_cs_102</a:t>
            </a:r>
            <a:r>
              <a:rPr kumimoji="1" lang="zh-CN" altLang="en-US" sz="2800" b="1" dirty="0">
                <a:effectLst>
                  <a:outerShdw blurRad="38100" dist="38100" dir="2700000" algn="tl">
                    <a:srgbClr val="C0C0C0"/>
                  </a:outerShdw>
                </a:effectLst>
                <a:latin typeface="楷体_GB2312" pitchFamily="49" charset="-122"/>
                <a:ea typeface="楷体_GB2312" pitchFamily="49" charset="-122"/>
                <a:sym typeface="+mn-ea"/>
              </a:rPr>
              <a:t>。</a:t>
            </a:r>
          </a:p>
        </p:txBody>
      </p:sp>
      <p:sp>
        <p:nvSpPr>
          <p:cNvPr id="7" name="文本框 1"/>
          <p:cNvSpPr txBox="1"/>
          <p:nvPr/>
        </p:nvSpPr>
        <p:spPr>
          <a:xfrm>
            <a:off x="2779401" y="3330585"/>
            <a:ext cx="5092035" cy="523220"/>
          </a:xfrm>
          <a:prstGeom prst="rect">
            <a:avLst/>
          </a:prstGeom>
          <a:noFill/>
          <a:ln w="9525">
            <a:noFill/>
          </a:ln>
        </p:spPr>
        <p:txBody>
          <a:bodyPr wrap="square">
            <a:spAutoFit/>
          </a:bodyPr>
          <a:lstStyle/>
          <a:p>
            <a:r>
              <a:rPr lang="en-US" altLang="zh-CN" sz="2800" b="1" dirty="0">
                <a:solidFill>
                  <a:srgbClr val="002060"/>
                </a:solidFill>
              </a:rPr>
              <a:t>DROP VIEW </a:t>
            </a:r>
            <a:r>
              <a:rPr lang="en-US" altLang="zh-CN" sz="2800" b="1" dirty="0" err="1">
                <a:solidFill>
                  <a:srgbClr val="002060"/>
                </a:solidFill>
              </a:rPr>
              <a:t>view_cs_102</a:t>
            </a:r>
            <a:r>
              <a:rPr lang="en-US" altLang="zh-CN" sz="2800" b="1" dirty="0">
                <a:solidFill>
                  <a:srgbClr val="002060"/>
                </a:solidFill>
              </a:rPr>
              <a:t>;</a:t>
            </a:r>
          </a:p>
        </p:txBody>
      </p:sp>
      <p:sp>
        <p:nvSpPr>
          <p:cNvPr id="5" name="文本框 1"/>
          <p:cNvSpPr txBox="1"/>
          <p:nvPr/>
        </p:nvSpPr>
        <p:spPr>
          <a:xfrm>
            <a:off x="722606" y="1324939"/>
            <a:ext cx="10848949" cy="954107"/>
          </a:xfrm>
          <a:prstGeom prst="rect">
            <a:avLst/>
          </a:prstGeom>
          <a:noFill/>
          <a:ln w="9525">
            <a:noFill/>
          </a:ln>
        </p:spPr>
        <p:txBody>
          <a:bodyPr wrap="square">
            <a:spAutoFit/>
          </a:bodyPr>
          <a:lstStyle/>
          <a:p>
            <a:r>
              <a:rPr lang="zh-CN" altLang="en-US" sz="2800" b="1" dirty="0">
                <a:solidFill>
                  <a:srgbClr val="002060"/>
                </a:solidFill>
                <a:effectLst>
                  <a:outerShdw blurRad="38100" dist="38100" dir="2700000" algn="tl">
                    <a:srgbClr val="000000">
                      <a:alpha val="43137"/>
                    </a:srgbClr>
                  </a:outerShdw>
                </a:effectLst>
              </a:rPr>
              <a:t>删除视图的格式：</a:t>
            </a:r>
            <a:endParaRPr lang="en-US" altLang="zh-CN" sz="2800" b="1" dirty="0">
              <a:solidFill>
                <a:srgbClr val="002060"/>
              </a:solidFill>
              <a:effectLst>
                <a:outerShdw blurRad="38100" dist="38100" dir="2700000" algn="tl">
                  <a:srgbClr val="000000">
                    <a:alpha val="43137"/>
                  </a:srgbClr>
                </a:outerShdw>
              </a:effectLst>
            </a:endParaRPr>
          </a:p>
          <a:p>
            <a:r>
              <a:rPr lang="en-US" altLang="zh-CN" sz="2800" b="1" dirty="0">
                <a:solidFill>
                  <a:srgbClr val="002060"/>
                </a:solidFill>
                <a:effectLst>
                  <a:outerShdw blurRad="38100" dist="38100" dir="2700000" algn="tl">
                    <a:srgbClr val="000000">
                      <a:alpha val="43137"/>
                    </a:srgbClr>
                  </a:outerShdw>
                </a:effectLst>
              </a:rPr>
              <a:t>                           </a:t>
            </a: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DROP VIEW &lt;</a:t>
            </a:r>
            <a:r>
              <a:rPr kumimoji="1" lang="en-US" altLang="zh-CN" sz="2800" b="1" dirty="0" err="1">
                <a:solidFill>
                  <a:srgbClr val="C00000"/>
                </a:solidFill>
                <a:effectLst>
                  <a:outerShdw blurRad="38100" dist="38100" dir="2700000" algn="tl">
                    <a:srgbClr val="C0C0C0"/>
                  </a:outerShdw>
                </a:effectLst>
                <a:latin typeface="楷体_GB2312" pitchFamily="49" charset="-122"/>
                <a:ea typeface="楷体_GB2312" pitchFamily="49" charset="-122"/>
                <a:sym typeface="+mn-ea"/>
              </a:rPr>
              <a:t>view_name</a:t>
            </a: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&gt;;</a:t>
            </a:r>
            <a:endParaRPr lang="en-US" altLang="zh-CN" sz="2800" b="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0553244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sym typeface="Impact" panose="020B0806030902050204" pitchFamily="34" charset="0"/>
              </a:rPr>
              <a:t>视图的优点</a:t>
            </a:r>
          </a:p>
        </p:txBody>
      </p:sp>
      <p:sp>
        <p:nvSpPr>
          <p:cNvPr id="5" name="Rectangle 4"/>
          <p:cNvSpPr>
            <a:spLocks noChangeArrowheads="1"/>
          </p:cNvSpPr>
          <p:nvPr/>
        </p:nvSpPr>
        <p:spPr bwMode="auto">
          <a:xfrm>
            <a:off x="266383" y="1124585"/>
            <a:ext cx="10728325" cy="4737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marL="0" marR="0" lvl="0" indent="0" algn="l" defTabSz="914400" rtl="0" eaLnBrk="0" fontAlgn="base" latinLnBrk="0" hangingPunct="0">
              <a:lnSpc>
                <a:spcPct val="110000"/>
              </a:lnSpc>
              <a:spcBef>
                <a:spcPct val="0"/>
              </a:spcBef>
              <a:spcAft>
                <a:spcPct val="40000"/>
              </a:spcAft>
              <a:buClrTx/>
              <a:buSzTx/>
              <a:buFont typeface="Arial" panose="020B0604020202020204" pitchFamily="34" charset="0"/>
              <a:buNone/>
              <a:defRPr/>
            </a:pPr>
            <a:r>
              <a:rPr kumimoji="1" lang="en-US" altLang="zh-CN" sz="2800" b="1" i="0" u="none" strike="noStrike" kern="1200" cap="none" spc="0" normalizeH="0" baseline="0" noProof="0" dirty="0">
                <a:solidFill>
                  <a:srgbClr val="000066"/>
                </a:solidFill>
                <a:effectLst>
                  <a:outerShdw blurRad="38100" dist="38100" dir="2700000" algn="tl">
                    <a:srgbClr val="C0C0C0"/>
                  </a:outerShdw>
                </a:effectLst>
                <a:latin typeface="楷体_GB2312" pitchFamily="49" charset="-122"/>
                <a:ea typeface="楷体_GB2312" pitchFamily="49" charset="-122"/>
                <a:cs typeface="+mn-cs"/>
              </a:rPr>
              <a:t>简单地讲，视图具有以下</a:t>
            </a:r>
            <a:r>
              <a:rPr kumimoji="1" lang="en-US" altLang="zh-CN" sz="2800" b="1" i="0" u="none" strike="noStrike" kern="1200" cap="none" spc="0" normalizeH="0" baseline="0" noProof="0" dirty="0">
                <a:solidFill>
                  <a:srgbClr val="FF0000"/>
                </a:solidFill>
                <a:effectLst>
                  <a:outerShdw blurRad="38100" dist="38100" dir="2700000" algn="tl">
                    <a:srgbClr val="C0C0C0"/>
                  </a:outerShdw>
                </a:effectLst>
                <a:latin typeface="楷体_GB2312" pitchFamily="49" charset="-122"/>
                <a:ea typeface="楷体_GB2312" pitchFamily="49" charset="-122"/>
                <a:cs typeface="+mn-cs"/>
              </a:rPr>
              <a:t>优点</a:t>
            </a:r>
            <a:r>
              <a:rPr kumimoji="1" lang="en-US" altLang="zh-CN" sz="2800" b="1" i="0" u="none" strike="noStrike" kern="1200" cap="none" spc="0" normalizeH="0" baseline="0" noProof="0" dirty="0">
                <a:solidFill>
                  <a:srgbClr val="000066"/>
                </a:solidFill>
                <a:effectLst>
                  <a:outerShdw blurRad="38100" dist="38100" dir="2700000" algn="tl">
                    <a:srgbClr val="C0C0C0"/>
                  </a:outerShdw>
                </a:effectLst>
                <a:latin typeface="楷体_GB2312" pitchFamily="49" charset="-122"/>
                <a:ea typeface="楷体_GB2312" pitchFamily="49" charset="-122"/>
                <a:cs typeface="+mn-cs"/>
              </a:rPr>
              <a:t>：  </a:t>
            </a:r>
          </a:p>
        </p:txBody>
      </p:sp>
      <p:sp>
        <p:nvSpPr>
          <p:cNvPr id="2" name="文本框 1"/>
          <p:cNvSpPr txBox="1"/>
          <p:nvPr/>
        </p:nvSpPr>
        <p:spPr>
          <a:xfrm>
            <a:off x="2714940" y="1916895"/>
            <a:ext cx="6096000" cy="3173730"/>
          </a:xfrm>
          <a:prstGeom prst="rect">
            <a:avLst/>
          </a:prstGeom>
          <a:noFill/>
        </p:spPr>
        <p:txBody>
          <a:bodyPr wrap="square" rtlCol="0" anchor="t">
            <a:spAutoFit/>
          </a:bodyPr>
          <a:lstStyle/>
          <a:p>
            <a:pPr marL="457200" marR="0" lvl="0" indent="-457200" algn="l" defTabSz="914400" rtl="0" eaLnBrk="0" fontAlgn="base" latinLnBrk="0" hangingPunct="0">
              <a:lnSpc>
                <a:spcPct val="110000"/>
              </a:lnSpc>
              <a:spcBef>
                <a:spcPct val="0"/>
              </a:spcBef>
              <a:spcAft>
                <a:spcPct val="40000"/>
              </a:spcAft>
              <a:buClrTx/>
              <a:buSzTx/>
              <a:buFont typeface="Wingdings" panose="05000000000000000000" charset="0"/>
              <a:buChar char="u"/>
              <a:defRPr/>
            </a:pPr>
            <a:r>
              <a:rPr kumimoji="1" lang="en-US" altLang="zh-CN" sz="2800" b="1" noProof="0"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操作简单</a:t>
            </a:r>
            <a:endParaRPr kumimoji="1" lang="en-US" altLang="zh-CN" sz="2800" b="1" i="0" u="none" strike="noStrike" kern="1200" cap="none" spc="0" normalizeH="0" baseline="0" noProof="0" dirty="0">
              <a:solidFill>
                <a:srgbClr val="000066"/>
              </a:solidFill>
              <a:effectLst>
                <a:outerShdw blurRad="38100" dist="38100" dir="2700000" algn="tl">
                  <a:srgbClr val="C0C0C0"/>
                </a:outerShdw>
              </a:effectLst>
              <a:latin typeface="楷体_GB2312" pitchFamily="49" charset="-122"/>
              <a:ea typeface="楷体_GB2312" pitchFamily="49" charset="-122"/>
              <a:cs typeface="+mn-cs"/>
            </a:endParaRPr>
          </a:p>
          <a:p>
            <a:pPr marL="457200" marR="0" lvl="0" indent="-457200" algn="l" defTabSz="914400" rtl="0" eaLnBrk="0" fontAlgn="base" latinLnBrk="0" hangingPunct="0">
              <a:lnSpc>
                <a:spcPct val="110000"/>
              </a:lnSpc>
              <a:spcBef>
                <a:spcPct val="0"/>
              </a:spcBef>
              <a:spcAft>
                <a:spcPct val="40000"/>
              </a:spcAft>
              <a:buClrTx/>
              <a:buSzTx/>
              <a:buFont typeface="Wingdings" panose="05000000000000000000" charset="0"/>
              <a:buChar char="u"/>
              <a:defRPr/>
            </a:pPr>
            <a:r>
              <a:rPr kumimoji="1" lang="en-US" altLang="zh-CN" sz="2800" b="1" noProof="0"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减少数据冗余</a:t>
            </a:r>
            <a:endParaRPr kumimoji="1" lang="en-US" altLang="zh-CN" sz="2800" b="1" i="0" u="none" strike="noStrike" kern="1200" cap="none" spc="0" normalizeH="0" baseline="0" noProof="0" dirty="0">
              <a:solidFill>
                <a:srgbClr val="000066"/>
              </a:solidFill>
              <a:effectLst>
                <a:outerShdw blurRad="38100" dist="38100" dir="2700000" algn="tl">
                  <a:srgbClr val="C0C0C0"/>
                </a:outerShdw>
              </a:effectLst>
              <a:latin typeface="楷体_GB2312" pitchFamily="49" charset="-122"/>
              <a:ea typeface="楷体_GB2312" pitchFamily="49" charset="-122"/>
              <a:cs typeface="+mn-cs"/>
            </a:endParaRPr>
          </a:p>
          <a:p>
            <a:pPr marL="457200" marR="0" lvl="0" indent="-457200" algn="l" defTabSz="914400" rtl="0" eaLnBrk="0" fontAlgn="base" latinLnBrk="0" hangingPunct="0">
              <a:lnSpc>
                <a:spcPct val="110000"/>
              </a:lnSpc>
              <a:spcBef>
                <a:spcPct val="0"/>
              </a:spcBef>
              <a:spcAft>
                <a:spcPct val="40000"/>
              </a:spcAft>
              <a:buClrTx/>
              <a:buSzTx/>
              <a:buFont typeface="Wingdings" panose="05000000000000000000" charset="0"/>
              <a:buChar char="u"/>
              <a:defRPr/>
            </a:pPr>
            <a:r>
              <a:rPr kumimoji="1" lang="en-US" altLang="zh-CN" sz="2800" b="1" noProof="0"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数据安全</a:t>
            </a:r>
            <a:endParaRPr kumimoji="1" lang="en-US" altLang="zh-CN" sz="2800" b="1" i="0" u="none" strike="noStrike" kern="1200" cap="none" spc="0" normalizeH="0" baseline="0" noProof="0" dirty="0">
              <a:solidFill>
                <a:srgbClr val="000066"/>
              </a:solidFill>
              <a:effectLst>
                <a:outerShdw blurRad="38100" dist="38100" dir="2700000" algn="tl">
                  <a:srgbClr val="C0C0C0"/>
                </a:outerShdw>
              </a:effectLst>
              <a:latin typeface="楷体_GB2312" pitchFamily="49" charset="-122"/>
              <a:ea typeface="楷体_GB2312" pitchFamily="49" charset="-122"/>
              <a:cs typeface="+mn-cs"/>
            </a:endParaRPr>
          </a:p>
          <a:p>
            <a:pPr marL="457200" marR="0" lvl="0" indent="-457200" algn="l" defTabSz="914400" rtl="0" eaLnBrk="0" fontAlgn="base" latinLnBrk="0" hangingPunct="0">
              <a:lnSpc>
                <a:spcPct val="110000"/>
              </a:lnSpc>
              <a:spcBef>
                <a:spcPct val="0"/>
              </a:spcBef>
              <a:spcAft>
                <a:spcPct val="40000"/>
              </a:spcAft>
              <a:buClrTx/>
              <a:buSzTx/>
              <a:buFont typeface="Wingdings" panose="05000000000000000000" charset="0"/>
              <a:buChar char="u"/>
              <a:defRPr/>
            </a:pPr>
            <a:r>
              <a:rPr kumimoji="1" lang="en-US" altLang="zh-CN" sz="2800" b="1" noProof="0"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适应灵活多变的需求</a:t>
            </a:r>
            <a:endParaRPr kumimoji="1" lang="en-US" altLang="zh-CN" sz="2800" b="1" i="0" u="none" strike="noStrike" kern="1200" cap="none" spc="0" normalizeH="0" baseline="0" noProof="0" dirty="0">
              <a:solidFill>
                <a:srgbClr val="000066"/>
              </a:solidFill>
              <a:effectLst>
                <a:outerShdw blurRad="38100" dist="38100" dir="2700000" algn="tl">
                  <a:srgbClr val="C0C0C0"/>
                </a:outerShdw>
              </a:effectLst>
              <a:latin typeface="楷体_GB2312" pitchFamily="49" charset="-122"/>
              <a:ea typeface="楷体_GB2312" pitchFamily="49" charset="-122"/>
              <a:cs typeface="+mn-cs"/>
            </a:endParaRPr>
          </a:p>
          <a:p>
            <a:pPr marL="457200" marR="0" lvl="0" indent="-457200" algn="l" defTabSz="914400" rtl="0" eaLnBrk="0" fontAlgn="base" latinLnBrk="0" hangingPunct="0">
              <a:lnSpc>
                <a:spcPct val="110000"/>
              </a:lnSpc>
              <a:spcBef>
                <a:spcPct val="0"/>
              </a:spcBef>
              <a:spcAft>
                <a:spcPct val="40000"/>
              </a:spcAft>
              <a:buClrTx/>
              <a:buSzTx/>
              <a:buFont typeface="Wingdings" panose="05000000000000000000" charset="0"/>
              <a:buChar char="u"/>
              <a:defRPr/>
            </a:pPr>
            <a:r>
              <a:rPr kumimoji="1" lang="en-US" altLang="zh-CN" sz="2800" b="1" noProof="0" dirty="0">
                <a:solidFill>
                  <a:srgbClr val="000066"/>
                </a:solidFill>
                <a:effectLst>
                  <a:outerShdw blurRad="38100" dist="38100" dir="2700000" algn="tl">
                    <a:srgbClr val="C0C0C0"/>
                  </a:outerShdw>
                </a:effectLst>
                <a:latin typeface="楷体_GB2312" pitchFamily="49" charset="-122"/>
                <a:ea typeface="楷体_GB2312" pitchFamily="49" charset="-122"/>
                <a:sym typeface="+mn-ea"/>
              </a:rPr>
              <a:t>能够分解复杂的查询逻辑</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lvl="0" eaLnBrk="0" hangingPunct="0">
              <a:defRPr/>
            </a:pPr>
            <a:r>
              <a:rPr lang="zh-CN" altLang="en-US" sz="4000" b="1" dirty="0">
                <a:solidFill>
                  <a:schemeClr val="bg1"/>
                </a:solidFill>
                <a:latin typeface="+mn-ea"/>
                <a:ea typeface="+mn-ea"/>
                <a:sym typeface="Impact" panose="020B0806030902050204" pitchFamily="34" charset="0"/>
              </a:rPr>
              <a:t>数据库的三级模式结构</a:t>
            </a:r>
          </a:p>
        </p:txBody>
      </p:sp>
      <p:grpSp>
        <p:nvGrpSpPr>
          <p:cNvPr id="7" name="组合 10"/>
          <p:cNvGrpSpPr>
            <a:grpSpLocks/>
          </p:cNvGrpSpPr>
          <p:nvPr/>
        </p:nvGrpSpPr>
        <p:grpSpPr bwMode="auto">
          <a:xfrm>
            <a:off x="2082800" y="1101725"/>
            <a:ext cx="8420100" cy="5429250"/>
            <a:chOff x="342900" y="400050"/>
            <a:chExt cx="8420100" cy="5429250"/>
          </a:xfrm>
        </p:grpSpPr>
        <p:sp>
          <p:nvSpPr>
            <p:cNvPr id="8" name="AutoShape 2"/>
            <p:cNvSpPr>
              <a:spLocks noChangeArrowheads="1"/>
            </p:cNvSpPr>
            <p:nvPr/>
          </p:nvSpPr>
          <p:spPr bwMode="auto">
            <a:xfrm>
              <a:off x="4114800" y="5257800"/>
              <a:ext cx="933450" cy="571500"/>
            </a:xfrm>
            <a:prstGeom prst="can">
              <a:avLst>
                <a:gd name="adj" fmla="val 25000"/>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buFont typeface="Arial" charset="0"/>
                <a:buNone/>
              </a:pPr>
              <a:endParaRPr lang="zh-CN" altLang="en-US"/>
            </a:p>
          </p:txBody>
        </p:sp>
        <p:sp>
          <p:nvSpPr>
            <p:cNvPr id="9" name="Text Box 3"/>
            <p:cNvSpPr txBox="1">
              <a:spLocks noChangeArrowheads="1"/>
            </p:cNvSpPr>
            <p:nvPr/>
          </p:nvSpPr>
          <p:spPr bwMode="auto">
            <a:xfrm>
              <a:off x="4121150" y="5410200"/>
              <a:ext cx="962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28287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2000">
                  <a:solidFill>
                    <a:srgbClr val="990099"/>
                  </a:solidFill>
                </a:rPr>
                <a:t>数据库</a:t>
              </a:r>
            </a:p>
          </p:txBody>
        </p:sp>
        <p:sp>
          <p:nvSpPr>
            <p:cNvPr id="10" name="Rectangle 4"/>
            <p:cNvSpPr>
              <a:spLocks noChangeArrowheads="1"/>
            </p:cNvSpPr>
            <p:nvPr/>
          </p:nvSpPr>
          <p:spPr bwMode="auto">
            <a:xfrm>
              <a:off x="914400" y="400050"/>
              <a:ext cx="1219200" cy="381000"/>
            </a:xfrm>
            <a:prstGeom prst="rect">
              <a:avLst/>
            </a:prstGeom>
            <a:solidFill>
              <a:schemeClr val="accent1"/>
            </a:solidFill>
            <a:ln w="9525">
              <a:solidFill>
                <a:srgbClr val="28287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buFont typeface="Arial" charset="0"/>
                <a:buNone/>
              </a:pPr>
              <a:endParaRPr lang="zh-CN" altLang="en-US"/>
            </a:p>
          </p:txBody>
        </p:sp>
        <p:sp>
          <p:nvSpPr>
            <p:cNvPr id="11" name="Rectangle 5"/>
            <p:cNvSpPr>
              <a:spLocks noChangeArrowheads="1"/>
            </p:cNvSpPr>
            <p:nvPr/>
          </p:nvSpPr>
          <p:spPr bwMode="auto">
            <a:xfrm>
              <a:off x="2438400" y="400050"/>
              <a:ext cx="1244600" cy="381000"/>
            </a:xfrm>
            <a:prstGeom prst="rect">
              <a:avLst/>
            </a:prstGeom>
            <a:solidFill>
              <a:schemeClr val="accent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2000">
                  <a:solidFill>
                    <a:srgbClr val="990099"/>
                  </a:solidFill>
                </a:rPr>
                <a:t>应用</a:t>
              </a:r>
              <a:r>
                <a:rPr lang="en-US" altLang="zh-CN" sz="2000">
                  <a:solidFill>
                    <a:srgbClr val="990099"/>
                  </a:solidFill>
                </a:rPr>
                <a:t>B</a:t>
              </a:r>
            </a:p>
          </p:txBody>
        </p:sp>
        <p:sp>
          <p:nvSpPr>
            <p:cNvPr id="12" name="Rectangle 6"/>
            <p:cNvSpPr>
              <a:spLocks noChangeArrowheads="1"/>
            </p:cNvSpPr>
            <p:nvPr/>
          </p:nvSpPr>
          <p:spPr bwMode="auto">
            <a:xfrm>
              <a:off x="5600700" y="400050"/>
              <a:ext cx="1257300" cy="381000"/>
            </a:xfrm>
            <a:prstGeom prst="rect">
              <a:avLst/>
            </a:prstGeom>
            <a:solidFill>
              <a:schemeClr val="accent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2000">
                  <a:solidFill>
                    <a:srgbClr val="990099"/>
                  </a:solidFill>
                </a:rPr>
                <a:t>应用</a:t>
              </a:r>
              <a:r>
                <a:rPr lang="en-US" altLang="zh-CN" sz="2000">
                  <a:solidFill>
                    <a:srgbClr val="990099"/>
                  </a:solidFill>
                </a:rPr>
                <a:t>D</a:t>
              </a:r>
            </a:p>
          </p:txBody>
        </p:sp>
        <p:sp>
          <p:nvSpPr>
            <p:cNvPr id="13" name="Rectangle 7"/>
            <p:cNvSpPr>
              <a:spLocks noChangeArrowheads="1"/>
            </p:cNvSpPr>
            <p:nvPr/>
          </p:nvSpPr>
          <p:spPr bwMode="auto">
            <a:xfrm>
              <a:off x="7162800" y="400050"/>
              <a:ext cx="1257300" cy="381000"/>
            </a:xfrm>
            <a:prstGeom prst="rect">
              <a:avLst/>
            </a:prstGeom>
            <a:solidFill>
              <a:schemeClr val="accent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2000">
                  <a:solidFill>
                    <a:srgbClr val="990099"/>
                  </a:solidFill>
                </a:rPr>
                <a:t>应用</a:t>
              </a:r>
              <a:r>
                <a:rPr lang="en-US" altLang="zh-CN" sz="2000">
                  <a:solidFill>
                    <a:srgbClr val="990099"/>
                  </a:solidFill>
                </a:rPr>
                <a:t>E</a:t>
              </a:r>
            </a:p>
          </p:txBody>
        </p:sp>
        <p:sp>
          <p:nvSpPr>
            <p:cNvPr id="14" name="Rectangle 8"/>
            <p:cNvSpPr>
              <a:spLocks noChangeArrowheads="1"/>
            </p:cNvSpPr>
            <p:nvPr/>
          </p:nvSpPr>
          <p:spPr bwMode="auto">
            <a:xfrm>
              <a:off x="1752600" y="1238250"/>
              <a:ext cx="1231900" cy="381000"/>
            </a:xfrm>
            <a:prstGeom prst="rect">
              <a:avLst/>
            </a:prstGeom>
            <a:solidFill>
              <a:srgbClr val="FF9900"/>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2000">
                  <a:solidFill>
                    <a:srgbClr val="990099"/>
                  </a:solidFill>
                </a:rPr>
                <a:t>外模式</a:t>
              </a:r>
              <a:r>
                <a:rPr lang="en-US" altLang="zh-CN" sz="2000">
                  <a:solidFill>
                    <a:srgbClr val="990099"/>
                  </a:solidFill>
                </a:rPr>
                <a:t>1</a:t>
              </a:r>
            </a:p>
          </p:txBody>
        </p:sp>
        <p:sp>
          <p:nvSpPr>
            <p:cNvPr id="15" name="Rectangle 9"/>
            <p:cNvSpPr>
              <a:spLocks noChangeArrowheads="1"/>
            </p:cNvSpPr>
            <p:nvPr/>
          </p:nvSpPr>
          <p:spPr bwMode="auto">
            <a:xfrm>
              <a:off x="4000500" y="1238250"/>
              <a:ext cx="1257300" cy="381000"/>
            </a:xfrm>
            <a:prstGeom prst="rect">
              <a:avLst/>
            </a:prstGeom>
            <a:solidFill>
              <a:srgbClr val="FF9933"/>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2000">
                  <a:solidFill>
                    <a:srgbClr val="990099"/>
                  </a:solidFill>
                </a:rPr>
                <a:t>外模式</a:t>
              </a:r>
              <a:r>
                <a:rPr lang="en-US" altLang="zh-CN" sz="2000">
                  <a:solidFill>
                    <a:srgbClr val="990099"/>
                  </a:solidFill>
                </a:rPr>
                <a:t>2</a:t>
              </a:r>
            </a:p>
          </p:txBody>
        </p:sp>
        <p:sp>
          <p:nvSpPr>
            <p:cNvPr id="16" name="Rectangle 10"/>
            <p:cNvSpPr>
              <a:spLocks noChangeArrowheads="1"/>
            </p:cNvSpPr>
            <p:nvPr/>
          </p:nvSpPr>
          <p:spPr bwMode="auto">
            <a:xfrm>
              <a:off x="6515100" y="1238250"/>
              <a:ext cx="1257300" cy="381000"/>
            </a:xfrm>
            <a:prstGeom prst="rect">
              <a:avLst/>
            </a:prstGeom>
            <a:solidFill>
              <a:srgbClr val="FF9933"/>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2000">
                  <a:solidFill>
                    <a:srgbClr val="990099"/>
                  </a:solidFill>
                </a:rPr>
                <a:t>外模式</a:t>
              </a:r>
              <a:r>
                <a:rPr lang="en-US" altLang="zh-CN" sz="2000">
                  <a:solidFill>
                    <a:srgbClr val="990099"/>
                  </a:solidFill>
                </a:rPr>
                <a:t>n</a:t>
              </a:r>
            </a:p>
          </p:txBody>
        </p:sp>
        <p:sp>
          <p:nvSpPr>
            <p:cNvPr id="17" name="Rectangle 11"/>
            <p:cNvSpPr>
              <a:spLocks noChangeArrowheads="1"/>
            </p:cNvSpPr>
            <p:nvPr/>
          </p:nvSpPr>
          <p:spPr bwMode="auto">
            <a:xfrm>
              <a:off x="4013200" y="2914650"/>
              <a:ext cx="1244600" cy="381000"/>
            </a:xfrm>
            <a:prstGeom prst="rect">
              <a:avLst/>
            </a:prstGeom>
            <a:solidFill>
              <a:srgbClr val="FF9900"/>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2000">
                  <a:solidFill>
                    <a:srgbClr val="990099"/>
                  </a:solidFill>
                </a:rPr>
                <a:t>模式</a:t>
              </a:r>
            </a:p>
          </p:txBody>
        </p:sp>
        <p:sp>
          <p:nvSpPr>
            <p:cNvPr id="18" name="Rectangle 12"/>
            <p:cNvSpPr>
              <a:spLocks noChangeArrowheads="1"/>
            </p:cNvSpPr>
            <p:nvPr/>
          </p:nvSpPr>
          <p:spPr bwMode="auto">
            <a:xfrm>
              <a:off x="4025900" y="400050"/>
              <a:ext cx="1231900" cy="381000"/>
            </a:xfrm>
            <a:prstGeom prst="rect">
              <a:avLst/>
            </a:prstGeom>
            <a:solidFill>
              <a:schemeClr val="accent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2000">
                  <a:solidFill>
                    <a:srgbClr val="990099"/>
                  </a:solidFill>
                </a:rPr>
                <a:t>应用</a:t>
              </a:r>
              <a:r>
                <a:rPr lang="en-US" altLang="zh-CN" sz="2000">
                  <a:solidFill>
                    <a:srgbClr val="990099"/>
                  </a:solidFill>
                </a:rPr>
                <a:t>C</a:t>
              </a:r>
            </a:p>
          </p:txBody>
        </p:sp>
        <p:sp>
          <p:nvSpPr>
            <p:cNvPr id="19" name="Line 13"/>
            <p:cNvSpPr>
              <a:spLocks noChangeShapeType="1"/>
            </p:cNvSpPr>
            <p:nvPr/>
          </p:nvSpPr>
          <p:spPr bwMode="auto">
            <a:xfrm>
              <a:off x="1524000" y="781050"/>
              <a:ext cx="666750" cy="47625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4"/>
            <p:cNvSpPr>
              <a:spLocks noChangeShapeType="1"/>
            </p:cNvSpPr>
            <p:nvPr/>
          </p:nvSpPr>
          <p:spPr bwMode="auto">
            <a:xfrm flipH="1">
              <a:off x="2476500" y="800100"/>
              <a:ext cx="685800" cy="43815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5"/>
            <p:cNvSpPr>
              <a:spLocks noChangeShapeType="1"/>
            </p:cNvSpPr>
            <p:nvPr/>
          </p:nvSpPr>
          <p:spPr bwMode="auto">
            <a:xfrm>
              <a:off x="6248400" y="781050"/>
              <a:ext cx="704850" cy="45720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6"/>
            <p:cNvSpPr>
              <a:spLocks noChangeShapeType="1"/>
            </p:cNvSpPr>
            <p:nvPr/>
          </p:nvSpPr>
          <p:spPr bwMode="auto">
            <a:xfrm flipH="1">
              <a:off x="7315200" y="781050"/>
              <a:ext cx="495300" cy="45720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7"/>
            <p:cNvSpPr>
              <a:spLocks noChangeShapeType="1"/>
            </p:cNvSpPr>
            <p:nvPr/>
          </p:nvSpPr>
          <p:spPr bwMode="auto">
            <a:xfrm>
              <a:off x="4572000" y="781050"/>
              <a:ext cx="0" cy="45720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Rectangle 18"/>
            <p:cNvSpPr>
              <a:spLocks noChangeArrowheads="1"/>
            </p:cNvSpPr>
            <p:nvPr/>
          </p:nvSpPr>
          <p:spPr bwMode="auto">
            <a:xfrm>
              <a:off x="2819400" y="2112963"/>
              <a:ext cx="3505200" cy="420687"/>
            </a:xfrm>
            <a:prstGeom prst="rect">
              <a:avLst/>
            </a:prstGeom>
            <a:solidFill>
              <a:srgbClr val="FFCCCC"/>
            </a:solidFill>
            <a:ln w="38100">
              <a:solidFill>
                <a:schemeClr val="accent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buFont typeface="Arial" charset="0"/>
                <a:buNone/>
              </a:pPr>
              <a:endParaRPr lang="zh-CN" altLang="en-US"/>
            </a:p>
          </p:txBody>
        </p:sp>
        <p:sp>
          <p:nvSpPr>
            <p:cNvPr id="25" name="Rectangle 19"/>
            <p:cNvSpPr>
              <a:spLocks noChangeArrowheads="1"/>
            </p:cNvSpPr>
            <p:nvPr/>
          </p:nvSpPr>
          <p:spPr bwMode="auto">
            <a:xfrm>
              <a:off x="3254375" y="3714750"/>
              <a:ext cx="2660650" cy="381000"/>
            </a:xfrm>
            <a:prstGeom prst="rect">
              <a:avLst/>
            </a:prstGeom>
            <a:solidFill>
              <a:srgbClr val="FFCCCC"/>
            </a:solidFill>
            <a:ln w="38100">
              <a:solidFill>
                <a:schemeClr val="accent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buFont typeface="Arial" charset="0"/>
                <a:buNone/>
              </a:pPr>
              <a:endParaRPr lang="zh-CN" altLang="en-US"/>
            </a:p>
          </p:txBody>
        </p:sp>
        <p:sp>
          <p:nvSpPr>
            <p:cNvPr id="26" name="Rectangle 20"/>
            <p:cNvSpPr>
              <a:spLocks noChangeArrowheads="1"/>
            </p:cNvSpPr>
            <p:nvPr/>
          </p:nvSpPr>
          <p:spPr bwMode="auto">
            <a:xfrm>
              <a:off x="4013200" y="4476750"/>
              <a:ext cx="1244600" cy="381000"/>
            </a:xfrm>
            <a:prstGeom prst="rect">
              <a:avLst/>
            </a:prstGeom>
            <a:solidFill>
              <a:srgbClr val="FF9933"/>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2000">
                  <a:solidFill>
                    <a:srgbClr val="990099"/>
                  </a:solidFill>
                </a:rPr>
                <a:t>内模式</a:t>
              </a:r>
            </a:p>
          </p:txBody>
        </p:sp>
        <p:sp>
          <p:nvSpPr>
            <p:cNvPr id="27" name="Line 21"/>
            <p:cNvSpPr>
              <a:spLocks noChangeShapeType="1"/>
            </p:cNvSpPr>
            <p:nvPr/>
          </p:nvSpPr>
          <p:spPr bwMode="auto">
            <a:xfrm>
              <a:off x="4572000" y="1619250"/>
              <a:ext cx="0" cy="53340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2"/>
            <p:cNvSpPr>
              <a:spLocks noChangeShapeType="1"/>
            </p:cNvSpPr>
            <p:nvPr/>
          </p:nvSpPr>
          <p:spPr bwMode="auto">
            <a:xfrm>
              <a:off x="4572000" y="2514600"/>
              <a:ext cx="0" cy="40005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3"/>
            <p:cNvSpPr>
              <a:spLocks noChangeShapeType="1"/>
            </p:cNvSpPr>
            <p:nvPr/>
          </p:nvSpPr>
          <p:spPr bwMode="auto">
            <a:xfrm>
              <a:off x="4572000" y="3295650"/>
              <a:ext cx="0" cy="41910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4"/>
            <p:cNvSpPr>
              <a:spLocks noChangeShapeType="1"/>
            </p:cNvSpPr>
            <p:nvPr/>
          </p:nvSpPr>
          <p:spPr bwMode="auto">
            <a:xfrm>
              <a:off x="4572000" y="4076700"/>
              <a:ext cx="0" cy="40005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Oval 25"/>
            <p:cNvSpPr>
              <a:spLocks noChangeArrowheads="1"/>
            </p:cNvSpPr>
            <p:nvPr/>
          </p:nvSpPr>
          <p:spPr bwMode="auto">
            <a:xfrm>
              <a:off x="7670800" y="2686050"/>
              <a:ext cx="1016000" cy="762000"/>
            </a:xfrm>
            <a:prstGeom prst="ellipse">
              <a:avLst/>
            </a:prstGeom>
            <a:solidFill>
              <a:schemeClr val="accent1"/>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en-US" altLang="zh-CN" sz="2000">
                  <a:solidFill>
                    <a:srgbClr val="990099"/>
                  </a:solidFill>
                </a:rPr>
                <a:t>DBMS</a:t>
              </a:r>
            </a:p>
          </p:txBody>
        </p:sp>
        <p:sp>
          <p:nvSpPr>
            <p:cNvPr id="32" name="Oval 26"/>
            <p:cNvSpPr>
              <a:spLocks noChangeArrowheads="1"/>
            </p:cNvSpPr>
            <p:nvPr/>
          </p:nvSpPr>
          <p:spPr bwMode="auto">
            <a:xfrm>
              <a:off x="7162800" y="4591050"/>
              <a:ext cx="736600" cy="609600"/>
            </a:xfrm>
            <a:prstGeom prst="ellipse">
              <a:avLst/>
            </a:prstGeom>
            <a:solidFill>
              <a:schemeClr val="accent1"/>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en-US" altLang="zh-CN" sz="2000">
                  <a:solidFill>
                    <a:srgbClr val="990099"/>
                  </a:solidFill>
                </a:rPr>
                <a:t>OS</a:t>
              </a:r>
            </a:p>
          </p:txBody>
        </p:sp>
        <p:sp>
          <p:nvSpPr>
            <p:cNvPr id="33" name="Line 27"/>
            <p:cNvSpPr>
              <a:spLocks noChangeShapeType="1"/>
            </p:cNvSpPr>
            <p:nvPr/>
          </p:nvSpPr>
          <p:spPr bwMode="auto">
            <a:xfrm flipH="1" flipV="1">
              <a:off x="8153400" y="1009650"/>
              <a:ext cx="0" cy="1676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28"/>
            <p:cNvSpPr>
              <a:spLocks noChangeShapeType="1"/>
            </p:cNvSpPr>
            <p:nvPr/>
          </p:nvSpPr>
          <p:spPr bwMode="auto">
            <a:xfrm>
              <a:off x="7772400" y="1009650"/>
              <a:ext cx="990600" cy="0"/>
            </a:xfrm>
            <a:prstGeom prst="line">
              <a:avLst/>
            </a:prstGeom>
            <a:noFill/>
            <a:ln w="38100">
              <a:solidFill>
                <a:srgbClr val="990099"/>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29"/>
            <p:cNvSpPr>
              <a:spLocks noChangeShapeType="1"/>
            </p:cNvSpPr>
            <p:nvPr/>
          </p:nvSpPr>
          <p:spPr bwMode="auto">
            <a:xfrm>
              <a:off x="6705600" y="1771650"/>
              <a:ext cx="990600" cy="0"/>
            </a:xfrm>
            <a:prstGeom prst="line">
              <a:avLst/>
            </a:prstGeom>
            <a:noFill/>
            <a:ln w="9525">
              <a:solidFill>
                <a:srgbClr val="FFFF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30"/>
            <p:cNvSpPr>
              <a:spLocks noChangeShapeType="1"/>
            </p:cNvSpPr>
            <p:nvPr/>
          </p:nvSpPr>
          <p:spPr bwMode="auto">
            <a:xfrm flipH="1" flipV="1">
              <a:off x="6324600" y="2381250"/>
              <a:ext cx="1371600" cy="533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1"/>
            <p:cNvSpPr>
              <a:spLocks noChangeShapeType="1"/>
            </p:cNvSpPr>
            <p:nvPr/>
          </p:nvSpPr>
          <p:spPr bwMode="auto">
            <a:xfrm flipH="1">
              <a:off x="5257800" y="3067050"/>
              <a:ext cx="24384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2"/>
            <p:cNvSpPr>
              <a:spLocks noChangeShapeType="1"/>
            </p:cNvSpPr>
            <p:nvPr/>
          </p:nvSpPr>
          <p:spPr bwMode="auto">
            <a:xfrm flipH="1">
              <a:off x="5943600" y="3219450"/>
              <a:ext cx="1828800" cy="457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3"/>
            <p:cNvSpPr>
              <a:spLocks noChangeShapeType="1"/>
            </p:cNvSpPr>
            <p:nvPr/>
          </p:nvSpPr>
          <p:spPr bwMode="auto">
            <a:xfrm flipH="1">
              <a:off x="5257800" y="3371850"/>
              <a:ext cx="2667000" cy="1295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4"/>
            <p:cNvSpPr>
              <a:spLocks noChangeShapeType="1"/>
            </p:cNvSpPr>
            <p:nvPr/>
          </p:nvSpPr>
          <p:spPr bwMode="auto">
            <a:xfrm flipH="1">
              <a:off x="7562850" y="3409950"/>
              <a:ext cx="476250" cy="118110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5"/>
            <p:cNvSpPr>
              <a:spLocks noChangeShapeType="1"/>
            </p:cNvSpPr>
            <p:nvPr/>
          </p:nvSpPr>
          <p:spPr bwMode="auto">
            <a:xfrm flipH="1">
              <a:off x="5048250" y="5010150"/>
              <a:ext cx="2152650" cy="53340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36"/>
            <p:cNvSpPr>
              <a:spLocks noChangeShapeType="1"/>
            </p:cNvSpPr>
            <p:nvPr/>
          </p:nvSpPr>
          <p:spPr bwMode="auto">
            <a:xfrm>
              <a:off x="685800" y="1695450"/>
              <a:ext cx="990600" cy="0"/>
            </a:xfrm>
            <a:prstGeom prst="line">
              <a:avLst/>
            </a:prstGeom>
            <a:noFill/>
            <a:ln w="38100">
              <a:solidFill>
                <a:srgbClr val="990099"/>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37"/>
            <p:cNvSpPr>
              <a:spLocks noChangeShapeType="1"/>
            </p:cNvSpPr>
            <p:nvPr/>
          </p:nvSpPr>
          <p:spPr bwMode="auto">
            <a:xfrm>
              <a:off x="762000" y="3086100"/>
              <a:ext cx="3048000" cy="0"/>
            </a:xfrm>
            <a:prstGeom prst="line">
              <a:avLst/>
            </a:prstGeom>
            <a:noFill/>
            <a:ln w="38100">
              <a:solidFill>
                <a:srgbClr val="990099"/>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38"/>
            <p:cNvSpPr>
              <a:spLocks noChangeShapeType="1"/>
            </p:cNvSpPr>
            <p:nvPr/>
          </p:nvSpPr>
          <p:spPr bwMode="auto">
            <a:xfrm>
              <a:off x="838200" y="4648200"/>
              <a:ext cx="3048000" cy="0"/>
            </a:xfrm>
            <a:prstGeom prst="line">
              <a:avLst/>
            </a:prstGeom>
            <a:noFill/>
            <a:ln w="38100">
              <a:solidFill>
                <a:srgbClr val="990099"/>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39"/>
            <p:cNvSpPr>
              <a:spLocks noChangeShapeType="1"/>
            </p:cNvSpPr>
            <p:nvPr/>
          </p:nvSpPr>
          <p:spPr bwMode="auto">
            <a:xfrm>
              <a:off x="4572000" y="4857750"/>
              <a:ext cx="0" cy="40005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Text Box 40"/>
            <p:cNvSpPr txBox="1">
              <a:spLocks noChangeArrowheads="1"/>
            </p:cNvSpPr>
            <p:nvPr/>
          </p:nvSpPr>
          <p:spPr bwMode="auto">
            <a:xfrm>
              <a:off x="1066800" y="40005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spcBef>
                  <a:spcPct val="50000"/>
                </a:spcBef>
                <a:buFont typeface="Arial" charset="0"/>
                <a:buNone/>
              </a:pPr>
              <a:r>
                <a:rPr lang="zh-CN" altLang="en-US" sz="2000">
                  <a:solidFill>
                    <a:srgbClr val="990099"/>
                  </a:solidFill>
                </a:rPr>
                <a:t>应用</a:t>
              </a:r>
              <a:r>
                <a:rPr lang="en-US" altLang="zh-CN" sz="2000">
                  <a:solidFill>
                    <a:srgbClr val="990099"/>
                  </a:solidFill>
                </a:rPr>
                <a:t>A</a:t>
              </a:r>
            </a:p>
          </p:txBody>
        </p:sp>
        <p:sp>
          <p:nvSpPr>
            <p:cNvPr id="47" name="Text Box 41"/>
            <p:cNvSpPr txBox="1">
              <a:spLocks noChangeArrowheads="1"/>
            </p:cNvSpPr>
            <p:nvPr/>
          </p:nvSpPr>
          <p:spPr bwMode="auto">
            <a:xfrm>
              <a:off x="4191000" y="116205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28287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spcBef>
                  <a:spcPct val="50000"/>
                </a:spcBef>
                <a:buFont typeface="Arial" charset="0"/>
                <a:buNone/>
              </a:pPr>
              <a:endParaRPr lang="zh-TW" altLang="en-US" sz="2000">
                <a:solidFill>
                  <a:srgbClr val="990099"/>
                </a:solidFill>
              </a:endParaRPr>
            </a:p>
          </p:txBody>
        </p:sp>
        <p:sp>
          <p:nvSpPr>
            <p:cNvPr id="48" name="Text Box 42"/>
            <p:cNvSpPr txBox="1">
              <a:spLocks noChangeArrowheads="1"/>
            </p:cNvSpPr>
            <p:nvPr/>
          </p:nvSpPr>
          <p:spPr bwMode="auto">
            <a:xfrm>
              <a:off x="2895600" y="2116138"/>
              <a:ext cx="3352800" cy="396875"/>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cap="rnd">
                  <a:solidFill>
                    <a:srgbClr val="FF33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2000">
                  <a:solidFill>
                    <a:schemeClr val="accent2"/>
                  </a:solidFill>
                </a:rPr>
                <a:t>外模式</a:t>
              </a:r>
              <a:r>
                <a:rPr lang="en-US" altLang="zh-CN" sz="2000">
                  <a:solidFill>
                    <a:schemeClr val="accent2"/>
                  </a:solidFill>
                </a:rPr>
                <a:t>/</a:t>
              </a:r>
              <a:r>
                <a:rPr lang="zh-CN" altLang="en-US" sz="2000">
                  <a:solidFill>
                    <a:schemeClr val="accent2"/>
                  </a:solidFill>
                </a:rPr>
                <a:t>模式映像</a:t>
              </a:r>
            </a:p>
          </p:txBody>
        </p:sp>
        <p:sp>
          <p:nvSpPr>
            <p:cNvPr id="49" name="Text Box 43"/>
            <p:cNvSpPr txBox="1">
              <a:spLocks noChangeArrowheads="1"/>
            </p:cNvSpPr>
            <p:nvPr/>
          </p:nvSpPr>
          <p:spPr bwMode="auto">
            <a:xfrm>
              <a:off x="3149600" y="2097088"/>
              <a:ext cx="28749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28287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endParaRPr lang="zh-TW" altLang="en-US" sz="2000">
                <a:solidFill>
                  <a:schemeClr val="accent2"/>
                </a:solidFill>
              </a:endParaRPr>
            </a:p>
          </p:txBody>
        </p:sp>
        <p:sp>
          <p:nvSpPr>
            <p:cNvPr id="50" name="Text Box 44"/>
            <p:cNvSpPr txBox="1">
              <a:spLocks noChangeArrowheads="1"/>
            </p:cNvSpPr>
            <p:nvPr/>
          </p:nvSpPr>
          <p:spPr bwMode="auto">
            <a:xfrm>
              <a:off x="3551238" y="3695700"/>
              <a:ext cx="2089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rgbClr val="FF33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2000">
                  <a:solidFill>
                    <a:schemeClr val="accent2"/>
                  </a:solidFill>
                </a:rPr>
                <a:t>模式</a:t>
              </a:r>
              <a:r>
                <a:rPr lang="en-US" altLang="zh-CN" sz="2000">
                  <a:solidFill>
                    <a:schemeClr val="accent2"/>
                  </a:solidFill>
                </a:rPr>
                <a:t>/</a:t>
              </a:r>
              <a:r>
                <a:rPr lang="zh-CN" altLang="en-US" sz="2000">
                  <a:solidFill>
                    <a:schemeClr val="accent2"/>
                  </a:solidFill>
                </a:rPr>
                <a:t>内模式映像</a:t>
              </a:r>
            </a:p>
          </p:txBody>
        </p:sp>
        <p:sp>
          <p:nvSpPr>
            <p:cNvPr id="51" name="Text Box 45"/>
            <p:cNvSpPr txBox="1">
              <a:spLocks noChangeArrowheads="1"/>
            </p:cNvSpPr>
            <p:nvPr/>
          </p:nvSpPr>
          <p:spPr bwMode="auto">
            <a:xfrm>
              <a:off x="760413" y="1314450"/>
              <a:ext cx="976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99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2000">
                  <a:solidFill>
                    <a:srgbClr val="990099"/>
                  </a:solidFill>
                </a:rPr>
                <a:t>外部级</a:t>
              </a:r>
            </a:p>
          </p:txBody>
        </p:sp>
        <p:sp>
          <p:nvSpPr>
            <p:cNvPr id="52" name="Text Box 46"/>
            <p:cNvSpPr txBox="1">
              <a:spLocks noChangeArrowheads="1"/>
            </p:cNvSpPr>
            <p:nvPr/>
          </p:nvSpPr>
          <p:spPr bwMode="auto">
            <a:xfrm>
              <a:off x="342900" y="1695450"/>
              <a:ext cx="1816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28287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2000">
                  <a:solidFill>
                    <a:srgbClr val="990099"/>
                  </a:solidFill>
                </a:rPr>
                <a:t>单个用户视图</a:t>
              </a:r>
            </a:p>
          </p:txBody>
        </p:sp>
        <p:sp>
          <p:nvSpPr>
            <p:cNvPr id="53" name="Text Box 47"/>
            <p:cNvSpPr txBox="1">
              <a:spLocks noChangeArrowheads="1"/>
            </p:cNvSpPr>
            <p:nvPr/>
          </p:nvSpPr>
          <p:spPr bwMode="auto">
            <a:xfrm>
              <a:off x="668338" y="2609850"/>
              <a:ext cx="10144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28287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2000">
                  <a:solidFill>
                    <a:srgbClr val="990099"/>
                  </a:solidFill>
                </a:rPr>
                <a:t>概念级</a:t>
              </a:r>
            </a:p>
          </p:txBody>
        </p:sp>
        <p:sp>
          <p:nvSpPr>
            <p:cNvPr id="54" name="Text Box 48"/>
            <p:cNvSpPr txBox="1">
              <a:spLocks noChangeArrowheads="1"/>
            </p:cNvSpPr>
            <p:nvPr/>
          </p:nvSpPr>
          <p:spPr bwMode="auto">
            <a:xfrm>
              <a:off x="615950" y="3121025"/>
              <a:ext cx="12319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28287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2000">
                  <a:solidFill>
                    <a:srgbClr val="990099"/>
                  </a:solidFill>
                </a:rPr>
                <a:t>全局视图</a:t>
              </a:r>
            </a:p>
          </p:txBody>
        </p:sp>
        <p:sp>
          <p:nvSpPr>
            <p:cNvPr id="55" name="Text Box 49"/>
            <p:cNvSpPr txBox="1">
              <a:spLocks noChangeArrowheads="1"/>
            </p:cNvSpPr>
            <p:nvPr/>
          </p:nvSpPr>
          <p:spPr bwMode="auto">
            <a:xfrm>
              <a:off x="819150" y="4187825"/>
              <a:ext cx="10017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28287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2000">
                  <a:solidFill>
                    <a:srgbClr val="990099"/>
                  </a:solidFill>
                </a:rPr>
                <a:t>内部级</a:t>
              </a:r>
            </a:p>
          </p:txBody>
        </p:sp>
        <p:sp>
          <p:nvSpPr>
            <p:cNvPr id="56" name="Text Box 50"/>
            <p:cNvSpPr txBox="1">
              <a:spLocks noChangeArrowheads="1"/>
            </p:cNvSpPr>
            <p:nvPr/>
          </p:nvSpPr>
          <p:spPr bwMode="auto">
            <a:xfrm>
              <a:off x="692150" y="4721225"/>
              <a:ext cx="1206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28287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2000">
                  <a:solidFill>
                    <a:srgbClr val="990099"/>
                  </a:solidFill>
                </a:rPr>
                <a:t>存储视图</a:t>
              </a:r>
            </a:p>
          </p:txBody>
        </p:sp>
        <p:sp>
          <p:nvSpPr>
            <p:cNvPr id="57" name="Line 51"/>
            <p:cNvSpPr>
              <a:spLocks noChangeShapeType="1"/>
            </p:cNvSpPr>
            <p:nvPr/>
          </p:nvSpPr>
          <p:spPr bwMode="auto">
            <a:xfrm flipH="1" flipV="1">
              <a:off x="7124700" y="1619250"/>
              <a:ext cx="800100" cy="1143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Text Box 52"/>
            <p:cNvSpPr txBox="1">
              <a:spLocks noChangeArrowheads="1"/>
            </p:cNvSpPr>
            <p:nvPr/>
          </p:nvSpPr>
          <p:spPr bwMode="auto">
            <a:xfrm>
              <a:off x="5461000" y="116205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28287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buFont typeface="Arial" charset="0"/>
                <a:buNone/>
                <a:defRPr/>
              </a:pPr>
              <a:r>
                <a:rPr lang="en-US" altLang="zh-CN" sz="2000">
                  <a:solidFill>
                    <a:srgbClr val="990099"/>
                  </a:solidFill>
                  <a:effectLst>
                    <a:outerShdw blurRad="38100" dist="38100" dir="2700000" algn="tl">
                      <a:srgbClr val="C0C0C0"/>
                    </a:outerShdw>
                  </a:effectLst>
                  <a:ea typeface="宋体" pitchFamily="2" charset="-122"/>
                </a:rPr>
                <a:t>...</a:t>
              </a:r>
            </a:p>
          </p:txBody>
        </p:sp>
        <p:sp>
          <p:nvSpPr>
            <p:cNvPr id="59" name="Line 53"/>
            <p:cNvSpPr>
              <a:spLocks noChangeShapeType="1"/>
            </p:cNvSpPr>
            <p:nvPr/>
          </p:nvSpPr>
          <p:spPr bwMode="auto">
            <a:xfrm>
              <a:off x="2286000" y="1619250"/>
              <a:ext cx="1371600" cy="53340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54"/>
            <p:cNvSpPr>
              <a:spLocks noChangeShapeType="1"/>
            </p:cNvSpPr>
            <p:nvPr/>
          </p:nvSpPr>
          <p:spPr bwMode="auto">
            <a:xfrm flipH="1">
              <a:off x="5791200" y="1638300"/>
              <a:ext cx="1028700" cy="51435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Text Box 55"/>
            <p:cNvSpPr txBox="1">
              <a:spLocks noChangeArrowheads="1"/>
            </p:cNvSpPr>
            <p:nvPr/>
          </p:nvSpPr>
          <p:spPr bwMode="auto">
            <a:xfrm>
              <a:off x="388938" y="768350"/>
              <a:ext cx="746125"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buFont typeface="Arial" charset="0"/>
                <a:buNone/>
              </a:pPr>
              <a:r>
                <a:rPr lang="zh-CN" altLang="en-US" sz="2000">
                  <a:latin typeface="Times New Roman" pitchFamily="18" charset="0"/>
                </a:rPr>
                <a:t>用户</a:t>
              </a:r>
              <a:br>
                <a:rPr lang="zh-CN" altLang="en-US" sz="2000">
                  <a:latin typeface="Times New Roman" pitchFamily="18" charset="0"/>
                </a:rPr>
              </a:br>
              <a:r>
                <a:rPr lang="zh-CN" altLang="en-US" sz="2000">
                  <a:latin typeface="Times New Roman" pitchFamily="18" charset="0"/>
                </a:rPr>
                <a:t>视图</a:t>
              </a:r>
            </a:p>
          </p:txBody>
        </p:sp>
        <p:sp>
          <p:nvSpPr>
            <p:cNvPr id="62" name="Text Box 56"/>
            <p:cNvSpPr txBox="1">
              <a:spLocks noChangeArrowheads="1"/>
            </p:cNvSpPr>
            <p:nvPr/>
          </p:nvSpPr>
          <p:spPr bwMode="auto">
            <a:xfrm>
              <a:off x="1955800" y="2722563"/>
              <a:ext cx="787400"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en-US" altLang="zh-CN" sz="2000"/>
                <a:t>DBA</a:t>
              </a:r>
              <a:r>
                <a:rPr lang="zh-CN" altLang="en-US" sz="2000"/>
                <a:t>视图</a:t>
              </a:r>
            </a:p>
          </p:txBody>
        </p:sp>
        <p:sp>
          <p:nvSpPr>
            <p:cNvPr id="63" name="Text Box 57"/>
            <p:cNvSpPr txBox="1">
              <a:spLocks noChangeArrowheads="1"/>
            </p:cNvSpPr>
            <p:nvPr/>
          </p:nvSpPr>
          <p:spPr bwMode="auto">
            <a:xfrm>
              <a:off x="2095500" y="4291013"/>
              <a:ext cx="762000" cy="712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buFont typeface="Arial" charset="0"/>
                <a:buNone/>
              </a:pPr>
              <a:r>
                <a:rPr lang="zh-CN" altLang="en-US" sz="2000"/>
                <a:t>内部</a:t>
              </a:r>
              <a:br>
                <a:rPr lang="zh-CN" altLang="en-US" sz="2000"/>
              </a:br>
              <a:r>
                <a:rPr lang="zh-CN" altLang="en-US" sz="2000"/>
                <a:t>视图</a:t>
              </a:r>
            </a:p>
          </p:txBody>
        </p:sp>
        <p:sp>
          <p:nvSpPr>
            <p:cNvPr id="64" name="AutoShape 58"/>
            <p:cNvSpPr>
              <a:spLocks/>
            </p:cNvSpPr>
            <p:nvPr/>
          </p:nvSpPr>
          <p:spPr bwMode="auto">
            <a:xfrm>
              <a:off x="1071563" y="842963"/>
              <a:ext cx="88900" cy="762000"/>
            </a:xfrm>
            <a:prstGeom prst="leftBrace">
              <a:avLst>
                <a:gd name="adj1" fmla="val 71429"/>
                <a:gd name="adj2" fmla="val 50000"/>
              </a:avLst>
            </a:prstGeom>
            <a:noFill/>
            <a:ln w="38100">
              <a:solidFill>
                <a:srgbClr val="FF66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buFont typeface="Arial" charset="0"/>
                <a:buNone/>
              </a:pPr>
              <a:endParaRPr lang="zh-CN" altLang="en-US"/>
            </a:p>
          </p:txBody>
        </p:sp>
        <p:sp>
          <p:nvSpPr>
            <p:cNvPr id="65" name="AutoShape 59"/>
            <p:cNvSpPr>
              <a:spLocks/>
            </p:cNvSpPr>
            <p:nvPr/>
          </p:nvSpPr>
          <p:spPr bwMode="auto">
            <a:xfrm>
              <a:off x="2730500" y="2735263"/>
              <a:ext cx="88900" cy="762000"/>
            </a:xfrm>
            <a:prstGeom prst="leftBrace">
              <a:avLst>
                <a:gd name="adj1" fmla="val 71429"/>
                <a:gd name="adj2" fmla="val 50000"/>
              </a:avLst>
            </a:prstGeom>
            <a:noFill/>
            <a:ln w="38100">
              <a:solidFill>
                <a:srgbClr val="FF66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buFont typeface="Arial" charset="0"/>
                <a:buNone/>
              </a:pPr>
              <a:endParaRPr lang="zh-CN" altLang="en-US"/>
            </a:p>
          </p:txBody>
        </p:sp>
        <p:sp>
          <p:nvSpPr>
            <p:cNvPr id="66" name="AutoShape 60"/>
            <p:cNvSpPr>
              <a:spLocks/>
            </p:cNvSpPr>
            <p:nvPr/>
          </p:nvSpPr>
          <p:spPr bwMode="auto">
            <a:xfrm>
              <a:off x="2806700" y="4311650"/>
              <a:ext cx="88900" cy="762000"/>
            </a:xfrm>
            <a:prstGeom prst="leftBrace">
              <a:avLst>
                <a:gd name="adj1" fmla="val 71429"/>
                <a:gd name="adj2" fmla="val 50000"/>
              </a:avLst>
            </a:prstGeom>
            <a:noFill/>
            <a:ln w="38100">
              <a:solidFill>
                <a:srgbClr val="FF66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buFont typeface="Arial" charset="0"/>
                <a:buNone/>
              </a:pPr>
              <a:endParaRPr lang="zh-CN" altLang="en-US"/>
            </a:p>
          </p:txBody>
        </p:sp>
      </p:grpSp>
    </p:spTree>
    <p:extLst>
      <p:ext uri="{BB962C8B-B14F-4D97-AF65-F5344CB8AC3E}">
        <p14:creationId xmlns:p14="http://schemas.microsoft.com/office/powerpoint/2010/main" val="1193402393"/>
      </p:ext>
    </p:extLst>
  </p:cSld>
  <p:clrMapOvr>
    <a:masterClrMapping/>
  </p:clrMapOvr>
  <p:transition spd="slow">
    <p:pull/>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8105"/>
            <a:ext cx="604837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lvl="0" eaLnBrk="0" hangingPunct="0">
              <a:defRPr/>
            </a:pPr>
            <a:r>
              <a:rPr lang="zh-CN" altLang="en-US" sz="4000" b="1" dirty="0">
                <a:solidFill>
                  <a:schemeClr val="bg1"/>
                </a:solidFill>
                <a:latin typeface="+mn-ea"/>
                <a:ea typeface="+mn-ea"/>
                <a:sym typeface="Impact" panose="020B0806030902050204" pitchFamily="34" charset="0"/>
              </a:rPr>
              <a:t>数据库的三级模式结构</a:t>
            </a:r>
          </a:p>
        </p:txBody>
      </p:sp>
      <p:sp>
        <p:nvSpPr>
          <p:cNvPr id="67" name="Rectangle 2"/>
          <p:cNvSpPr>
            <a:spLocks noChangeArrowheads="1"/>
          </p:cNvSpPr>
          <p:nvPr/>
        </p:nvSpPr>
        <p:spPr bwMode="auto">
          <a:xfrm>
            <a:off x="1851024" y="1268412"/>
            <a:ext cx="7920405" cy="4752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5000"/>
              </a:lnSpc>
              <a:spcAft>
                <a:spcPct val="45000"/>
              </a:spcAft>
              <a:buClr>
                <a:srgbClr val="FF0000"/>
              </a:buClr>
              <a:buFont typeface="Arial" charset="0"/>
              <a:buNone/>
              <a:defRPr/>
            </a:pPr>
            <a:r>
              <a:rPr kumimoji="1" lang="zh-CN" altLang="en-US" sz="3600" b="1" dirty="0">
                <a:solidFill>
                  <a:srgbClr val="002060"/>
                </a:solidFill>
                <a:effectLst>
                  <a:outerShdw blurRad="38100" dist="38100" dir="2700000" algn="tl">
                    <a:srgbClr val="C0C0C0"/>
                  </a:outerShdw>
                </a:effectLst>
                <a:latin typeface="Times New Roman" pitchFamily="18" charset="0"/>
                <a:ea typeface="仿宋_GB2312" pitchFamily="49" charset="-122"/>
              </a:rPr>
              <a:t>数据库三层模式</a:t>
            </a:r>
            <a:r>
              <a:rPr kumimoji="1" lang="en-US" altLang="zh-CN" sz="3600" b="1" dirty="0">
                <a:solidFill>
                  <a:srgbClr val="002060"/>
                </a:solidFill>
                <a:effectLst>
                  <a:outerShdw blurRad="38100" dist="38100" dir="2700000" algn="tl">
                    <a:srgbClr val="C0C0C0"/>
                  </a:outerShdw>
                </a:effectLst>
                <a:latin typeface="Times New Roman" pitchFamily="18" charset="0"/>
                <a:ea typeface="仿宋_GB2312" pitchFamily="49" charset="-122"/>
              </a:rPr>
              <a:t>/</a:t>
            </a:r>
            <a:r>
              <a:rPr kumimoji="1" lang="zh-CN" altLang="en-US" sz="3600" b="1" dirty="0">
                <a:solidFill>
                  <a:srgbClr val="002060"/>
                </a:solidFill>
                <a:effectLst>
                  <a:outerShdw blurRad="38100" dist="38100" dir="2700000" algn="tl">
                    <a:srgbClr val="C0C0C0"/>
                  </a:outerShdw>
                </a:effectLst>
                <a:latin typeface="Times New Roman" pitchFamily="18" charset="0"/>
                <a:ea typeface="仿宋_GB2312" pitchFamily="49" charset="-122"/>
              </a:rPr>
              <a:t>两级映象的好处</a:t>
            </a:r>
          </a:p>
          <a:p>
            <a:pPr lvl="1">
              <a:lnSpc>
                <a:spcPct val="105000"/>
              </a:lnSpc>
              <a:spcAft>
                <a:spcPct val="45000"/>
              </a:spcAft>
              <a:buClr>
                <a:srgbClr val="990033"/>
              </a:buClr>
              <a:buFont typeface="Wingdings" pitchFamily="2" charset="2"/>
              <a:buChar char="H"/>
              <a:defRPr/>
            </a:pPr>
            <a:r>
              <a:rPr lang="zh-CN" altLang="en-US" sz="2800" b="1" dirty="0">
                <a:solidFill>
                  <a:srgbClr val="000066"/>
                </a:solidFill>
                <a:effectLst>
                  <a:outerShdw blurRad="38100" dist="38100" dir="2700000" algn="tl">
                    <a:srgbClr val="C0C0C0"/>
                  </a:outerShdw>
                </a:effectLst>
                <a:latin typeface="仿宋_GB2312" pitchFamily="49" charset="-122"/>
                <a:ea typeface="仿宋_GB2312" pitchFamily="49" charset="-122"/>
              </a:rPr>
              <a:t> 方便了用户的使用，简化了用户的接口；</a:t>
            </a:r>
          </a:p>
          <a:p>
            <a:pPr lvl="1">
              <a:lnSpc>
                <a:spcPct val="105000"/>
              </a:lnSpc>
              <a:spcAft>
                <a:spcPct val="45000"/>
              </a:spcAft>
              <a:buClr>
                <a:srgbClr val="990033"/>
              </a:buClr>
              <a:buFont typeface="Wingdings" pitchFamily="2" charset="2"/>
              <a:buChar char="H"/>
              <a:defRPr/>
            </a:pPr>
            <a:r>
              <a:rPr lang="zh-CN" altLang="en-US" sz="2800" b="1" dirty="0">
                <a:solidFill>
                  <a:srgbClr val="000066"/>
                </a:solidFill>
                <a:effectLst>
                  <a:outerShdw blurRad="38100" dist="38100" dir="2700000" algn="tl">
                    <a:srgbClr val="C0C0C0"/>
                  </a:outerShdw>
                </a:effectLst>
                <a:latin typeface="仿宋_GB2312" pitchFamily="49" charset="-122"/>
                <a:ea typeface="仿宋_GB2312" pitchFamily="49" charset="-122"/>
              </a:rPr>
              <a:t> 实现了数据的独立性；</a:t>
            </a:r>
          </a:p>
          <a:p>
            <a:pPr lvl="2">
              <a:lnSpc>
                <a:spcPct val="105000"/>
              </a:lnSpc>
              <a:spcAft>
                <a:spcPct val="45000"/>
              </a:spcAft>
              <a:buClr>
                <a:srgbClr val="000066"/>
              </a:buClr>
              <a:buFont typeface="Wingdings" pitchFamily="2" charset="2"/>
              <a:buChar char="4"/>
              <a:defRPr/>
            </a:pPr>
            <a:r>
              <a:rPr lang="zh-CN" altLang="en-US" sz="2800" b="1" dirty="0">
                <a:solidFill>
                  <a:srgbClr val="000066"/>
                </a:solidFill>
                <a:effectLst>
                  <a:outerShdw blurRad="38100" dist="38100" dir="2700000" algn="tl">
                    <a:srgbClr val="C0C0C0"/>
                  </a:outerShdw>
                </a:effectLst>
                <a:latin typeface="仿宋_GB2312" pitchFamily="49" charset="-122"/>
                <a:ea typeface="仿宋_GB2312" pitchFamily="49" charset="-122"/>
              </a:rPr>
              <a:t> 物理数据独立</a:t>
            </a:r>
          </a:p>
          <a:p>
            <a:pPr lvl="2">
              <a:lnSpc>
                <a:spcPct val="105000"/>
              </a:lnSpc>
              <a:spcAft>
                <a:spcPct val="45000"/>
              </a:spcAft>
              <a:buClr>
                <a:srgbClr val="000066"/>
              </a:buClr>
              <a:buFont typeface="Wingdings" pitchFamily="2" charset="2"/>
              <a:buChar char="4"/>
              <a:defRPr/>
            </a:pPr>
            <a:r>
              <a:rPr lang="zh-CN" altLang="en-US" sz="2800" b="1" dirty="0">
                <a:solidFill>
                  <a:srgbClr val="000066"/>
                </a:solidFill>
                <a:effectLst>
                  <a:outerShdw blurRad="38100" dist="38100" dir="2700000" algn="tl">
                    <a:srgbClr val="C0C0C0"/>
                  </a:outerShdw>
                </a:effectLst>
                <a:latin typeface="仿宋_GB2312" pitchFamily="49" charset="-122"/>
                <a:ea typeface="仿宋_GB2312" pitchFamily="49" charset="-122"/>
              </a:rPr>
              <a:t> 逻辑数据独立</a:t>
            </a:r>
          </a:p>
          <a:p>
            <a:pPr lvl="1">
              <a:lnSpc>
                <a:spcPct val="105000"/>
              </a:lnSpc>
              <a:spcAft>
                <a:spcPct val="45000"/>
              </a:spcAft>
              <a:buClr>
                <a:srgbClr val="990033"/>
              </a:buClr>
              <a:buFont typeface="Wingdings" pitchFamily="2" charset="2"/>
              <a:buChar char="H"/>
              <a:defRPr/>
            </a:pPr>
            <a:r>
              <a:rPr lang="zh-CN" altLang="en-US" sz="2800" b="1" dirty="0">
                <a:solidFill>
                  <a:srgbClr val="000066"/>
                </a:solidFill>
                <a:effectLst>
                  <a:outerShdw blurRad="38100" dist="38100" dir="2700000" algn="tl">
                    <a:srgbClr val="C0C0C0"/>
                  </a:outerShdw>
                </a:effectLst>
                <a:latin typeface="仿宋_GB2312" pitchFamily="49" charset="-122"/>
                <a:ea typeface="仿宋_GB2312" pitchFamily="49" charset="-122"/>
              </a:rPr>
              <a:t> 有利于数据共享；</a:t>
            </a:r>
          </a:p>
          <a:p>
            <a:pPr lvl="1">
              <a:lnSpc>
                <a:spcPct val="105000"/>
              </a:lnSpc>
              <a:spcAft>
                <a:spcPct val="45000"/>
              </a:spcAft>
              <a:buClr>
                <a:srgbClr val="990033"/>
              </a:buClr>
              <a:buFont typeface="Wingdings" pitchFamily="2" charset="2"/>
              <a:buChar char="H"/>
              <a:defRPr/>
            </a:pPr>
            <a:r>
              <a:rPr lang="zh-CN" altLang="en-US" sz="2800" b="1" dirty="0">
                <a:solidFill>
                  <a:srgbClr val="000066"/>
                </a:solidFill>
                <a:effectLst>
                  <a:outerShdw blurRad="38100" dist="38100" dir="2700000" algn="tl">
                    <a:srgbClr val="C0C0C0"/>
                  </a:outerShdw>
                </a:effectLst>
                <a:latin typeface="仿宋_GB2312" pitchFamily="49" charset="-122"/>
                <a:ea typeface="仿宋_GB2312" pitchFamily="49" charset="-122"/>
              </a:rPr>
              <a:t> 有利于数据的安全和保密；</a:t>
            </a:r>
          </a:p>
        </p:txBody>
      </p:sp>
    </p:spTree>
    <p:extLst>
      <p:ext uri="{BB962C8B-B14F-4D97-AF65-F5344CB8AC3E}">
        <p14:creationId xmlns:p14="http://schemas.microsoft.com/office/powerpoint/2010/main" val="1252692686"/>
      </p:ext>
    </p:extLst>
  </p:cSld>
  <p:clrMapOvr>
    <a:masterClrMapping/>
  </p:clrMapOvr>
  <p:transition spd="slow">
    <p:pull/>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rPr>
              <a:t>练习</a:t>
            </a:r>
          </a:p>
        </p:txBody>
      </p:sp>
      <p:sp>
        <p:nvSpPr>
          <p:cNvPr id="14" name="文本框 1"/>
          <p:cNvSpPr txBox="1"/>
          <p:nvPr/>
        </p:nvSpPr>
        <p:spPr>
          <a:xfrm>
            <a:off x="935379" y="1052835"/>
            <a:ext cx="10601026" cy="523220"/>
          </a:xfrm>
          <a:prstGeom prst="rect">
            <a:avLst/>
          </a:prstGeom>
          <a:noFill/>
          <a:ln w="9525">
            <a:noFill/>
          </a:ln>
        </p:spPr>
        <p:txBody>
          <a:bodyPr wrap="square">
            <a:spAutoFit/>
          </a:bodyPr>
          <a:lstStyle/>
          <a:p>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在</a:t>
            </a:r>
            <a:r>
              <a:rPr kumimoji="1" lang="en-US" altLang="zh-CN" sz="2800" b="1" dirty="0" err="1">
                <a:solidFill>
                  <a:srgbClr val="C00000"/>
                </a:solidFill>
                <a:effectLst>
                  <a:outerShdw blurRad="38100" dist="38100" dir="2700000" algn="tl">
                    <a:srgbClr val="C0C0C0"/>
                  </a:outerShdw>
                </a:effectLst>
                <a:latin typeface="楷体_GB2312" pitchFamily="49" charset="-122"/>
                <a:ea typeface="楷体_GB2312" pitchFamily="49" charset="-122"/>
                <a:sym typeface="+mn-ea"/>
              </a:rPr>
              <a:t>zlgc</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sym typeface="+mn-ea"/>
              </a:rPr>
              <a:t>表中完成以下任务：</a:t>
            </a:r>
          </a:p>
        </p:txBody>
      </p:sp>
      <p:sp>
        <p:nvSpPr>
          <p:cNvPr id="16" name="文本框 1"/>
          <p:cNvSpPr txBox="1"/>
          <p:nvPr/>
        </p:nvSpPr>
        <p:spPr>
          <a:xfrm>
            <a:off x="1037410" y="2280614"/>
            <a:ext cx="10512730" cy="461665"/>
          </a:xfrm>
          <a:prstGeom prst="rect">
            <a:avLst/>
          </a:prstGeom>
          <a:noFill/>
          <a:ln w="9525">
            <a:noFill/>
          </a:ln>
        </p:spPr>
        <p:txBody>
          <a:bodyPr wrap="square">
            <a:spAutoFit/>
          </a:bodyPr>
          <a:lstStyle/>
          <a:p>
            <a:r>
              <a:rPr lang="en-US" altLang="zh-CN" sz="2400" b="1" dirty="0">
                <a:solidFill>
                  <a:srgbClr val="002060"/>
                </a:solidFill>
              </a:rPr>
              <a:t>ALTER TABLE </a:t>
            </a:r>
            <a:r>
              <a:rPr lang="en-US" altLang="zh-CN" sz="2400" b="1" dirty="0" err="1">
                <a:solidFill>
                  <a:srgbClr val="002060"/>
                </a:solidFill>
              </a:rPr>
              <a:t>zlgc</a:t>
            </a:r>
            <a:r>
              <a:rPr lang="en-US" altLang="zh-CN" sz="2400" b="1" dirty="0">
                <a:solidFill>
                  <a:srgbClr val="002060"/>
                </a:solidFill>
              </a:rPr>
              <a:t> ADD  PRIMARY KEY(</a:t>
            </a:r>
            <a:r>
              <a:rPr lang="zh-CN" altLang="en-US" sz="2400" b="1" dirty="0">
                <a:solidFill>
                  <a:srgbClr val="002060"/>
                </a:solidFill>
              </a:rPr>
              <a:t>序号</a:t>
            </a:r>
            <a:r>
              <a:rPr lang="en-US" altLang="zh-CN" sz="2400" b="1" dirty="0">
                <a:solidFill>
                  <a:srgbClr val="002060"/>
                </a:solidFill>
              </a:rPr>
              <a:t>); </a:t>
            </a:r>
          </a:p>
        </p:txBody>
      </p:sp>
      <p:sp>
        <p:nvSpPr>
          <p:cNvPr id="17" name="文本框 1"/>
          <p:cNvSpPr txBox="1"/>
          <p:nvPr/>
        </p:nvSpPr>
        <p:spPr>
          <a:xfrm>
            <a:off x="626795" y="1592514"/>
            <a:ext cx="10601026" cy="461665"/>
          </a:xfrm>
          <a:prstGeom prst="rect">
            <a:avLst/>
          </a:prstGeom>
          <a:noFill/>
          <a:ln w="9525">
            <a:noFill/>
          </a:ln>
        </p:spPr>
        <p:txBody>
          <a:bodyPr wrap="square">
            <a:spAutoFit/>
          </a:bodyPr>
          <a:lstStyle/>
          <a:p>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a:t>
            </a:r>
            <a:r>
              <a:rPr kumimoji="1" lang="en-US" altLang="zh-CN" sz="2400" b="1" dirty="0">
                <a:effectLst>
                  <a:outerShdw blurRad="38100" dist="38100" dir="2700000" algn="tl">
                    <a:srgbClr val="C0C0C0"/>
                  </a:outerShdw>
                </a:effectLst>
                <a:latin typeface="楷体_GB2312" pitchFamily="49" charset="-122"/>
                <a:ea typeface="楷体_GB2312" pitchFamily="49" charset="-122"/>
                <a:sym typeface="+mn-ea"/>
              </a:rPr>
              <a:t>1</a:t>
            </a:r>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）在“序号”上创建主键索引</a:t>
            </a:r>
            <a:r>
              <a:rPr kumimoji="1" lang="en-US" altLang="zh-CN" sz="2400" b="1" dirty="0">
                <a:effectLst>
                  <a:outerShdw blurRad="38100" dist="38100" dir="2700000" algn="tl">
                    <a:srgbClr val="C0C0C0"/>
                  </a:outerShdw>
                </a:effectLst>
                <a:latin typeface="楷体_GB2312" pitchFamily="49" charset="-122"/>
                <a:ea typeface="楷体_GB2312" pitchFamily="49" charset="-122"/>
                <a:sym typeface="+mn-ea"/>
              </a:rPr>
              <a:t>primary</a:t>
            </a:r>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a:t>
            </a:r>
          </a:p>
        </p:txBody>
      </p:sp>
      <p:sp>
        <p:nvSpPr>
          <p:cNvPr id="18" name="文本框 1"/>
          <p:cNvSpPr txBox="1"/>
          <p:nvPr/>
        </p:nvSpPr>
        <p:spPr>
          <a:xfrm>
            <a:off x="626795" y="2853468"/>
            <a:ext cx="10601026" cy="461665"/>
          </a:xfrm>
          <a:prstGeom prst="rect">
            <a:avLst/>
          </a:prstGeom>
          <a:noFill/>
          <a:ln w="9525">
            <a:noFill/>
          </a:ln>
        </p:spPr>
        <p:txBody>
          <a:bodyPr wrap="square">
            <a:spAutoFit/>
          </a:bodyPr>
          <a:lstStyle/>
          <a:p>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a:t>
            </a:r>
            <a:r>
              <a:rPr kumimoji="1" lang="en-US" altLang="zh-CN" sz="2400" b="1" dirty="0">
                <a:effectLst>
                  <a:outerShdw blurRad="38100" dist="38100" dir="2700000" algn="tl">
                    <a:srgbClr val="C0C0C0"/>
                  </a:outerShdw>
                </a:effectLst>
                <a:latin typeface="楷体_GB2312" pitchFamily="49" charset="-122"/>
                <a:ea typeface="楷体_GB2312" pitchFamily="49" charset="-122"/>
                <a:sym typeface="+mn-ea"/>
              </a:rPr>
              <a:t>2</a:t>
            </a:r>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）在“项目名称”上创建前缀索引</a:t>
            </a:r>
            <a:r>
              <a:rPr lang="en-US" altLang="zh-CN" sz="2400" b="1" dirty="0" err="1">
                <a:solidFill>
                  <a:srgbClr val="002060"/>
                </a:solidFill>
              </a:rPr>
              <a:t>idx_pname</a:t>
            </a:r>
            <a:r>
              <a:rPr lang="en-US" altLang="zh-CN" sz="2400" b="1" dirty="0">
                <a:solidFill>
                  <a:srgbClr val="002060"/>
                </a:solidFill>
              </a:rPr>
              <a:t> </a:t>
            </a:r>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，并判断前缀字符个数；</a:t>
            </a:r>
          </a:p>
        </p:txBody>
      </p:sp>
      <p:sp>
        <p:nvSpPr>
          <p:cNvPr id="19" name="文本框 1"/>
          <p:cNvSpPr txBox="1"/>
          <p:nvPr/>
        </p:nvSpPr>
        <p:spPr>
          <a:xfrm>
            <a:off x="626794" y="4451887"/>
            <a:ext cx="11011641" cy="461665"/>
          </a:xfrm>
          <a:prstGeom prst="rect">
            <a:avLst/>
          </a:prstGeom>
          <a:noFill/>
          <a:ln w="9525">
            <a:noFill/>
          </a:ln>
        </p:spPr>
        <p:txBody>
          <a:bodyPr wrap="square">
            <a:spAutoFit/>
          </a:bodyPr>
          <a:lstStyle/>
          <a:p>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a:t>
            </a:r>
            <a:r>
              <a:rPr kumimoji="1" lang="en-US" altLang="zh-CN" sz="2400" b="1" dirty="0">
                <a:effectLst>
                  <a:outerShdw blurRad="38100" dist="38100" dir="2700000" algn="tl">
                    <a:srgbClr val="C0C0C0"/>
                  </a:outerShdw>
                </a:effectLst>
                <a:latin typeface="楷体_GB2312" pitchFamily="49" charset="-122"/>
                <a:ea typeface="楷体_GB2312" pitchFamily="49" charset="-122"/>
                <a:sym typeface="+mn-ea"/>
              </a:rPr>
              <a:t>3</a:t>
            </a:r>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）在“负责人”上创建全文索引</a:t>
            </a:r>
            <a:r>
              <a:rPr lang="en-US" altLang="zh-CN" sz="2400" b="1" dirty="0" err="1">
                <a:solidFill>
                  <a:srgbClr val="002060"/>
                </a:solidFill>
              </a:rPr>
              <a:t>ft_person</a:t>
            </a:r>
            <a:r>
              <a:rPr lang="en-US" altLang="zh-CN" sz="2400" b="1" dirty="0">
                <a:solidFill>
                  <a:srgbClr val="002060"/>
                </a:solidFill>
              </a:rPr>
              <a:t> </a:t>
            </a:r>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，并查找“曹慧平”参与的项目</a:t>
            </a:r>
            <a:r>
              <a:rPr kumimoji="1" lang="en-US" altLang="zh-CN" sz="2400" b="1" dirty="0">
                <a:effectLst>
                  <a:outerShdw blurRad="38100" dist="38100" dir="2700000" algn="tl">
                    <a:srgbClr val="C0C0C0"/>
                  </a:outerShdw>
                </a:effectLst>
                <a:latin typeface="楷体_GB2312" pitchFamily="49" charset="-122"/>
                <a:ea typeface="楷体_GB2312" pitchFamily="49" charset="-122"/>
                <a:sym typeface="+mn-ea"/>
              </a:rPr>
              <a:t> </a:t>
            </a:r>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a:t>
            </a:r>
          </a:p>
        </p:txBody>
      </p:sp>
      <p:sp>
        <p:nvSpPr>
          <p:cNvPr id="21" name="文本框 1"/>
          <p:cNvSpPr txBox="1"/>
          <p:nvPr/>
        </p:nvSpPr>
        <p:spPr>
          <a:xfrm>
            <a:off x="940820" y="3390058"/>
            <a:ext cx="11245614" cy="944554"/>
          </a:xfrm>
          <a:prstGeom prst="rect">
            <a:avLst/>
          </a:prstGeom>
          <a:noFill/>
          <a:ln w="9525">
            <a:noFill/>
          </a:ln>
        </p:spPr>
        <p:txBody>
          <a:bodyPr wrap="square">
            <a:spAutoFit/>
          </a:bodyPr>
          <a:lstStyle/>
          <a:p>
            <a:pPr>
              <a:lnSpc>
                <a:spcPts val="3500"/>
              </a:lnSpc>
            </a:pPr>
            <a:r>
              <a:rPr lang="en-US" altLang="zh-CN" sz="2400" b="1" dirty="0">
                <a:solidFill>
                  <a:srgbClr val="002060"/>
                </a:solidFill>
              </a:rPr>
              <a:t>CREATE INDEX </a:t>
            </a:r>
            <a:r>
              <a:rPr lang="en-US" altLang="zh-CN" sz="2400" b="1" dirty="0" err="1">
                <a:solidFill>
                  <a:srgbClr val="002060"/>
                </a:solidFill>
              </a:rPr>
              <a:t>idx_pname</a:t>
            </a:r>
            <a:r>
              <a:rPr lang="en-US" altLang="zh-CN" sz="2400" b="1" dirty="0">
                <a:solidFill>
                  <a:srgbClr val="002060"/>
                </a:solidFill>
              </a:rPr>
              <a:t> ON </a:t>
            </a:r>
            <a:r>
              <a:rPr lang="en-US" altLang="zh-CN" sz="2400" b="1" dirty="0" err="1">
                <a:solidFill>
                  <a:srgbClr val="002060"/>
                </a:solidFill>
              </a:rPr>
              <a:t>zlgc</a:t>
            </a:r>
            <a:r>
              <a:rPr lang="en-US" altLang="zh-CN" sz="2400" b="1" dirty="0">
                <a:solidFill>
                  <a:srgbClr val="002060"/>
                </a:solidFill>
              </a:rPr>
              <a:t>(</a:t>
            </a:r>
            <a:r>
              <a:rPr lang="zh-CN" altLang="en-US" sz="2400" b="1" dirty="0">
                <a:solidFill>
                  <a:srgbClr val="002060"/>
                </a:solidFill>
              </a:rPr>
              <a:t>项目名称</a:t>
            </a:r>
            <a:r>
              <a:rPr lang="en-US" altLang="zh-CN" sz="2400" b="1" dirty="0">
                <a:solidFill>
                  <a:srgbClr val="002060"/>
                </a:solidFill>
              </a:rPr>
              <a:t>(10));</a:t>
            </a:r>
          </a:p>
          <a:p>
            <a:pPr>
              <a:lnSpc>
                <a:spcPts val="3500"/>
              </a:lnSpc>
            </a:pPr>
            <a:r>
              <a:rPr lang="en-US" altLang="zh-CN" sz="2400" b="1" dirty="0">
                <a:solidFill>
                  <a:srgbClr val="002060"/>
                </a:solidFill>
              </a:rPr>
              <a:t>SELECT COUNT(DISTINCT LEFT(</a:t>
            </a:r>
            <a:r>
              <a:rPr lang="zh-CN" altLang="en-US" sz="2400" b="1" dirty="0">
                <a:solidFill>
                  <a:srgbClr val="002060"/>
                </a:solidFill>
              </a:rPr>
              <a:t>项目名称</a:t>
            </a:r>
            <a:r>
              <a:rPr lang="en-US" altLang="zh-CN" sz="2400" b="1" dirty="0">
                <a:solidFill>
                  <a:srgbClr val="002060"/>
                </a:solidFill>
              </a:rPr>
              <a:t>,10))/COUNT(</a:t>
            </a:r>
            <a:r>
              <a:rPr lang="zh-CN" altLang="en-US" sz="2400" b="1" dirty="0">
                <a:solidFill>
                  <a:srgbClr val="002060"/>
                </a:solidFill>
              </a:rPr>
              <a:t>项目名称</a:t>
            </a:r>
            <a:r>
              <a:rPr lang="en-US" altLang="zh-CN" sz="2400" b="1" dirty="0">
                <a:solidFill>
                  <a:srgbClr val="002060"/>
                </a:solidFill>
              </a:rPr>
              <a:t>) FROM </a:t>
            </a:r>
            <a:r>
              <a:rPr lang="en-US" altLang="zh-CN" sz="2400" b="1" dirty="0" err="1">
                <a:solidFill>
                  <a:srgbClr val="002060"/>
                </a:solidFill>
              </a:rPr>
              <a:t>zlgc</a:t>
            </a:r>
            <a:r>
              <a:rPr lang="en-US" altLang="zh-CN" sz="2400" b="1" dirty="0">
                <a:solidFill>
                  <a:srgbClr val="002060"/>
                </a:solidFill>
              </a:rPr>
              <a:t>;</a:t>
            </a:r>
          </a:p>
        </p:txBody>
      </p:sp>
      <p:sp>
        <p:nvSpPr>
          <p:cNvPr id="22" name="文本框 1"/>
          <p:cNvSpPr txBox="1"/>
          <p:nvPr/>
        </p:nvSpPr>
        <p:spPr>
          <a:xfrm>
            <a:off x="935379" y="4940766"/>
            <a:ext cx="11245614" cy="944554"/>
          </a:xfrm>
          <a:prstGeom prst="rect">
            <a:avLst/>
          </a:prstGeom>
          <a:noFill/>
          <a:ln w="9525">
            <a:noFill/>
          </a:ln>
        </p:spPr>
        <p:txBody>
          <a:bodyPr wrap="square">
            <a:spAutoFit/>
          </a:bodyPr>
          <a:lstStyle/>
          <a:p>
            <a:pPr>
              <a:lnSpc>
                <a:spcPts val="3500"/>
              </a:lnSpc>
            </a:pPr>
            <a:r>
              <a:rPr lang="en-US" altLang="zh-CN" sz="2400" b="1" dirty="0">
                <a:solidFill>
                  <a:srgbClr val="002060"/>
                </a:solidFill>
              </a:rPr>
              <a:t>CREATE </a:t>
            </a:r>
            <a:r>
              <a:rPr lang="en-US" altLang="zh-CN" sz="2400" b="1" dirty="0" err="1">
                <a:solidFill>
                  <a:srgbClr val="002060"/>
                </a:solidFill>
              </a:rPr>
              <a:t>FULLTEXT</a:t>
            </a:r>
            <a:r>
              <a:rPr lang="en-US" altLang="zh-CN" sz="2400" b="1" dirty="0">
                <a:solidFill>
                  <a:srgbClr val="002060"/>
                </a:solidFill>
              </a:rPr>
              <a:t> INDEX </a:t>
            </a:r>
            <a:r>
              <a:rPr lang="en-US" altLang="zh-CN" sz="2400" b="1" dirty="0" err="1">
                <a:solidFill>
                  <a:srgbClr val="002060"/>
                </a:solidFill>
              </a:rPr>
              <a:t>ft_person</a:t>
            </a:r>
            <a:r>
              <a:rPr lang="en-US" altLang="zh-CN" sz="2400" b="1" dirty="0">
                <a:solidFill>
                  <a:srgbClr val="002060"/>
                </a:solidFill>
              </a:rPr>
              <a:t> ON </a:t>
            </a:r>
            <a:r>
              <a:rPr lang="en-US" altLang="zh-CN" sz="2400" b="1" dirty="0" err="1">
                <a:solidFill>
                  <a:srgbClr val="002060"/>
                </a:solidFill>
              </a:rPr>
              <a:t>zlgc</a:t>
            </a:r>
            <a:r>
              <a:rPr lang="en-US" altLang="zh-CN" sz="2400" b="1" dirty="0">
                <a:solidFill>
                  <a:srgbClr val="002060"/>
                </a:solidFill>
              </a:rPr>
              <a:t>(</a:t>
            </a:r>
            <a:r>
              <a:rPr lang="zh-CN" altLang="en-US" sz="2400" b="1" dirty="0">
                <a:solidFill>
                  <a:srgbClr val="002060"/>
                </a:solidFill>
              </a:rPr>
              <a:t>负责人</a:t>
            </a:r>
            <a:r>
              <a:rPr lang="en-US" altLang="zh-CN" sz="2400" b="1" dirty="0">
                <a:solidFill>
                  <a:srgbClr val="002060"/>
                </a:solidFill>
              </a:rPr>
              <a:t>);</a:t>
            </a:r>
          </a:p>
          <a:p>
            <a:pPr>
              <a:lnSpc>
                <a:spcPts val="3500"/>
              </a:lnSpc>
            </a:pPr>
            <a:r>
              <a:rPr lang="en-US" altLang="zh-CN" sz="2400" b="1" dirty="0">
                <a:solidFill>
                  <a:srgbClr val="002060"/>
                </a:solidFill>
              </a:rPr>
              <a:t>SELECT * FROM </a:t>
            </a:r>
            <a:r>
              <a:rPr lang="en-US" altLang="zh-CN" sz="2400" b="1" dirty="0" err="1">
                <a:solidFill>
                  <a:srgbClr val="002060"/>
                </a:solidFill>
              </a:rPr>
              <a:t>zlgc</a:t>
            </a:r>
            <a:r>
              <a:rPr lang="en-US" altLang="zh-CN" sz="2400" b="1" dirty="0">
                <a:solidFill>
                  <a:srgbClr val="002060"/>
                </a:solidFill>
              </a:rPr>
              <a:t> WHERE MATCH(</a:t>
            </a:r>
            <a:r>
              <a:rPr lang="zh-CN" altLang="en-US" sz="2400" b="1" dirty="0">
                <a:solidFill>
                  <a:srgbClr val="002060"/>
                </a:solidFill>
              </a:rPr>
              <a:t>负责人</a:t>
            </a:r>
            <a:r>
              <a:rPr lang="en-US" altLang="zh-CN" sz="2400" b="1" dirty="0">
                <a:solidFill>
                  <a:srgbClr val="002060"/>
                </a:solidFill>
              </a:rPr>
              <a:t>) AGAINST('</a:t>
            </a:r>
            <a:r>
              <a:rPr lang="zh-CN" altLang="en-US" sz="2400" b="1" dirty="0">
                <a:solidFill>
                  <a:srgbClr val="002060"/>
                </a:solidFill>
              </a:rPr>
              <a:t>曹慧平</a:t>
            </a:r>
            <a:r>
              <a:rPr lang="en-US" altLang="zh-CN" sz="2400" b="1" dirty="0">
                <a:solidFill>
                  <a:srgbClr val="002060"/>
                </a:solidFill>
              </a:rPr>
              <a:t>' );</a:t>
            </a:r>
          </a:p>
        </p:txBody>
      </p:sp>
    </p:spTree>
    <p:extLst>
      <p:ext uri="{BB962C8B-B14F-4D97-AF65-F5344CB8AC3E}">
        <p14:creationId xmlns:p14="http://schemas.microsoft.com/office/powerpoint/2010/main" val="402801573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1" grpId="0"/>
      <p:bldP spid="2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rPr>
              <a:t>练习</a:t>
            </a:r>
          </a:p>
        </p:txBody>
      </p:sp>
      <p:sp>
        <p:nvSpPr>
          <p:cNvPr id="19" name="文本框 1"/>
          <p:cNvSpPr txBox="1"/>
          <p:nvPr/>
        </p:nvSpPr>
        <p:spPr>
          <a:xfrm>
            <a:off x="842810" y="1268850"/>
            <a:ext cx="11011641" cy="461665"/>
          </a:xfrm>
          <a:prstGeom prst="rect">
            <a:avLst/>
          </a:prstGeom>
          <a:noFill/>
          <a:ln w="9525">
            <a:noFill/>
          </a:ln>
        </p:spPr>
        <p:txBody>
          <a:bodyPr wrap="square">
            <a:spAutoFit/>
          </a:bodyPr>
          <a:lstStyle/>
          <a:p>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a:t>
            </a:r>
            <a:r>
              <a:rPr kumimoji="1" lang="en-US" altLang="zh-CN" sz="2400" b="1" dirty="0">
                <a:effectLst>
                  <a:outerShdw blurRad="38100" dist="38100" dir="2700000" algn="tl">
                    <a:srgbClr val="C0C0C0"/>
                  </a:outerShdw>
                </a:effectLst>
                <a:latin typeface="楷体_GB2312" pitchFamily="49" charset="-122"/>
                <a:ea typeface="楷体_GB2312" pitchFamily="49" charset="-122"/>
                <a:sym typeface="+mn-ea"/>
              </a:rPr>
              <a:t>4</a:t>
            </a:r>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）在“单位</a:t>
            </a:r>
            <a:r>
              <a:rPr kumimoji="1" lang="en-US" altLang="zh-CN" sz="2400" b="1" dirty="0">
                <a:effectLst>
                  <a:outerShdw blurRad="38100" dist="38100" dir="2700000" algn="tl">
                    <a:srgbClr val="C0C0C0"/>
                  </a:outerShdw>
                </a:effectLst>
                <a:latin typeface="楷体_GB2312" pitchFamily="49" charset="-122"/>
                <a:ea typeface="楷体_GB2312" pitchFamily="49" charset="-122"/>
                <a:sym typeface="+mn-ea"/>
              </a:rPr>
              <a:t>,</a:t>
            </a:r>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项目类别”上创建复合索引</a:t>
            </a:r>
            <a:r>
              <a:rPr lang="en-US" altLang="zh-CN" sz="2400" b="1" dirty="0" err="1"/>
              <a:t>idx_school_category</a:t>
            </a:r>
            <a:endPar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endParaRPr>
          </a:p>
        </p:txBody>
      </p:sp>
      <p:sp>
        <p:nvSpPr>
          <p:cNvPr id="22" name="文本框 1"/>
          <p:cNvSpPr txBox="1"/>
          <p:nvPr/>
        </p:nvSpPr>
        <p:spPr>
          <a:xfrm>
            <a:off x="1006777" y="1745128"/>
            <a:ext cx="10708181" cy="461665"/>
          </a:xfrm>
          <a:prstGeom prst="rect">
            <a:avLst/>
          </a:prstGeom>
          <a:noFill/>
          <a:ln w="9525">
            <a:noFill/>
          </a:ln>
        </p:spPr>
        <p:txBody>
          <a:bodyPr wrap="square">
            <a:spAutoFit/>
          </a:bodyPr>
          <a:lstStyle/>
          <a:p>
            <a:r>
              <a:rPr lang="en-US" altLang="zh-CN" sz="2400" b="1" dirty="0">
                <a:solidFill>
                  <a:srgbClr val="002060"/>
                </a:solidFill>
              </a:rPr>
              <a:t>CREATE INDEX </a:t>
            </a:r>
            <a:r>
              <a:rPr lang="en-US" altLang="zh-CN" sz="2400" b="1" dirty="0" err="1">
                <a:solidFill>
                  <a:srgbClr val="002060"/>
                </a:solidFill>
              </a:rPr>
              <a:t>idx_school_category</a:t>
            </a:r>
            <a:r>
              <a:rPr lang="en-US" altLang="zh-CN" sz="2400" b="1" dirty="0">
                <a:solidFill>
                  <a:srgbClr val="002060"/>
                </a:solidFill>
              </a:rPr>
              <a:t> ON </a:t>
            </a:r>
            <a:r>
              <a:rPr lang="en-US" altLang="zh-CN" sz="2400" b="1" dirty="0" err="1">
                <a:solidFill>
                  <a:srgbClr val="002060"/>
                </a:solidFill>
              </a:rPr>
              <a:t>zlgc</a:t>
            </a:r>
            <a:r>
              <a:rPr lang="en-US" altLang="zh-CN" sz="2400" b="1" dirty="0">
                <a:solidFill>
                  <a:srgbClr val="002060"/>
                </a:solidFill>
              </a:rPr>
              <a:t>(</a:t>
            </a:r>
            <a:r>
              <a:rPr lang="zh-CN" altLang="en-US" sz="2400" b="1" dirty="0">
                <a:solidFill>
                  <a:srgbClr val="002060"/>
                </a:solidFill>
              </a:rPr>
              <a:t>单位</a:t>
            </a:r>
            <a:r>
              <a:rPr lang="en-US" altLang="zh-CN" sz="2400" b="1" dirty="0">
                <a:solidFill>
                  <a:srgbClr val="002060"/>
                </a:solidFill>
              </a:rPr>
              <a:t>,</a:t>
            </a:r>
            <a:r>
              <a:rPr lang="zh-CN" altLang="en-US" sz="2400" b="1" dirty="0">
                <a:solidFill>
                  <a:srgbClr val="002060"/>
                </a:solidFill>
              </a:rPr>
              <a:t>项目类别</a:t>
            </a:r>
            <a:r>
              <a:rPr lang="en-US" altLang="zh-CN" sz="2400" b="1" dirty="0">
                <a:solidFill>
                  <a:srgbClr val="002060"/>
                </a:solidFill>
              </a:rPr>
              <a:t>);</a:t>
            </a:r>
          </a:p>
        </p:txBody>
      </p:sp>
      <p:sp>
        <p:nvSpPr>
          <p:cNvPr id="11" name="文本框 1"/>
          <p:cNvSpPr txBox="1"/>
          <p:nvPr/>
        </p:nvSpPr>
        <p:spPr>
          <a:xfrm>
            <a:off x="811504" y="2233865"/>
            <a:ext cx="11011641" cy="461665"/>
          </a:xfrm>
          <a:prstGeom prst="rect">
            <a:avLst/>
          </a:prstGeom>
          <a:noFill/>
          <a:ln w="9525">
            <a:noFill/>
          </a:ln>
        </p:spPr>
        <p:txBody>
          <a:bodyPr wrap="square">
            <a:spAutoFit/>
          </a:bodyPr>
          <a:lstStyle/>
          <a:p>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a:t>
            </a:r>
            <a:r>
              <a:rPr kumimoji="1" lang="en-US" altLang="zh-CN" sz="2400" b="1" dirty="0">
                <a:effectLst>
                  <a:outerShdw blurRad="38100" dist="38100" dir="2700000" algn="tl">
                    <a:srgbClr val="C0C0C0"/>
                  </a:outerShdw>
                </a:effectLst>
                <a:latin typeface="楷体_GB2312" pitchFamily="49" charset="-122"/>
                <a:ea typeface="楷体_GB2312" pitchFamily="49" charset="-122"/>
                <a:sym typeface="+mn-ea"/>
              </a:rPr>
              <a:t>5</a:t>
            </a:r>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）创建视图</a:t>
            </a:r>
            <a:r>
              <a:rPr kumimoji="1" lang="en-US" altLang="zh-CN" sz="2400" b="1" dirty="0" err="1">
                <a:effectLst>
                  <a:outerShdw blurRad="38100" dist="38100" dir="2700000" algn="tl">
                    <a:srgbClr val="C0C0C0"/>
                  </a:outerShdw>
                </a:effectLst>
                <a:latin typeface="楷体_GB2312" pitchFamily="49" charset="-122"/>
                <a:ea typeface="楷体_GB2312" pitchFamily="49" charset="-122"/>
                <a:sym typeface="+mn-ea"/>
              </a:rPr>
              <a:t>v_maxschool</a:t>
            </a:r>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保存哪个学校获得的项目最多，</a:t>
            </a:r>
          </a:p>
        </p:txBody>
      </p:sp>
      <p:sp>
        <p:nvSpPr>
          <p:cNvPr id="7" name="文本框 1"/>
          <p:cNvSpPr txBox="1"/>
          <p:nvPr/>
        </p:nvSpPr>
        <p:spPr>
          <a:xfrm>
            <a:off x="703317" y="3731515"/>
            <a:ext cx="11011641" cy="830997"/>
          </a:xfrm>
          <a:prstGeom prst="rect">
            <a:avLst/>
          </a:prstGeom>
          <a:noFill/>
          <a:ln w="9525">
            <a:noFill/>
          </a:ln>
        </p:spPr>
        <p:txBody>
          <a:bodyPr wrap="square">
            <a:spAutoFit/>
          </a:bodyPr>
          <a:lstStyle/>
          <a:p>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a:t>
            </a:r>
            <a:r>
              <a:rPr kumimoji="1" lang="en-US" altLang="zh-CN" sz="2400" b="1" dirty="0">
                <a:effectLst>
                  <a:outerShdw blurRad="38100" dist="38100" dir="2700000" algn="tl">
                    <a:srgbClr val="C0C0C0"/>
                  </a:outerShdw>
                </a:effectLst>
                <a:latin typeface="楷体_GB2312" pitchFamily="49" charset="-122"/>
                <a:ea typeface="楷体_GB2312" pitchFamily="49" charset="-122"/>
                <a:sym typeface="+mn-ea"/>
              </a:rPr>
              <a:t>6</a:t>
            </a:r>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）创建视图</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sym typeface="+mn-ea"/>
              </a:rPr>
              <a:t>v_school_categorys</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sym typeface="+mn-ea"/>
              </a:rPr>
              <a:t> </a:t>
            </a:r>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保存每个学校在不同的项目上分别获得了多少个？</a:t>
            </a:r>
          </a:p>
        </p:txBody>
      </p:sp>
      <p:sp>
        <p:nvSpPr>
          <p:cNvPr id="8" name="文本框 1"/>
          <p:cNvSpPr txBox="1"/>
          <p:nvPr/>
        </p:nvSpPr>
        <p:spPr>
          <a:xfrm>
            <a:off x="703317" y="2695530"/>
            <a:ext cx="10708181" cy="830997"/>
          </a:xfrm>
          <a:prstGeom prst="rect">
            <a:avLst/>
          </a:prstGeom>
          <a:noFill/>
          <a:ln w="9525">
            <a:noFill/>
          </a:ln>
        </p:spPr>
        <p:txBody>
          <a:bodyPr wrap="square">
            <a:spAutoFit/>
          </a:bodyPr>
          <a:lstStyle/>
          <a:p>
            <a:r>
              <a:rPr lang="en-US" altLang="zh-CN" sz="2400" b="1" dirty="0">
                <a:solidFill>
                  <a:srgbClr val="002060"/>
                </a:solidFill>
                <a:sym typeface="+mn-ea"/>
              </a:rPr>
              <a:t>CREATE VIEW </a:t>
            </a:r>
            <a:r>
              <a:rPr lang="en-US" altLang="zh-CN" sz="2400" b="1" dirty="0" err="1">
                <a:solidFill>
                  <a:srgbClr val="002060"/>
                </a:solidFill>
                <a:sym typeface="+mn-ea"/>
              </a:rPr>
              <a:t>v_maxschool</a:t>
            </a:r>
            <a:r>
              <a:rPr lang="en-US" altLang="zh-CN" sz="2400" b="1" dirty="0">
                <a:solidFill>
                  <a:srgbClr val="002060"/>
                </a:solidFill>
                <a:sym typeface="+mn-ea"/>
              </a:rPr>
              <a:t> AS SELECT </a:t>
            </a:r>
            <a:r>
              <a:rPr lang="zh-CN" altLang="en-US" sz="2400" b="1" dirty="0">
                <a:solidFill>
                  <a:srgbClr val="002060"/>
                </a:solidFill>
                <a:sym typeface="+mn-ea"/>
              </a:rPr>
              <a:t>单位</a:t>
            </a:r>
            <a:r>
              <a:rPr lang="en-US" altLang="zh-CN" sz="2400" b="1" dirty="0">
                <a:solidFill>
                  <a:srgbClr val="002060"/>
                </a:solidFill>
                <a:sym typeface="+mn-ea"/>
              </a:rPr>
              <a:t>,COUNT(*) FROM </a:t>
            </a:r>
            <a:r>
              <a:rPr lang="en-US" altLang="zh-CN" sz="2400" b="1" dirty="0" err="1">
                <a:solidFill>
                  <a:srgbClr val="002060"/>
                </a:solidFill>
                <a:sym typeface="+mn-ea"/>
              </a:rPr>
              <a:t>zlgc</a:t>
            </a:r>
            <a:r>
              <a:rPr lang="en-US" altLang="zh-CN" sz="2400" b="1" dirty="0">
                <a:solidFill>
                  <a:srgbClr val="002060"/>
                </a:solidFill>
                <a:sym typeface="+mn-ea"/>
              </a:rPr>
              <a:t> GROUP BY </a:t>
            </a:r>
            <a:r>
              <a:rPr lang="zh-CN" altLang="en-US" sz="2400" b="1" dirty="0">
                <a:solidFill>
                  <a:srgbClr val="002060"/>
                </a:solidFill>
                <a:sym typeface="+mn-ea"/>
              </a:rPr>
              <a:t>单位 </a:t>
            </a:r>
            <a:r>
              <a:rPr lang="en-US" altLang="zh-CN" sz="2400" b="1" dirty="0">
                <a:solidFill>
                  <a:srgbClr val="002060"/>
                </a:solidFill>
                <a:sym typeface="+mn-ea"/>
              </a:rPr>
              <a:t>ORDER BY COUNT(*) </a:t>
            </a:r>
            <a:r>
              <a:rPr lang="en-US" altLang="zh-CN" sz="2400" b="1" dirty="0" err="1">
                <a:solidFill>
                  <a:srgbClr val="002060"/>
                </a:solidFill>
                <a:sym typeface="+mn-ea"/>
              </a:rPr>
              <a:t>DESC</a:t>
            </a:r>
            <a:r>
              <a:rPr lang="en-US" altLang="zh-CN" sz="2400" b="1" dirty="0">
                <a:solidFill>
                  <a:srgbClr val="002060"/>
                </a:solidFill>
                <a:sym typeface="+mn-ea"/>
              </a:rPr>
              <a:t> LIMIT 1;</a:t>
            </a:r>
            <a:endParaRPr lang="zh-CN" altLang="en-US" sz="2400" b="1" dirty="0">
              <a:solidFill>
                <a:srgbClr val="002060"/>
              </a:solidFill>
              <a:sym typeface="+mn-ea"/>
            </a:endParaRPr>
          </a:p>
        </p:txBody>
      </p:sp>
      <p:sp>
        <p:nvSpPr>
          <p:cNvPr id="9" name="文本框 1"/>
          <p:cNvSpPr txBox="1"/>
          <p:nvPr/>
        </p:nvSpPr>
        <p:spPr>
          <a:xfrm>
            <a:off x="842809" y="4562512"/>
            <a:ext cx="11011641" cy="830997"/>
          </a:xfrm>
          <a:prstGeom prst="rect">
            <a:avLst/>
          </a:prstGeom>
          <a:noFill/>
          <a:ln w="9525">
            <a:noFill/>
          </a:ln>
        </p:spPr>
        <p:txBody>
          <a:bodyPr wrap="square">
            <a:spAutoFit/>
          </a:bodyPr>
          <a:lstStyle/>
          <a:p>
            <a:r>
              <a:rPr lang="en-US" altLang="zh-CN" sz="2400" b="1" dirty="0">
                <a:solidFill>
                  <a:srgbClr val="002060"/>
                </a:solidFill>
                <a:sym typeface="+mn-ea"/>
              </a:rPr>
              <a:t>CREATE VIEW </a:t>
            </a:r>
            <a:r>
              <a:rPr lang="en-US" altLang="zh-CN" sz="2400" b="1" dirty="0" err="1">
                <a:solidFill>
                  <a:srgbClr val="002060"/>
                </a:solidFill>
                <a:sym typeface="+mn-ea"/>
              </a:rPr>
              <a:t>v_school_categorys</a:t>
            </a:r>
            <a:endParaRPr lang="en-US" altLang="zh-CN" sz="2400" b="1" dirty="0">
              <a:solidFill>
                <a:srgbClr val="002060"/>
              </a:solidFill>
              <a:sym typeface="+mn-ea"/>
            </a:endParaRPr>
          </a:p>
          <a:p>
            <a:r>
              <a:rPr lang="en-US" altLang="zh-CN" sz="2400" b="1" dirty="0">
                <a:solidFill>
                  <a:srgbClr val="002060"/>
                </a:solidFill>
                <a:sym typeface="+mn-ea"/>
              </a:rPr>
              <a:t>AS SELECT </a:t>
            </a:r>
            <a:r>
              <a:rPr lang="zh-CN" altLang="en-US" sz="2400" b="1" dirty="0">
                <a:solidFill>
                  <a:srgbClr val="002060"/>
                </a:solidFill>
                <a:sym typeface="+mn-ea"/>
              </a:rPr>
              <a:t>单位</a:t>
            </a:r>
            <a:r>
              <a:rPr lang="en-US" altLang="zh-CN" sz="2400" b="1" dirty="0">
                <a:solidFill>
                  <a:srgbClr val="002060"/>
                </a:solidFill>
                <a:sym typeface="+mn-ea"/>
              </a:rPr>
              <a:t>,</a:t>
            </a:r>
            <a:r>
              <a:rPr lang="zh-CN" altLang="en-US" sz="2400" b="1" dirty="0">
                <a:solidFill>
                  <a:srgbClr val="002060"/>
                </a:solidFill>
                <a:sym typeface="+mn-ea"/>
              </a:rPr>
              <a:t>项目类别</a:t>
            </a:r>
            <a:r>
              <a:rPr lang="en-US" altLang="zh-CN" sz="2400" b="1" dirty="0">
                <a:solidFill>
                  <a:srgbClr val="002060"/>
                </a:solidFill>
                <a:sym typeface="+mn-ea"/>
              </a:rPr>
              <a:t>, COUNT(*) FROM </a:t>
            </a:r>
            <a:r>
              <a:rPr lang="en-US" altLang="zh-CN" sz="2400" b="1" dirty="0" err="1">
                <a:solidFill>
                  <a:srgbClr val="002060"/>
                </a:solidFill>
                <a:sym typeface="+mn-ea"/>
              </a:rPr>
              <a:t>zlgc</a:t>
            </a:r>
            <a:r>
              <a:rPr lang="en-US" altLang="zh-CN" sz="2400" b="1" dirty="0">
                <a:solidFill>
                  <a:srgbClr val="002060"/>
                </a:solidFill>
                <a:sym typeface="+mn-ea"/>
              </a:rPr>
              <a:t> GROUP BY </a:t>
            </a:r>
            <a:r>
              <a:rPr lang="zh-CN" altLang="en-US" sz="2400" b="1" dirty="0">
                <a:solidFill>
                  <a:srgbClr val="002060"/>
                </a:solidFill>
                <a:sym typeface="+mn-ea"/>
              </a:rPr>
              <a:t>单位</a:t>
            </a:r>
            <a:r>
              <a:rPr lang="en-US" altLang="zh-CN" sz="2400" b="1" dirty="0">
                <a:solidFill>
                  <a:srgbClr val="002060"/>
                </a:solidFill>
                <a:sym typeface="+mn-ea"/>
              </a:rPr>
              <a:t>,</a:t>
            </a:r>
            <a:r>
              <a:rPr lang="zh-CN" altLang="en-US" sz="2400" b="1" dirty="0">
                <a:solidFill>
                  <a:srgbClr val="002060"/>
                </a:solidFill>
                <a:sym typeface="+mn-ea"/>
              </a:rPr>
              <a:t>项目类别 </a:t>
            </a:r>
            <a:r>
              <a:rPr lang="en-US" altLang="zh-CN" sz="2400" b="1" dirty="0">
                <a:solidFill>
                  <a:srgbClr val="002060"/>
                </a:solidFill>
                <a:sym typeface="+mn-ea"/>
              </a:rPr>
              <a:t>;</a:t>
            </a:r>
            <a:endParaRPr lang="zh-CN" altLang="en-US" sz="2400" b="1" dirty="0">
              <a:solidFill>
                <a:srgbClr val="002060"/>
              </a:solidFill>
              <a:sym typeface="+mn-ea"/>
            </a:endParaRPr>
          </a:p>
        </p:txBody>
      </p:sp>
      <p:sp>
        <p:nvSpPr>
          <p:cNvPr id="10" name="文本框 1"/>
          <p:cNvSpPr txBox="1"/>
          <p:nvPr/>
        </p:nvSpPr>
        <p:spPr>
          <a:xfrm>
            <a:off x="806666" y="5633843"/>
            <a:ext cx="10525208" cy="461665"/>
          </a:xfrm>
          <a:prstGeom prst="rect">
            <a:avLst/>
          </a:prstGeom>
          <a:noFill/>
          <a:ln w="9525">
            <a:noFill/>
          </a:ln>
        </p:spPr>
        <p:txBody>
          <a:bodyPr wrap="square">
            <a:spAutoFit/>
          </a:bodyPr>
          <a:lstStyle/>
          <a:p>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a:t>
            </a:r>
            <a:r>
              <a:rPr kumimoji="1" lang="en-US" altLang="zh-CN" sz="2400" b="1" dirty="0">
                <a:effectLst>
                  <a:outerShdw blurRad="38100" dist="38100" dir="2700000" algn="tl">
                    <a:srgbClr val="C0C0C0"/>
                  </a:outerShdw>
                </a:effectLst>
                <a:latin typeface="楷体_GB2312" pitchFamily="49" charset="-122"/>
                <a:ea typeface="楷体_GB2312" pitchFamily="49" charset="-122"/>
                <a:sym typeface="+mn-ea"/>
              </a:rPr>
              <a:t>7</a:t>
            </a:r>
            <a:r>
              <a:rPr kumimoji="1" lang="zh-CN" altLang="en-US" sz="2400" b="1" dirty="0">
                <a:effectLst>
                  <a:outerShdw blurRad="38100" dist="38100" dir="2700000" algn="tl">
                    <a:srgbClr val="C0C0C0"/>
                  </a:outerShdw>
                </a:effectLst>
                <a:latin typeface="楷体_GB2312" pitchFamily="49" charset="-122"/>
                <a:ea typeface="楷体_GB2312" pitchFamily="49" charset="-122"/>
                <a:sym typeface="+mn-ea"/>
              </a:rPr>
              <a:t>）分析以上两个视图对索引</a:t>
            </a:r>
            <a:r>
              <a:rPr lang="en-US" altLang="zh-CN" sz="2400" b="1" dirty="0" err="1"/>
              <a:t>idx_school_category</a:t>
            </a:r>
            <a:r>
              <a:rPr lang="zh-CN" altLang="en-US" sz="2400" b="1" dirty="0"/>
              <a:t>的使用情况</a:t>
            </a:r>
            <a:endParaRPr kumimoji="1" lang="en-US" altLang="zh-CN" sz="2400" b="1" dirty="0">
              <a:effectLst>
                <a:outerShdw blurRad="38100" dist="38100" dir="2700000" algn="tl">
                  <a:srgbClr val="C0C0C0"/>
                </a:outerShdw>
              </a:effectLst>
              <a:latin typeface="楷体_GB2312" pitchFamily="49" charset="-122"/>
              <a:ea typeface="楷体_GB2312" pitchFamily="49" charset="-122"/>
              <a:sym typeface="+mn-ea"/>
            </a:endParaRPr>
          </a:p>
        </p:txBody>
      </p:sp>
      <p:sp>
        <p:nvSpPr>
          <p:cNvPr id="12" name="文本框 1"/>
          <p:cNvSpPr txBox="1"/>
          <p:nvPr/>
        </p:nvSpPr>
        <p:spPr>
          <a:xfrm>
            <a:off x="790795" y="6244103"/>
            <a:ext cx="11011641" cy="461665"/>
          </a:xfrm>
          <a:prstGeom prst="rect">
            <a:avLst/>
          </a:prstGeom>
          <a:noFill/>
          <a:ln w="9525">
            <a:noFill/>
          </a:ln>
        </p:spPr>
        <p:txBody>
          <a:bodyPr wrap="square">
            <a:spAutoFit/>
          </a:bodyPr>
          <a:lstStyle/>
          <a:p>
            <a:r>
              <a:rPr lang="en-US" altLang="zh-CN" sz="2400" b="1" dirty="0">
                <a:solidFill>
                  <a:srgbClr val="002060"/>
                </a:solidFill>
                <a:sym typeface="+mn-ea"/>
              </a:rPr>
              <a:t>EXPLAIN  SELECT * FROM </a:t>
            </a:r>
            <a:r>
              <a:rPr kumimoji="1" lang="en-US" altLang="zh-CN" sz="2400" b="1" dirty="0" err="1">
                <a:effectLst>
                  <a:outerShdw blurRad="38100" dist="38100" dir="2700000" algn="tl">
                    <a:srgbClr val="C0C0C0"/>
                  </a:outerShdw>
                </a:effectLst>
                <a:latin typeface="楷体_GB2312" pitchFamily="49" charset="-122"/>
                <a:ea typeface="楷体_GB2312" pitchFamily="49" charset="-122"/>
                <a:sym typeface="+mn-ea"/>
              </a:rPr>
              <a:t>v_maxschool</a:t>
            </a:r>
            <a:r>
              <a:rPr lang="en-US" altLang="zh-CN" sz="2400" b="1" dirty="0">
                <a:solidFill>
                  <a:srgbClr val="002060"/>
                </a:solidFill>
                <a:sym typeface="+mn-ea"/>
              </a:rPr>
              <a:t>; </a:t>
            </a:r>
            <a:endParaRPr lang="zh-CN" altLang="en-US" sz="2400" b="1" dirty="0">
              <a:solidFill>
                <a:srgbClr val="002060"/>
              </a:solidFill>
              <a:sym typeface="+mn-ea"/>
            </a:endParaRPr>
          </a:p>
        </p:txBody>
      </p:sp>
    </p:spTree>
    <p:extLst>
      <p:ext uri="{BB962C8B-B14F-4D97-AF65-F5344CB8AC3E}">
        <p14:creationId xmlns:p14="http://schemas.microsoft.com/office/powerpoint/2010/main" val="299881213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8" grpId="0"/>
      <p:bldP spid="9" grpId="0"/>
      <p:bldP spid="1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rPr>
              <a:t>本讲内容回顾</a:t>
            </a:r>
          </a:p>
        </p:txBody>
      </p:sp>
      <p:sp>
        <p:nvSpPr>
          <p:cNvPr id="62" name="椭圆 61"/>
          <p:cNvSpPr/>
          <p:nvPr/>
        </p:nvSpPr>
        <p:spPr>
          <a:xfrm>
            <a:off x="142240" y="2853055"/>
            <a:ext cx="1750060" cy="863600"/>
          </a:xfrm>
          <a:prstGeom prst="ellipse">
            <a:avLst/>
          </a:prstGeom>
          <a:solidFill>
            <a:schemeClr val="accent1"/>
          </a:solidFill>
          <a:ln w="9525">
            <a:noFill/>
          </a:ln>
        </p:spPr>
        <p:txBody>
          <a:bodyPr anchor="ctr" anchorCtr="0"/>
          <a:lstStyle/>
          <a:p>
            <a:pPr algn="ctr" eaLnBrk="0" hangingPunct="0">
              <a:buClrTx/>
              <a:buSzTx/>
            </a:pPr>
            <a:r>
              <a:rPr lang="zh-CN" altLang="en-US" sz="2000" b="1" dirty="0">
                <a:solidFill>
                  <a:schemeClr val="bg1"/>
                </a:solidFill>
                <a:latin typeface="微软雅黑" panose="020B0503020204020204" pitchFamily="34" charset="-122"/>
                <a:ea typeface="微软雅黑" panose="020B0503020204020204" pitchFamily="34" charset="-122"/>
              </a:rPr>
              <a:t>索引概述</a:t>
            </a:r>
          </a:p>
        </p:txBody>
      </p:sp>
      <p:grpSp>
        <p:nvGrpSpPr>
          <p:cNvPr id="15" name="组合 14"/>
          <p:cNvGrpSpPr/>
          <p:nvPr/>
        </p:nvGrpSpPr>
        <p:grpSpPr>
          <a:xfrm>
            <a:off x="1892300" y="2852738"/>
            <a:ext cx="2678113" cy="863600"/>
            <a:chOff x="2139115" y="4869100"/>
            <a:chExt cx="2000206" cy="864060"/>
          </a:xfrm>
        </p:grpSpPr>
        <p:sp>
          <p:nvSpPr>
            <p:cNvPr id="37892" name="椭圆 63"/>
            <p:cNvSpPr/>
            <p:nvPr/>
          </p:nvSpPr>
          <p:spPr>
            <a:xfrm>
              <a:off x="2714940" y="4869100"/>
              <a:ext cx="1424381" cy="864060"/>
            </a:xfrm>
            <a:prstGeom prst="ellipse">
              <a:avLst/>
            </a:prstGeom>
            <a:solidFill>
              <a:schemeClr val="accent1"/>
            </a:solidFill>
            <a:ln w="9525">
              <a:noFill/>
            </a:ln>
          </p:spPr>
          <p:txBody>
            <a:bodyPr anchor="ctr" anchorCtr="0"/>
            <a:lstStyle/>
            <a:p>
              <a:pPr algn="ctr" eaLnBrk="0" hangingPunct="0"/>
              <a:r>
                <a:rPr lang="en-US" altLang="zh-CN" sz="2000" b="1" dirty="0">
                  <a:solidFill>
                    <a:schemeClr val="bg1"/>
                  </a:solidFill>
                  <a:latin typeface="微软雅黑" panose="020B0503020204020204" pitchFamily="34" charset="-122"/>
                  <a:ea typeface="微软雅黑" panose="020B0503020204020204" pitchFamily="34" charset="-122"/>
                </a:rPr>
                <a:t>B+</a:t>
              </a:r>
              <a:r>
                <a:rPr lang="zh-CN" altLang="en-US" sz="2000" b="1" dirty="0">
                  <a:solidFill>
                    <a:schemeClr val="bg1"/>
                  </a:solidFill>
                  <a:latin typeface="微软雅黑" panose="020B0503020204020204" pitchFamily="34" charset="-122"/>
                  <a:ea typeface="微软雅黑" panose="020B0503020204020204" pitchFamily="34" charset="-122"/>
                </a:rPr>
                <a:t>树索引结构</a:t>
              </a:r>
            </a:p>
          </p:txBody>
        </p:sp>
        <p:sp>
          <p:nvSpPr>
            <p:cNvPr id="37893" name="右箭头 64"/>
            <p:cNvSpPr/>
            <p:nvPr/>
          </p:nvSpPr>
          <p:spPr>
            <a:xfrm>
              <a:off x="2139115" y="5139478"/>
              <a:ext cx="575825" cy="323303"/>
            </a:xfrm>
            <a:prstGeom prst="rightArrow">
              <a:avLst>
                <a:gd name="adj1" fmla="val 50000"/>
                <a:gd name="adj2" fmla="val 49993"/>
              </a:avLst>
            </a:prstGeom>
            <a:solidFill>
              <a:srgbClr val="CD1F06"/>
            </a:solidFill>
            <a:ln w="9525">
              <a:noFill/>
            </a:ln>
          </p:spPr>
          <p:txBody>
            <a:bodyPr anchor="ctr" anchorCtr="0"/>
            <a:lstStyle/>
            <a:p>
              <a:pPr algn="ctr" eaLnBrk="0" hangingPunct="0"/>
              <a:endParaRPr lang="zh-CN" altLang="en-US" sz="3200" b="1" dirty="0">
                <a:solidFill>
                  <a:schemeClr val="bg1"/>
                </a:solidFill>
                <a:latin typeface="微软雅黑" panose="020B0503020204020204" pitchFamily="34" charset="-122"/>
                <a:ea typeface="微软雅黑" panose="020B0503020204020204" pitchFamily="34" charset="-122"/>
              </a:endParaRPr>
            </a:p>
          </p:txBody>
        </p:sp>
      </p:grpSp>
      <p:sp>
        <p:nvSpPr>
          <p:cNvPr id="69" name="椭圆 68"/>
          <p:cNvSpPr/>
          <p:nvPr/>
        </p:nvSpPr>
        <p:spPr>
          <a:xfrm>
            <a:off x="5145088" y="2852738"/>
            <a:ext cx="1746250" cy="863600"/>
          </a:xfrm>
          <a:prstGeom prst="ellipse">
            <a:avLst/>
          </a:prstGeom>
          <a:solidFill>
            <a:schemeClr val="accent1"/>
          </a:solidFill>
          <a:ln w="9525">
            <a:noFill/>
          </a:ln>
        </p:spPr>
        <p:txBody>
          <a:bodyPr anchor="ctr" anchorCtr="0"/>
          <a:lstStyle/>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sym typeface="+mn-ea"/>
              </a:rPr>
              <a:t>索引</a:t>
            </a:r>
            <a:r>
              <a:rPr lang="zh-CN" altLang="en-US" sz="2000" b="1" dirty="0">
                <a:solidFill>
                  <a:schemeClr val="bg1"/>
                </a:solidFill>
                <a:latin typeface="微软雅黑" panose="020B0503020204020204" pitchFamily="34" charset="-122"/>
                <a:ea typeface="微软雅黑" panose="020B0503020204020204" pitchFamily="34" charset="-122"/>
              </a:rPr>
              <a:t>操作</a:t>
            </a:r>
          </a:p>
        </p:txBody>
      </p:sp>
      <p:sp>
        <p:nvSpPr>
          <p:cNvPr id="70" name="右箭头 69"/>
          <p:cNvSpPr/>
          <p:nvPr/>
        </p:nvSpPr>
        <p:spPr>
          <a:xfrm>
            <a:off x="4570413" y="3122613"/>
            <a:ext cx="574675" cy="323850"/>
          </a:xfrm>
          <a:prstGeom prst="rightArrow">
            <a:avLst>
              <a:gd name="adj1" fmla="val 50000"/>
              <a:gd name="adj2" fmla="val 49809"/>
            </a:avLst>
          </a:prstGeom>
          <a:solidFill>
            <a:srgbClr val="CD1F06"/>
          </a:solidFill>
          <a:ln w="9525">
            <a:noFill/>
          </a:ln>
        </p:spPr>
        <p:txBody>
          <a:bodyPr anchor="ctr" anchorCtr="0"/>
          <a:lstStyle/>
          <a:p>
            <a:pPr algn="ctr" eaLnBrk="0" hangingPunct="0"/>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71" name="椭圆 70"/>
          <p:cNvSpPr/>
          <p:nvPr/>
        </p:nvSpPr>
        <p:spPr>
          <a:xfrm>
            <a:off x="7480300" y="2852738"/>
            <a:ext cx="1787525" cy="863600"/>
          </a:xfrm>
          <a:prstGeom prst="ellipse">
            <a:avLst/>
          </a:prstGeom>
          <a:solidFill>
            <a:schemeClr val="accent1"/>
          </a:solidFill>
          <a:ln w="9525">
            <a:noFill/>
          </a:ln>
        </p:spPr>
        <p:txBody>
          <a:bodyPr anchor="ctr" anchorCtr="0"/>
          <a:lstStyle/>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视图及工作机制</a:t>
            </a:r>
          </a:p>
        </p:txBody>
      </p:sp>
      <p:sp>
        <p:nvSpPr>
          <p:cNvPr id="72" name="椭圆 71"/>
          <p:cNvSpPr/>
          <p:nvPr/>
        </p:nvSpPr>
        <p:spPr>
          <a:xfrm>
            <a:off x="9791700" y="2853055"/>
            <a:ext cx="1724025" cy="863600"/>
          </a:xfrm>
          <a:prstGeom prst="ellipse">
            <a:avLst/>
          </a:prstGeom>
          <a:solidFill>
            <a:schemeClr val="accent1"/>
          </a:solidFill>
          <a:ln w="9525">
            <a:noFill/>
          </a:ln>
        </p:spPr>
        <p:txBody>
          <a:bodyPr anchor="ctr" anchorCtr="0"/>
          <a:lstStyle/>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视图操作</a:t>
            </a:r>
          </a:p>
        </p:txBody>
      </p:sp>
      <p:sp>
        <p:nvSpPr>
          <p:cNvPr id="73" name="右箭头 72"/>
          <p:cNvSpPr/>
          <p:nvPr/>
        </p:nvSpPr>
        <p:spPr>
          <a:xfrm>
            <a:off x="6891338" y="3122613"/>
            <a:ext cx="574675" cy="323850"/>
          </a:xfrm>
          <a:prstGeom prst="rightArrow">
            <a:avLst>
              <a:gd name="adj1" fmla="val 50000"/>
              <a:gd name="adj2" fmla="val 49809"/>
            </a:avLst>
          </a:prstGeom>
          <a:solidFill>
            <a:srgbClr val="CD1F06"/>
          </a:solidFill>
          <a:ln w="9525">
            <a:noFill/>
          </a:ln>
        </p:spPr>
        <p:txBody>
          <a:bodyPr anchor="ctr" anchorCtr="0"/>
          <a:lstStyle/>
          <a:p>
            <a:pPr algn="ctr" eaLnBrk="0" hangingPunct="0"/>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74" name="右箭头 73"/>
          <p:cNvSpPr/>
          <p:nvPr/>
        </p:nvSpPr>
        <p:spPr>
          <a:xfrm>
            <a:off x="9217025" y="3122613"/>
            <a:ext cx="574675" cy="323850"/>
          </a:xfrm>
          <a:prstGeom prst="rightArrow">
            <a:avLst>
              <a:gd name="adj1" fmla="val 50000"/>
              <a:gd name="adj2" fmla="val 49809"/>
            </a:avLst>
          </a:prstGeom>
          <a:solidFill>
            <a:srgbClr val="CD1F06"/>
          </a:solidFill>
          <a:ln w="9525">
            <a:noFill/>
          </a:ln>
        </p:spPr>
        <p:txBody>
          <a:bodyPr anchor="ctr" anchorCtr="0"/>
          <a:lstStyle/>
          <a:p>
            <a:pPr algn="ctr" eaLnBrk="0" hangingPunct="0"/>
            <a:endParaRPr lang="zh-CN" altLang="en-US" sz="32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additive="base">
                                        <p:cTn id="7" dur="500" fill="hold"/>
                                        <p:tgtEl>
                                          <p:spTgt spid="62"/>
                                        </p:tgtEl>
                                        <p:attrNameLst>
                                          <p:attrName>ppt_x</p:attrName>
                                        </p:attrNameLst>
                                      </p:cBhvr>
                                      <p:tavLst>
                                        <p:tav tm="0">
                                          <p:val>
                                            <p:strVal val="#ppt_x"/>
                                          </p:val>
                                        </p:tav>
                                        <p:tav tm="100000">
                                          <p:val>
                                            <p:strVal val="#ppt_x"/>
                                          </p:val>
                                        </p:tav>
                                      </p:tavLst>
                                    </p:anim>
                                    <p:anim calcmode="lin" valueType="num">
                                      <p:cBhvr additive="base">
                                        <p:cTn id="8" dur="500" fill="hold"/>
                                        <p:tgtEl>
                                          <p:spTgt spid="6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9"/>
                                        </p:tgtEl>
                                        <p:attrNameLst>
                                          <p:attrName>style.visibility</p:attrName>
                                        </p:attrNameLst>
                                      </p:cBhvr>
                                      <p:to>
                                        <p:strVal val="visible"/>
                                      </p:to>
                                    </p:set>
                                    <p:anim calcmode="lin" valueType="num">
                                      <p:cBhvr additive="base">
                                        <p:cTn id="15" dur="500" fill="hold"/>
                                        <p:tgtEl>
                                          <p:spTgt spid="69"/>
                                        </p:tgtEl>
                                        <p:attrNameLst>
                                          <p:attrName>ppt_x</p:attrName>
                                        </p:attrNameLst>
                                      </p:cBhvr>
                                      <p:tavLst>
                                        <p:tav tm="0">
                                          <p:val>
                                            <p:strVal val="#ppt_x"/>
                                          </p:val>
                                        </p:tav>
                                        <p:tav tm="100000">
                                          <p:val>
                                            <p:strVal val="#ppt_x"/>
                                          </p:val>
                                        </p:tav>
                                      </p:tavLst>
                                    </p:anim>
                                    <p:anim calcmode="lin" valueType="num">
                                      <p:cBhvr additive="base">
                                        <p:cTn id="16" dur="500" fill="hold"/>
                                        <p:tgtEl>
                                          <p:spTgt spid="6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0"/>
                                        </p:tgtEl>
                                        <p:attrNameLst>
                                          <p:attrName>style.visibility</p:attrName>
                                        </p:attrNameLst>
                                      </p:cBhvr>
                                      <p:to>
                                        <p:strVal val="visible"/>
                                      </p:to>
                                    </p:set>
                                    <p:anim calcmode="lin" valueType="num">
                                      <p:cBhvr additive="base">
                                        <p:cTn id="19" dur="500" fill="hold"/>
                                        <p:tgtEl>
                                          <p:spTgt spid="70"/>
                                        </p:tgtEl>
                                        <p:attrNameLst>
                                          <p:attrName>ppt_x</p:attrName>
                                        </p:attrNameLst>
                                      </p:cBhvr>
                                      <p:tavLst>
                                        <p:tav tm="0">
                                          <p:val>
                                            <p:strVal val="#ppt_x"/>
                                          </p:val>
                                        </p:tav>
                                        <p:tav tm="100000">
                                          <p:val>
                                            <p:strVal val="#ppt_x"/>
                                          </p:val>
                                        </p:tav>
                                      </p:tavLst>
                                    </p:anim>
                                    <p:anim calcmode="lin" valueType="num">
                                      <p:cBhvr additive="base">
                                        <p:cTn id="20" dur="500" fill="hold"/>
                                        <p:tgtEl>
                                          <p:spTgt spid="7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1"/>
                                        </p:tgtEl>
                                        <p:attrNameLst>
                                          <p:attrName>style.visibility</p:attrName>
                                        </p:attrNameLst>
                                      </p:cBhvr>
                                      <p:to>
                                        <p:strVal val="visible"/>
                                      </p:to>
                                    </p:set>
                                    <p:anim calcmode="lin" valueType="num">
                                      <p:cBhvr additive="base">
                                        <p:cTn id="23" dur="500" fill="hold"/>
                                        <p:tgtEl>
                                          <p:spTgt spid="71"/>
                                        </p:tgtEl>
                                        <p:attrNameLst>
                                          <p:attrName>ppt_x</p:attrName>
                                        </p:attrNameLst>
                                      </p:cBhvr>
                                      <p:tavLst>
                                        <p:tav tm="0">
                                          <p:val>
                                            <p:strVal val="#ppt_x"/>
                                          </p:val>
                                        </p:tav>
                                        <p:tav tm="100000">
                                          <p:val>
                                            <p:strVal val="#ppt_x"/>
                                          </p:val>
                                        </p:tav>
                                      </p:tavLst>
                                    </p:anim>
                                    <p:anim calcmode="lin" valueType="num">
                                      <p:cBhvr additive="base">
                                        <p:cTn id="24" dur="500" fill="hold"/>
                                        <p:tgtEl>
                                          <p:spTgt spid="7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72"/>
                                        </p:tgtEl>
                                        <p:attrNameLst>
                                          <p:attrName>style.visibility</p:attrName>
                                        </p:attrNameLst>
                                      </p:cBhvr>
                                      <p:to>
                                        <p:strVal val="visible"/>
                                      </p:to>
                                    </p:set>
                                    <p:anim calcmode="lin" valueType="num">
                                      <p:cBhvr additive="base">
                                        <p:cTn id="27" dur="500" fill="hold"/>
                                        <p:tgtEl>
                                          <p:spTgt spid="72"/>
                                        </p:tgtEl>
                                        <p:attrNameLst>
                                          <p:attrName>ppt_x</p:attrName>
                                        </p:attrNameLst>
                                      </p:cBhvr>
                                      <p:tavLst>
                                        <p:tav tm="0">
                                          <p:val>
                                            <p:strVal val="#ppt_x"/>
                                          </p:val>
                                        </p:tav>
                                        <p:tav tm="100000">
                                          <p:val>
                                            <p:strVal val="#ppt_x"/>
                                          </p:val>
                                        </p:tav>
                                      </p:tavLst>
                                    </p:anim>
                                    <p:anim calcmode="lin" valueType="num">
                                      <p:cBhvr additive="base">
                                        <p:cTn id="28" dur="500" fill="hold"/>
                                        <p:tgtEl>
                                          <p:spTgt spid="7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3"/>
                                        </p:tgtEl>
                                        <p:attrNameLst>
                                          <p:attrName>style.visibility</p:attrName>
                                        </p:attrNameLst>
                                      </p:cBhvr>
                                      <p:to>
                                        <p:strVal val="visible"/>
                                      </p:to>
                                    </p:set>
                                    <p:anim calcmode="lin" valueType="num">
                                      <p:cBhvr additive="base">
                                        <p:cTn id="31" dur="500" fill="hold"/>
                                        <p:tgtEl>
                                          <p:spTgt spid="73"/>
                                        </p:tgtEl>
                                        <p:attrNameLst>
                                          <p:attrName>ppt_x</p:attrName>
                                        </p:attrNameLst>
                                      </p:cBhvr>
                                      <p:tavLst>
                                        <p:tav tm="0">
                                          <p:val>
                                            <p:strVal val="#ppt_x"/>
                                          </p:val>
                                        </p:tav>
                                        <p:tav tm="100000">
                                          <p:val>
                                            <p:strVal val="#ppt_x"/>
                                          </p:val>
                                        </p:tav>
                                      </p:tavLst>
                                    </p:anim>
                                    <p:anim calcmode="lin" valueType="num">
                                      <p:cBhvr additive="base">
                                        <p:cTn id="32" dur="500" fill="hold"/>
                                        <p:tgtEl>
                                          <p:spTgt spid="7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74"/>
                                        </p:tgtEl>
                                        <p:attrNameLst>
                                          <p:attrName>style.visibility</p:attrName>
                                        </p:attrNameLst>
                                      </p:cBhvr>
                                      <p:to>
                                        <p:strVal val="visible"/>
                                      </p:to>
                                    </p:set>
                                    <p:anim calcmode="lin" valueType="num">
                                      <p:cBhvr additive="base">
                                        <p:cTn id="35" dur="500" fill="hold"/>
                                        <p:tgtEl>
                                          <p:spTgt spid="74"/>
                                        </p:tgtEl>
                                        <p:attrNameLst>
                                          <p:attrName>ppt_x</p:attrName>
                                        </p:attrNameLst>
                                      </p:cBhvr>
                                      <p:tavLst>
                                        <p:tav tm="0">
                                          <p:val>
                                            <p:strVal val="#ppt_x"/>
                                          </p:val>
                                        </p:tav>
                                        <p:tav tm="100000">
                                          <p:val>
                                            <p:strVal val="#ppt_x"/>
                                          </p:val>
                                        </p:tav>
                                      </p:tavLst>
                                    </p:anim>
                                    <p:anim calcmode="lin" valueType="num">
                                      <p:cBhvr additive="base">
                                        <p:cTn id="36"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bldLvl="0" animBg="1"/>
      <p:bldP spid="69" grpId="0" animBg="1"/>
      <p:bldP spid="70" grpId="0" animBg="1"/>
      <p:bldP spid="71" grpId="0" animBg="1"/>
      <p:bldP spid="72" grpId="0" bldLvl="0" animBg="1"/>
      <p:bldP spid="73" grpId="0" animBg="1"/>
      <p:bldP spid="7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WordArt 3"/>
          <p:cNvSpPr>
            <a:spLocks noTextEdit="1"/>
          </p:cNvSpPr>
          <p:nvPr/>
        </p:nvSpPr>
        <p:spPr>
          <a:xfrm>
            <a:off x="2498725" y="3235325"/>
            <a:ext cx="7683500" cy="863600"/>
          </a:xfrm>
          <a:prstGeom prst="rect">
            <a:avLst/>
          </a:prstGeom>
        </p:spPr>
        <p:txBody>
          <a:bodyPr wrap="none" fromWordArt="1">
            <a:prstTxWarp prst="textDeflate">
              <a:avLst>
                <a:gd name="adj" fmla="val 0"/>
              </a:avLst>
            </a:prstTxWarp>
            <a:normAutofit/>
          </a:bodyPr>
          <a:lstStyle/>
          <a:p>
            <a:pPr algn="ctr" eaLnBrk="0" hangingPunct="0"/>
            <a:r>
              <a:rPr lang="zh-CN" altLang="en-US" sz="3600" b="1" i="1">
                <a:ln w="19050" cap="flat" cmpd="sng">
                  <a:solidFill>
                    <a:schemeClr val="bg1"/>
                  </a:solidFill>
                  <a:prstDash val="solid"/>
                  <a:round/>
                  <a:headEnd type="none" w="med" len="med"/>
                  <a:tailEnd type="none" w="med" len="med"/>
                </a:ln>
                <a:gradFill rotWithShape="1">
                  <a:gsLst>
                    <a:gs pos="0">
                      <a:schemeClr val="tx1"/>
                    </a:gs>
                    <a:gs pos="100000">
                      <a:schemeClr val="hlink"/>
                    </a:gs>
                  </a:gsLst>
                  <a:lin ang="0" scaled="1"/>
                  <a:tileRect/>
                </a:gradFill>
                <a:effectLst>
                  <a:outerShdw dist="63500" dir="2212193" algn="ctr" rotWithShape="0">
                    <a:schemeClr val="tx2">
                      <a:alpha val="50000"/>
                    </a:schemeClr>
                  </a:outerShdw>
                </a:effectLst>
                <a:latin typeface="Arial" panose="020B0604020202020204" pitchFamily="34" charset="0"/>
                <a:ea typeface="Arial" panose="020B0604020202020204" pitchFamily="34" charset="0"/>
              </a:rPr>
              <a:t>Thank You !</a:t>
            </a:r>
          </a:p>
        </p:txBody>
      </p:sp>
      <p:sp>
        <p:nvSpPr>
          <p:cNvPr id="4" name="TextBox 6"/>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bg1"/>
                </a:solidFill>
                <a:effectLst/>
                <a:uLnTx/>
                <a:uFillTx/>
                <a:latin typeface="+mn-ea"/>
                <a:ea typeface="+mn-ea"/>
                <a:cs typeface="+mn-cs"/>
              </a:rPr>
              <a:t>谢谢学习</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5842"/>
                                        </p:tgtEl>
                                        <p:attrNameLst>
                                          <p:attrName>style.visibility</p:attrName>
                                        </p:attrNameLst>
                                      </p:cBhvr>
                                      <p:to>
                                        <p:strVal val="visible"/>
                                      </p:to>
                                    </p:set>
                                    <p:anim calcmode="lin" valueType="num">
                                      <p:cBhvr>
                                        <p:cTn id="7" dur="500" fill="hold"/>
                                        <p:tgtEl>
                                          <p:spTgt spid="35842"/>
                                        </p:tgtEl>
                                        <p:attrNameLst>
                                          <p:attrName>ppt_w</p:attrName>
                                        </p:attrNameLst>
                                      </p:cBhvr>
                                      <p:tavLst>
                                        <p:tav tm="0">
                                          <p:val>
                                            <p:fltVal val="0"/>
                                          </p:val>
                                        </p:tav>
                                        <p:tav tm="100000">
                                          <p:val>
                                            <p:strVal val="#ppt_w"/>
                                          </p:val>
                                        </p:tav>
                                      </p:tavLst>
                                    </p:anim>
                                    <p:anim calcmode="lin" valueType="num">
                                      <p:cBhvr>
                                        <p:cTn id="8" dur="500" fill="hold"/>
                                        <p:tgtEl>
                                          <p:spTgt spid="35842"/>
                                        </p:tgtEl>
                                        <p:attrNameLst>
                                          <p:attrName>ppt_h</p:attrName>
                                        </p:attrNameLst>
                                      </p:cBhvr>
                                      <p:tavLst>
                                        <p:tav tm="0">
                                          <p:val>
                                            <p:fltVal val="0"/>
                                          </p:val>
                                        </p:tav>
                                        <p:tav tm="100000">
                                          <p:val>
                                            <p:strVal val="#ppt_h"/>
                                          </p:val>
                                        </p:tav>
                                      </p:tavLst>
                                    </p:anim>
                                    <p:animEffect transition="in" filter="fade">
                                      <p:cBhvr>
                                        <p:cTn id="9" dur="500"/>
                                        <p:tgtEl>
                                          <p:spTgt spid="35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15725070-721a-4531-9e2c-7b275e870356"/>
  <p:tag name="COMMONDATA" val="eyJoZGlkIjoiOTYxYTI4NDEwMzFiZDYyYmEzNTM1NzEyNDBhOWExNTQifQ=="/>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CD1F06"/>
        </a:solidFill>
        <a:ln>
          <a:noFill/>
        </a:ln>
      </a:spPr>
      <a:bodyPr anchor="ctr"/>
      <a:lstStyle>
        <a:defPPr algn="ctr">
          <a:defRPr sz="3200" b="1" dirty="0">
            <a:solidFill>
              <a:schemeClr val="bg1"/>
            </a:solidFill>
            <a:latin typeface="微软雅黑" panose="020B0503020204020204" pitchFamily="34"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7156</TotalTime>
  <Words>3119</Words>
  <Application>Microsoft Office PowerPoint</Application>
  <PresentationFormat>自定义</PresentationFormat>
  <Paragraphs>355</Paragraphs>
  <Slides>44</Slides>
  <Notes>21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44</vt:i4>
      </vt:variant>
    </vt:vector>
  </HeadingPairs>
  <TitlesOfParts>
    <vt:vector size="56" baseType="lpstr">
      <vt:lpstr>仿宋_GB2312</vt:lpstr>
      <vt:lpstr>华文行楷</vt:lpstr>
      <vt:lpstr>楷体_GB2312</vt:lpstr>
      <vt:lpstr>隶书</vt:lpstr>
      <vt:lpstr>宋体</vt:lpstr>
      <vt:lpstr>微软雅黑</vt:lpstr>
      <vt:lpstr>Arial</vt:lpstr>
      <vt:lpstr>Calibri</vt:lpstr>
      <vt:lpstr>Franklin Gothic Medium</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PC</dc:creator>
  <cp:lastModifiedBy>redhare lrz</cp:lastModifiedBy>
  <cp:revision>592</cp:revision>
  <dcterms:created xsi:type="dcterms:W3CDTF">2014-10-24T14:22:00Z</dcterms:created>
  <dcterms:modified xsi:type="dcterms:W3CDTF">2024-11-13T12:43:32Z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2052-11.1.0.13703</vt:lpwstr>
  </property>
  <property fmtid="{D5CDD505-2E9C-101B-9397-08002B2CF9AE}" pid="3" name="ICV">
    <vt:lpwstr>ABBFA3FEAA8640BBB53D892046034BA1</vt:lpwstr>
  </property>
</Properties>
</file>