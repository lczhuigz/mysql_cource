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56" r:id="rId2"/>
    <p:sldId id="257" r:id="rId3"/>
    <p:sldId id="685" r:id="rId4"/>
    <p:sldId id="692" r:id="rId5"/>
    <p:sldId id="694" r:id="rId6"/>
    <p:sldId id="691" r:id="rId7"/>
    <p:sldId id="695" r:id="rId8"/>
    <p:sldId id="697" r:id="rId9"/>
    <p:sldId id="698" r:id="rId10"/>
    <p:sldId id="748" r:id="rId11"/>
    <p:sldId id="701" r:id="rId12"/>
    <p:sldId id="702" r:id="rId13"/>
    <p:sldId id="703" r:id="rId14"/>
    <p:sldId id="704" r:id="rId15"/>
    <p:sldId id="705" r:id="rId16"/>
    <p:sldId id="707" r:id="rId17"/>
    <p:sldId id="708" r:id="rId18"/>
    <p:sldId id="714" r:id="rId19"/>
    <p:sldId id="749" r:id="rId20"/>
    <p:sldId id="713" r:id="rId21"/>
    <p:sldId id="750" r:id="rId22"/>
    <p:sldId id="712" r:id="rId23"/>
    <p:sldId id="751" r:id="rId24"/>
    <p:sldId id="720" r:id="rId25"/>
    <p:sldId id="719" r:id="rId26"/>
    <p:sldId id="718" r:id="rId27"/>
    <p:sldId id="717" r:id="rId28"/>
    <p:sldId id="716" r:id="rId29"/>
    <p:sldId id="754" r:id="rId30"/>
    <p:sldId id="721" r:id="rId31"/>
    <p:sldId id="722" r:id="rId32"/>
    <p:sldId id="727" r:id="rId33"/>
    <p:sldId id="726" r:id="rId34"/>
    <p:sldId id="725" r:id="rId35"/>
    <p:sldId id="724" r:id="rId36"/>
    <p:sldId id="723" r:id="rId37"/>
    <p:sldId id="728" r:id="rId38"/>
    <p:sldId id="729" r:id="rId39"/>
    <p:sldId id="734" r:id="rId40"/>
    <p:sldId id="735" r:id="rId41"/>
    <p:sldId id="733" r:id="rId42"/>
    <p:sldId id="732" r:id="rId43"/>
    <p:sldId id="731" r:id="rId44"/>
    <p:sldId id="740" r:id="rId45"/>
    <p:sldId id="739" r:id="rId46"/>
    <p:sldId id="738" r:id="rId47"/>
    <p:sldId id="742" r:id="rId48"/>
    <p:sldId id="737" r:id="rId49"/>
    <p:sldId id="736" r:id="rId50"/>
    <p:sldId id="755" r:id="rId51"/>
    <p:sldId id="730" r:id="rId52"/>
    <p:sldId id="746" r:id="rId53"/>
    <p:sldId id="745" r:id="rId54"/>
    <p:sldId id="752" r:id="rId55"/>
    <p:sldId id="744" r:id="rId56"/>
    <p:sldId id="753" r:id="rId57"/>
    <p:sldId id="624" r:id="rId58"/>
    <p:sldId id="608" r:id="rId59"/>
  </p:sldIdLst>
  <p:sldSz cx="1219835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FF"/>
    <a:srgbClr val="009E47"/>
    <a:srgbClr val="8AC739"/>
    <a:srgbClr val="FF9933"/>
    <a:srgbClr val="FF9900"/>
    <a:srgbClr val="CC9900"/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86004" autoAdjust="0"/>
  </p:normalViewPr>
  <p:slideViewPr>
    <p:cSldViewPr>
      <p:cViewPr varScale="1">
        <p:scale>
          <a:sx n="64" d="100"/>
          <a:sy n="64" d="100"/>
        </p:scale>
        <p:origin x="192" y="48"/>
      </p:cViewPr>
      <p:guideLst>
        <p:guide orient="horz" pos="2102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880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1A8787B-A6D1-F35E-CEB6-25BFE8C9AB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B98BC6-BD2B-B500-C51C-B40E96FC65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2CD0493E-F833-49CA-BBC3-8E9C5E0B37CB}" type="datetimeFigureOut">
              <a:rPr lang="zh-CN" altLang="en-US"/>
              <a:pPr>
                <a:defRPr/>
              </a:pPr>
              <a:t>2024/10/15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114A09-36C5-7AE8-81F8-A365E31AB4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FE8F7F-E903-7038-2613-9AF7513F87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B24ADA7E-D04C-4AC5-9E18-E22ECAC3B9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3-03-04T06:47:33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15677 5606,'25'0,"0"0,-1 0,51 0,-50 0,24-50,-24 50,25 0,-50-25,25 25,-1 0,1 0,25 0,-25 0,-1 0,26 0,0 0,-26 0,26 0,-25 0,0 0,-1 0,26 0,-25 0,0 0,24 0,-24 0,0 0,-25 0,25 0,49 0,-24 0,24 0,1 0,49 0,-75 0,100 25,-75-25,1 0,-50 0,49 25,-49 0,0 0,-1-25,1 0,0 0,25 0,24 0,-49 0,0 0,49 0,-49 0,0 0,0 0,24 0,-24 0,0 0,49 0,-24 0,24 24,1-24,-26 50,-24-50,49 0,1 25,-25-25,-26 0,-24 0,25 0,0 0,0 0,0 0,-1 0,-24 0,50 0,-25 0,0 0,-1 0,-24 0,50 0,-25 0,0 0,24 49,-24-49,49 0,1 0,24 0,50 0,-99 0,49 0,-74 0,24 0,-24 0,0 25,24-25,-24 0,0 0,25 0,-26 0,1 0,25 50,-25-50,-1 25,26-25,-25 0,-25 0,25 0,24-50,-24 50,0 0,0 0,-1 0,-24 25,50-25,-25 25,-25 0,0-1,0 1,0 0</inkml:trace>
  <inkml:trace contextRef="#ctx0" brushRef="#br0" timeOffset="2099.12">15900 6350,'0'0,"25"0,25 0,-25 0,49 0,-49 0,173 0,-74 0,25 0,-25 25,-25 24,1-49,24 25,-50-25,-49 0,0 0,49 0,-49 0,0 0,49 0,0 0,26 0,-26 0,1 0,-1 0,-49 0,0 0,49 0,-49 0,0 0,24 0,-24 0,49 0,1 0,-50 0,49 0,25-25,-74 25,0 0,24 0,-24 0,0 0,25 0,-50 0,25 0,24 0,-24 0,0 0,24 0,-24 0,0 0,0 0,24 0,26 0,-50 0,24 0,50 0,-49 0,24-49,1 49,-26-25,26 25,-25 0,-26-50,26 50,-25 0,0 0,-1 0,26 0,-25 0,74-24,75 24,-75-50,-74 50,-1 0,26 0,-25-25,0 25,24 0,-24 0,0 0,49 0,-49 0,0 0,49 0,-24 0,24 0,50 0,-99 25,-25-25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5FC46020-C48F-1174-6E1E-B856B2E07BC4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15326171-7809-7A52-466F-26F79C08988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34246BE-A75A-4F0E-94C8-B13F09DF0FDF}" type="datetime1">
              <a:rPr lang="zh-CN" altLang="en-US"/>
              <a:pPr>
                <a:defRPr/>
              </a:pPr>
              <a:t>2024/10/15</a:t>
            </a:fld>
            <a:endParaRPr lang="en-US" altLang="zh-CN" sz="1200"/>
          </a:p>
        </p:txBody>
      </p:sp>
      <p:sp>
        <p:nvSpPr>
          <p:cNvPr id="3076" name="幻灯片图像占位符 3">
            <a:extLst>
              <a:ext uri="{FF2B5EF4-FFF2-40B4-BE49-F238E27FC236}">
                <a16:creationId xmlns:a16="http://schemas.microsoft.com/office/drawing/2014/main" id="{63D6AA3B-ABFE-9C25-0D04-C951AA46EE79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6869" name="备注占位符 4">
            <a:extLst>
              <a:ext uri="{FF2B5EF4-FFF2-40B4-BE49-F238E27FC236}">
                <a16:creationId xmlns:a16="http://schemas.microsoft.com/office/drawing/2014/main" id="{E7C92AE9-F7CA-7075-0E77-3EE2DBC912B1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单击此处编辑母版文本样式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第二级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第三级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第四级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第五级</a:t>
            </a:r>
            <a:endParaRPr lang="zh-CN" altLang="en-US"/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6B57085C-A7A0-A753-9CFD-EF1806493F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6F508FB1-BB8B-0E22-7C5C-D64EBFDEE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mtClean="0"/>
            </a:lvl1pPr>
          </a:lstStyle>
          <a:p>
            <a:pPr>
              <a:defRPr/>
            </a:pPr>
            <a:fld id="{B6AA7012-2A8F-404D-AB10-F806560093B4}" type="slidenum">
              <a:rPr lang="zh-CN" altLang="en-US"/>
              <a:pPr>
                <a:defRPr/>
              </a:pPr>
              <a:t>‹#›</a:t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D05DA251-E8A0-7EA5-9B33-AF374A4D20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1625A891-8BBF-50B3-755F-3BB1C03FDB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日期占位符 3">
            <a:extLst>
              <a:ext uri="{FF2B5EF4-FFF2-40B4-BE49-F238E27FC236}">
                <a16:creationId xmlns:a16="http://schemas.microsoft.com/office/drawing/2014/main" id="{1704BF36-C474-FF46-6B8C-021CF820DC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0F80B70-FC07-402A-8ECC-0C6ED01D7A94}" type="datetime1">
              <a:rPr lang="zh-CN" altLang="en-US" smtClean="0"/>
              <a:pPr/>
              <a:t>2024/10/15</a:t>
            </a:fld>
            <a:endParaRPr lang="en-US" altLang="zh-CN" sz="1200"/>
          </a:p>
        </p:txBody>
      </p:sp>
      <p:sp>
        <p:nvSpPr>
          <p:cNvPr id="6149" name="灯片编号占位符 4">
            <a:extLst>
              <a:ext uri="{FF2B5EF4-FFF2-40B4-BE49-F238E27FC236}">
                <a16:creationId xmlns:a16="http://schemas.microsoft.com/office/drawing/2014/main" id="{D562D6B8-77FB-632C-ECD4-4C242B43A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54333D-C400-4A83-A529-F47AE4FA7B38}" type="slidenum">
              <a:rPr lang="zh-CN" altLang="en-US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C398AFE2-68F4-49E5-4842-E67A1532A0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CD993495-11B6-4B03-BCBA-63D25C8DA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日期占位符 3">
            <a:extLst>
              <a:ext uri="{FF2B5EF4-FFF2-40B4-BE49-F238E27FC236}">
                <a16:creationId xmlns:a16="http://schemas.microsoft.com/office/drawing/2014/main" id="{445570B8-98A6-333A-BE34-CEA1BA0CEB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B618C5-A043-4830-99E1-F3EAB67469BB}" type="datetime1">
              <a:rPr lang="zh-CN" altLang="en-US" smtClean="0"/>
              <a:pPr/>
              <a:t>2024/10/15</a:t>
            </a:fld>
            <a:endParaRPr lang="en-US" altLang="zh-CN" sz="1200"/>
          </a:p>
        </p:txBody>
      </p:sp>
      <p:sp>
        <p:nvSpPr>
          <p:cNvPr id="31749" name="灯片编号占位符 4">
            <a:extLst>
              <a:ext uri="{FF2B5EF4-FFF2-40B4-BE49-F238E27FC236}">
                <a16:creationId xmlns:a16="http://schemas.microsoft.com/office/drawing/2014/main" id="{FB254616-53F0-1D12-F532-AA7ABB0775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BB3EA1-1AC3-48F0-AA33-833801828742}" type="slidenum">
              <a:rPr lang="zh-CN" altLang="en-US"/>
              <a:pPr/>
              <a:t>24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955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0388" y="3886200"/>
            <a:ext cx="8537575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4455264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585185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796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796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2119768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375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39374094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956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56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273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273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95745155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83729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360886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320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0"/>
            <a:ext cx="68199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320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5196168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996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996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996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723397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98909596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274638"/>
            <a:ext cx="2744787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19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71089145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>
            <a:extLst>
              <a:ext uri="{FF2B5EF4-FFF2-40B4-BE49-F238E27FC236}">
                <a16:creationId xmlns:a16="http://schemas.microsoft.com/office/drawing/2014/main" id="{C5C1C30F-1A60-4E51-A5EF-C13D5F1EC7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E29E45-6D79-BA28-8C09-D50F2B424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67520" y="101786"/>
            <a:ext cx="1014366" cy="642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3FDB2CB-577B-BAEF-648B-E9374043628C}"/>
              </a:ext>
            </a:extLst>
          </p:cNvPr>
          <p:cNvSpPr/>
          <p:nvPr userDrawn="1"/>
        </p:nvSpPr>
        <p:spPr>
          <a:xfrm>
            <a:off x="8848725" y="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79E19AB-85A5-DBDE-9252-A22984ADD2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Impact" panose="020B0806030902050204" pitchFamily="34" charset="0"/>
              </a:rPr>
              <a:t> </a:t>
            </a:r>
            <a:endParaRPr lang="zh-CN" altLang="en-US" sz="40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Impact" panose="020B080603090205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>
                <a:solidFill>
                  <a:srgbClr val="7030A0"/>
                </a:solidFill>
                <a:latin typeface="Times New Roman" panose="02020603050405020304" pitchFamily="18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en-US" altLang="zh-CN" dirty="0"/>
              <a:t>		</a:t>
            </a: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46845" y="77788"/>
            <a:ext cx="6752720" cy="6300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 lang="zh-CN" altLang="en-US" sz="4000" b="1" kern="1200" dirty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3031820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4411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1">
          <a:gsLst>
            <a:gs pos="0">
              <a:srgbClr val="FAFAFA"/>
            </a:gs>
            <a:gs pos="50000">
              <a:srgbClr val="FBFBFB"/>
            </a:gs>
            <a:gs pos="100000">
              <a:srgbClr val="FCF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2">
            <a:extLst>
              <a:ext uri="{FF2B5EF4-FFF2-40B4-BE49-F238E27FC236}">
                <a16:creationId xmlns:a16="http://schemas.microsoft.com/office/drawing/2014/main" id="{A714C93E-5899-2A25-983C-D0264F478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4075"/>
            <a:ext cx="12198350" cy="1158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7" name="椭圆 14">
            <a:extLst>
              <a:ext uri="{FF2B5EF4-FFF2-40B4-BE49-F238E27FC236}">
                <a16:creationId xmlns:a16="http://schemas.microsoft.com/office/drawing/2014/main" id="{E73416DA-C94B-9A73-A9E4-4AADC3E0E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866775"/>
            <a:ext cx="85725" cy="87313"/>
          </a:xfrm>
          <a:prstGeom prst="ellipse">
            <a:avLst/>
          </a:prstGeom>
          <a:solidFill>
            <a:srgbClr val="F6F6F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8" name="椭圆 14">
            <a:extLst>
              <a:ext uri="{FF2B5EF4-FFF2-40B4-BE49-F238E27FC236}">
                <a16:creationId xmlns:a16="http://schemas.microsoft.com/office/drawing/2014/main" id="{53AD1E06-BC76-601F-CAA7-6A8B5EAA61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" y="188913"/>
            <a:ext cx="563563" cy="719137"/>
          </a:xfrm>
          <a:custGeom>
            <a:avLst/>
            <a:gdLst>
              <a:gd name="T0" fmla="*/ 2 w 683568"/>
              <a:gd name="T1" fmla="*/ 0 h 864094"/>
              <a:gd name="T2" fmla="*/ 2 w 683568"/>
              <a:gd name="T3" fmla="*/ 2 h 864094"/>
              <a:gd name="T4" fmla="*/ 2 w 683568"/>
              <a:gd name="T5" fmla="*/ 4 h 864094"/>
              <a:gd name="T6" fmla="*/ 2 w 683568"/>
              <a:gd name="T7" fmla="*/ 6 h 864094"/>
              <a:gd name="T8" fmla="*/ 2 w 683568"/>
              <a:gd name="T9" fmla="*/ 4 h 864094"/>
              <a:gd name="T10" fmla="*/ 2 w 683568"/>
              <a:gd name="T11" fmla="*/ 3 h 864094"/>
              <a:gd name="T12" fmla="*/ 2 w 683568"/>
              <a:gd name="T13" fmla="*/ 3 h 864094"/>
              <a:gd name="T14" fmla="*/ 2 w 683568"/>
              <a:gd name="T15" fmla="*/ 3 h 864094"/>
              <a:gd name="T16" fmla="*/ 0 w 683568"/>
              <a:gd name="T17" fmla="*/ 2 h 864094"/>
              <a:gd name="T18" fmla="*/ 2 w 683568"/>
              <a:gd name="T19" fmla="*/ 0 h 8640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83568"/>
              <a:gd name="T31" fmla="*/ 0 h 864094"/>
              <a:gd name="T32" fmla="*/ 683568 w 683568"/>
              <a:gd name="T33" fmla="*/ 864094 h 86409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9" name="Text Box 7">
            <a:extLst>
              <a:ext uri="{FF2B5EF4-FFF2-40B4-BE49-F238E27FC236}">
                <a16:creationId xmlns:a16="http://schemas.microsoft.com/office/drawing/2014/main" id="{20BBFEC1-08E6-6F69-6A58-7FBAA762C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288925"/>
            <a:ext cx="692150" cy="365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BD6B4043-A92E-434A-9B7B-3E601DCFB404}" type="slidenum">
              <a:rPr lang="zh-CN" altLang="en-US" smtClean="0">
                <a:solidFill>
                  <a:schemeClr val="bg1"/>
                </a:solidFill>
                <a:sym typeface="Calibri" panose="020F0502020204030204" pitchFamily="34" charset="0"/>
              </a:rPr>
              <a:pPr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>
              <a:solidFill>
                <a:schemeClr val="bg1"/>
              </a:solidFill>
              <a:sym typeface="Calibri" panose="020F0502020204030204" pitchFamily="34" charset="0"/>
            </a:endParaRPr>
          </a:p>
        </p:txBody>
      </p:sp>
      <p:sp>
        <p:nvSpPr>
          <p:cNvPr id="1030" name="燕尾形 1">
            <a:extLst>
              <a:ext uri="{FF2B5EF4-FFF2-40B4-BE49-F238E27FC236}">
                <a16:creationId xmlns:a16="http://schemas.microsoft.com/office/drawing/2014/main" id="{8B2FF44E-9D72-032B-6FA6-CC1BAC838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31" name="燕尾形 9">
            <a:extLst>
              <a:ext uri="{FF2B5EF4-FFF2-40B4-BE49-F238E27FC236}">
                <a16:creationId xmlns:a16="http://schemas.microsoft.com/office/drawing/2014/main" id="{171EE5F8-3598-CF7F-3173-6F904EBE4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16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  <p:sldLayoutId id="2147484501" r:id="rId12"/>
    <p:sldLayoutId id="2147484500" r:id="rId13"/>
  </p:sldLayoutIdLst>
  <p:transition spd="slow"/>
  <p:txStyles>
    <p:titleStyle>
      <a:lvl1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2pPr>
      <a:lvl3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3pPr>
      <a:lvl4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4pPr>
      <a:lvl5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5pPr>
      <a:lvl6pPr marL="13716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engmian">
            <a:extLst>
              <a:ext uri="{FF2B5EF4-FFF2-40B4-BE49-F238E27FC236}">
                <a16:creationId xmlns:a16="http://schemas.microsoft.com/office/drawing/2014/main" id="{F1D49FAC-22F0-B4A6-6D49-35B52667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230100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5">
            <a:extLst>
              <a:ext uri="{FF2B5EF4-FFF2-40B4-BE49-F238E27FC236}">
                <a16:creationId xmlns:a16="http://schemas.microsoft.com/office/drawing/2014/main" id="{0DFFDFCD-2B5A-9D8C-1D5E-0D0028317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860550"/>
            <a:ext cx="7218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《</a:t>
            </a:r>
            <a:r>
              <a:rPr lang="zh-CN" altLang="en-US" sz="5400" b="1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haroni" panose="02010803020104030203" pitchFamily="2" charset="-79"/>
              </a:rPr>
              <a:t>数据库原理及应用</a:t>
            </a: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》</a:t>
            </a:r>
            <a:endParaRPr lang="zh-CN" altLang="zh-CN" sz="54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06EEAE-B025-AB77-03D4-E6243D8B2D04}"/>
              </a:ext>
            </a:extLst>
          </p:cNvPr>
          <p:cNvSpPr/>
          <p:nvPr/>
        </p:nvSpPr>
        <p:spPr>
          <a:xfrm>
            <a:off x="1130830" y="46256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6DEC8143-AC96-AF50-9230-84BEF6DC9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3" y="1588"/>
            <a:ext cx="3003551" cy="6862762"/>
          </a:xfrm>
          <a:prstGeom prst="rect">
            <a:avLst/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文本框 52">
            <a:extLst>
              <a:ext uri="{FF2B5EF4-FFF2-40B4-BE49-F238E27FC236}">
                <a16:creationId xmlns:a16="http://schemas.microsoft.com/office/drawing/2014/main" id="{C389AC9F-4047-F2B1-EE70-E9D3D388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1408113"/>
            <a:ext cx="2376488" cy="3786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目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</a:endParaRPr>
          </a:p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录</a:t>
            </a:r>
          </a:p>
        </p:txBody>
      </p:sp>
      <p:sp>
        <p:nvSpPr>
          <p:cNvPr id="7172" name="TextBox 10">
            <a:extLst>
              <a:ext uri="{FF2B5EF4-FFF2-40B4-BE49-F238E27FC236}">
                <a16:creationId xmlns:a16="http://schemas.microsoft.com/office/drawing/2014/main" id="{745F5ACB-9F49-74F5-7A02-65C2A7DA2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0" y="1527175"/>
            <a:ext cx="6696075" cy="452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0</a:t>
            </a:r>
            <a:r>
              <a:rPr lang="en-US" altLang="zh-CN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1</a:t>
            </a: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 </a:t>
            </a:r>
            <a:r>
              <a:rPr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SQL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概述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0</a:t>
            </a:r>
            <a:r>
              <a:rPr lang="en-US" altLang="zh-CN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2 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存储引擎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0</a:t>
            </a:r>
            <a:r>
              <a:rPr lang="en-US" altLang="zh-CN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3 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字符集与字符编码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0</a:t>
            </a:r>
            <a:r>
              <a:rPr lang="en-US" altLang="zh-CN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4 </a:t>
            </a:r>
            <a:r>
              <a:rPr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MySQL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数据库管理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0</a:t>
            </a:r>
            <a:r>
              <a:rPr lang="en-US" altLang="zh-CN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5 </a:t>
            </a:r>
            <a:r>
              <a:rPr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MySQL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数据类型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0</a:t>
            </a:r>
            <a:r>
              <a:rPr lang="en-US" altLang="zh-CN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6 </a:t>
            </a:r>
            <a:r>
              <a:rPr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MySQL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数据表管理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 panose="020B080603090205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0</a:t>
            </a:r>
            <a:r>
              <a:rPr lang="en-US" altLang="zh-CN" sz="2800" b="1">
                <a:solidFill>
                  <a:srgbClr val="CD1F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7 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 panose="020B0806030902050204" pitchFamily="34" charset="0"/>
              </a:rPr>
              <a:t>数据表的</a:t>
            </a:r>
            <a:r>
              <a:rPr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数据操作</a:t>
            </a:r>
            <a:endParaRPr lang="en-US" altLang="zh-C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 panose="020B0806030902050204" pitchFamily="34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A7B9834-4DB9-DAFE-E54A-F4986C1C3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122238"/>
            <a:ext cx="6335712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4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章 数据库及表基本操作</a:t>
            </a:r>
            <a:endParaRPr lang="zh-CN" altLang="en-US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E4E7D8-6E5B-42A0-B547-3CFA01FE5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SQL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概述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73A5C8-4E91-90ED-0298-E04664408CB7}"/>
              </a:ext>
            </a:extLst>
          </p:cNvPr>
          <p:cNvSpPr/>
          <p:nvPr/>
        </p:nvSpPr>
        <p:spPr>
          <a:xfrm>
            <a:off x="663575" y="1196975"/>
            <a:ext cx="11123613" cy="22127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SQL</a:t>
            </a:r>
            <a:r>
              <a:rPr kumimoji="1"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Structured Query Language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，结构化查询语言。</a:t>
            </a:r>
            <a:endParaRPr kumimoji="1" lang="en-US" altLang="zh-CN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其功能包括数据查询、定义、操纵和控制等方面。</a:t>
            </a:r>
            <a:endParaRPr kumimoji="1" lang="en-US" altLang="zh-CN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 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有</a:t>
            </a: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 89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、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 92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和</a:t>
            </a: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SQL 99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多个版本，并向下兼容。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443AE9-0726-97C9-948F-8BB39A5C7937}"/>
              </a:ext>
            </a:extLst>
          </p:cNvPr>
          <p:cNvSpPr/>
          <p:nvPr/>
        </p:nvSpPr>
        <p:spPr>
          <a:xfrm>
            <a:off x="611188" y="3860800"/>
            <a:ext cx="1087120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注意：</a:t>
            </a: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SQL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是关系数据库的标准语言，在语法上，不同的数据库产品略有不同，</a:t>
            </a:r>
            <a:r>
              <a:rPr kumimoji="1" lang="en-US" altLang="zh-CN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MySQL</a:t>
            </a:r>
            <a:r>
              <a:rPr kumimoji="1" lang="zh-CN" altLang="en-US" sz="32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的语法与其他工具差别较大。</a:t>
            </a:r>
            <a:endParaRPr kumimoji="1" lang="zh-CN" altLang="en-US" sz="32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B6A0D651-AEA2-DDF1-46F5-C7C9D5B18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SQL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组成</a:t>
            </a:r>
          </a:p>
        </p:txBody>
      </p:sp>
      <p:graphicFrame>
        <p:nvGraphicFramePr>
          <p:cNvPr id="9219" name="对象 5">
            <a:extLst>
              <a:ext uri="{FF2B5EF4-FFF2-40B4-BE49-F238E27FC236}">
                <a16:creationId xmlns:a16="http://schemas.microsoft.com/office/drawing/2014/main" id="{1E35D352-E100-36E2-9B29-228FB1D846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555257"/>
              </p:ext>
            </p:extLst>
          </p:nvPr>
        </p:nvGraphicFramePr>
        <p:xfrm>
          <a:off x="265113" y="1254125"/>
          <a:ext cx="11253787" cy="533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62861" imgH="2579486" progId="Word.Document.12">
                  <p:embed/>
                </p:oleObj>
              </mc:Choice>
              <mc:Fallback>
                <p:oleObj name="Document" r:id="rId2" imgW="5462861" imgH="2579486" progId="Word.Document.12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1254125"/>
                        <a:ext cx="11253787" cy="533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CEFFD49-9C37-0A05-A05F-6609D4666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268413"/>
            <a:ext cx="10979150" cy="15843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2C6CA"/>
              </a:buClr>
              <a:buSzPct val="80000"/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数据库存储引擎：</a:t>
            </a:r>
            <a:r>
              <a:rPr kumimoji="1" lang="zh-CN" altLang="en-US" sz="2800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是数据库底层软件组织，是对数据库文件的一种存取机制，为存储的数据建立索引以及如何实现更新、查询数据等技术的方法。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B9387BE-032E-4965-5957-C99E704CA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存储引擎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CB01A434-BB1D-1453-45B8-F2ACD1B9EB3D}"/>
              </a:ext>
            </a:extLst>
          </p:cNvPr>
          <p:cNvSpPr txBox="1">
            <a:spLocks/>
          </p:cNvSpPr>
          <p:nvPr/>
        </p:nvSpPr>
        <p:spPr>
          <a:xfrm>
            <a:off x="666750" y="2997200"/>
            <a:ext cx="10979150" cy="2519363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2C6CA"/>
              </a:buClr>
              <a:buSzPct val="80000"/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为什么要使用不同的存储引擎：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现实生活中，由于不同业务产生了不同的数据，这些数据有的可能偏重于被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频繁查询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，有的可能偏重于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修改速度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cs typeface="Times New Roman" panose="02020603050405020304" pitchFamily="18" charset="0"/>
              </a:rPr>
              <a:t>，有的则对事务、索引、外键有特殊规定。这样一来，就对存储数据要求使用不同的数据组织结构，使用不同的存储引擎可以将数据以不同的结构进行存储。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80C04CD-1AD4-9F57-E143-01AFBF87F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buClr>
                <a:srgbClr val="32C6CA"/>
              </a:buClr>
              <a:buSzPct val="80000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查看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支持的存储引擎：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</a:p>
          <a:p>
            <a:pPr>
              <a:lnSpc>
                <a:spcPct val="110000"/>
              </a:lnSpc>
              <a:buClr>
                <a:srgbClr val="32C6CA"/>
              </a:buClr>
              <a:buSzPct val="80000"/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                          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show engines</a:t>
            </a:r>
          </a:p>
          <a:p>
            <a:pPr>
              <a:lnSpc>
                <a:spcPct val="110000"/>
              </a:lnSpc>
              <a:buClr>
                <a:srgbClr val="32C6CA"/>
              </a:buClr>
              <a:buSzPct val="80000"/>
              <a:defRPr/>
            </a:pPr>
            <a:endParaRPr kumimoji="1" lang="zh-CN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B671448-41A3-20A2-770C-B5A78704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  <a:sym typeface="Impact" pitchFamily="34" charset="0"/>
              </a:rPr>
              <a:t>存储引擎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D76139-ACB4-8C49-39FE-5E54191A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3387725"/>
            <a:ext cx="8929687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注: 弯曲线形(无边框) 7">
            <a:extLst>
              <a:ext uri="{FF2B5EF4-FFF2-40B4-BE49-F238E27FC236}">
                <a16:creationId xmlns:a16="http://schemas.microsoft.com/office/drawing/2014/main" id="{085F43CA-5292-2C74-5F51-DA8311457908}"/>
              </a:ext>
            </a:extLst>
          </p:cNvPr>
          <p:cNvSpPr/>
          <p:nvPr/>
        </p:nvSpPr>
        <p:spPr bwMode="auto">
          <a:xfrm>
            <a:off x="2211388" y="2800350"/>
            <a:ext cx="1943100" cy="612775"/>
          </a:xfrm>
          <a:prstGeom prst="callout2">
            <a:avLst>
              <a:gd name="adj1" fmla="val 53576"/>
              <a:gd name="adj2" fmla="val -2846"/>
              <a:gd name="adj3" fmla="val 53576"/>
              <a:gd name="adj4" fmla="val -15883"/>
              <a:gd name="adj5" fmla="val 87624"/>
              <a:gd name="adj6" fmla="val -19231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zh-CN" dirty="0"/>
              <a:t>存储引擎的类型</a:t>
            </a: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标注: 弯曲线形(无边框) 8">
            <a:extLst>
              <a:ext uri="{FF2B5EF4-FFF2-40B4-BE49-F238E27FC236}">
                <a16:creationId xmlns:a16="http://schemas.microsoft.com/office/drawing/2014/main" id="{0E5B8CAB-CB99-20CE-7457-959117CE101B}"/>
              </a:ext>
            </a:extLst>
          </p:cNvPr>
          <p:cNvSpPr/>
          <p:nvPr/>
        </p:nvSpPr>
        <p:spPr bwMode="auto">
          <a:xfrm>
            <a:off x="4514850" y="2800350"/>
            <a:ext cx="3024188" cy="612775"/>
          </a:xfrm>
          <a:prstGeom prst="callout2">
            <a:avLst>
              <a:gd name="adj1" fmla="val 53576"/>
              <a:gd name="adj2" fmla="val -2846"/>
              <a:gd name="adj3" fmla="val 53576"/>
              <a:gd name="adj4" fmla="val -15883"/>
              <a:gd name="adj5" fmla="val 87624"/>
              <a:gd name="adj6" fmla="val -19231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zh-CN" dirty="0"/>
              <a:t>服务器是否支持该类型引擎</a:t>
            </a: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标注: 弯曲线形(无边框) 9">
            <a:extLst>
              <a:ext uri="{FF2B5EF4-FFF2-40B4-BE49-F238E27FC236}">
                <a16:creationId xmlns:a16="http://schemas.microsoft.com/office/drawing/2014/main" id="{B376662F-6256-B585-DF4B-B028B103F6E0}"/>
              </a:ext>
            </a:extLst>
          </p:cNvPr>
          <p:cNvSpPr/>
          <p:nvPr/>
        </p:nvSpPr>
        <p:spPr bwMode="auto">
          <a:xfrm>
            <a:off x="5559425" y="2800350"/>
            <a:ext cx="3024188" cy="612775"/>
          </a:xfrm>
          <a:prstGeom prst="callout2">
            <a:avLst>
              <a:gd name="adj1" fmla="val 53576"/>
              <a:gd name="adj2" fmla="val -2846"/>
              <a:gd name="adj3" fmla="val 53576"/>
              <a:gd name="adj4" fmla="val -15883"/>
              <a:gd name="adj5" fmla="val 87624"/>
              <a:gd name="adj6" fmla="val -19231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注释</a:t>
            </a:r>
          </a:p>
        </p:txBody>
      </p:sp>
      <p:sp>
        <p:nvSpPr>
          <p:cNvPr id="11" name="标注: 弯曲线形(无边框) 10">
            <a:extLst>
              <a:ext uri="{FF2B5EF4-FFF2-40B4-BE49-F238E27FC236}">
                <a16:creationId xmlns:a16="http://schemas.microsoft.com/office/drawing/2014/main" id="{3B06340D-21D9-A2AD-9B4A-3F1C387AFA9B}"/>
              </a:ext>
            </a:extLst>
          </p:cNvPr>
          <p:cNvSpPr/>
          <p:nvPr/>
        </p:nvSpPr>
        <p:spPr bwMode="auto">
          <a:xfrm>
            <a:off x="7431088" y="2800350"/>
            <a:ext cx="3024187" cy="612775"/>
          </a:xfrm>
          <a:prstGeom prst="callout2">
            <a:avLst>
              <a:gd name="adj1" fmla="val 53576"/>
              <a:gd name="adj2" fmla="val -2846"/>
              <a:gd name="adj3" fmla="val 53576"/>
              <a:gd name="adj4" fmla="val -15883"/>
              <a:gd name="adj5" fmla="val 87624"/>
              <a:gd name="adj6" fmla="val -19231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事务</a:t>
            </a: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标注: 弯曲线形(无边框) 11">
            <a:extLst>
              <a:ext uri="{FF2B5EF4-FFF2-40B4-BE49-F238E27FC236}">
                <a16:creationId xmlns:a16="http://schemas.microsoft.com/office/drawing/2014/main" id="{35974E7A-A909-06CB-9847-00700E6EEF0F}"/>
              </a:ext>
            </a:extLst>
          </p:cNvPr>
          <p:cNvSpPr/>
          <p:nvPr/>
        </p:nvSpPr>
        <p:spPr bwMode="auto">
          <a:xfrm>
            <a:off x="8763000" y="2800350"/>
            <a:ext cx="3024188" cy="612775"/>
          </a:xfrm>
          <a:prstGeom prst="callout2">
            <a:avLst>
              <a:gd name="adj1" fmla="val 53576"/>
              <a:gd name="adj2" fmla="val -2846"/>
              <a:gd name="adj3" fmla="val 53576"/>
              <a:gd name="adj4" fmla="val -15883"/>
              <a:gd name="adj5" fmla="val 87624"/>
              <a:gd name="adj6" fmla="val -19231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zh-CN" dirty="0"/>
              <a:t>分布式交易处理的</a:t>
            </a:r>
            <a:r>
              <a:rPr lang="en-US" altLang="zh-CN" dirty="0"/>
              <a:t>XA</a:t>
            </a:r>
            <a:r>
              <a:rPr lang="zh-CN" altLang="zh-CN" dirty="0"/>
              <a:t>规范</a:t>
            </a:r>
            <a:endParaRPr lang="zh-CN" altLang="en-US" dirty="0"/>
          </a:p>
        </p:txBody>
      </p:sp>
      <p:sp>
        <p:nvSpPr>
          <p:cNvPr id="13" name="标注: 弯曲线形(无边框) 12">
            <a:extLst>
              <a:ext uri="{FF2B5EF4-FFF2-40B4-BE49-F238E27FC236}">
                <a16:creationId xmlns:a16="http://schemas.microsoft.com/office/drawing/2014/main" id="{4D41E203-0DFB-1776-9A9C-E2AB90B30A2B}"/>
              </a:ext>
            </a:extLst>
          </p:cNvPr>
          <p:cNvSpPr/>
          <p:nvPr/>
        </p:nvSpPr>
        <p:spPr bwMode="auto">
          <a:xfrm>
            <a:off x="9779000" y="2800350"/>
            <a:ext cx="3024188" cy="612775"/>
          </a:xfrm>
          <a:prstGeom prst="callout2">
            <a:avLst>
              <a:gd name="adj1" fmla="val 53576"/>
              <a:gd name="adj2" fmla="val -2846"/>
              <a:gd name="adj3" fmla="val 53576"/>
              <a:gd name="adj4" fmla="val -15883"/>
              <a:gd name="adj5" fmla="val 87624"/>
              <a:gd name="adj6" fmla="val -19231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事务保存点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4F00F45-1603-E5C3-7F97-BE8F725A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8" y="2530475"/>
            <a:ext cx="10979150" cy="158432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通过系统变量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default-storage-engine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来查看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存储引擎，查看方式：</a:t>
            </a:r>
            <a:endParaRPr kumimoji="1"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algn="ctr">
              <a:defRPr/>
            </a:pP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show variables like ‘default-storage-engine’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；</a:t>
            </a:r>
            <a:endParaRPr kumimoji="1"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933DAC-BC45-E299-4374-07C9A74C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>
                <a:sym typeface="Impact" pitchFamily="34" charset="0"/>
              </a:rPr>
              <a:t>存储引擎</a:t>
            </a:r>
            <a:endParaRPr/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B54B1C1D-2B7C-4807-F8B7-7CBD07F7808B}"/>
              </a:ext>
            </a:extLst>
          </p:cNvPr>
          <p:cNvSpPr txBox="1">
            <a:spLocks/>
          </p:cNvSpPr>
          <p:nvPr/>
        </p:nvSpPr>
        <p:spPr>
          <a:xfrm>
            <a:off x="657225" y="5519738"/>
            <a:ext cx="10979150" cy="1081087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存储引擎可在定义表的时候设置，也可以通过修改表的方式来设置。</a:t>
            </a:r>
            <a:endParaRPr lang="zh-CN" altLang="en-US" dirty="0"/>
          </a:p>
          <a:p>
            <a:pPr>
              <a:defRPr/>
            </a:pPr>
            <a:endParaRPr lang="zh-CN" altLang="en-US" kern="0" dirty="0"/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2E24EB1A-F62F-9172-696C-5B67FE66810E}"/>
              </a:ext>
            </a:extLst>
          </p:cNvPr>
          <p:cNvSpPr txBox="1">
            <a:spLocks/>
          </p:cNvSpPr>
          <p:nvPr/>
        </p:nvSpPr>
        <p:spPr>
          <a:xfrm>
            <a:off x="554038" y="4114800"/>
            <a:ext cx="10979150" cy="1404938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服务器在运行期间可</a:t>
            </a:r>
            <a:r>
              <a:rPr kumimoji="1" lang="zh-CN" altLang="zh-CN" sz="2800" b="1" kern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修改</a:t>
            </a:r>
            <a:r>
              <a:rPr kumimoji="1" lang="zh-CN" altLang="en-US" sz="2800" b="1" kern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数据库服务器</a:t>
            </a:r>
            <a:r>
              <a:rPr kumimoji="1" lang="zh-CN" altLang="zh-CN" sz="2800" b="1" kern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默认存储引擎</a:t>
            </a:r>
            <a:r>
              <a:rPr kumimoji="1" lang="zh-CN" altLang="en-US" sz="2800" b="1" kern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方式：</a:t>
            </a:r>
            <a:endParaRPr kumimoji="1" lang="en-US" altLang="zh-CN" sz="2800" b="1" kern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1" lang="en-US" altLang="zh-CN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set 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default-storage-engine </a:t>
            </a:r>
            <a:r>
              <a:rPr kumimoji="1" lang="en-US" altLang="zh-CN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=</a:t>
            </a:r>
            <a:r>
              <a:rPr kumimoji="1" lang="zh-CN" altLang="zh-CN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存储引擎名</a:t>
            </a:r>
            <a:r>
              <a:rPr kumimoji="1" lang="zh-CN" altLang="en-US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；</a:t>
            </a:r>
            <a:endParaRPr kumimoji="1" lang="en-US" altLang="zh-CN" sz="2800" b="1" kern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856EE264-AF6F-C4A4-1A81-09B06737925C}"/>
              </a:ext>
            </a:extLst>
          </p:cNvPr>
          <p:cNvSpPr txBox="1">
            <a:spLocks/>
          </p:cNvSpPr>
          <p:nvPr/>
        </p:nvSpPr>
        <p:spPr>
          <a:xfrm>
            <a:off x="554038" y="908050"/>
            <a:ext cx="10964862" cy="1584325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marL="457200" lvl="1" indent="-45720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t>数据库服务在启动时会读取配置文件</a:t>
            </a:r>
            <a:r>
              <a:rPr lang="en-US" altLang="zh-CN"/>
              <a:t>my.ini</a:t>
            </a:r>
            <a:r>
              <a:t>，配置文件中有默认存储引擎的设置。</a:t>
            </a:r>
            <a:r>
              <a:rPr lang="en-US" altLang="zh-CN" sz="2400"/>
              <a:t>(C:\ProgramData\MySQL\MySQL Server 8.0\my.ini)</a:t>
            </a:r>
            <a:endParaRPr lang="en-US" altLang="zh-CN"/>
          </a:p>
          <a:p>
            <a:pPr>
              <a:defRPr/>
            </a:pPr>
            <a:r>
              <a:rPr kumimoji="1" lang="en-US" altLang="zh-CN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             [</a:t>
            </a:r>
            <a:r>
              <a:rPr kumimoji="1" lang="en-US" altLang="zh-CN" sz="2800" b="1" kern="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mysqld</a:t>
            </a:r>
            <a:r>
              <a:rPr kumimoji="1" lang="en-US" altLang="zh-CN" sz="28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]     default-storage-engine=</a:t>
            </a:r>
            <a:r>
              <a:rPr kumimoji="1" lang="en-US" altLang="zh-CN" sz="2800" b="1" kern="0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innodb</a:t>
            </a:r>
            <a:endParaRPr kumimoji="1" lang="en-US" altLang="zh-CN" sz="2800" b="1" kern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  <a:p>
            <a:pPr>
              <a:defRPr/>
            </a:pPr>
            <a:endParaRPr kumimoji="1" lang="en-US" altLang="zh-CN" sz="2800" b="1" kern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8428A10-22F3-002E-8598-D1F3EAFF3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8" y="1196975"/>
            <a:ext cx="10979150" cy="1036638"/>
          </a:xfrm>
        </p:spPr>
        <p:txBody>
          <a:bodyPr/>
          <a:lstStyle/>
          <a:p>
            <a:pPr lvl="1" indent="0">
              <a:lnSpc>
                <a:spcPct val="100000"/>
              </a:lnSpc>
              <a:buClrTx/>
              <a:buSzTx/>
              <a:defRPr/>
            </a:pPr>
            <a:r>
              <a:rPr altLang="zh-CN">
                <a:solidFill>
                  <a:srgbClr val="C00000"/>
                </a:solidFill>
              </a:rPr>
              <a:t>字符集（</a:t>
            </a:r>
            <a:r>
              <a:rPr lang="en-US" altLang="zh-CN">
                <a:solidFill>
                  <a:srgbClr val="C00000"/>
                </a:solidFill>
              </a:rPr>
              <a:t>Character set</a:t>
            </a:r>
            <a:r>
              <a:rPr altLang="zh-CN">
                <a:solidFill>
                  <a:srgbClr val="C00000"/>
                </a:solidFill>
              </a:rPr>
              <a:t>）</a:t>
            </a:r>
            <a:r>
              <a:rPr>
                <a:solidFill>
                  <a:srgbClr val="C00000"/>
                </a:solidFill>
              </a:rPr>
              <a:t>：</a:t>
            </a:r>
            <a:r>
              <a:t>是</a:t>
            </a:r>
            <a:r>
              <a:rPr altLang="zh-CN"/>
              <a:t>字符的集合</a:t>
            </a:r>
            <a:r>
              <a:t>，是一套符号以及编码规则，以二进制形式存储。常用的字符集如下表：</a:t>
            </a:r>
            <a:endParaRPr lang="en-US" altLang="zh-CN"/>
          </a:p>
          <a:p>
            <a:pPr lvl="1">
              <a:defRPr/>
            </a:pP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BC2E0AD-934F-AFD1-53BF-6D93A3EA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字符集与字符编码</a:t>
            </a:r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6D423EFE-CC69-40FD-0A9B-187922018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300288"/>
            <a:ext cx="10125075" cy="417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1">
            <a:extLst>
              <a:ext uri="{FF2B5EF4-FFF2-40B4-BE49-F238E27FC236}">
                <a16:creationId xmlns:a16="http://schemas.microsoft.com/office/drawing/2014/main" id="{5570057A-1952-AA57-9005-417DA8F52B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268413"/>
            <a:ext cx="10979150" cy="16557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defRPr/>
            </a:pPr>
            <a:r>
              <a:rPr altLang="zh-CN">
                <a:solidFill>
                  <a:srgbClr val="C00000"/>
                </a:solidFill>
              </a:rPr>
              <a:t>字符编码</a:t>
            </a:r>
            <a:r>
              <a:rPr>
                <a:solidFill>
                  <a:srgbClr val="C00000"/>
                </a:solidFill>
              </a:rPr>
              <a:t>：</a:t>
            </a:r>
            <a:r>
              <a:rPr altLang="zh-CN">
                <a:effectLst/>
              </a:rPr>
              <a:t>将字符变成字节</a:t>
            </a:r>
            <a:r>
              <a:rPr>
                <a:effectLst/>
              </a:rPr>
              <a:t>的过程。</a:t>
            </a:r>
            <a:r>
              <a:rPr altLang="zh-CN"/>
              <a:t>在符号集合与数字系统之间建立对应关系。与字符集相对应，不同的字符集有不同的字符编码。</a:t>
            </a:r>
            <a:endParaRPr lang="en-US" altLang="zh-CN"/>
          </a:p>
          <a:p>
            <a:pPr lvl="1">
              <a:defRPr/>
            </a:pPr>
            <a:r>
              <a:rPr altLang="zh-CN">
                <a:solidFill>
                  <a:srgbClr val="C00000"/>
                </a:solidFill>
              </a:rPr>
              <a:t>解码</a:t>
            </a:r>
            <a:r>
              <a:rPr>
                <a:solidFill>
                  <a:srgbClr val="C00000"/>
                </a:solidFill>
              </a:rPr>
              <a:t>：</a:t>
            </a:r>
            <a:r>
              <a:t>将二进制字节转换成对应字符的过程。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0398249-AC82-5562-6946-FC72A6C4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字符集与字符编码</a:t>
            </a:r>
          </a:p>
        </p:txBody>
      </p:sp>
      <p:grpSp>
        <p:nvGrpSpPr>
          <p:cNvPr id="14340" name="组合 5">
            <a:extLst>
              <a:ext uri="{FF2B5EF4-FFF2-40B4-BE49-F238E27FC236}">
                <a16:creationId xmlns:a16="http://schemas.microsoft.com/office/drawing/2014/main" id="{3B64411B-6545-991E-E3DD-7F90214D04FD}"/>
              </a:ext>
            </a:extLst>
          </p:cNvPr>
          <p:cNvGrpSpPr>
            <a:grpSpLocks/>
          </p:cNvGrpSpPr>
          <p:nvPr/>
        </p:nvGrpSpPr>
        <p:grpSpPr bwMode="auto">
          <a:xfrm>
            <a:off x="2211388" y="2957513"/>
            <a:ext cx="7416800" cy="3687762"/>
            <a:chOff x="1418850" y="2997200"/>
            <a:chExt cx="7417175" cy="3687763"/>
          </a:xfrm>
        </p:grpSpPr>
        <p:pic>
          <p:nvPicPr>
            <p:cNvPr id="14341" name="图片 3">
              <a:extLst>
                <a:ext uri="{FF2B5EF4-FFF2-40B4-BE49-F238E27FC236}">
                  <a16:creationId xmlns:a16="http://schemas.microsoft.com/office/drawing/2014/main" id="{C385F121-75C5-DBCE-FCE7-4A276DEF6B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1388" y="2997200"/>
              <a:ext cx="6624637" cy="3687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弧形 1">
              <a:extLst>
                <a:ext uri="{FF2B5EF4-FFF2-40B4-BE49-F238E27FC236}">
                  <a16:creationId xmlns:a16="http://schemas.microsoft.com/office/drawing/2014/main" id="{F5E1F9AE-D4DF-AD18-5E8B-0C9DCC3B524B}"/>
                </a:ext>
              </a:extLst>
            </p:cNvPr>
            <p:cNvSpPr/>
            <p:nvPr/>
          </p:nvSpPr>
          <p:spPr bwMode="auto">
            <a:xfrm rot="10800000">
              <a:off x="2211052" y="4005262"/>
              <a:ext cx="474687" cy="1511300"/>
            </a:xfrm>
            <a:prstGeom prst="arc">
              <a:avLst>
                <a:gd name="adj1" fmla="val 16200000"/>
                <a:gd name="adj2" fmla="val 5197576"/>
              </a:avLst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4343" name="TextBox 3">
              <a:extLst>
                <a:ext uri="{FF2B5EF4-FFF2-40B4-BE49-F238E27FC236}">
                  <a16:creationId xmlns:a16="http://schemas.microsoft.com/office/drawing/2014/main" id="{AC89AE94-4803-5109-3996-06001F7DE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8850" y="4581080"/>
              <a:ext cx="5982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/>
                <a:t>转码</a:t>
              </a:r>
            </a:p>
          </p:txBody>
        </p:sp>
        <p:sp>
          <p:nvSpPr>
            <p:cNvPr id="14344" name="TextBox 4">
              <a:extLst>
                <a:ext uri="{FF2B5EF4-FFF2-40B4-BE49-F238E27FC236}">
                  <a16:creationId xmlns:a16="http://schemas.microsoft.com/office/drawing/2014/main" id="{8D60D4C2-9FAC-CFA6-6E32-58BE91EAA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8028" y="4563266"/>
              <a:ext cx="6078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</a:rPr>
                <a:t>utf8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4345" name="TextBox 7">
              <a:extLst>
                <a:ext uri="{FF2B5EF4-FFF2-40B4-BE49-F238E27FC236}">
                  <a16:creationId xmlns:a16="http://schemas.microsoft.com/office/drawing/2014/main" id="{C82041C9-380B-ABA2-6D72-C71316746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979" y="6284250"/>
              <a:ext cx="595035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rgbClr val="C00000"/>
                  </a:solidFill>
                </a:rPr>
                <a:t>gbk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1">
            <a:extLst>
              <a:ext uri="{FF2B5EF4-FFF2-40B4-BE49-F238E27FC236}">
                <a16:creationId xmlns:a16="http://schemas.microsoft.com/office/drawing/2014/main" id="{89ECAF77-0CAF-71F1-999A-908C539421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038" y="4005263"/>
            <a:ext cx="10979150" cy="25193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defRPr/>
            </a:pPr>
            <a:r>
              <a:rPr>
                <a:effectLst/>
              </a:rPr>
              <a:t>查看当前</a:t>
            </a:r>
            <a:r>
              <a:rPr lang="en-US" altLang="zh-CN">
                <a:effectLst/>
              </a:rPr>
              <a:t>MSQL</a:t>
            </a:r>
            <a:r>
              <a:rPr>
                <a:effectLst/>
              </a:rPr>
              <a:t>支持的字符集及其默认的排序方式：</a:t>
            </a:r>
            <a:endParaRPr lang="en-US" altLang="zh-CN">
              <a:effectLst/>
            </a:endParaRPr>
          </a:p>
          <a:p>
            <a:pPr lvl="1" algn="ctr">
              <a:defRPr/>
            </a:pPr>
            <a:r>
              <a:rPr lang="en-US" altLang="zh-CN">
                <a:solidFill>
                  <a:srgbClr val="C00000"/>
                </a:solidFill>
              </a:rPr>
              <a:t>show charset;/show character set;</a:t>
            </a:r>
          </a:p>
          <a:p>
            <a:pPr lvl="1">
              <a:defRPr/>
            </a:pPr>
            <a:r>
              <a:rPr>
                <a:effectLst/>
              </a:rPr>
              <a:t>使用系统变量</a:t>
            </a:r>
            <a:r>
              <a:rPr altLang="zh-CN">
                <a:effectLst/>
              </a:rPr>
              <a:t>查看当前</a:t>
            </a:r>
            <a:r>
              <a:rPr lang="en-US" altLang="zh-CN">
                <a:effectLst/>
              </a:rPr>
              <a:t>MySQL</a:t>
            </a:r>
            <a:r>
              <a:rPr altLang="zh-CN">
                <a:effectLst/>
              </a:rPr>
              <a:t>使用的字符集</a:t>
            </a:r>
            <a:r>
              <a:rPr lang="en-US" altLang="zh-CN">
                <a:effectLst/>
              </a:rPr>
              <a:t>:</a:t>
            </a:r>
          </a:p>
          <a:p>
            <a:pPr lvl="1" algn="ctr">
              <a:defRPr/>
            </a:pPr>
            <a:r>
              <a:rPr lang="en-US" altLang="zh-CN">
                <a:solidFill>
                  <a:srgbClr val="C00000"/>
                </a:solidFill>
                <a:effectLst/>
              </a:rPr>
              <a:t>show variables like 'character%';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E1C9C7-6FBB-7698-FE07-04B8BA1E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字符集与字符编码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50DB767C-DA86-37E8-B989-442A50A5C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1412875"/>
            <a:ext cx="10979150" cy="2520950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spcBef>
                <a:spcPts val="0"/>
              </a:spcBef>
              <a:defRPr/>
            </a:pPr>
            <a:r>
              <a:t>数据库服务在启动时会读取配置文件</a:t>
            </a:r>
            <a:r>
              <a:rPr lang="en-US" altLang="zh-CN">
                <a:solidFill>
                  <a:srgbClr val="C00000"/>
                </a:solidFill>
              </a:rPr>
              <a:t>my.ini</a:t>
            </a:r>
            <a:r>
              <a:t>，配置文件中有默认字符集的设置。</a:t>
            </a:r>
            <a:endParaRPr lang="en-US"/>
          </a:p>
          <a:p>
            <a:pPr lvl="1">
              <a:spcBef>
                <a:spcPts val="0"/>
              </a:spcBef>
              <a:defRPr/>
            </a:pPr>
            <a:r>
              <a:rPr lang="en-US" altLang="zh-CN" kern="0">
                <a:solidFill>
                  <a:srgbClr val="C00000"/>
                </a:solidFill>
                <a:effectLst/>
              </a:rPr>
              <a:t>[client]    default-character-set=utf8</a:t>
            </a:r>
          </a:p>
          <a:p>
            <a:pPr lvl="1">
              <a:spcBef>
                <a:spcPts val="0"/>
              </a:spcBef>
              <a:defRPr/>
            </a:pPr>
            <a:r>
              <a:rPr lang="en-US" altLang="zh-CN" kern="0">
                <a:solidFill>
                  <a:srgbClr val="C00000"/>
                </a:solidFill>
                <a:effectLst/>
              </a:rPr>
              <a:t>[</a:t>
            </a:r>
            <a:r>
              <a:rPr lang="en-US" altLang="zh-CN" kern="0" err="1">
                <a:solidFill>
                  <a:srgbClr val="C00000"/>
                </a:solidFill>
                <a:effectLst/>
              </a:rPr>
              <a:t>mysql</a:t>
            </a:r>
            <a:r>
              <a:rPr lang="en-US" altLang="zh-CN" kern="0">
                <a:solidFill>
                  <a:srgbClr val="C00000"/>
                </a:solidFill>
                <a:effectLst/>
              </a:rPr>
              <a:t>]   default-character-set=utf8</a:t>
            </a:r>
          </a:p>
          <a:p>
            <a:pPr lvl="1">
              <a:spcBef>
                <a:spcPts val="0"/>
              </a:spcBef>
              <a:defRPr/>
            </a:pPr>
            <a:r>
              <a:rPr lang="en-US" altLang="zh-CN" kern="0">
                <a:solidFill>
                  <a:srgbClr val="C00000"/>
                </a:solidFill>
                <a:effectLst/>
              </a:rPr>
              <a:t>[</a:t>
            </a:r>
            <a:r>
              <a:rPr lang="en-US" altLang="zh-CN" kern="0" err="1">
                <a:solidFill>
                  <a:srgbClr val="C00000"/>
                </a:solidFill>
                <a:effectLst/>
              </a:rPr>
              <a:t>mysqld</a:t>
            </a:r>
            <a:r>
              <a:rPr lang="en-US" altLang="zh-CN" kern="0">
                <a:solidFill>
                  <a:srgbClr val="C00000"/>
                </a:solidFill>
                <a:effectLst/>
              </a:rPr>
              <a:t>] character-set-server=utf8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4D471A4-CBF4-059B-1809-4CD748788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创建数据库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altLang="zh-CN"/>
              <a:t>创建数据库的语法格式</a:t>
            </a:r>
            <a:endParaRPr lang="en-US" altLang="zh-CN"/>
          </a:p>
          <a:p>
            <a:pPr lvl="1">
              <a:lnSpc>
                <a:spcPct val="150000"/>
              </a:lnSpc>
              <a:defRPr/>
            </a:pPr>
            <a:r>
              <a:rPr lang="en-US" altLang="zh-CN" b="0">
                <a:solidFill>
                  <a:srgbClr val="C00000"/>
                </a:solidFill>
              </a:rPr>
              <a:t>CREATE DATABASE| SCHEMA [IF NOT EXISTS] </a:t>
            </a:r>
            <a:r>
              <a:rPr lang="en-US" altLang="zh-CN" b="0" err="1">
                <a:solidFill>
                  <a:srgbClr val="C00000"/>
                </a:solidFill>
              </a:rPr>
              <a:t>db_name</a:t>
            </a:r>
            <a:r>
              <a:rPr lang="en-US" altLang="zh-CN" b="0">
                <a:solidFill>
                  <a:srgbClr val="C00000"/>
                </a:solidFill>
              </a:rPr>
              <a:t> </a:t>
            </a:r>
          </a:p>
          <a:p>
            <a:pPr lvl="1">
              <a:defRPr/>
            </a:pPr>
            <a:r>
              <a:rPr lang="en-US" altLang="zh-CN" b="0">
                <a:solidFill>
                  <a:srgbClr val="C00000"/>
                </a:solidFill>
              </a:rPr>
              <a:t>[ [DEFAULT] CHARACTER SET </a:t>
            </a:r>
            <a:r>
              <a:rPr lang="en-US" altLang="zh-CN" b="0" err="1">
                <a:solidFill>
                  <a:srgbClr val="C00000"/>
                </a:solidFill>
              </a:rPr>
              <a:t>charset_name</a:t>
            </a:r>
            <a:r>
              <a:rPr lang="en-US" altLang="zh-CN" b="0">
                <a:solidFill>
                  <a:srgbClr val="C00000"/>
                </a:solidFill>
              </a:rPr>
              <a:t>]</a:t>
            </a:r>
          </a:p>
          <a:p>
            <a:pPr lvl="1">
              <a:defRPr/>
            </a:pPr>
            <a:r>
              <a:rPr lang="en-US" altLang="zh-CN" b="0">
                <a:solidFill>
                  <a:srgbClr val="C00000"/>
                </a:solidFill>
              </a:rPr>
              <a:t>[[DEFAULT] COLLATE </a:t>
            </a:r>
            <a:r>
              <a:rPr lang="en-US" altLang="zh-CN" b="0" err="1">
                <a:solidFill>
                  <a:srgbClr val="C00000"/>
                </a:solidFill>
              </a:rPr>
              <a:t>collation_name</a:t>
            </a:r>
            <a:r>
              <a:rPr lang="en-US" altLang="zh-CN" b="0"/>
              <a:t>];</a:t>
            </a:r>
          </a:p>
          <a:p>
            <a:pPr lvl="1">
              <a:defRPr/>
            </a:pP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5B0505D-5562-E4F1-FF70-3A99F906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数据库管理</a:t>
            </a:r>
            <a:endParaRPr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02F158E-867F-0857-7266-CCF9FF62B56A}"/>
              </a:ext>
            </a:extLst>
          </p:cNvPr>
          <p:cNvSpPr/>
          <p:nvPr/>
        </p:nvSpPr>
        <p:spPr bwMode="auto">
          <a:xfrm>
            <a:off x="1028700" y="2924175"/>
            <a:ext cx="3533775" cy="43338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EBAA3CED-0B21-F6FC-D7F6-92943EFE956A}"/>
              </a:ext>
            </a:extLst>
          </p:cNvPr>
          <p:cNvSpPr/>
          <p:nvPr/>
        </p:nvSpPr>
        <p:spPr bwMode="auto">
          <a:xfrm>
            <a:off x="1562100" y="2008188"/>
            <a:ext cx="2620963" cy="747712"/>
          </a:xfrm>
          <a:prstGeom prst="wedgeRoundRectCallout">
            <a:avLst>
              <a:gd name="adj1" fmla="val -34790"/>
              <a:gd name="adj2" fmla="val 7064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创建数据库命令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C339012-6C47-2A99-6905-8B2567F21480}"/>
              </a:ext>
            </a:extLst>
          </p:cNvPr>
          <p:cNvSpPr/>
          <p:nvPr/>
        </p:nvSpPr>
        <p:spPr bwMode="auto">
          <a:xfrm>
            <a:off x="4637088" y="2940050"/>
            <a:ext cx="1595437" cy="4318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2F238B68-8A2D-6493-8653-19C4F98FFB44}"/>
              </a:ext>
            </a:extLst>
          </p:cNvPr>
          <p:cNvSpPr/>
          <p:nvPr/>
        </p:nvSpPr>
        <p:spPr bwMode="auto">
          <a:xfrm>
            <a:off x="4722813" y="2008188"/>
            <a:ext cx="2620962" cy="747712"/>
          </a:xfrm>
          <a:prstGeom prst="wedgeRoundRectCallout">
            <a:avLst>
              <a:gd name="adj1" fmla="val -34790"/>
              <a:gd name="adj2" fmla="val 7064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早期数据库称谓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2210993-E68E-58A2-B24B-4830B4468B6C}"/>
              </a:ext>
            </a:extLst>
          </p:cNvPr>
          <p:cNvSpPr/>
          <p:nvPr/>
        </p:nvSpPr>
        <p:spPr bwMode="auto">
          <a:xfrm>
            <a:off x="6205538" y="2924175"/>
            <a:ext cx="2620962" cy="43338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76808839-F9F9-E360-7113-3AF498B85883}"/>
              </a:ext>
            </a:extLst>
          </p:cNvPr>
          <p:cNvSpPr/>
          <p:nvPr/>
        </p:nvSpPr>
        <p:spPr bwMode="auto">
          <a:xfrm>
            <a:off x="6427788" y="2008188"/>
            <a:ext cx="2620962" cy="747712"/>
          </a:xfrm>
          <a:prstGeom prst="wedgeRoundRectCallout">
            <a:avLst>
              <a:gd name="adj1" fmla="val -34790"/>
              <a:gd name="adj2" fmla="val 7064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待</a:t>
            </a:r>
            <a:r>
              <a:rPr lang="zh-CN" altLang="zh-CN" dirty="0"/>
              <a:t>创建数据库名已经存在时，给出错误信息</a:t>
            </a:r>
            <a:endParaRPr lang="zh-CN" altLang="en-US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D3BC90B-E19B-4EAA-2AF6-D24A149F9DF9}"/>
              </a:ext>
            </a:extLst>
          </p:cNvPr>
          <p:cNvSpPr/>
          <p:nvPr/>
        </p:nvSpPr>
        <p:spPr bwMode="auto">
          <a:xfrm>
            <a:off x="9009063" y="2924175"/>
            <a:ext cx="1379537" cy="43338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33EBA32C-F2BC-1CF1-03BF-FB0D24B1F23A}"/>
              </a:ext>
            </a:extLst>
          </p:cNvPr>
          <p:cNvSpPr/>
          <p:nvPr/>
        </p:nvSpPr>
        <p:spPr bwMode="auto">
          <a:xfrm>
            <a:off x="8948738" y="2001838"/>
            <a:ext cx="2620962" cy="747712"/>
          </a:xfrm>
          <a:prstGeom prst="wedgeRoundRectCallout">
            <a:avLst>
              <a:gd name="adj1" fmla="val -34790"/>
              <a:gd name="adj2" fmla="val 7064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/>
              <a:t>待</a:t>
            </a:r>
            <a:r>
              <a:rPr lang="zh-CN" altLang="zh-CN" sz="2400" dirty="0"/>
              <a:t>创建数据库名</a:t>
            </a:r>
            <a:endParaRPr lang="zh-CN" altLang="en-US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9DF17DF-AFAC-BFC3-49F3-07B414AEF11E}"/>
              </a:ext>
            </a:extLst>
          </p:cNvPr>
          <p:cNvSpPr/>
          <p:nvPr/>
        </p:nvSpPr>
        <p:spPr bwMode="auto">
          <a:xfrm>
            <a:off x="1028700" y="3525838"/>
            <a:ext cx="7446963" cy="4318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F2928CC9-60B8-09B7-A80E-3E992AAC5B5F}"/>
              </a:ext>
            </a:extLst>
          </p:cNvPr>
          <p:cNvSpPr/>
          <p:nvPr/>
        </p:nvSpPr>
        <p:spPr bwMode="auto">
          <a:xfrm>
            <a:off x="7078663" y="2590800"/>
            <a:ext cx="2620962" cy="747713"/>
          </a:xfrm>
          <a:prstGeom prst="wedgeRoundRectCallout">
            <a:avLst>
              <a:gd name="adj1" fmla="val -34790"/>
              <a:gd name="adj2" fmla="val 7064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2400" dirty="0"/>
              <a:t>设置默认字符集</a:t>
            </a:r>
            <a:endParaRPr lang="zh-CN" altLang="en-US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D27A511-E346-10E3-2B4C-2907B8D883E6}"/>
              </a:ext>
            </a:extLst>
          </p:cNvPr>
          <p:cNvSpPr/>
          <p:nvPr/>
        </p:nvSpPr>
        <p:spPr bwMode="auto">
          <a:xfrm>
            <a:off x="1028700" y="4094163"/>
            <a:ext cx="6438900" cy="4318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30709DDD-5218-2DA4-BFA7-14087D031C97}"/>
              </a:ext>
            </a:extLst>
          </p:cNvPr>
          <p:cNvSpPr/>
          <p:nvPr/>
        </p:nvSpPr>
        <p:spPr bwMode="auto">
          <a:xfrm>
            <a:off x="6205538" y="3200400"/>
            <a:ext cx="3673475" cy="747713"/>
          </a:xfrm>
          <a:prstGeom prst="wedgeRoundRectCallout">
            <a:avLst>
              <a:gd name="adj1" fmla="val -34790"/>
              <a:gd name="adj2" fmla="val 7064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dirty="0"/>
              <a:t>设置字符集默认校对规则</a:t>
            </a:r>
            <a:endParaRPr lang="zh-CN" altLang="en-US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5FF56D-6DD5-6B57-4C01-197B49E49383}"/>
              </a:ext>
            </a:extLst>
          </p:cNvPr>
          <p:cNvSpPr/>
          <p:nvPr/>
        </p:nvSpPr>
        <p:spPr>
          <a:xfrm>
            <a:off x="609600" y="4814888"/>
            <a:ext cx="10275888" cy="10398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457200" defTabSz="0">
              <a:lnSpc>
                <a:spcPct val="110000"/>
              </a:lnSpc>
              <a:spcBef>
                <a:spcPct val="20000"/>
              </a:spcBef>
              <a:buClr>
                <a:srgbClr val="32C6CA"/>
              </a:buClr>
              <a:buSzPct val="80000"/>
              <a:defRPr/>
            </a:pP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Calibri" panose="020F0502020204030204" pitchFamily="34" charset="0"/>
              </a:rPr>
              <a:t>在创建数据库时省略了字符集和校对规则的设置，</a:t>
            </a: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Calibri" panose="020F0502020204030204" pitchFamily="34" charset="0"/>
              </a:rPr>
              <a:t>MySQL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Calibri" panose="020F0502020204030204" pitchFamily="34" charset="0"/>
              </a:rPr>
              <a:t>将采用默认字符集和默认校对规则，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Calibri" panose="020F0502020204030204" pitchFamily="34" charset="0"/>
              </a:rPr>
              <a:t>默认字符集是在哪里设置的？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7" grpId="0" animBg="1"/>
      <p:bldP spid="17" grpId="1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F98AD17-18C1-B936-799E-AD399E6D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50" y="1400175"/>
            <a:ext cx="11861800" cy="165576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</a:rPr>
              <a:t>4-1</a:t>
            </a:r>
            <a:r>
              <a:rPr lang="zh-CN" altLang="en-US" sz="2800" b="1" dirty="0">
                <a:solidFill>
                  <a:schemeClr val="tx1"/>
                </a:solidFill>
              </a:rPr>
              <a:t>：创建名称为</a:t>
            </a:r>
            <a:r>
              <a:rPr lang="en-US" altLang="zh-CN" sz="2800" b="1" dirty="0" err="1">
                <a:solidFill>
                  <a:schemeClr val="tx1"/>
                </a:solidFill>
              </a:rPr>
              <a:t>mytest</a:t>
            </a:r>
            <a:r>
              <a:rPr lang="zh-CN" altLang="en-US" sz="2800" b="1" dirty="0">
                <a:solidFill>
                  <a:schemeClr val="tx1"/>
                </a:solidFill>
              </a:rPr>
              <a:t>的数据库，字符集和排序规则为采用系统默认。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FF0000"/>
                </a:solidFill>
              </a:rPr>
              <a:t>CREATE DATABASE </a:t>
            </a:r>
            <a:r>
              <a:rPr lang="en-US" altLang="zh-CN" dirty="0" err="1">
                <a:solidFill>
                  <a:srgbClr val="002060"/>
                </a:solidFill>
              </a:rPr>
              <a:t>mytest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D273264C-BD77-D1B6-5FB1-F040C4CD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数据库管理</a:t>
            </a:r>
            <a:endParaRPr/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415F05FA-DCAE-E8CD-4C65-FCA430F1C5C5}"/>
              </a:ext>
            </a:extLst>
          </p:cNvPr>
          <p:cNvSpPr txBox="1">
            <a:spLocks/>
          </p:cNvSpPr>
          <p:nvPr/>
        </p:nvSpPr>
        <p:spPr>
          <a:xfrm>
            <a:off x="352425" y="2924175"/>
            <a:ext cx="11233150" cy="1152525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lnSpc>
                <a:spcPct val="150000"/>
              </a:lnSpc>
              <a:defRPr/>
            </a:pPr>
            <a:r>
              <a:rPr sz="2400" kern="0">
                <a:solidFill>
                  <a:srgbClr val="C00000"/>
                </a:solidFill>
              </a:rPr>
              <a:t>说明：</a:t>
            </a:r>
            <a:r>
              <a:rPr sz="2400" kern="0"/>
              <a:t>创建数据库后，会在存储数据文件夹</a:t>
            </a:r>
            <a:r>
              <a:rPr lang="en-US" altLang="zh-CN" sz="2400" kern="0"/>
              <a:t>data</a:t>
            </a:r>
            <a:r>
              <a:rPr sz="2400" kern="0"/>
              <a:t>下生成一个与数据库同名的目录，将来创建的表数据保存在此文件夹中。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15D1DE-9039-33A2-8DA4-307F1F934DAE}"/>
              </a:ext>
            </a:extLst>
          </p:cNvPr>
          <p:cNvSpPr/>
          <p:nvPr/>
        </p:nvSpPr>
        <p:spPr>
          <a:xfrm>
            <a:off x="336550" y="4149725"/>
            <a:ext cx="11593513" cy="21161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indent="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800" b="1" dirty="0"/>
              <a:t>例：创建名称为</a:t>
            </a:r>
            <a:r>
              <a:rPr lang="en-US" altLang="zh-CN" sz="2800" b="1" dirty="0" err="1"/>
              <a:t>mytest</a:t>
            </a:r>
            <a:r>
              <a:rPr lang="zh-CN" altLang="en-US" sz="2800" b="1" dirty="0"/>
              <a:t>的数据库，字符集为</a:t>
            </a:r>
            <a:r>
              <a:rPr lang="en-US" altLang="zh-CN" sz="2800" b="1" dirty="0"/>
              <a:t>utf8mb4</a:t>
            </a:r>
            <a:r>
              <a:rPr lang="zh-CN" altLang="en-US" sz="2800" b="1" dirty="0"/>
              <a:t>和排序规则为采用系统默认。</a:t>
            </a:r>
            <a:endParaRPr lang="en-US" altLang="zh-CN" sz="2800" b="1" dirty="0"/>
          </a:p>
          <a:p>
            <a:pPr marL="0" lvl="1">
              <a:lnSpc>
                <a:spcPct val="150000"/>
              </a:lnSpc>
              <a:spcBef>
                <a:spcPct val="20000"/>
              </a:spcBef>
              <a:buClr>
                <a:srgbClr val="32C6CA"/>
              </a:buClr>
              <a:buSzPct val="80000"/>
              <a:defRPr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sym typeface="Calibri" panose="020F0502020204030204" pitchFamily="34" charset="0"/>
              </a:rPr>
              <a:t>CREATE DATABASE 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sym typeface="Calibri" panose="020F0502020204030204" pitchFamily="34" charset="0"/>
              </a:rPr>
              <a:t>mytest1 charset utf8mb4;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FC2CA31-547A-F9DE-FC9A-2F1034CDF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326866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查看数据库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altLang="zh-CN" dirty="0">
                <a:effectLst/>
              </a:rPr>
              <a:t>查看所有的数据库</a:t>
            </a:r>
            <a:endParaRPr lang="en-US" altLang="zh-CN" dirty="0">
              <a:effectLst/>
            </a:endParaRPr>
          </a:p>
          <a:p>
            <a:pPr lvl="1">
              <a:defRPr/>
            </a:pPr>
            <a:r>
              <a:rPr lang="en-US" altLang="zh-CN" dirty="0">
                <a:solidFill>
                  <a:srgbClr val="C00000"/>
                </a:solidFill>
              </a:rPr>
              <a:t>SHOW DATABASES;</a:t>
            </a:r>
          </a:p>
          <a:p>
            <a:pPr lvl="1">
              <a:defRPr/>
            </a:pPr>
            <a:r>
              <a:rPr dirty="0"/>
              <a:t>查看某个数据库</a:t>
            </a:r>
          </a:p>
          <a:p>
            <a:pPr lvl="1">
              <a:defRPr/>
            </a:pPr>
            <a:r>
              <a:rPr lang="en-US" altLang="zh-CN" dirty="0">
                <a:solidFill>
                  <a:srgbClr val="C00000"/>
                </a:solidFill>
              </a:rPr>
              <a:t>SHOW CREATE DATABASE </a:t>
            </a:r>
            <a:r>
              <a:rPr lang="en-US" altLang="zh-CN" dirty="0" err="1">
                <a:solidFill>
                  <a:schemeClr val="tx1"/>
                </a:solidFill>
              </a:rPr>
              <a:t>mytest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</a:p>
          <a:p>
            <a:pPr lvl="1">
              <a:defRPr/>
            </a:pPr>
            <a:endParaRPr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C9C9B4B4-B494-5721-4B44-1D24AA649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数据库管理</a:t>
            </a:r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EB78CA6-F53D-02CF-BA06-460A16A9C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使用数据库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altLang="zh-CN" dirty="0"/>
              <a:t>MySQL</a:t>
            </a:r>
            <a:r>
              <a:rPr altLang="zh-CN" dirty="0"/>
              <a:t>服务器中可以同时存在多个数据库，在</a:t>
            </a:r>
            <a:r>
              <a:rPr dirty="0"/>
              <a:t>做数据处理前</a:t>
            </a:r>
            <a:r>
              <a:rPr altLang="zh-CN" dirty="0"/>
              <a:t>，需要切换到</a:t>
            </a:r>
            <a:r>
              <a:rPr dirty="0"/>
              <a:t>指定</a:t>
            </a:r>
            <a:r>
              <a:rPr altLang="zh-CN" dirty="0"/>
              <a:t>数据库</a:t>
            </a:r>
            <a:r>
              <a:rPr dirty="0"/>
              <a:t>。语法如下：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USE </a:t>
            </a:r>
            <a:r>
              <a:rPr dirty="0"/>
              <a:t>数据库名</a:t>
            </a:r>
            <a:r>
              <a:rPr lang="en-US" altLang="zh-CN" dirty="0"/>
              <a:t>;</a:t>
            </a:r>
          </a:p>
          <a:p>
            <a:pPr lvl="1">
              <a:defRPr/>
            </a:pPr>
            <a:r>
              <a:rPr dirty="0">
                <a:solidFill>
                  <a:schemeClr val="tx1"/>
                </a:solidFill>
                <a:effectLst/>
              </a:rPr>
              <a:t>例：将</a:t>
            </a:r>
            <a:r>
              <a:rPr lang="en-US" altLang="zh-CN" dirty="0" err="1">
                <a:solidFill>
                  <a:schemeClr val="tx1"/>
                </a:solidFill>
              </a:rPr>
              <a:t>mytest</a:t>
            </a:r>
            <a:r>
              <a:rPr dirty="0">
                <a:solidFill>
                  <a:schemeClr val="tx1"/>
                </a:solidFill>
              </a:rPr>
              <a:t>切换为当前</a:t>
            </a:r>
            <a:r>
              <a:rPr altLang="zh-CN" dirty="0">
                <a:solidFill>
                  <a:schemeClr val="tx1"/>
                </a:solidFill>
                <a:effectLst/>
              </a:rPr>
              <a:t>数据库</a:t>
            </a:r>
            <a:endParaRPr lang="en-US" altLang="zh-CN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zh-CN" dirty="0">
                <a:solidFill>
                  <a:srgbClr val="C00000"/>
                </a:solidFill>
              </a:rPr>
              <a:t>use </a:t>
            </a:r>
            <a:r>
              <a:rPr lang="en-US" altLang="zh-CN" dirty="0" err="1">
                <a:solidFill>
                  <a:schemeClr val="tx1"/>
                </a:solidFill>
              </a:rPr>
              <a:t>mytest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  <a:endParaRPr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91365040-6367-5638-FCA0-0FEE2898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数据库管理</a:t>
            </a:r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1">
            <a:extLst>
              <a:ext uri="{FF2B5EF4-FFF2-40B4-BE49-F238E27FC236}">
                <a16:creationId xmlns:a16="http://schemas.microsoft.com/office/drawing/2014/main" id="{6529B617-E2F3-5CC6-5114-2941F1019B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038" y="1238250"/>
            <a:ext cx="10979150" cy="29813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dirty="0">
                <a:solidFill>
                  <a:srgbClr val="C00000"/>
                </a:solidFill>
              </a:rPr>
              <a:t>修改数据库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dirty="0"/>
              <a:t>更改数据库的字符集和排序规则</a:t>
            </a:r>
            <a:endParaRPr lang="en-US" altLang="zh-CN" dirty="0"/>
          </a:p>
          <a:p>
            <a:pPr lvl="1">
              <a:defRPr/>
            </a:pPr>
            <a:r>
              <a:rPr lang="en-US" altLang="zh-CN" b="0" dirty="0">
                <a:solidFill>
                  <a:srgbClr val="C00000"/>
                </a:solidFill>
              </a:rPr>
              <a:t>ALTER DATABASE </a:t>
            </a:r>
            <a:r>
              <a:rPr lang="en-US" altLang="zh-CN" b="0" dirty="0" err="1">
                <a:solidFill>
                  <a:schemeClr val="tx1"/>
                </a:solidFill>
              </a:rPr>
              <a:t>db_name</a:t>
            </a:r>
            <a:r>
              <a:rPr lang="en-US" altLang="zh-CN" b="0" dirty="0">
                <a:solidFill>
                  <a:schemeClr val="tx1"/>
                </a:solidFill>
              </a:rPr>
              <a:t> </a:t>
            </a:r>
          </a:p>
          <a:p>
            <a:pPr lvl="1">
              <a:defRPr/>
            </a:pPr>
            <a:r>
              <a:rPr lang="en-US" altLang="zh-CN" b="0" dirty="0">
                <a:solidFill>
                  <a:srgbClr val="C00000"/>
                </a:solidFill>
              </a:rPr>
              <a:t>[ [DEFAULT] CHARACTER SET </a:t>
            </a:r>
            <a:r>
              <a:rPr lang="en-US" altLang="zh-CN" b="0" dirty="0" err="1">
                <a:solidFill>
                  <a:schemeClr val="tx1"/>
                </a:solidFill>
              </a:rPr>
              <a:t>charset_name</a:t>
            </a:r>
            <a:r>
              <a:rPr lang="en-US" altLang="zh-CN" b="0" dirty="0">
                <a:solidFill>
                  <a:srgbClr val="C00000"/>
                </a:solidFill>
              </a:rPr>
              <a:t>]</a:t>
            </a:r>
          </a:p>
          <a:p>
            <a:pPr lvl="1">
              <a:defRPr/>
            </a:pPr>
            <a:r>
              <a:rPr lang="en-US" altLang="zh-CN" b="0" dirty="0">
                <a:solidFill>
                  <a:srgbClr val="C00000"/>
                </a:solidFill>
              </a:rPr>
              <a:t>[[DEFAULT] COLLATE </a:t>
            </a:r>
            <a:r>
              <a:rPr lang="en-US" altLang="zh-CN" b="0" dirty="0" err="1">
                <a:solidFill>
                  <a:schemeClr val="tx1"/>
                </a:solidFill>
              </a:rPr>
              <a:t>collation_name</a:t>
            </a:r>
            <a:r>
              <a:rPr lang="en-US" altLang="zh-CN" b="0" dirty="0">
                <a:solidFill>
                  <a:srgbClr val="C00000"/>
                </a:solidFill>
              </a:rPr>
              <a:t>];</a:t>
            </a:r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endParaRPr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2D5F36D0-C0D8-8D72-824A-BEF58AA05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数据库管理</a:t>
            </a:r>
            <a:endParaRPr/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D68F7E1C-A91C-1FAE-F7AB-F61F087F6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221163"/>
            <a:ext cx="10296525" cy="1871662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>
              <a:defRPr/>
            </a:pPr>
            <a:r>
              <a:rPr lang="en-US" altLang="zh-CN" sz="2800" b="1" kern="0" dirty="0">
                <a:solidFill>
                  <a:schemeClr val="tx1"/>
                </a:solidFill>
              </a:rPr>
              <a:t>【</a:t>
            </a:r>
            <a:r>
              <a:rPr lang="zh-CN" altLang="en-US" sz="2800" b="1" kern="0" dirty="0">
                <a:solidFill>
                  <a:schemeClr val="tx1"/>
                </a:solidFill>
              </a:rPr>
              <a:t>例</a:t>
            </a:r>
            <a:r>
              <a:rPr lang="en-US" altLang="zh-CN" sz="2800" b="1" kern="0" dirty="0">
                <a:solidFill>
                  <a:schemeClr val="tx1"/>
                </a:solidFill>
              </a:rPr>
              <a:t>4-2】 </a:t>
            </a:r>
            <a:r>
              <a:rPr lang="zh-CN" altLang="en-US" sz="2800" b="1" kern="0" dirty="0">
                <a:solidFill>
                  <a:schemeClr val="tx1"/>
                </a:solidFill>
              </a:rPr>
              <a:t>修改已建数据库</a:t>
            </a:r>
            <a:r>
              <a:rPr lang="en-US" altLang="zh-CN" sz="2800" b="1" kern="0" dirty="0">
                <a:solidFill>
                  <a:schemeClr val="tx1"/>
                </a:solidFill>
              </a:rPr>
              <a:t>mytest1</a:t>
            </a:r>
            <a:r>
              <a:rPr lang="zh-CN" altLang="en-US" sz="2800" b="1" kern="0" dirty="0">
                <a:solidFill>
                  <a:schemeClr val="tx1"/>
                </a:solidFill>
              </a:rPr>
              <a:t>，将其字符集改为</a:t>
            </a:r>
            <a:r>
              <a:rPr lang="en-US" altLang="zh-CN" sz="2800" b="1" kern="0" dirty="0">
                <a:solidFill>
                  <a:schemeClr val="tx1"/>
                </a:solidFill>
              </a:rPr>
              <a:t>utf8</a:t>
            </a:r>
            <a:r>
              <a:rPr lang="zh-CN" altLang="en-US" sz="2800" b="1" kern="0" dirty="0">
                <a:solidFill>
                  <a:schemeClr val="tx1"/>
                </a:solidFill>
              </a:rPr>
              <a:t>。</a:t>
            </a:r>
            <a:endParaRPr lang="en-US" altLang="zh-CN" sz="2800" b="1" kern="0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 b="0" kern="0" dirty="0">
                <a:solidFill>
                  <a:srgbClr val="C00000"/>
                </a:solidFill>
              </a:rPr>
              <a:t>ALTER DATABASE </a:t>
            </a:r>
            <a:r>
              <a:rPr lang="en-US" altLang="zh-CN" b="0" kern="0" dirty="0">
                <a:solidFill>
                  <a:schemeClr val="tx1"/>
                </a:solidFill>
              </a:rPr>
              <a:t>mytest1</a:t>
            </a:r>
          </a:p>
          <a:p>
            <a:pPr lvl="1">
              <a:defRPr/>
            </a:pPr>
            <a:r>
              <a:rPr lang="en-US" altLang="zh-CN" b="0" kern="0" dirty="0">
                <a:solidFill>
                  <a:srgbClr val="C00000"/>
                </a:solidFill>
              </a:rPr>
              <a:t>CHARACTER SET </a:t>
            </a:r>
            <a:r>
              <a:rPr lang="en-US" altLang="zh-CN" b="0" kern="0" dirty="0">
                <a:solidFill>
                  <a:schemeClr val="tx1"/>
                </a:solidFill>
              </a:rPr>
              <a:t>utf8</a:t>
            </a:r>
            <a:r>
              <a:rPr lang="en-US" altLang="zh-CN" b="0" kern="0" dirty="0">
                <a:solidFill>
                  <a:srgbClr val="C00000"/>
                </a:solidFill>
              </a:rPr>
              <a:t>;</a:t>
            </a:r>
            <a:endParaRPr lang="en-US" b="0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内容占位符 1">
            <a:extLst>
              <a:ext uri="{FF2B5EF4-FFF2-40B4-BE49-F238E27FC236}">
                <a16:creationId xmlns:a16="http://schemas.microsoft.com/office/drawing/2014/main" id="{16058026-4C2B-82CB-3EC5-D566EAA277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468438"/>
            <a:ext cx="10979150" cy="45259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删除数据库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altLang="zh-CN" dirty="0"/>
              <a:t>系统收回已创建数据库所占用的存储空间，清除其在数据字典中的定义，数据库中所包含数据也将被清除。</a:t>
            </a:r>
            <a:endParaRPr lang="en-US" altLang="zh-CN" dirty="0"/>
          </a:p>
          <a:p>
            <a:pPr lvl="1">
              <a:lnSpc>
                <a:spcPct val="150000"/>
              </a:lnSpc>
              <a:defRPr/>
            </a:pPr>
            <a:r>
              <a:rPr lang="en-US" altLang="zh-CN" dirty="0"/>
              <a:t>DROP DATABASE [IF EXISTS] </a:t>
            </a:r>
            <a:r>
              <a:rPr dirty="0"/>
              <a:t>数据库名</a:t>
            </a:r>
            <a:r>
              <a:rPr lang="en-US" altLang="zh-CN" dirty="0"/>
              <a:t>;</a:t>
            </a:r>
          </a:p>
          <a:p>
            <a:pPr>
              <a:defRPr/>
            </a:pPr>
            <a:r>
              <a:rPr lang="zh-CN" altLang="zh-CN" sz="2800" b="1" dirty="0">
                <a:solidFill>
                  <a:schemeClr val="tx1"/>
                </a:solidFill>
              </a:rPr>
              <a:t>【例</a:t>
            </a:r>
            <a:r>
              <a:rPr lang="en-US" altLang="zh-CN" sz="2800" b="1" dirty="0">
                <a:solidFill>
                  <a:schemeClr val="tx1"/>
                </a:solidFill>
              </a:rPr>
              <a:t>4-3</a:t>
            </a:r>
            <a:r>
              <a:rPr lang="zh-CN" altLang="zh-CN" sz="2800" b="1" dirty="0">
                <a:solidFill>
                  <a:schemeClr val="tx1"/>
                </a:solidFill>
              </a:rPr>
              <a:t>】删除</a:t>
            </a:r>
            <a:r>
              <a:rPr lang="en-US" altLang="zh-CN" sz="2800" b="1" dirty="0" err="1">
                <a:solidFill>
                  <a:schemeClr val="tx1"/>
                </a:solidFill>
              </a:rPr>
              <a:t>mytest</a:t>
            </a:r>
            <a:r>
              <a:rPr lang="zh-CN" altLang="zh-CN" sz="2800" b="1" dirty="0">
                <a:solidFill>
                  <a:schemeClr val="tx1"/>
                </a:solidFill>
              </a:rPr>
              <a:t>数据库，删除前判断数据库是否存在。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 dirty="0">
                <a:solidFill>
                  <a:srgbClr val="C00000"/>
                </a:solidFill>
              </a:rPr>
              <a:t>DROP DATABASE IF EXISTS </a:t>
            </a:r>
            <a:r>
              <a:rPr lang="en-US" altLang="zh-CN" dirty="0" err="1">
                <a:solidFill>
                  <a:schemeClr val="tx1"/>
                </a:solidFill>
              </a:rPr>
              <a:t>mytest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  <a:endParaRPr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446A288E-B3F2-2421-9C28-4D3A1A49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数据库管理</a:t>
            </a:r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1">
            <a:extLst>
              <a:ext uri="{FF2B5EF4-FFF2-40B4-BE49-F238E27FC236}">
                <a16:creationId xmlns:a16="http://schemas.microsoft.com/office/drawing/2014/main" id="{CD68DBCB-133F-3D52-2462-7E284C599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600200"/>
            <a:ext cx="10979150" cy="3989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数据类型</a:t>
            </a:r>
            <a:r>
              <a:rPr lang="en-US" altLang="zh-CN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800" b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是指数据所代表信息的类型</a:t>
            </a:r>
            <a:r>
              <a:rPr lang="en-US" altLang="zh-CN" sz="2800" b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不同的数据类型在使用范围、存储方式都不一样。</a:t>
            </a: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9FF33DBB-8965-581F-ADF8-5F47F4EC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数据类型</a:t>
            </a:r>
            <a:endParaRPr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F7DE323-9536-6E4A-ACF8-DBCE1574F953}"/>
              </a:ext>
            </a:extLst>
          </p:cNvPr>
          <p:cNvGrpSpPr>
            <a:grpSpLocks/>
          </p:cNvGrpSpPr>
          <p:nvPr/>
        </p:nvGrpSpPr>
        <p:grpSpPr bwMode="auto">
          <a:xfrm>
            <a:off x="1062038" y="2954338"/>
            <a:ext cx="4587875" cy="2474912"/>
            <a:chOff x="0" y="2830512"/>
            <a:chExt cx="4587070" cy="2475036"/>
          </a:xfrm>
        </p:grpSpPr>
        <p:grpSp>
          <p:nvGrpSpPr>
            <p:cNvPr id="23579" name="组合 4">
              <a:extLst>
                <a:ext uri="{FF2B5EF4-FFF2-40B4-BE49-F238E27FC236}">
                  <a16:creationId xmlns:a16="http://schemas.microsoft.com/office/drawing/2014/main" id="{56567FAA-65C2-CE6C-0E12-D83C809120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375" y="2830512"/>
              <a:ext cx="3165475" cy="652463"/>
              <a:chOff x="1099397" y="2210208"/>
              <a:chExt cx="3003550" cy="652168"/>
            </a:xfrm>
          </p:grpSpPr>
          <p:sp>
            <p:nvSpPr>
              <p:cNvPr id="23595" name="矩形 8">
                <a:extLst>
                  <a:ext uri="{FF2B5EF4-FFF2-40B4-BE49-F238E27FC236}">
                    <a16:creationId xmlns:a16="http://schemas.microsoft.com/office/drawing/2014/main" id="{D4F7AF5A-1A51-DBB7-4A26-5D2FF7EBE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547" y="2210208"/>
                <a:ext cx="1343350" cy="461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400"/>
                  <a:t>数字类型</a:t>
                </a:r>
                <a:endParaRPr lang="zh-CN" altLang="zh-CN" sz="2400"/>
              </a:p>
            </p:txBody>
          </p:sp>
          <p:grpSp>
            <p:nvGrpSpPr>
              <p:cNvPr id="23596" name="组合 9">
                <a:extLst>
                  <a:ext uri="{FF2B5EF4-FFF2-40B4-BE49-F238E27FC236}">
                    <a16:creationId xmlns:a16="http://schemas.microsoft.com/office/drawing/2014/main" id="{683FF7BB-457A-A5D1-ED7E-CEBC3F8297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9397" y="2553616"/>
                <a:ext cx="3003550" cy="308760"/>
                <a:chOff x="2909458" y="1448789"/>
                <a:chExt cx="3003502" cy="308760"/>
              </a:xfrm>
            </p:grpSpPr>
            <p:cxnSp>
              <p:nvCxnSpPr>
                <p:cNvPr id="8" name="直接连接符 7">
                  <a:extLst>
                    <a:ext uri="{FF2B5EF4-FFF2-40B4-BE49-F238E27FC236}">
                      <a16:creationId xmlns:a16="http://schemas.microsoft.com/office/drawing/2014/main" id="{2AED8E5F-E553-BCE6-1ACB-F3A77B678AEF}"/>
                    </a:ext>
                  </a:extLst>
                </p:cNvPr>
                <p:cNvCxnSpPr/>
                <p:nvPr/>
              </p:nvCxnSpPr>
              <p:spPr bwMode="auto">
                <a:xfrm>
                  <a:off x="3230012" y="1603656"/>
                  <a:ext cx="2626473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9" name="十字箭头标注 34">
                  <a:extLst>
                    <a:ext uri="{FF2B5EF4-FFF2-40B4-BE49-F238E27FC236}">
                      <a16:creationId xmlns:a16="http://schemas.microsoft.com/office/drawing/2014/main" id="{BC84DDB1-02B0-6720-E2DD-E5B7E5E3F4EC}"/>
                    </a:ext>
                  </a:extLst>
                </p:cNvPr>
                <p:cNvSpPr/>
                <p:nvPr/>
              </p:nvSpPr>
              <p:spPr bwMode="auto">
                <a:xfrm>
                  <a:off x="2909233" y="1448143"/>
                  <a:ext cx="307225" cy="309438"/>
                </a:xfrm>
                <a:prstGeom prst="quadArrowCallout">
                  <a:avLst/>
                </a:prstGeom>
                <a:noFill/>
                <a:ln w="2857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  <p:sp>
              <p:nvSpPr>
                <p:cNvPr id="10" name="流程图: 联系 35">
                  <a:extLst>
                    <a:ext uri="{FF2B5EF4-FFF2-40B4-BE49-F238E27FC236}">
                      <a16:creationId xmlns:a16="http://schemas.microsoft.com/office/drawing/2014/main" id="{542C9111-B3F4-4BDD-4F8C-2C6BD881BE30}"/>
                    </a:ext>
                  </a:extLst>
                </p:cNvPr>
                <p:cNvSpPr/>
                <p:nvPr/>
              </p:nvSpPr>
              <p:spPr bwMode="auto">
                <a:xfrm>
                  <a:off x="5865521" y="1579852"/>
                  <a:ext cx="46687" cy="46020"/>
                </a:xfrm>
                <a:prstGeom prst="flowChartConnector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</p:grpSp>
        </p:grpSp>
        <p:grpSp>
          <p:nvGrpSpPr>
            <p:cNvPr id="23580" name="组合 10">
              <a:extLst>
                <a:ext uri="{FF2B5EF4-FFF2-40B4-BE49-F238E27FC236}">
                  <a16:creationId xmlns:a16="http://schemas.microsoft.com/office/drawing/2014/main" id="{A8AEEB00-FA10-0358-BE81-BA0149BA4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7788" y="3830310"/>
              <a:ext cx="3166772" cy="652462"/>
              <a:chOff x="1099397" y="2210208"/>
              <a:chExt cx="3003550" cy="652168"/>
            </a:xfrm>
          </p:grpSpPr>
          <p:sp>
            <p:nvSpPr>
              <p:cNvPr id="23590" name="矩形 8">
                <a:extLst>
                  <a:ext uri="{FF2B5EF4-FFF2-40B4-BE49-F238E27FC236}">
                    <a16:creationId xmlns:a16="http://schemas.microsoft.com/office/drawing/2014/main" id="{ACFED1E8-3A07-F94F-D73B-06FDFD2E3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547" y="2210208"/>
                <a:ext cx="2218540" cy="461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400" dirty="0"/>
                  <a:t>日期和时间类型</a:t>
                </a:r>
                <a:endParaRPr lang="zh-CN" altLang="zh-CN" sz="2400" dirty="0"/>
              </a:p>
            </p:txBody>
          </p:sp>
          <p:grpSp>
            <p:nvGrpSpPr>
              <p:cNvPr id="23591" name="组合 9">
                <a:extLst>
                  <a:ext uri="{FF2B5EF4-FFF2-40B4-BE49-F238E27FC236}">
                    <a16:creationId xmlns:a16="http://schemas.microsoft.com/office/drawing/2014/main" id="{B181CAF6-613B-AADF-3CE7-3BC5D61C6A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9397" y="2553616"/>
                <a:ext cx="3003550" cy="308760"/>
                <a:chOff x="2909458" y="1448789"/>
                <a:chExt cx="3003502" cy="308760"/>
              </a:xfrm>
            </p:grpSpPr>
            <p:cxnSp>
              <p:nvCxnSpPr>
                <p:cNvPr id="14" name="直接连接符 13">
                  <a:extLst>
                    <a:ext uri="{FF2B5EF4-FFF2-40B4-BE49-F238E27FC236}">
                      <a16:creationId xmlns:a16="http://schemas.microsoft.com/office/drawing/2014/main" id="{DB921BEE-F5E0-B7CD-DD8A-60DB410D6EEE}"/>
                    </a:ext>
                  </a:extLst>
                </p:cNvPr>
                <p:cNvCxnSpPr/>
                <p:nvPr/>
              </p:nvCxnSpPr>
              <p:spPr bwMode="auto">
                <a:xfrm>
                  <a:off x="3229881" y="1604034"/>
                  <a:ext cx="2626903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5" name="十字箭头标注 34">
                  <a:extLst>
                    <a:ext uri="{FF2B5EF4-FFF2-40B4-BE49-F238E27FC236}">
                      <a16:creationId xmlns:a16="http://schemas.microsoft.com/office/drawing/2014/main" id="{951935B5-72A9-9259-304C-27070E0C69E3}"/>
                    </a:ext>
                  </a:extLst>
                </p:cNvPr>
                <p:cNvSpPr/>
                <p:nvPr/>
              </p:nvSpPr>
              <p:spPr bwMode="auto">
                <a:xfrm>
                  <a:off x="2909232" y="1448521"/>
                  <a:ext cx="308605" cy="309438"/>
                </a:xfrm>
                <a:prstGeom prst="quadArrowCallout">
                  <a:avLst/>
                </a:prstGeom>
                <a:noFill/>
                <a:ln w="2857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  <p:sp>
              <p:nvSpPr>
                <p:cNvPr id="16" name="流程图: 联系 35">
                  <a:extLst>
                    <a:ext uri="{FF2B5EF4-FFF2-40B4-BE49-F238E27FC236}">
                      <a16:creationId xmlns:a16="http://schemas.microsoft.com/office/drawing/2014/main" id="{013D69D8-16E9-531D-7F48-4011CAD43402}"/>
                    </a:ext>
                  </a:extLst>
                </p:cNvPr>
                <p:cNvSpPr/>
                <p:nvPr/>
              </p:nvSpPr>
              <p:spPr bwMode="auto">
                <a:xfrm>
                  <a:off x="5865815" y="1580230"/>
                  <a:ext cx="46668" cy="46020"/>
                </a:xfrm>
                <a:prstGeom prst="flowChartConnector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</p:grpSp>
        </p:grpSp>
        <p:grpSp>
          <p:nvGrpSpPr>
            <p:cNvPr id="23581" name="组合 34">
              <a:extLst>
                <a:ext uri="{FF2B5EF4-FFF2-40B4-BE49-F238E27FC236}">
                  <a16:creationId xmlns:a16="http://schemas.microsoft.com/office/drawing/2014/main" id="{45103D66-E06E-3E48-DBC1-F299B0E3F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0007" y="4648667"/>
              <a:ext cx="3167063" cy="652463"/>
              <a:chOff x="1099397" y="2210208"/>
              <a:chExt cx="3003550" cy="652168"/>
            </a:xfrm>
          </p:grpSpPr>
          <p:sp>
            <p:nvSpPr>
              <p:cNvPr id="23585" name="矩形 8">
                <a:extLst>
                  <a:ext uri="{FF2B5EF4-FFF2-40B4-BE49-F238E27FC236}">
                    <a16:creationId xmlns:a16="http://schemas.microsoft.com/office/drawing/2014/main" id="{674FE25F-3896-4A4D-924D-3882FD759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547" y="2210208"/>
                <a:ext cx="1050791" cy="461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400"/>
                  <a:t>字符型</a:t>
                </a:r>
                <a:endParaRPr lang="zh-CN" altLang="zh-CN" sz="2400"/>
              </a:p>
            </p:txBody>
          </p:sp>
          <p:grpSp>
            <p:nvGrpSpPr>
              <p:cNvPr id="23586" name="组合 9">
                <a:extLst>
                  <a:ext uri="{FF2B5EF4-FFF2-40B4-BE49-F238E27FC236}">
                    <a16:creationId xmlns:a16="http://schemas.microsoft.com/office/drawing/2014/main" id="{81AFDA12-86A4-7809-31B0-31169AF0BB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9397" y="2553616"/>
                <a:ext cx="3003550" cy="308760"/>
                <a:chOff x="2909458" y="1448789"/>
                <a:chExt cx="3003502" cy="308760"/>
              </a:xfrm>
            </p:grpSpPr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7BF8AF76-7533-DEDA-3C3B-CA431EB6B7B0}"/>
                    </a:ext>
                  </a:extLst>
                </p:cNvPr>
                <p:cNvCxnSpPr/>
                <p:nvPr/>
              </p:nvCxnSpPr>
              <p:spPr bwMode="auto">
                <a:xfrm>
                  <a:off x="3230604" y="1603279"/>
                  <a:ext cx="2626661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9" name="十字箭头标注 34">
                  <a:extLst>
                    <a:ext uri="{FF2B5EF4-FFF2-40B4-BE49-F238E27FC236}">
                      <a16:creationId xmlns:a16="http://schemas.microsoft.com/office/drawing/2014/main" id="{B344E4AE-A822-25D6-8736-FC393FA8BB88}"/>
                    </a:ext>
                  </a:extLst>
                </p:cNvPr>
                <p:cNvSpPr/>
                <p:nvPr/>
              </p:nvSpPr>
              <p:spPr bwMode="auto">
                <a:xfrm>
                  <a:off x="2909985" y="1438245"/>
                  <a:ext cx="308577" cy="318960"/>
                </a:xfrm>
                <a:prstGeom prst="quadArrowCallout">
                  <a:avLst/>
                </a:prstGeom>
                <a:noFill/>
                <a:ln w="2857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  <p:sp>
              <p:nvSpPr>
                <p:cNvPr id="40" name="流程图: 联系 35">
                  <a:extLst>
                    <a:ext uri="{FF2B5EF4-FFF2-40B4-BE49-F238E27FC236}">
                      <a16:creationId xmlns:a16="http://schemas.microsoft.com/office/drawing/2014/main" id="{5BAF40EE-C0EB-7D8E-DE88-9F6F46C57D12}"/>
                    </a:ext>
                  </a:extLst>
                </p:cNvPr>
                <p:cNvSpPr/>
                <p:nvPr/>
              </p:nvSpPr>
              <p:spPr bwMode="auto">
                <a:xfrm>
                  <a:off x="5866297" y="1579477"/>
                  <a:ext cx="46663" cy="46019"/>
                </a:xfrm>
                <a:prstGeom prst="flowChartConnector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</p:grpSp>
        </p:grpSp>
        <p:grpSp>
          <p:nvGrpSpPr>
            <p:cNvPr id="23582" name="组合 6">
              <a:extLst>
                <a:ext uri="{FF2B5EF4-FFF2-40B4-BE49-F238E27FC236}">
                  <a16:creationId xmlns:a16="http://schemas.microsoft.com/office/drawing/2014/main" id="{5B9DE6F2-BCDD-33D9-6957-E1AA78F6EF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73412"/>
              <a:ext cx="1130830" cy="2132136"/>
              <a:chOff x="0" y="3173412"/>
              <a:chExt cx="1130830" cy="2132136"/>
            </a:xfrm>
          </p:grpSpPr>
          <p:sp>
            <p:nvSpPr>
              <p:cNvPr id="23583" name="左大括号 2">
                <a:extLst>
                  <a:ext uri="{FF2B5EF4-FFF2-40B4-BE49-F238E27FC236}">
                    <a16:creationId xmlns:a16="http://schemas.microsoft.com/office/drawing/2014/main" id="{BE5823C2-EA74-4BB0-880F-654930ECF5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820" y="3173412"/>
                <a:ext cx="144010" cy="2132136"/>
              </a:xfrm>
              <a:prstGeom prst="leftBrace">
                <a:avLst>
                  <a:gd name="adj1" fmla="val 8362"/>
                  <a:gd name="adj2" fmla="val 50000"/>
                </a:avLst>
              </a:prstGeom>
              <a:noFill/>
              <a:ln w="28575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23584" name="TextBox 5">
                <a:extLst>
                  <a:ext uri="{FF2B5EF4-FFF2-40B4-BE49-F238E27FC236}">
                    <a16:creationId xmlns:a16="http://schemas.microsoft.com/office/drawing/2014/main" id="{A78D18AE-C5E1-4640-4F86-5592CBA428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823429"/>
                <a:ext cx="881973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b="1">
                    <a:solidFill>
                      <a:srgbClr val="C00000"/>
                    </a:solidFill>
                  </a:rPr>
                  <a:t>数据库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r>
                  <a:rPr lang="zh-CN" altLang="en-US" b="1">
                    <a:solidFill>
                      <a:srgbClr val="C00000"/>
                    </a:solidFill>
                  </a:rPr>
                  <a:t>通用</a:t>
                </a: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A8D5692-3DDB-4B55-E744-C879F34E320D}"/>
              </a:ext>
            </a:extLst>
          </p:cNvPr>
          <p:cNvGrpSpPr>
            <a:grpSpLocks/>
          </p:cNvGrpSpPr>
          <p:nvPr/>
        </p:nvGrpSpPr>
        <p:grpSpPr bwMode="auto">
          <a:xfrm>
            <a:off x="6153150" y="2917825"/>
            <a:ext cx="4557713" cy="2593975"/>
            <a:chOff x="4551733" y="2801003"/>
            <a:chExt cx="4558421" cy="2593056"/>
          </a:xfrm>
        </p:grpSpPr>
        <p:grpSp>
          <p:nvGrpSpPr>
            <p:cNvPr id="23558" name="组合 16">
              <a:extLst>
                <a:ext uri="{FF2B5EF4-FFF2-40B4-BE49-F238E27FC236}">
                  <a16:creationId xmlns:a16="http://schemas.microsoft.com/office/drawing/2014/main" id="{BFFC2560-62AB-CA80-2854-ED3811C91A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3710" y="2801003"/>
              <a:ext cx="3165475" cy="652463"/>
              <a:chOff x="1099397" y="2210208"/>
              <a:chExt cx="3003550" cy="652168"/>
            </a:xfrm>
          </p:grpSpPr>
          <p:sp>
            <p:nvSpPr>
              <p:cNvPr id="23574" name="矩形 8">
                <a:extLst>
                  <a:ext uri="{FF2B5EF4-FFF2-40B4-BE49-F238E27FC236}">
                    <a16:creationId xmlns:a16="http://schemas.microsoft.com/office/drawing/2014/main" id="{3D1FBE4D-F4E7-7B9A-9231-6616768DA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547" y="2210208"/>
                <a:ext cx="1326620" cy="461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/>
                  <a:t>SET</a:t>
                </a:r>
                <a:r>
                  <a:rPr lang="zh-CN" altLang="en-US" sz="2400"/>
                  <a:t>类型</a:t>
                </a:r>
                <a:endParaRPr lang="zh-CN" altLang="zh-CN" sz="2400"/>
              </a:p>
            </p:txBody>
          </p:sp>
          <p:grpSp>
            <p:nvGrpSpPr>
              <p:cNvPr id="23575" name="组合 9">
                <a:extLst>
                  <a:ext uri="{FF2B5EF4-FFF2-40B4-BE49-F238E27FC236}">
                    <a16:creationId xmlns:a16="http://schemas.microsoft.com/office/drawing/2014/main" id="{9ED92ACA-0714-CD14-5DB2-AF2DE18B9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9397" y="2553616"/>
                <a:ext cx="3003550" cy="308760"/>
                <a:chOff x="2909458" y="1448789"/>
                <a:chExt cx="3003502" cy="308760"/>
              </a:xfrm>
            </p:grpSpPr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2E64ABE6-EA33-D780-AD48-BD3DBC913D18}"/>
                    </a:ext>
                  </a:extLst>
                </p:cNvPr>
                <p:cNvCxnSpPr/>
                <p:nvPr/>
              </p:nvCxnSpPr>
              <p:spPr bwMode="auto">
                <a:xfrm>
                  <a:off x="3230188" y="1603454"/>
                  <a:ext cx="2627343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" name="十字箭头标注 34">
                  <a:extLst>
                    <a:ext uri="{FF2B5EF4-FFF2-40B4-BE49-F238E27FC236}">
                      <a16:creationId xmlns:a16="http://schemas.microsoft.com/office/drawing/2014/main" id="{18ACA56B-1AD1-C0B3-7BF7-55519A50D0BB}"/>
                    </a:ext>
                  </a:extLst>
                </p:cNvPr>
                <p:cNvSpPr/>
                <p:nvPr/>
              </p:nvSpPr>
              <p:spPr bwMode="auto">
                <a:xfrm>
                  <a:off x="2909302" y="1448005"/>
                  <a:ext cx="307327" cy="309314"/>
                </a:xfrm>
                <a:prstGeom prst="quadArrowCallout">
                  <a:avLst/>
                </a:prstGeom>
                <a:noFill/>
                <a:ln w="2857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  <p:sp>
              <p:nvSpPr>
                <p:cNvPr id="22" name="流程图: 联系 35">
                  <a:extLst>
                    <a:ext uri="{FF2B5EF4-FFF2-40B4-BE49-F238E27FC236}">
                      <a16:creationId xmlns:a16="http://schemas.microsoft.com/office/drawing/2014/main" id="{96EEFF9E-E7F3-0728-EF86-A4F7872C1755}"/>
                    </a:ext>
                  </a:extLst>
                </p:cNvPr>
                <p:cNvSpPr/>
                <p:nvPr/>
              </p:nvSpPr>
              <p:spPr bwMode="auto">
                <a:xfrm>
                  <a:off x="5866570" y="1579661"/>
                  <a:ext cx="46701" cy="46000"/>
                </a:xfrm>
                <a:prstGeom prst="flowChartConnector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</p:grpSp>
        </p:grpSp>
        <p:grpSp>
          <p:nvGrpSpPr>
            <p:cNvPr id="23559" name="组合 40">
              <a:extLst>
                <a:ext uri="{FF2B5EF4-FFF2-40B4-BE49-F238E27FC236}">
                  <a16:creationId xmlns:a16="http://schemas.microsoft.com/office/drawing/2014/main" id="{E1DD9A53-D9F6-A41D-267D-3565B451F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72909" y="3717020"/>
              <a:ext cx="3167063" cy="652462"/>
              <a:chOff x="1099397" y="2210208"/>
              <a:chExt cx="3003550" cy="652168"/>
            </a:xfrm>
          </p:grpSpPr>
          <p:sp>
            <p:nvSpPr>
              <p:cNvPr id="23569" name="矩形 8">
                <a:extLst>
                  <a:ext uri="{FF2B5EF4-FFF2-40B4-BE49-F238E27FC236}">
                    <a16:creationId xmlns:a16="http://schemas.microsoft.com/office/drawing/2014/main" id="{B42A65DB-D93D-89C5-86C7-7FF21194F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547" y="2210208"/>
                <a:ext cx="1619361" cy="461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/>
                  <a:t>ENUM</a:t>
                </a:r>
                <a:r>
                  <a:rPr lang="zh-CN" altLang="en-US" sz="2400"/>
                  <a:t>类型</a:t>
                </a:r>
                <a:endParaRPr lang="zh-CN" altLang="zh-CN" sz="2400"/>
              </a:p>
            </p:txBody>
          </p:sp>
          <p:grpSp>
            <p:nvGrpSpPr>
              <p:cNvPr id="23570" name="组合 9">
                <a:extLst>
                  <a:ext uri="{FF2B5EF4-FFF2-40B4-BE49-F238E27FC236}">
                    <a16:creationId xmlns:a16="http://schemas.microsoft.com/office/drawing/2014/main" id="{83101622-A09F-B803-B52C-B76F7F1BE5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9397" y="2553616"/>
                <a:ext cx="3003550" cy="308760"/>
                <a:chOff x="2909458" y="1448789"/>
                <a:chExt cx="3003502" cy="308760"/>
              </a:xfrm>
            </p:grpSpPr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549D44A6-AE5D-175C-85AA-31944CDF48B2}"/>
                    </a:ext>
                  </a:extLst>
                </p:cNvPr>
                <p:cNvCxnSpPr/>
                <p:nvPr/>
              </p:nvCxnSpPr>
              <p:spPr bwMode="auto">
                <a:xfrm>
                  <a:off x="3230021" y="1593584"/>
                  <a:ext cx="2627531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5" name="十字箭头标注 34">
                  <a:extLst>
                    <a:ext uri="{FF2B5EF4-FFF2-40B4-BE49-F238E27FC236}">
                      <a16:creationId xmlns:a16="http://schemas.microsoft.com/office/drawing/2014/main" id="{3F22655B-77D9-3AAE-2C26-2F9BCC963BF9}"/>
                    </a:ext>
                  </a:extLst>
                </p:cNvPr>
                <p:cNvSpPr/>
                <p:nvPr/>
              </p:nvSpPr>
              <p:spPr bwMode="auto">
                <a:xfrm>
                  <a:off x="2909296" y="1438135"/>
                  <a:ext cx="308679" cy="318830"/>
                </a:xfrm>
                <a:prstGeom prst="quadArrowCallout">
                  <a:avLst/>
                </a:prstGeom>
                <a:noFill/>
                <a:ln w="2857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  <p:sp>
              <p:nvSpPr>
                <p:cNvPr id="46" name="流程图: 联系 35">
                  <a:extLst>
                    <a:ext uri="{FF2B5EF4-FFF2-40B4-BE49-F238E27FC236}">
                      <a16:creationId xmlns:a16="http://schemas.microsoft.com/office/drawing/2014/main" id="{D4C3CB1E-26BE-B9AF-D257-1E31E80C266C}"/>
                    </a:ext>
                  </a:extLst>
                </p:cNvPr>
                <p:cNvSpPr/>
                <p:nvPr/>
              </p:nvSpPr>
              <p:spPr bwMode="auto">
                <a:xfrm>
                  <a:off x="5866586" y="1569790"/>
                  <a:ext cx="46679" cy="46001"/>
                </a:xfrm>
                <a:prstGeom prst="flowChartConnector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</p:grpSp>
        </p:grpSp>
        <p:grpSp>
          <p:nvGrpSpPr>
            <p:cNvPr id="23560" name="组合 46">
              <a:extLst>
                <a:ext uri="{FF2B5EF4-FFF2-40B4-BE49-F238E27FC236}">
                  <a16:creationId xmlns:a16="http://schemas.microsoft.com/office/drawing/2014/main" id="{2DA22306-A99F-BC9E-BE33-A8ECE75893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3622" y="4653085"/>
              <a:ext cx="3166532" cy="652463"/>
              <a:chOff x="1099397" y="2210208"/>
              <a:chExt cx="3003550" cy="652168"/>
            </a:xfrm>
          </p:grpSpPr>
          <p:sp>
            <p:nvSpPr>
              <p:cNvPr id="23564" name="矩形 8">
                <a:extLst>
                  <a:ext uri="{FF2B5EF4-FFF2-40B4-BE49-F238E27FC236}">
                    <a16:creationId xmlns:a16="http://schemas.microsoft.com/office/drawing/2014/main" id="{217A7907-31DE-AED3-ABF6-702D78AA6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7547" y="2210208"/>
                <a:ext cx="2121396" cy="461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400"/>
                  <a:t>JSON</a:t>
                </a:r>
                <a:r>
                  <a:rPr lang="zh-CN" altLang="en-US" sz="2400"/>
                  <a:t>数据类型</a:t>
                </a:r>
                <a:endParaRPr lang="zh-CN" altLang="zh-CN" sz="2400"/>
              </a:p>
            </p:txBody>
          </p:sp>
          <p:grpSp>
            <p:nvGrpSpPr>
              <p:cNvPr id="23565" name="组合 9">
                <a:extLst>
                  <a:ext uri="{FF2B5EF4-FFF2-40B4-BE49-F238E27FC236}">
                    <a16:creationId xmlns:a16="http://schemas.microsoft.com/office/drawing/2014/main" id="{9EF78963-4FA8-CCEA-FD2D-7D573A9FA0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9397" y="2553616"/>
                <a:ext cx="3003550" cy="308760"/>
                <a:chOff x="2909458" y="1448789"/>
                <a:chExt cx="3003502" cy="308760"/>
              </a:xfrm>
            </p:grpSpPr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39C5B42C-E668-6162-3563-D9B7BE87D3E5}"/>
                    </a:ext>
                  </a:extLst>
                </p:cNvPr>
                <p:cNvCxnSpPr/>
                <p:nvPr/>
              </p:nvCxnSpPr>
              <p:spPr bwMode="auto">
                <a:xfrm>
                  <a:off x="3230772" y="1603329"/>
                  <a:ext cx="2626466" cy="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1" name="十字箭头标注 34">
                  <a:extLst>
                    <a:ext uri="{FF2B5EF4-FFF2-40B4-BE49-F238E27FC236}">
                      <a16:creationId xmlns:a16="http://schemas.microsoft.com/office/drawing/2014/main" id="{92F9A50F-E910-7E9E-601A-C7B3F6B7B26B}"/>
                    </a:ext>
                  </a:extLst>
                </p:cNvPr>
                <p:cNvSpPr/>
                <p:nvPr/>
              </p:nvSpPr>
              <p:spPr bwMode="auto">
                <a:xfrm>
                  <a:off x="2909994" y="1438362"/>
                  <a:ext cx="308730" cy="318830"/>
                </a:xfrm>
                <a:prstGeom prst="quadArrowCallout">
                  <a:avLst/>
                </a:prstGeom>
                <a:noFill/>
                <a:ln w="2857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  <p:sp>
              <p:nvSpPr>
                <p:cNvPr id="52" name="流程图: 联系 35">
                  <a:extLst>
                    <a:ext uri="{FF2B5EF4-FFF2-40B4-BE49-F238E27FC236}">
                      <a16:creationId xmlns:a16="http://schemas.microsoft.com/office/drawing/2014/main" id="{7F0C0F93-6803-923B-3AF5-1F6DC2731301}"/>
                    </a:ext>
                  </a:extLst>
                </p:cNvPr>
                <p:cNvSpPr/>
                <p:nvPr/>
              </p:nvSpPr>
              <p:spPr bwMode="auto">
                <a:xfrm>
                  <a:off x="5866273" y="1579536"/>
                  <a:ext cx="46687" cy="46001"/>
                </a:xfrm>
                <a:prstGeom prst="flowChartConnector">
                  <a:avLst/>
                </a:prstGeom>
                <a:noFill/>
                <a:ln w="12700" cap="flat" cmpd="sng" algn="ctr">
                  <a:solidFill>
                    <a:schemeClr val="accent1">
                      <a:lumMod val="75000"/>
                    </a:schemeClr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  <a:cs typeface="+mn-cs"/>
                    </a:defRPr>
                  </a:lvl9pPr>
                </a:lstStyle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 sz="2400"/>
                </a:p>
              </p:txBody>
            </p:sp>
          </p:grpSp>
        </p:grpSp>
        <p:grpSp>
          <p:nvGrpSpPr>
            <p:cNvPr id="23561" name="组合 47">
              <a:extLst>
                <a:ext uri="{FF2B5EF4-FFF2-40B4-BE49-F238E27FC236}">
                  <a16:creationId xmlns:a16="http://schemas.microsoft.com/office/drawing/2014/main" id="{0EAF29ED-594F-1045-AB11-82EBD98733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1733" y="3261923"/>
              <a:ext cx="1130830" cy="2132136"/>
              <a:chOff x="0" y="3173412"/>
              <a:chExt cx="1130830" cy="2132136"/>
            </a:xfrm>
          </p:grpSpPr>
          <p:sp>
            <p:nvSpPr>
              <p:cNvPr id="23562" name="左大括号 48">
                <a:extLst>
                  <a:ext uri="{FF2B5EF4-FFF2-40B4-BE49-F238E27FC236}">
                    <a16:creationId xmlns:a16="http://schemas.microsoft.com/office/drawing/2014/main" id="{192B58F7-A3BE-E98D-D811-771498959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820" y="3173412"/>
                <a:ext cx="144010" cy="2132136"/>
              </a:xfrm>
              <a:prstGeom prst="leftBrace">
                <a:avLst>
                  <a:gd name="adj1" fmla="val 8362"/>
                  <a:gd name="adj2" fmla="val 50000"/>
                </a:avLst>
              </a:prstGeom>
              <a:noFill/>
              <a:ln w="28575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23563" name="TextBox 52">
                <a:extLst>
                  <a:ext uri="{FF2B5EF4-FFF2-40B4-BE49-F238E27FC236}">
                    <a16:creationId xmlns:a16="http://schemas.microsoft.com/office/drawing/2014/main" id="{4DC76F79-6132-C052-3C92-C969ECD719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823429"/>
                <a:ext cx="979907" cy="923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C00000"/>
                    </a:solidFill>
                  </a:rPr>
                  <a:t>MySQL</a:t>
                </a:r>
              </a:p>
              <a:p>
                <a:r>
                  <a:rPr lang="zh-CN" altLang="en-US" b="1">
                    <a:solidFill>
                      <a:srgbClr val="C00000"/>
                    </a:solidFill>
                  </a:rPr>
                  <a:t>使用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r>
                  <a:rPr lang="en-US" altLang="zh-CN" b="1">
                    <a:solidFill>
                      <a:srgbClr val="C00000"/>
                    </a:solidFill>
                  </a:rPr>
                  <a:t>(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自学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)</a:t>
                </a:r>
                <a:endParaRPr lang="zh-CN" altLang="en-US" b="1">
                  <a:solidFill>
                    <a:srgbClr val="C00000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1">
            <a:extLst>
              <a:ext uri="{FF2B5EF4-FFF2-40B4-BE49-F238E27FC236}">
                <a16:creationId xmlns:a16="http://schemas.microsoft.com/office/drawing/2014/main" id="{2CAEE620-7E28-830C-6D9C-E27B5B68A8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125538"/>
            <a:ext cx="10979150" cy="5762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数字类型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0DE6B9BA-8529-D9F3-C0E7-1AFBB968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数据类型</a:t>
            </a:r>
            <a:endParaRPr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9CE20356-FF44-75E7-9979-0BB381334322}"/>
              </a:ext>
            </a:extLst>
          </p:cNvPr>
          <p:cNvGraphicFramePr>
            <a:graphicFrameLocks noGrp="1"/>
          </p:cNvGraphicFramePr>
          <p:nvPr/>
        </p:nvGraphicFramePr>
        <p:xfrm>
          <a:off x="698500" y="1700213"/>
          <a:ext cx="10979152" cy="3890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4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9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字节</a:t>
                      </a: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取值范围（有符号）</a:t>
                      </a: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取值范围（无符号）</a:t>
                      </a: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TINYINT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-128,127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0,255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SAMLLINT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-32768,32767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0,65535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8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MEDIUMINT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-8388608, 8388607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16777215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-2147483648, 2147483647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0,4294967295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BIGINT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2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0, 2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660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DECIMAL [(P[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S])]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P&gt;S,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P+2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字节，否则为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S+2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字节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的值有关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的值有关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1">
            <a:extLst>
              <a:ext uri="{FF2B5EF4-FFF2-40B4-BE49-F238E27FC236}">
                <a16:creationId xmlns:a16="http://schemas.microsoft.com/office/drawing/2014/main" id="{760E3CBB-ED34-739F-6575-1548B53B4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125538"/>
            <a:ext cx="10979150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</a:pPr>
            <a:r>
              <a:rPr lang="zh-CN" altLang="zh-CN" b="1">
                <a:solidFill>
                  <a:srgbClr val="C00000"/>
                </a:solidFill>
              </a:rPr>
              <a:t>关于数字类型的相关说明如下</a:t>
            </a:r>
            <a:r>
              <a:rPr lang="zh-CN" altLang="en-US" b="1">
                <a:solidFill>
                  <a:srgbClr val="C00000"/>
                </a:solidFill>
              </a:rPr>
              <a:t>：</a:t>
            </a:r>
            <a:endParaRPr lang="zh-CN" altLang="zh-CN" b="1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B3B173BC-3CF4-C5DB-D930-D95D193A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数据类型</a:t>
            </a:r>
            <a:endParaRPr/>
          </a:p>
        </p:txBody>
      </p:sp>
      <p:sp>
        <p:nvSpPr>
          <p:cNvPr id="25604" name="矩形 1">
            <a:extLst>
              <a:ext uri="{FF2B5EF4-FFF2-40B4-BE49-F238E27FC236}">
                <a16:creationId xmlns:a16="http://schemas.microsoft.com/office/drawing/2014/main" id="{FB6C5C93-370C-B2C7-E1F9-DF3D04399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997075"/>
            <a:ext cx="10080625" cy="298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zh-CN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1</a:t>
            </a:r>
            <a:r>
              <a:rPr lang="zh-CN" altLang="zh-CN" sz="2400" b="1" dirty="0">
                <a:solidFill>
                  <a:srgbClr val="002060"/>
                </a:solidFill>
              </a:rPr>
              <a:t>）在选择数据类型时，若一个数据将来可能参与数学计算，推荐使用整数或定点数类型：若只用来显示，则推荐使用字符串类型。例如，商品库存保存为整数类型；用户的身份证、电话号码可以保存为字符串型。</a:t>
            </a:r>
          </a:p>
          <a:p>
            <a:pPr>
              <a:spcBef>
                <a:spcPts val="1200"/>
              </a:spcBef>
            </a:pPr>
            <a:r>
              <a:rPr lang="zh-CN" altLang="zh-CN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zh-CN" altLang="zh-CN" sz="2400" b="1" dirty="0">
                <a:solidFill>
                  <a:srgbClr val="002060"/>
                </a:solidFill>
              </a:rPr>
              <a:t>）表的主键推荐使用整数类型，与字符串相比，整数类型的处理效率更高，查询速度更快。</a:t>
            </a:r>
          </a:p>
          <a:p>
            <a:pPr>
              <a:spcBef>
                <a:spcPts val="1200"/>
              </a:spcBef>
            </a:pPr>
            <a:r>
              <a:rPr lang="zh-CN" altLang="zh-CN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3</a:t>
            </a:r>
            <a:r>
              <a:rPr lang="zh-CN" altLang="zh-CN" sz="2400" b="1" dirty="0">
                <a:solidFill>
                  <a:srgbClr val="002060"/>
                </a:solidFill>
              </a:rPr>
              <a:t>）定义无符号数据类型，需要在数据类型右边加</a:t>
            </a:r>
            <a:r>
              <a:rPr lang="en-US" altLang="zh-CN" sz="2400" b="1" dirty="0">
                <a:solidFill>
                  <a:srgbClr val="002060"/>
                </a:solidFill>
              </a:rPr>
              <a:t>UNSIGNED</a:t>
            </a:r>
            <a:r>
              <a:rPr lang="zh-CN" altLang="zh-CN" sz="2400" b="1" dirty="0">
                <a:solidFill>
                  <a:srgbClr val="002060"/>
                </a:solidFill>
              </a:rPr>
              <a:t>关键字，例如</a:t>
            </a:r>
            <a:r>
              <a:rPr lang="en-US" altLang="zh-CN" sz="2400" b="1" dirty="0">
                <a:solidFill>
                  <a:srgbClr val="002060"/>
                </a:solidFill>
              </a:rPr>
              <a:t> INT UNSIGNED</a:t>
            </a:r>
            <a:r>
              <a:rPr lang="zh-CN" altLang="zh-CN" sz="2400" b="1" dirty="0">
                <a:solidFill>
                  <a:srgbClr val="002060"/>
                </a:solidFill>
              </a:rPr>
              <a:t>；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内容占位符 1">
            <a:extLst>
              <a:ext uri="{FF2B5EF4-FFF2-40B4-BE49-F238E27FC236}">
                <a16:creationId xmlns:a16="http://schemas.microsoft.com/office/drawing/2014/main" id="{2C692D1F-F6A4-F436-E6AE-7FB459A0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500" y="1268413"/>
            <a:ext cx="1097915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rgbClr val="002060"/>
                </a:solidFill>
              </a:rPr>
              <a:t>字符型</a:t>
            </a: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9AD6B851-7922-1832-994E-E5E96507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数据类型</a:t>
            </a:r>
            <a:endParaRPr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80F5DE42-AC17-BBF9-6B17-A77D0C049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769928"/>
              </p:ext>
            </p:extLst>
          </p:nvPr>
        </p:nvGraphicFramePr>
        <p:xfrm>
          <a:off x="1635125" y="1989138"/>
          <a:ext cx="8352321" cy="230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78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数据类型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限制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78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CHAR(n)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固定长度字符串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0~255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78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VARCHAR(n)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可变长度字符串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与字符集相关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78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TEXT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长文本数据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0~2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78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BLOB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二进制长文本数据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0~2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1">
            <a:extLst>
              <a:ext uri="{FF2B5EF4-FFF2-40B4-BE49-F238E27FC236}">
                <a16:creationId xmlns:a16="http://schemas.microsoft.com/office/drawing/2014/main" id="{BF616CAF-5B56-D7D5-C972-C8FFF882A9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125538"/>
            <a:ext cx="10979150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</a:pPr>
            <a:r>
              <a:rPr lang="zh-CN" altLang="zh-CN" b="1">
                <a:solidFill>
                  <a:srgbClr val="C00000"/>
                </a:solidFill>
              </a:rPr>
              <a:t>关于</a:t>
            </a:r>
            <a:r>
              <a:rPr lang="zh-CN" altLang="en-US" b="1">
                <a:solidFill>
                  <a:srgbClr val="C00000"/>
                </a:solidFill>
              </a:rPr>
              <a:t>字符</a:t>
            </a:r>
            <a:r>
              <a:rPr lang="zh-CN" altLang="zh-CN" b="1">
                <a:solidFill>
                  <a:srgbClr val="C00000"/>
                </a:solidFill>
              </a:rPr>
              <a:t>类型的相关说明如下</a:t>
            </a:r>
            <a:r>
              <a:rPr lang="zh-CN" altLang="en-US" b="1">
                <a:solidFill>
                  <a:srgbClr val="C00000"/>
                </a:solidFill>
              </a:rPr>
              <a:t>：</a:t>
            </a:r>
            <a:endParaRPr lang="zh-CN" altLang="zh-CN" b="1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9E1F488E-AE5D-F829-08F9-CBEA8CB4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数据类型</a:t>
            </a:r>
            <a:endParaRPr/>
          </a:p>
        </p:txBody>
      </p:sp>
      <p:sp>
        <p:nvSpPr>
          <p:cNvPr id="27652" name="矩形 1">
            <a:extLst>
              <a:ext uri="{FF2B5EF4-FFF2-40B4-BE49-F238E27FC236}">
                <a16:creationId xmlns:a16="http://schemas.microsoft.com/office/drawing/2014/main" id="{6598D6B0-867B-ABD1-10DB-2E27EDE83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844675"/>
            <a:ext cx="10225088" cy="335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1</a:t>
            </a:r>
            <a:r>
              <a:rPr lang="zh-CN" altLang="en-US" sz="2400" b="1" dirty="0">
                <a:solidFill>
                  <a:srgbClr val="002060"/>
                </a:solidFill>
              </a:rPr>
              <a:t>）</a:t>
            </a:r>
            <a:r>
              <a:rPr lang="en-US" altLang="zh-CN" sz="2400" b="1" dirty="0">
                <a:solidFill>
                  <a:srgbClr val="002060"/>
                </a:solidFill>
              </a:rPr>
              <a:t>CHAR(n)</a:t>
            </a:r>
            <a:r>
              <a:rPr lang="zh-CN" altLang="en-US" sz="2400" b="1" dirty="0">
                <a:solidFill>
                  <a:srgbClr val="002060"/>
                </a:solidFill>
              </a:rPr>
              <a:t>存储存储大小为</a:t>
            </a:r>
            <a:r>
              <a:rPr lang="en-US" altLang="zh-CN" sz="2400" b="1" dirty="0">
                <a:solidFill>
                  <a:srgbClr val="002060"/>
                </a:solidFill>
              </a:rPr>
              <a:t>n</a:t>
            </a:r>
            <a:r>
              <a:rPr lang="zh-CN" altLang="en-US" sz="2400" b="1" dirty="0">
                <a:solidFill>
                  <a:srgbClr val="002060"/>
                </a:solidFill>
              </a:rPr>
              <a:t>个字符。如果实际输入不足</a:t>
            </a:r>
            <a:r>
              <a:rPr lang="en-US" altLang="zh-CN" sz="2400" b="1" dirty="0">
                <a:solidFill>
                  <a:srgbClr val="002060"/>
                </a:solidFill>
              </a:rPr>
              <a:t>n</a:t>
            </a:r>
            <a:r>
              <a:rPr lang="zh-CN" altLang="en-US" sz="2400" b="1" dirty="0">
                <a:solidFill>
                  <a:srgbClr val="002060"/>
                </a:solidFill>
              </a:rPr>
              <a:t>个字符，系统会</a:t>
            </a:r>
            <a:r>
              <a:rPr lang="zh-CN" altLang="en-US" sz="2400" b="1" dirty="0">
                <a:solidFill>
                  <a:srgbClr val="FF0000"/>
                </a:solidFill>
              </a:rPr>
              <a:t>自动在后面添加空格</a:t>
            </a:r>
            <a:r>
              <a:rPr lang="zh-CN" altLang="en-US" sz="2400" b="1" dirty="0">
                <a:solidFill>
                  <a:srgbClr val="002060"/>
                </a:solidFill>
              </a:rPr>
              <a:t>来填满。</a:t>
            </a: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</a:rPr>
              <a:t>）</a:t>
            </a:r>
            <a:r>
              <a:rPr lang="en-US" altLang="zh-CN" sz="2400" b="1" dirty="0">
                <a:solidFill>
                  <a:srgbClr val="002060"/>
                </a:solidFill>
              </a:rPr>
              <a:t>VARCHAR(n)</a:t>
            </a:r>
            <a:r>
              <a:rPr lang="zh-CN" altLang="en-US" sz="2400" b="1" dirty="0">
                <a:solidFill>
                  <a:srgbClr val="002060"/>
                </a:solidFill>
              </a:rPr>
              <a:t>存储大小为输入数据的字符的实际长度，其存储的最大长度取决于字符集，</a:t>
            </a:r>
            <a:r>
              <a:rPr lang="en-US" altLang="zh-CN" sz="2400" b="1" dirty="0" err="1">
                <a:solidFill>
                  <a:srgbClr val="002060"/>
                </a:solidFill>
              </a:rPr>
              <a:t>gbk</a:t>
            </a:r>
            <a:r>
              <a:rPr lang="zh-CN" altLang="en-US" sz="2400" b="1" dirty="0">
                <a:solidFill>
                  <a:srgbClr val="002060"/>
                </a:solidFill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</a:rPr>
              <a:t>utf8</a:t>
            </a:r>
            <a:r>
              <a:rPr lang="zh-CN" altLang="en-US" sz="2400" b="1" dirty="0">
                <a:solidFill>
                  <a:srgbClr val="002060"/>
                </a:solidFill>
              </a:rPr>
              <a:t>对应的最大值分别为</a:t>
            </a:r>
            <a:r>
              <a:rPr lang="en-US" altLang="zh-CN" sz="2400" b="1" dirty="0">
                <a:solidFill>
                  <a:srgbClr val="002060"/>
                </a:solidFill>
              </a:rPr>
              <a:t>32766</a:t>
            </a:r>
            <a:r>
              <a:rPr lang="zh-CN" altLang="en-US" sz="2400" b="1" dirty="0">
                <a:solidFill>
                  <a:srgbClr val="002060"/>
                </a:solidFill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</a:rPr>
              <a:t>21488</a:t>
            </a:r>
            <a:r>
              <a:rPr lang="zh-CN" altLang="en-US" sz="2400" b="1" dirty="0">
                <a:solidFill>
                  <a:srgbClr val="002060"/>
                </a:solidFill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</a:rPr>
              <a:t>）</a:t>
            </a:r>
            <a:r>
              <a:rPr lang="en-US" altLang="zh-CN" sz="2400" b="1" dirty="0">
                <a:solidFill>
                  <a:srgbClr val="002060"/>
                </a:solidFill>
              </a:rPr>
              <a:t>BLOB</a:t>
            </a:r>
            <a:r>
              <a:rPr lang="zh-CN" altLang="en-US" sz="2400" b="1" dirty="0">
                <a:solidFill>
                  <a:srgbClr val="002060"/>
                </a:solidFill>
              </a:rPr>
              <a:t>类型用于保存数据量较大的二进制数据，如图片、</a:t>
            </a:r>
            <a:r>
              <a:rPr lang="en-US" altLang="zh-CN" sz="2400" b="1" dirty="0">
                <a:solidFill>
                  <a:srgbClr val="002060"/>
                </a:solidFill>
              </a:rPr>
              <a:t>PDF</a:t>
            </a:r>
            <a:r>
              <a:rPr lang="zh-CN" altLang="en-US" sz="2400" b="1" dirty="0">
                <a:solidFill>
                  <a:srgbClr val="002060"/>
                </a:solidFill>
              </a:rPr>
              <a:t>文档等，</a:t>
            </a:r>
            <a:r>
              <a:rPr lang="en-US" altLang="zh-CN" sz="2400" b="1" dirty="0">
                <a:solidFill>
                  <a:srgbClr val="002060"/>
                </a:solidFill>
              </a:rPr>
              <a:t>BLOB</a:t>
            </a:r>
            <a:r>
              <a:rPr lang="zh-CN" altLang="en-US" sz="2400" b="1" dirty="0">
                <a:solidFill>
                  <a:srgbClr val="002060"/>
                </a:solidFill>
              </a:rPr>
              <a:t>与</a:t>
            </a:r>
            <a:r>
              <a:rPr lang="en-US" altLang="zh-CN" sz="2400" b="1" dirty="0">
                <a:solidFill>
                  <a:srgbClr val="002060"/>
                </a:solidFill>
              </a:rPr>
              <a:t>TEXT</a:t>
            </a:r>
            <a:r>
              <a:rPr lang="zh-CN" altLang="en-US" sz="2400" b="1" dirty="0">
                <a:solidFill>
                  <a:srgbClr val="002060"/>
                </a:solidFill>
              </a:rPr>
              <a:t>类型的主要区别为：</a:t>
            </a:r>
            <a:r>
              <a:rPr lang="en-US" altLang="zh-CN" sz="2400" b="1" dirty="0">
                <a:solidFill>
                  <a:srgbClr val="002060"/>
                </a:solidFill>
              </a:rPr>
              <a:t>BLOB</a:t>
            </a:r>
            <a:r>
              <a:rPr lang="zh-CN" altLang="en-US" sz="2400" b="1" dirty="0">
                <a:solidFill>
                  <a:srgbClr val="002060"/>
                </a:solidFill>
              </a:rPr>
              <a:t>类型根据二进制数据进行比较与排序，区分字符大小写；</a:t>
            </a:r>
            <a:r>
              <a:rPr lang="en-US" altLang="zh-CN" sz="2400" b="1" dirty="0">
                <a:solidFill>
                  <a:srgbClr val="002060"/>
                </a:solidFill>
              </a:rPr>
              <a:t>TEXT</a:t>
            </a:r>
            <a:r>
              <a:rPr lang="zh-CN" altLang="en-US" sz="2400" b="1" dirty="0">
                <a:solidFill>
                  <a:srgbClr val="002060"/>
                </a:solidFill>
              </a:rPr>
              <a:t>类型根据字符进行比较与排序，不区分字符大小写。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1">
            <a:extLst>
              <a:ext uri="{FF2B5EF4-FFF2-40B4-BE49-F238E27FC236}">
                <a16:creationId xmlns:a16="http://schemas.microsoft.com/office/drawing/2014/main" id="{806DD86F-7A8F-EC2E-33AA-14124D1D63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341438"/>
            <a:ext cx="10979150" cy="67627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日期和时间类型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C087B799-0FF5-8710-4A6A-38C9FF0E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数据类型</a:t>
            </a:r>
            <a:endParaRPr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3ABDAC73-E3C1-4473-310D-7E2D6E83F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728053"/>
              </p:ext>
            </p:extLst>
          </p:nvPr>
        </p:nvGraphicFramePr>
        <p:xfrm>
          <a:off x="914815" y="2095255"/>
          <a:ext cx="9936690" cy="4213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3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字节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取值范围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格式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YEAR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1901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2155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YYYY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TIME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-838:59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838:59:59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HH:MM:SS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3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DATE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1000-01-01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9999-12-31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YYYY-MM-DD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8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DATETIME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1000-01-01 00:00:00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endParaRPr lang="en-US" alt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9999-12-31 23:59:59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YYYY-MM-DD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HH:MM:SS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8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TIMESTAMP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1970-01-01 00:00:00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到</a:t>
                      </a:r>
                      <a:endParaRPr lang="en-US" alt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2038-01-19 03:14:07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YYYY-MM-DD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HH:MM:SS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1" marR="6857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1">
            <a:extLst>
              <a:ext uri="{FF2B5EF4-FFF2-40B4-BE49-F238E27FC236}">
                <a16:creationId xmlns:a16="http://schemas.microsoft.com/office/drawing/2014/main" id="{5B8BBE94-AE39-C5CA-1473-E3E63E8A7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125538"/>
            <a:ext cx="10979150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</a:pPr>
            <a:r>
              <a:rPr lang="zh-CN" altLang="zh-CN" b="1">
                <a:solidFill>
                  <a:srgbClr val="C00000"/>
                </a:solidFill>
              </a:rPr>
              <a:t>关于</a:t>
            </a:r>
            <a:r>
              <a:rPr lang="zh-CN" altLang="en-US" b="1">
                <a:solidFill>
                  <a:srgbClr val="C00000"/>
                </a:solidFill>
              </a:rPr>
              <a:t>日期时间</a:t>
            </a:r>
            <a:r>
              <a:rPr lang="zh-CN" altLang="zh-CN" b="1">
                <a:solidFill>
                  <a:srgbClr val="C00000"/>
                </a:solidFill>
              </a:rPr>
              <a:t>类型的相关说明如下</a:t>
            </a:r>
            <a:r>
              <a:rPr lang="zh-CN" altLang="en-US" b="1">
                <a:solidFill>
                  <a:srgbClr val="C00000"/>
                </a:solidFill>
              </a:rPr>
              <a:t>：</a:t>
            </a:r>
            <a:endParaRPr lang="zh-CN" altLang="zh-CN" b="1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B630B283-E44C-5741-F001-145F9A9E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数据类型</a:t>
            </a:r>
            <a:endParaRPr/>
          </a:p>
        </p:txBody>
      </p:sp>
      <p:sp>
        <p:nvSpPr>
          <p:cNvPr id="29700" name="矩形 1">
            <a:extLst>
              <a:ext uri="{FF2B5EF4-FFF2-40B4-BE49-F238E27FC236}">
                <a16:creationId xmlns:a16="http://schemas.microsoft.com/office/drawing/2014/main" id="{40AE7BDC-0A92-EBAD-A8E2-F611612AA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844675"/>
            <a:ext cx="10225088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2400" b="1">
                <a:solidFill>
                  <a:srgbClr val="002060"/>
                </a:solidFill>
              </a:rPr>
              <a:t>（</a:t>
            </a:r>
            <a:r>
              <a:rPr lang="en-US" altLang="zh-CN" sz="2400" b="1">
                <a:solidFill>
                  <a:srgbClr val="002060"/>
                </a:solidFill>
              </a:rPr>
              <a:t>1</a:t>
            </a:r>
            <a:r>
              <a:rPr lang="zh-CN" altLang="en-US" sz="2400" b="1">
                <a:solidFill>
                  <a:srgbClr val="002060"/>
                </a:solidFill>
              </a:rPr>
              <a:t>）在输入</a:t>
            </a:r>
            <a:r>
              <a:rPr lang="en-US" altLang="zh-CN" sz="2400" b="1">
                <a:solidFill>
                  <a:srgbClr val="002060"/>
                </a:solidFill>
              </a:rPr>
              <a:t>YEAR</a:t>
            </a:r>
            <a:r>
              <a:rPr lang="zh-CN" altLang="en-US" sz="2400" b="1">
                <a:solidFill>
                  <a:srgbClr val="002060"/>
                </a:solidFill>
              </a:rPr>
              <a:t>类型的值时，既可以使用四位字符和数字，也可以使用</a:t>
            </a:r>
            <a:r>
              <a:rPr lang="en-US" altLang="zh-CN" sz="2400" b="1">
                <a:solidFill>
                  <a:srgbClr val="002060"/>
                </a:solidFill>
              </a:rPr>
              <a:t>2</a:t>
            </a:r>
            <a:r>
              <a:rPr lang="zh-CN" altLang="en-US" sz="2400" b="1">
                <a:solidFill>
                  <a:srgbClr val="002060"/>
                </a:solidFill>
              </a:rPr>
              <a:t>位字符和数字。使用两位字符表示为</a:t>
            </a:r>
            <a:r>
              <a:rPr lang="en-US" altLang="zh-CN" sz="2400" b="1">
                <a:solidFill>
                  <a:srgbClr val="002060"/>
                </a:solidFill>
              </a:rPr>
              <a:t>'00'~'99'</a:t>
            </a:r>
            <a:r>
              <a:rPr lang="zh-CN" altLang="en-US" sz="2400" b="1">
                <a:solidFill>
                  <a:srgbClr val="002060"/>
                </a:solidFill>
              </a:rPr>
              <a:t>，其中，</a:t>
            </a:r>
            <a:r>
              <a:rPr lang="en-US" altLang="zh-CN" sz="2400" b="1">
                <a:solidFill>
                  <a:srgbClr val="002060"/>
                </a:solidFill>
              </a:rPr>
              <a:t>'00'~'69'</a:t>
            </a:r>
            <a:r>
              <a:rPr lang="zh-CN" altLang="en-US" sz="2400" b="1">
                <a:solidFill>
                  <a:srgbClr val="002060"/>
                </a:solidFill>
              </a:rPr>
              <a:t>会被转化为</a:t>
            </a:r>
            <a:r>
              <a:rPr lang="en-US" altLang="zh-CN" sz="2400" b="1">
                <a:solidFill>
                  <a:srgbClr val="002060"/>
                </a:solidFill>
              </a:rPr>
              <a:t>2000~2069</a:t>
            </a:r>
            <a:r>
              <a:rPr lang="zh-CN" altLang="en-US" sz="2400" b="1">
                <a:solidFill>
                  <a:srgbClr val="002060"/>
                </a:solidFill>
              </a:rPr>
              <a:t>，</a:t>
            </a:r>
            <a:r>
              <a:rPr lang="en-US" altLang="zh-CN" sz="2400" b="1">
                <a:solidFill>
                  <a:srgbClr val="002060"/>
                </a:solidFill>
              </a:rPr>
              <a:t>'70'~'99'</a:t>
            </a:r>
            <a:r>
              <a:rPr lang="zh-CN" altLang="en-US" sz="2400" b="1">
                <a:solidFill>
                  <a:srgbClr val="002060"/>
                </a:solidFill>
              </a:rPr>
              <a:t>的值会被转换为</a:t>
            </a:r>
            <a:r>
              <a:rPr lang="en-US" altLang="zh-CN" sz="2400" b="1">
                <a:solidFill>
                  <a:srgbClr val="002060"/>
                </a:solidFill>
              </a:rPr>
              <a:t>1970~1999</a:t>
            </a:r>
            <a:r>
              <a:rPr lang="zh-CN" altLang="en-US" sz="2400" b="1">
                <a:solidFill>
                  <a:srgbClr val="002060"/>
                </a:solidFill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CN" altLang="en-US" sz="2400" b="1">
                <a:solidFill>
                  <a:srgbClr val="002060"/>
                </a:solidFill>
              </a:rPr>
              <a:t>（</a:t>
            </a:r>
            <a:r>
              <a:rPr lang="en-US" altLang="zh-CN" sz="2400" b="1">
                <a:solidFill>
                  <a:srgbClr val="002060"/>
                </a:solidFill>
              </a:rPr>
              <a:t>2</a:t>
            </a:r>
            <a:r>
              <a:rPr lang="zh-CN" altLang="en-US" sz="2400" b="1">
                <a:solidFill>
                  <a:srgbClr val="002060"/>
                </a:solidFill>
              </a:rPr>
              <a:t>）日期型</a:t>
            </a:r>
            <a:r>
              <a:rPr lang="en-US" altLang="zh-CN" sz="2400" b="1">
                <a:solidFill>
                  <a:srgbClr val="002060"/>
                </a:solidFill>
              </a:rPr>
              <a:t>DATE</a:t>
            </a:r>
            <a:r>
              <a:rPr lang="zh-CN" altLang="en-US" sz="2400" b="1">
                <a:solidFill>
                  <a:srgbClr val="002060"/>
                </a:solidFill>
              </a:rPr>
              <a:t>的常量有多种表示方式：</a:t>
            </a:r>
            <a:r>
              <a:rPr lang="en-US" altLang="zh-CN" sz="2400" b="1">
                <a:solidFill>
                  <a:srgbClr val="002060"/>
                </a:solidFill>
              </a:rPr>
              <a:t>'20221025'</a:t>
            </a:r>
            <a:r>
              <a:rPr lang="zh-CN" altLang="en-US" sz="2400" b="1">
                <a:solidFill>
                  <a:srgbClr val="002060"/>
                </a:solidFill>
              </a:rPr>
              <a:t>、</a:t>
            </a:r>
            <a:r>
              <a:rPr lang="en-US" altLang="zh-CN" sz="2400" b="1">
                <a:solidFill>
                  <a:srgbClr val="002060"/>
                </a:solidFill>
              </a:rPr>
              <a:t>'2022-10-25'</a:t>
            </a:r>
            <a:r>
              <a:rPr lang="zh-CN" altLang="en-US" sz="2400" b="1">
                <a:solidFill>
                  <a:srgbClr val="002060"/>
                </a:solidFill>
              </a:rPr>
              <a:t>、</a:t>
            </a:r>
            <a:r>
              <a:rPr lang="en-US" altLang="zh-CN" sz="2400" b="1">
                <a:solidFill>
                  <a:srgbClr val="002060"/>
                </a:solidFill>
              </a:rPr>
              <a:t>'22-10-25'</a:t>
            </a:r>
            <a:r>
              <a:rPr lang="zh-CN" altLang="en-US" sz="2400" b="1">
                <a:solidFill>
                  <a:srgbClr val="002060"/>
                </a:solidFill>
              </a:rPr>
              <a:t>、</a:t>
            </a:r>
            <a:r>
              <a:rPr lang="en-US" altLang="zh-CN" sz="2400" b="1">
                <a:solidFill>
                  <a:srgbClr val="002060"/>
                </a:solidFill>
              </a:rPr>
              <a:t>'221025'</a:t>
            </a:r>
            <a:r>
              <a:rPr lang="zh-CN" altLang="en-US" sz="2400" b="1">
                <a:solidFill>
                  <a:srgbClr val="002060"/>
                </a:solidFill>
              </a:rPr>
              <a:t>都表示</a:t>
            </a:r>
            <a:r>
              <a:rPr lang="en-US" altLang="zh-CN" sz="2400" b="1">
                <a:solidFill>
                  <a:srgbClr val="002060"/>
                </a:solidFill>
              </a:rPr>
              <a:t>2022</a:t>
            </a:r>
            <a:r>
              <a:rPr lang="zh-CN" altLang="en-US" sz="2400" b="1">
                <a:solidFill>
                  <a:srgbClr val="002060"/>
                </a:solidFill>
              </a:rPr>
              <a:t>年</a:t>
            </a:r>
            <a:r>
              <a:rPr lang="en-US" altLang="zh-CN" sz="2400" b="1">
                <a:solidFill>
                  <a:srgbClr val="002060"/>
                </a:solidFill>
              </a:rPr>
              <a:t>10</a:t>
            </a:r>
            <a:r>
              <a:rPr lang="zh-CN" altLang="en-US" sz="2400" b="1">
                <a:solidFill>
                  <a:srgbClr val="002060"/>
                </a:solidFill>
              </a:rPr>
              <a:t>月</a:t>
            </a:r>
            <a:r>
              <a:rPr lang="en-US" altLang="zh-CN" sz="2400" b="1">
                <a:solidFill>
                  <a:srgbClr val="002060"/>
                </a:solidFill>
              </a:rPr>
              <a:t>25</a:t>
            </a:r>
            <a:r>
              <a:rPr lang="zh-CN" altLang="en-US" sz="2400" b="1">
                <a:solidFill>
                  <a:srgbClr val="002060"/>
                </a:solidFill>
              </a:rPr>
              <a:t>日。日期型的变量</a:t>
            </a:r>
            <a:r>
              <a:rPr lang="en-US" altLang="zh-CN" sz="2400" b="1">
                <a:solidFill>
                  <a:srgbClr val="002060"/>
                </a:solidFill>
              </a:rPr>
              <a:t>CURRENT_DATE</a:t>
            </a:r>
            <a:r>
              <a:rPr lang="zh-CN" altLang="en-US" sz="2400" b="1">
                <a:solidFill>
                  <a:srgbClr val="002060"/>
                </a:solidFill>
              </a:rPr>
              <a:t>返回系统当前日期，日期函数</a:t>
            </a:r>
            <a:r>
              <a:rPr lang="en-US" altLang="zh-CN" sz="2400" b="1">
                <a:solidFill>
                  <a:srgbClr val="002060"/>
                </a:solidFill>
              </a:rPr>
              <a:t>NOW()</a:t>
            </a:r>
            <a:r>
              <a:rPr lang="zh-CN" altLang="en-US" sz="2400" b="1">
                <a:solidFill>
                  <a:srgbClr val="002060"/>
                </a:solidFill>
              </a:rPr>
              <a:t>返回系统当前日期和日间。</a:t>
            </a:r>
          </a:p>
          <a:p>
            <a:pPr>
              <a:spcBef>
                <a:spcPts val="1200"/>
              </a:spcBef>
            </a:pPr>
            <a:r>
              <a:rPr lang="zh-CN" altLang="en-US" sz="2400" b="1">
                <a:solidFill>
                  <a:srgbClr val="002060"/>
                </a:solidFill>
              </a:rPr>
              <a:t>（</a:t>
            </a:r>
            <a:r>
              <a:rPr lang="en-US" altLang="zh-CN" sz="2400" b="1">
                <a:solidFill>
                  <a:srgbClr val="002060"/>
                </a:solidFill>
              </a:rPr>
              <a:t>3</a:t>
            </a:r>
            <a:r>
              <a:rPr lang="zh-CN" altLang="en-US" sz="2400" b="1">
                <a:solidFill>
                  <a:srgbClr val="002060"/>
                </a:solidFill>
              </a:rPr>
              <a:t>）时间型的常量以</a:t>
            </a:r>
            <a:r>
              <a:rPr lang="en-US" altLang="zh-CN" sz="2400" b="1">
                <a:solidFill>
                  <a:srgbClr val="002060"/>
                </a:solidFill>
              </a:rPr>
              <a:t>'HHMMSS'</a:t>
            </a:r>
            <a:r>
              <a:rPr lang="zh-CN" altLang="en-US" sz="2400" b="1">
                <a:solidFill>
                  <a:srgbClr val="002060"/>
                </a:solidFill>
              </a:rPr>
              <a:t>或</a:t>
            </a:r>
            <a:r>
              <a:rPr lang="en-US" altLang="zh-CN" sz="2400" b="1">
                <a:solidFill>
                  <a:srgbClr val="002060"/>
                </a:solidFill>
              </a:rPr>
              <a:t>HHMMSS</a:t>
            </a:r>
            <a:r>
              <a:rPr lang="zh-CN" altLang="en-US" sz="2400" b="1">
                <a:solidFill>
                  <a:srgbClr val="002060"/>
                </a:solidFill>
              </a:rPr>
              <a:t>格式表示，如输入</a:t>
            </a:r>
            <a:r>
              <a:rPr lang="en-US" altLang="zh-CN" sz="2400" b="1">
                <a:solidFill>
                  <a:srgbClr val="002060"/>
                </a:solidFill>
              </a:rPr>
              <a:t>'121314'</a:t>
            </a:r>
            <a:r>
              <a:rPr lang="zh-CN" altLang="en-US" sz="2400" b="1">
                <a:solidFill>
                  <a:srgbClr val="002060"/>
                </a:solidFill>
              </a:rPr>
              <a:t>或</a:t>
            </a:r>
            <a:r>
              <a:rPr lang="en-US" altLang="zh-CN" sz="2400" b="1">
                <a:solidFill>
                  <a:srgbClr val="002060"/>
                </a:solidFill>
              </a:rPr>
              <a:t>121314</a:t>
            </a:r>
            <a:r>
              <a:rPr lang="zh-CN" altLang="en-US" sz="2400" b="1">
                <a:solidFill>
                  <a:srgbClr val="002060"/>
                </a:solidFill>
              </a:rPr>
              <a:t>都表示</a:t>
            </a:r>
            <a:r>
              <a:rPr lang="en-US" altLang="zh-CN" sz="2400" b="1">
                <a:solidFill>
                  <a:srgbClr val="002060"/>
                </a:solidFill>
              </a:rPr>
              <a:t>12:13:14</a:t>
            </a:r>
            <a:r>
              <a:rPr lang="zh-CN" altLang="en-US" sz="2400" b="1">
                <a:solidFill>
                  <a:srgbClr val="002060"/>
                </a:solidFill>
              </a:rPr>
              <a:t>（</a:t>
            </a:r>
            <a:r>
              <a:rPr lang="en-US" altLang="zh-CN" sz="2400" b="1">
                <a:solidFill>
                  <a:srgbClr val="002060"/>
                </a:solidFill>
              </a:rPr>
              <a:t>12</a:t>
            </a:r>
            <a:r>
              <a:rPr lang="zh-CN" altLang="en-US" sz="2400" b="1">
                <a:solidFill>
                  <a:srgbClr val="002060"/>
                </a:solidFill>
              </a:rPr>
              <a:t>小时</a:t>
            </a:r>
            <a:r>
              <a:rPr lang="en-US" altLang="zh-CN" sz="2400" b="1">
                <a:solidFill>
                  <a:srgbClr val="002060"/>
                </a:solidFill>
              </a:rPr>
              <a:t>13</a:t>
            </a:r>
            <a:r>
              <a:rPr lang="zh-CN" altLang="en-US" sz="2400" b="1">
                <a:solidFill>
                  <a:srgbClr val="002060"/>
                </a:solidFill>
              </a:rPr>
              <a:t>分</a:t>
            </a:r>
            <a:r>
              <a:rPr lang="en-US" altLang="zh-CN" sz="2400" b="1">
                <a:solidFill>
                  <a:srgbClr val="002060"/>
                </a:solidFill>
              </a:rPr>
              <a:t>14</a:t>
            </a:r>
            <a:r>
              <a:rPr lang="zh-CN" altLang="en-US" sz="2400" b="1">
                <a:solidFill>
                  <a:srgbClr val="002060"/>
                </a:solidFill>
              </a:rPr>
              <a:t>秒）。时间型的变量</a:t>
            </a:r>
            <a:r>
              <a:rPr lang="en-US" altLang="zh-CN" sz="2400" b="1">
                <a:solidFill>
                  <a:srgbClr val="002060"/>
                </a:solidFill>
              </a:rPr>
              <a:t>CURRENT_TIME</a:t>
            </a:r>
            <a:r>
              <a:rPr lang="zh-CN" altLang="en-US" sz="2400" b="1">
                <a:solidFill>
                  <a:srgbClr val="002060"/>
                </a:solidFill>
              </a:rPr>
              <a:t>返回系统当前时间。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AE77C23-4207-D40F-790B-2BB55C5D5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创建数据表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>
                <a:effectLst/>
              </a:rPr>
              <a:t>在已存在的数据库中建立新表</a:t>
            </a:r>
            <a:endParaRPr lang="en-US" altLang="zh-CN">
              <a:effectLst/>
            </a:endParaRPr>
          </a:p>
          <a:p>
            <a:pPr lvl="1">
              <a:defRPr/>
            </a:pPr>
            <a:r>
              <a:rPr altLang="zh-CN">
                <a:effectLst/>
              </a:rPr>
              <a:t>语法格式</a:t>
            </a:r>
            <a:r>
              <a:rPr>
                <a:effectLst/>
              </a:rPr>
              <a:t>：</a:t>
            </a:r>
            <a:endParaRPr lang="en-US" altLang="zh-CN">
              <a:effectLst/>
            </a:endParaRP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CREATE TABLE [IF NOT EXISTS] &lt;</a:t>
            </a:r>
            <a:r>
              <a:rPr>
                <a:solidFill>
                  <a:srgbClr val="C00000"/>
                </a:solidFill>
              </a:rPr>
              <a:t>表名</a:t>
            </a:r>
            <a:r>
              <a:rPr lang="en-US" altLang="zh-CN">
                <a:solidFill>
                  <a:srgbClr val="C00000"/>
                </a:solidFill>
              </a:rPr>
              <a:t>&gt;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 ( &lt;</a:t>
            </a:r>
            <a:r>
              <a:rPr>
                <a:solidFill>
                  <a:srgbClr val="C00000"/>
                </a:solidFill>
              </a:rPr>
              <a:t>字段名</a:t>
            </a:r>
            <a:r>
              <a:rPr lang="en-US" altLang="zh-CN">
                <a:solidFill>
                  <a:srgbClr val="C00000"/>
                </a:solidFill>
              </a:rPr>
              <a:t>&gt;</a:t>
            </a:r>
            <a:r>
              <a:rPr>
                <a:solidFill>
                  <a:srgbClr val="C00000"/>
                </a:solidFill>
              </a:rPr>
              <a:t>　</a:t>
            </a:r>
            <a:r>
              <a:rPr lang="en-US" altLang="zh-CN">
                <a:solidFill>
                  <a:srgbClr val="C00000"/>
                </a:solidFill>
              </a:rPr>
              <a:t>&lt;</a:t>
            </a:r>
            <a:r>
              <a:rPr>
                <a:solidFill>
                  <a:srgbClr val="C00000"/>
                </a:solidFill>
              </a:rPr>
              <a:t>字段类型</a:t>
            </a:r>
            <a:r>
              <a:rPr lang="en-US" altLang="zh-CN">
                <a:solidFill>
                  <a:srgbClr val="C00000"/>
                </a:solidFill>
              </a:rPr>
              <a:t>&gt;  [</a:t>
            </a:r>
            <a:r>
              <a:rPr>
                <a:solidFill>
                  <a:srgbClr val="C00000"/>
                </a:solidFill>
              </a:rPr>
              <a:t>字段属性</a:t>
            </a:r>
            <a:r>
              <a:rPr lang="en-US" altLang="zh-CN">
                <a:solidFill>
                  <a:srgbClr val="C00000"/>
                </a:solidFill>
              </a:rPr>
              <a:t>] …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[</a:t>
            </a:r>
            <a:r>
              <a:rPr>
                <a:solidFill>
                  <a:srgbClr val="C00000"/>
                </a:solidFill>
              </a:rPr>
              <a:t>索引定义</a:t>
            </a:r>
            <a:r>
              <a:rPr lang="en-US" altLang="zh-CN">
                <a:solidFill>
                  <a:srgbClr val="C00000"/>
                </a:solidFill>
              </a:rPr>
              <a:t>]);</a:t>
            </a:r>
          </a:p>
          <a:p>
            <a:pPr lvl="1">
              <a:defRPr/>
            </a:pP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AAE587C-D7E1-C9CC-4424-C40BC9E3A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80C223-C6F1-1629-4206-FF6666332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9150" cy="4857750"/>
          </a:xfrm>
        </p:spPr>
        <p:txBody>
          <a:bodyPr/>
          <a:lstStyle/>
          <a:p>
            <a:pPr>
              <a:defRPr/>
            </a:pPr>
            <a:r>
              <a:rPr lang="zh-CN" altLang="zh-CN" dirty="0">
                <a:solidFill>
                  <a:schemeClr val="tx1"/>
                </a:solidFill>
              </a:rPr>
              <a:t>【</a:t>
            </a:r>
            <a:r>
              <a:rPr lang="zh-CN" altLang="zh-CN" b="1" dirty="0">
                <a:solidFill>
                  <a:schemeClr val="tx1"/>
                </a:solidFill>
              </a:rPr>
              <a:t>例</a:t>
            </a:r>
            <a:r>
              <a:rPr lang="en-US" altLang="zh-CN" b="1" dirty="0">
                <a:solidFill>
                  <a:schemeClr val="tx1"/>
                </a:solidFill>
              </a:rPr>
              <a:t>4-5</a:t>
            </a:r>
            <a:r>
              <a:rPr lang="zh-CN" altLang="zh-CN" dirty="0">
                <a:solidFill>
                  <a:schemeClr val="tx1"/>
                </a:solidFill>
              </a:rPr>
              <a:t>】在</a:t>
            </a:r>
            <a:r>
              <a:rPr lang="en-US" altLang="zh-CN" dirty="0" err="1">
                <a:solidFill>
                  <a:schemeClr val="tx1"/>
                </a:solidFill>
              </a:rPr>
              <a:t>teaching_manage</a:t>
            </a:r>
            <a:r>
              <a:rPr lang="zh-CN" altLang="zh-CN" dirty="0">
                <a:solidFill>
                  <a:schemeClr val="tx1"/>
                </a:solidFill>
              </a:rPr>
              <a:t>数据库中创建一个名称为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zh-CN" dirty="0">
                <a:solidFill>
                  <a:schemeClr val="tx1"/>
                </a:solidFill>
              </a:rPr>
              <a:t>的数据表，保存学生信息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CREATE TABLE IF NOT EXISTS </a:t>
            </a:r>
            <a:r>
              <a:rPr lang="en-US" altLang="zh-CN" sz="2400" dirty="0"/>
              <a:t>student </a:t>
            </a:r>
            <a:endParaRPr altLang="zh-CN" sz="2400" dirty="0"/>
          </a:p>
          <a:p>
            <a:pPr lvl="1">
              <a:defRPr/>
            </a:pPr>
            <a:r>
              <a:rPr lang="en-US" altLang="zh-CN" sz="2400" dirty="0"/>
              <a:t> (	</a:t>
            </a:r>
            <a:r>
              <a:rPr lang="en-US" altLang="zh-CN" sz="2400" dirty="0" err="1"/>
              <a:t>sno</a:t>
            </a:r>
            <a:r>
              <a:rPr lang="en-US" altLang="zh-CN" sz="2400" dirty="0"/>
              <a:t> CHAR(6)  PRIMARY KEY COMMENT '</a:t>
            </a:r>
            <a:r>
              <a:rPr altLang="zh-CN" sz="2400" dirty="0"/>
              <a:t>学生编号</a:t>
            </a:r>
            <a:r>
              <a:rPr lang="en-US" altLang="zh-CN" sz="2400" dirty="0"/>
              <a:t>’, </a:t>
            </a:r>
            <a:endParaRPr altLang="zh-CN" sz="2400" dirty="0"/>
          </a:p>
          <a:p>
            <a:pPr lvl="1">
              <a:defRPr/>
            </a:pPr>
            <a:r>
              <a:rPr lang="en-US" altLang="zh-CN" sz="2400" dirty="0"/>
              <a:t>  	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 VARCHAR(20) NOT NULL, </a:t>
            </a:r>
            <a:endParaRPr altLang="zh-CN" sz="2400" dirty="0"/>
          </a:p>
          <a:p>
            <a:pPr lvl="1">
              <a:defRPr/>
            </a:pPr>
            <a:r>
              <a:rPr lang="en-US" altLang="zh-CN" sz="2400" dirty="0"/>
              <a:t>  	dept VARCHAR(20), </a:t>
            </a:r>
            <a:endParaRPr altLang="zh-CN" sz="2400" dirty="0"/>
          </a:p>
          <a:p>
            <a:pPr lvl="1">
              <a:defRPr/>
            </a:pPr>
            <a:r>
              <a:rPr lang="en-US" altLang="zh-CN" sz="2400" dirty="0"/>
              <a:t>  	sex CHAR(1), </a:t>
            </a:r>
            <a:endParaRPr altLang="zh-CN" sz="2400" dirty="0"/>
          </a:p>
          <a:p>
            <a:pPr lvl="1">
              <a:defRPr/>
            </a:pPr>
            <a:r>
              <a:rPr lang="en-US" altLang="zh-CN" sz="2400" dirty="0"/>
              <a:t>  	birthday DATE , </a:t>
            </a:r>
            <a:endParaRPr altLang="zh-CN" sz="2400" dirty="0"/>
          </a:p>
          <a:p>
            <a:pPr lvl="1">
              <a:defRPr/>
            </a:pPr>
            <a:r>
              <a:rPr lang="en-US" altLang="zh-CN" sz="2400" dirty="0"/>
              <a:t>	  </a:t>
            </a:r>
            <a:r>
              <a:rPr lang="en-US" altLang="zh-CN" sz="2400" dirty="0" err="1"/>
              <a:t>totalcredit</a:t>
            </a:r>
            <a:r>
              <a:rPr lang="en-US" altLang="zh-CN" sz="2400" dirty="0"/>
              <a:t>  DECIMAL(4,1) DEFAULT 0, </a:t>
            </a:r>
            <a:endParaRPr altLang="zh-CN" sz="2400" dirty="0"/>
          </a:p>
          <a:p>
            <a:pPr lvl="1">
              <a:defRPr/>
            </a:pPr>
            <a:r>
              <a:rPr lang="en-US" altLang="zh-CN" sz="2400" dirty="0"/>
              <a:t>	  remarks VARCHAR(100) 	 ); </a:t>
            </a:r>
            <a:endParaRPr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6DFBE6-9C24-2A36-2941-B3979555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F3DDC9D-914A-00C4-7A33-644F8FDB3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dirty="0">
                <a:solidFill>
                  <a:schemeClr val="tx1"/>
                </a:solidFill>
              </a:rPr>
              <a:t>【</a:t>
            </a:r>
            <a:r>
              <a:rPr lang="zh-CN" altLang="zh-CN" b="1" dirty="0">
                <a:solidFill>
                  <a:schemeClr val="tx1"/>
                </a:solidFill>
              </a:rPr>
              <a:t>例</a:t>
            </a:r>
            <a:r>
              <a:rPr lang="en-US" altLang="zh-CN" b="1" dirty="0">
                <a:solidFill>
                  <a:schemeClr val="tx1"/>
                </a:solidFill>
              </a:rPr>
              <a:t>4-6</a:t>
            </a:r>
            <a:r>
              <a:rPr lang="zh-CN" altLang="zh-CN" dirty="0">
                <a:solidFill>
                  <a:schemeClr val="tx1"/>
                </a:solidFill>
              </a:rPr>
              <a:t>】在</a:t>
            </a:r>
            <a:r>
              <a:rPr lang="en-US" altLang="zh-CN" dirty="0" err="1">
                <a:solidFill>
                  <a:schemeClr val="tx1"/>
                </a:solidFill>
              </a:rPr>
              <a:t>teaching_manage</a:t>
            </a:r>
            <a:r>
              <a:rPr lang="zh-CN" altLang="zh-CN" dirty="0">
                <a:solidFill>
                  <a:schemeClr val="tx1"/>
                </a:solidFill>
              </a:rPr>
              <a:t>数据库中创建一个名称为</a:t>
            </a:r>
            <a:r>
              <a:rPr lang="en-US" altLang="zh-CN" dirty="0">
                <a:solidFill>
                  <a:schemeClr val="tx1"/>
                </a:solidFill>
              </a:rPr>
              <a:t>course</a:t>
            </a:r>
            <a:r>
              <a:rPr lang="zh-CN" altLang="zh-CN" dirty="0">
                <a:solidFill>
                  <a:schemeClr val="tx1"/>
                </a:solidFill>
              </a:rPr>
              <a:t>的数据表，保存课程信息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 sz="2400"/>
              <a:t> CREATE TABLE course </a:t>
            </a:r>
            <a:endParaRPr altLang="zh-CN" sz="2400"/>
          </a:p>
          <a:p>
            <a:pPr lvl="1">
              <a:defRPr/>
            </a:pPr>
            <a:r>
              <a:rPr lang="en-US" altLang="zh-CN" sz="2400"/>
              <a:t>(	</a:t>
            </a:r>
            <a:r>
              <a:rPr lang="en-US" altLang="zh-CN" sz="2400" err="1"/>
              <a:t>cno</a:t>
            </a:r>
            <a:r>
              <a:rPr lang="en-US" altLang="zh-CN" sz="2400"/>
              <a:t> CHAR(3)  PRIMARY KEY</a:t>
            </a:r>
            <a:endParaRPr altLang="zh-CN" sz="2400"/>
          </a:p>
          <a:p>
            <a:pPr lvl="1">
              <a:defRPr/>
            </a:pPr>
            <a:r>
              <a:rPr lang="en-US" altLang="zh-CN" sz="2400"/>
              <a:t>	</a:t>
            </a:r>
            <a:r>
              <a:rPr lang="en-US" altLang="zh-CN" sz="2400" err="1"/>
              <a:t>cname</a:t>
            </a:r>
            <a:r>
              <a:rPr lang="en-US" altLang="zh-CN" sz="2400"/>
              <a:t> VARCHAR(30) NOT NULL UNIQUE</a:t>
            </a:r>
            <a:endParaRPr altLang="zh-CN" sz="2400"/>
          </a:p>
          <a:p>
            <a:pPr lvl="1">
              <a:defRPr/>
            </a:pPr>
            <a:r>
              <a:rPr lang="en-US" altLang="zh-CN" sz="2400"/>
              <a:t>	term TINYINT, </a:t>
            </a:r>
            <a:endParaRPr altLang="zh-CN" sz="2400"/>
          </a:p>
          <a:p>
            <a:pPr lvl="1">
              <a:defRPr/>
            </a:pPr>
            <a:r>
              <a:rPr lang="en-US" altLang="zh-CN" sz="2400"/>
              <a:t>	</a:t>
            </a:r>
            <a:r>
              <a:rPr lang="en-US" altLang="zh-CN" sz="2400" err="1"/>
              <a:t>ctime</a:t>
            </a:r>
            <a:r>
              <a:rPr lang="en-US" altLang="zh-CN" sz="2400"/>
              <a:t> TINYINT UNSIGNED , </a:t>
            </a:r>
            <a:endParaRPr altLang="zh-CN" sz="2400"/>
          </a:p>
          <a:p>
            <a:pPr lvl="1">
              <a:defRPr/>
            </a:pPr>
            <a:r>
              <a:rPr lang="en-US" altLang="zh-CN" sz="2400"/>
              <a:t>	credit DECIMAL(3,1) ) ;</a:t>
            </a:r>
            <a:endParaRPr sz="240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5901C1-4AF4-2E73-FEF9-F5E2F535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B739CE4-D7A2-C564-8A8C-CBA02505B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dirty="0">
                <a:solidFill>
                  <a:schemeClr val="tx1"/>
                </a:solidFill>
              </a:rPr>
              <a:t>【</a:t>
            </a:r>
            <a:r>
              <a:rPr lang="zh-CN" altLang="zh-CN" b="1" dirty="0">
                <a:solidFill>
                  <a:schemeClr val="tx1"/>
                </a:solidFill>
              </a:rPr>
              <a:t>例</a:t>
            </a:r>
            <a:r>
              <a:rPr lang="en-US" altLang="zh-CN" b="1" dirty="0">
                <a:solidFill>
                  <a:schemeClr val="tx1"/>
                </a:solidFill>
              </a:rPr>
              <a:t>4-7</a:t>
            </a:r>
            <a:r>
              <a:rPr lang="zh-CN" altLang="zh-CN" dirty="0">
                <a:solidFill>
                  <a:schemeClr val="tx1"/>
                </a:solidFill>
              </a:rPr>
              <a:t>】在</a:t>
            </a:r>
            <a:r>
              <a:rPr lang="en-US" altLang="zh-CN" dirty="0" err="1">
                <a:solidFill>
                  <a:schemeClr val="tx1"/>
                </a:solidFill>
              </a:rPr>
              <a:t>teaching_manage</a:t>
            </a:r>
            <a:r>
              <a:rPr lang="zh-CN" altLang="zh-CN" dirty="0">
                <a:solidFill>
                  <a:schemeClr val="tx1"/>
                </a:solidFill>
              </a:rPr>
              <a:t>数据库中创建一个名称为</a:t>
            </a:r>
            <a:r>
              <a:rPr lang="en-US" altLang="zh-CN" dirty="0">
                <a:solidFill>
                  <a:schemeClr val="tx1"/>
                </a:solidFill>
              </a:rPr>
              <a:t>score</a:t>
            </a:r>
            <a:r>
              <a:rPr lang="zh-CN" altLang="zh-CN" dirty="0">
                <a:solidFill>
                  <a:schemeClr val="tx1"/>
                </a:solidFill>
              </a:rPr>
              <a:t>的数据表，保存成绩信息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 sz="2000" dirty="0"/>
              <a:t>CREATE TABLE score 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/>
              <a:t>(	</a:t>
            </a:r>
            <a:r>
              <a:rPr lang="en-US" altLang="zh-CN" sz="2000" dirty="0" err="1"/>
              <a:t>score_id</a:t>
            </a:r>
            <a:r>
              <a:rPr lang="en-US" altLang="zh-CN" sz="2000" dirty="0"/>
              <a:t> INT UNSIGNED  AUTO_INCREMENT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 err="1"/>
              <a:t>sno</a:t>
            </a:r>
            <a:r>
              <a:rPr lang="en-US" altLang="zh-CN" sz="2000" dirty="0"/>
              <a:t> CHAR(6), 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 CHAR(3) , 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/>
              <a:t>	grade DECIMAL(4,1) CHECK(grade&gt;=0)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/>
              <a:t>	PRIMARY KEY(</a:t>
            </a:r>
            <a:r>
              <a:rPr lang="en-US" altLang="zh-CN" sz="2000" dirty="0" err="1"/>
              <a:t>score_id</a:t>
            </a:r>
            <a:r>
              <a:rPr lang="en-US" altLang="zh-CN" sz="2000" dirty="0"/>
              <a:t>),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/>
              <a:t>CONSTRAINT </a:t>
            </a:r>
            <a:r>
              <a:rPr lang="en-US" altLang="zh-CN" sz="2000" dirty="0" err="1"/>
              <a:t>fk_score_sno</a:t>
            </a:r>
            <a:r>
              <a:rPr lang="en-US" altLang="zh-CN" sz="2000" dirty="0"/>
              <a:t> FOREIGN KEY(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 REFERENCES student(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),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/>
              <a:t>CONSTRAINT </a:t>
            </a:r>
            <a:r>
              <a:rPr lang="en-US" altLang="zh-CN" sz="2000" dirty="0" err="1"/>
              <a:t>fk_score_cno</a:t>
            </a:r>
            <a:r>
              <a:rPr lang="en-US" altLang="zh-CN" sz="2000" dirty="0"/>
              <a:t> FOREIGN KEY(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 REFERENCES course(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  <a:endParaRPr altLang="zh-CN" sz="2000" dirty="0"/>
          </a:p>
          <a:p>
            <a:pPr lvl="1">
              <a:defRPr/>
            </a:pPr>
            <a:r>
              <a:rPr lang="en-US" altLang="zh-CN" sz="2000" dirty="0"/>
              <a:t> );</a:t>
            </a:r>
            <a:endParaRPr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D637D2-E99C-44FA-FF1A-5147AA73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5421FD0-9469-A292-2B51-C71CE7CBA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2836863"/>
          </a:xfrm>
        </p:spPr>
        <p:txBody>
          <a:bodyPr/>
          <a:lstStyle/>
          <a:p>
            <a:pPr>
              <a:defRPr/>
            </a:pPr>
            <a:r>
              <a:rPr lang="zh-CN" altLang="zh-CN" dirty="0">
                <a:solidFill>
                  <a:schemeClr val="tx1"/>
                </a:solidFill>
              </a:rPr>
              <a:t>【</a:t>
            </a:r>
            <a:r>
              <a:rPr lang="zh-CN" altLang="zh-CN" b="1" dirty="0">
                <a:solidFill>
                  <a:schemeClr val="tx1"/>
                </a:solidFill>
              </a:rPr>
              <a:t>例</a:t>
            </a:r>
            <a:r>
              <a:rPr lang="en-US" altLang="zh-CN" b="1" dirty="0">
                <a:solidFill>
                  <a:schemeClr val="tx1"/>
                </a:solidFill>
              </a:rPr>
              <a:t>4-8</a:t>
            </a:r>
            <a:r>
              <a:rPr lang="zh-CN" altLang="zh-CN" dirty="0">
                <a:solidFill>
                  <a:schemeClr val="tx1"/>
                </a:solidFill>
              </a:rPr>
              <a:t>】在</a:t>
            </a:r>
            <a:r>
              <a:rPr lang="en-US" altLang="zh-CN" dirty="0" err="1">
                <a:solidFill>
                  <a:schemeClr val="tx1"/>
                </a:solidFill>
              </a:rPr>
              <a:t>teaching_manage</a:t>
            </a:r>
            <a:r>
              <a:rPr lang="zh-CN" altLang="zh-CN" dirty="0">
                <a:solidFill>
                  <a:schemeClr val="tx1"/>
                </a:solidFill>
              </a:rPr>
              <a:t>数据库中利用</a:t>
            </a:r>
            <a:r>
              <a:rPr lang="en-US" altLang="zh-CN" dirty="0">
                <a:solidFill>
                  <a:schemeClr val="tx1"/>
                </a:solidFill>
              </a:rPr>
              <a:t>score</a:t>
            </a:r>
            <a:r>
              <a:rPr lang="zh-CN" altLang="zh-CN" dirty="0">
                <a:solidFill>
                  <a:schemeClr val="tx1"/>
                </a:solidFill>
              </a:rPr>
              <a:t>创建一个名称为</a:t>
            </a:r>
            <a:r>
              <a:rPr lang="en-US" altLang="zh-CN" dirty="0" err="1">
                <a:solidFill>
                  <a:schemeClr val="tx1"/>
                </a:solidFill>
              </a:rPr>
              <a:t>sc</a:t>
            </a:r>
            <a:r>
              <a:rPr lang="zh-CN" altLang="zh-CN" dirty="0">
                <a:solidFill>
                  <a:schemeClr val="tx1"/>
                </a:solidFill>
              </a:rPr>
              <a:t>的数据表，保存成绩信息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/>
              <a:t>CREATE TABLE </a:t>
            </a:r>
            <a:r>
              <a:rPr lang="en-US" altLang="zh-CN" err="1"/>
              <a:t>sc</a:t>
            </a:r>
            <a:r>
              <a:rPr lang="en-US" altLang="zh-CN"/>
              <a:t> AS SELECT * FROM score;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7A4AC50-0F32-DC0E-BF4C-93B9F8BB6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B99CF4B9-04E3-9540-DCA0-E90C7FE34F99}"/>
              </a:ext>
            </a:extLst>
          </p:cNvPr>
          <p:cNvSpPr txBox="1">
            <a:spLocks/>
          </p:cNvSpPr>
          <p:nvPr/>
        </p:nvSpPr>
        <p:spPr>
          <a:xfrm>
            <a:off x="554038" y="3573463"/>
            <a:ext cx="10979150" cy="1295400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defRPr/>
            </a:pPr>
            <a:r>
              <a:rPr kern="0">
                <a:solidFill>
                  <a:srgbClr val="FF0000"/>
                </a:solidFill>
                <a:effectLst/>
              </a:rPr>
              <a:t>注意：</a:t>
            </a:r>
            <a:r>
              <a:rPr kern="0">
                <a:solidFill>
                  <a:srgbClr val="002060"/>
                </a:solidFill>
                <a:effectLst/>
              </a:rPr>
              <a:t>使用</a:t>
            </a:r>
            <a:r>
              <a:rPr lang="en-US" altLang="zh-CN" kern="0">
                <a:solidFill>
                  <a:srgbClr val="002060"/>
                </a:solidFill>
                <a:effectLst/>
              </a:rPr>
              <a:t>CREATE TABLE+</a:t>
            </a:r>
            <a:r>
              <a:rPr kern="0">
                <a:solidFill>
                  <a:srgbClr val="002060"/>
                </a:solidFill>
                <a:effectLst/>
              </a:rPr>
              <a:t>子查询方式创建表，只复制表结构和内容，原表中的约束和索引通常不会被复制。</a:t>
            </a:r>
            <a:endParaRPr kern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B61024B-3616-40AD-85E2-31EC6C398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数据库的完整性约束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8CDF724-125E-AB6C-BF6E-6B38D0FC5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710274"/>
              </p:ext>
            </p:extLst>
          </p:nvPr>
        </p:nvGraphicFramePr>
        <p:xfrm>
          <a:off x="698500" y="2420938"/>
          <a:ext cx="11161714" cy="387032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61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3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9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</a:rPr>
                        <a:t>完整性约束名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</a:rPr>
                        <a:t>定义关键字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</a:rPr>
                        <a:t>约束规则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</a:rPr>
                        <a:t>违约处理</a:t>
                      </a:r>
                    </a:p>
                  </a:txBody>
                  <a:tcPr marL="91448" marR="91448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68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实体完整性约束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primary key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主键不能取重复值和空值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kumimoji="1" lang="zh-CN" altLang="en-US" sz="20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拒绝执行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91448" marR="91448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119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参照完整性约束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foreign key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外键的值依赖主键的值或为空值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拒绝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/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级联删除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级联更新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/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置为空值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91448" marR="91448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365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用户自定义完整性约束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check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满足表达式的值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拒绝执行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91448" marR="91448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68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非空约束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not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</a:rPr>
                        <a:t> null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不能取空值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拒绝执行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91448" marR="91448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968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唯一性约束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unique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不能有重复值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拒绝执行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91448" marR="91448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968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默认值约束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</a:rPr>
                        <a:t>default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002060"/>
                          </a:solidFill>
                        </a:rPr>
                        <a:t>不指定值时取默认值</a:t>
                      </a:r>
                    </a:p>
                  </a:txBody>
                  <a:tcPr marL="91448" marR="91448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拒绝执行</a:t>
                      </a:r>
                      <a:endParaRPr lang="zh-CN" altLang="en-US" sz="2000" b="1" dirty="0">
                        <a:solidFill>
                          <a:srgbClr val="002060"/>
                        </a:solidFill>
                      </a:endParaRPr>
                    </a:p>
                  </a:txBody>
                  <a:tcPr marL="91448" marR="91448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Box 5">
            <a:extLst>
              <a:ext uri="{FF2B5EF4-FFF2-40B4-BE49-F238E27FC236}">
                <a16:creationId xmlns:a16="http://schemas.microsoft.com/office/drawing/2014/main" id="{BBB68794-FADD-DC8E-8D26-93EB42A69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1125538"/>
            <a:ext cx="10512425" cy="11747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32C6CA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数据库的完整性</a:t>
            </a:r>
            <a:r>
              <a:rPr kumimoji="1"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是指保证数据库中数据的正确性、准确性和有效性，通过定义防止不合语义的数据进入数据库。 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D39F340-2E04-ECA3-72E7-8697DA661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查看数据表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1.</a:t>
            </a:r>
            <a:r>
              <a:rPr lang="zh-CN" altLang="zh-CN" b="1" dirty="0">
                <a:solidFill>
                  <a:srgbClr val="C00000"/>
                </a:solidFill>
              </a:rPr>
              <a:t>查看</a:t>
            </a:r>
            <a:r>
              <a:rPr lang="zh-CN" altLang="en-US" b="1" dirty="0">
                <a:solidFill>
                  <a:srgbClr val="C00000"/>
                </a:solidFill>
              </a:rPr>
              <a:t>库中</a:t>
            </a:r>
            <a:r>
              <a:rPr lang="zh-CN" altLang="zh-CN" b="1" dirty="0">
                <a:solidFill>
                  <a:srgbClr val="C00000"/>
                </a:solidFill>
              </a:rPr>
              <a:t>数据表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SHOW TABLES [ LIKE </a:t>
            </a:r>
            <a:r>
              <a:rPr altLang="zh-CN"/>
              <a:t>匹配模式</a:t>
            </a:r>
            <a:r>
              <a:rPr lang="en-US" altLang="zh-CN"/>
              <a:t>]; </a:t>
            </a:r>
            <a:endParaRPr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查看当前数据库中所有数据表</a:t>
            </a:r>
            <a:r>
              <a:rPr lang="en-US" altLang="zh-CN"/>
              <a:t> 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SHOW TABLES;</a:t>
            </a:r>
            <a:endParaRPr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查看当前数据库中以</a:t>
            </a:r>
            <a:r>
              <a:rPr lang="en-US" altLang="zh-CN"/>
              <a:t>'</a:t>
            </a:r>
            <a:r>
              <a:rPr lang="en-US" altLang="zh-CN" err="1"/>
              <a:t>sc</a:t>
            </a:r>
            <a:r>
              <a:rPr lang="en-US" altLang="zh-CN"/>
              <a:t>'</a:t>
            </a:r>
            <a:r>
              <a:rPr altLang="zh-CN"/>
              <a:t>开头的数据表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SHOW TABLES LIKE '</a:t>
            </a:r>
            <a:r>
              <a:rPr lang="en-US" altLang="zh-CN" err="1">
                <a:solidFill>
                  <a:srgbClr val="C00000"/>
                </a:solidFill>
              </a:rPr>
              <a:t>sc</a:t>
            </a:r>
            <a:r>
              <a:rPr lang="en-US" altLang="zh-CN">
                <a:solidFill>
                  <a:srgbClr val="C00000"/>
                </a:solidFill>
              </a:rPr>
              <a:t>%';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FEFE07-880D-F384-89BB-7E418D6F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FD1F419-F8C9-430B-61A8-6BDE523E9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2.</a:t>
            </a:r>
            <a:r>
              <a:rPr lang="zh-CN" altLang="zh-CN" b="1" dirty="0">
                <a:solidFill>
                  <a:srgbClr val="C00000"/>
                </a:solidFill>
              </a:rPr>
              <a:t>查看数据表的详细信息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SHOW TABLE STATUS [FROM </a:t>
            </a:r>
            <a:r>
              <a:rPr altLang="zh-CN"/>
              <a:t>数据库名</a:t>
            </a:r>
            <a:r>
              <a:rPr lang="en-US" altLang="zh-CN"/>
              <a:t>] [ LIKE </a:t>
            </a:r>
            <a:r>
              <a:rPr altLang="zh-CN"/>
              <a:t>匹配模式</a:t>
            </a:r>
            <a:r>
              <a:rPr lang="en-US" altLang="zh-CN"/>
              <a:t>]; 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查看当前数据库中所有数据表的详细信息</a:t>
            </a:r>
            <a:r>
              <a:rPr lang="en-US" altLang="zh-CN"/>
              <a:t> 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SHOW TABLE STATUS;</a:t>
            </a:r>
            <a:endParaRPr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查看</a:t>
            </a:r>
            <a:r>
              <a:rPr lang="en-US" altLang="zh-CN" err="1"/>
              <a:t>teaching_manage</a:t>
            </a:r>
            <a:r>
              <a:rPr altLang="zh-CN"/>
              <a:t>数据库中所有数据表的详细信息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SHOW TABLE STATUS FROM </a:t>
            </a:r>
            <a:r>
              <a:rPr lang="en-US" altLang="zh-CN" err="1">
                <a:solidFill>
                  <a:srgbClr val="C00000"/>
                </a:solidFill>
              </a:rPr>
              <a:t>teaching_manage</a:t>
            </a:r>
            <a:r>
              <a:rPr lang="en-US" altLang="zh-CN">
                <a:solidFill>
                  <a:srgbClr val="C00000"/>
                </a:solidFill>
              </a:rPr>
              <a:t>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42B9170-B688-09F8-D43F-0E77B844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2FAAC73-925D-D216-A5B0-7D9A33C55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3.</a:t>
            </a:r>
            <a:r>
              <a:rPr lang="zh-CN" altLang="zh-CN" b="1" dirty="0">
                <a:solidFill>
                  <a:srgbClr val="C00000"/>
                </a:solidFill>
              </a:rPr>
              <a:t>查看表结构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DESC &lt;</a:t>
            </a:r>
            <a:r>
              <a:rPr altLang="zh-CN"/>
              <a:t>数据表名</a:t>
            </a:r>
            <a:r>
              <a:rPr lang="en-US" altLang="zh-CN"/>
              <a:t>&gt; [</a:t>
            </a:r>
            <a:r>
              <a:rPr altLang="zh-CN"/>
              <a:t>字段名</a:t>
            </a:r>
            <a:r>
              <a:rPr lang="en-US" altLang="zh-CN"/>
              <a:t>]; </a:t>
            </a:r>
            <a:endParaRPr altLang="zh-CN"/>
          </a:p>
          <a:p>
            <a:pPr lvl="1">
              <a:defRPr/>
            </a:pPr>
            <a:r>
              <a:rPr lang="en-US" altLang="zh-CN"/>
              <a:t>SHOW COLUMNS FROM &lt;</a:t>
            </a:r>
            <a:r>
              <a:rPr altLang="zh-CN"/>
              <a:t>数据表名</a:t>
            </a:r>
            <a:r>
              <a:rPr lang="en-US" altLang="zh-CN"/>
              <a:t>&gt;; </a:t>
            </a:r>
            <a:endParaRPr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查看当前数据库中</a:t>
            </a:r>
            <a:r>
              <a:rPr lang="en-US" altLang="zh-CN"/>
              <a:t>student</a:t>
            </a:r>
            <a:r>
              <a:rPr altLang="zh-CN"/>
              <a:t>表的结构</a:t>
            </a:r>
            <a:r>
              <a:rPr lang="en-US" altLang="zh-CN"/>
              <a:t> 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DESC student;</a:t>
            </a:r>
            <a:endParaRPr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SHOW COLUMNS FROM student;</a:t>
            </a:r>
            <a:endParaRPr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查看当前数据库中</a:t>
            </a:r>
            <a:r>
              <a:rPr lang="en-US" altLang="zh-CN"/>
              <a:t>student</a:t>
            </a:r>
            <a:r>
              <a:rPr altLang="zh-CN"/>
              <a:t>表中</a:t>
            </a:r>
            <a:r>
              <a:rPr lang="en-US" altLang="zh-CN" err="1"/>
              <a:t>sname</a:t>
            </a:r>
            <a:r>
              <a:rPr altLang="zh-CN"/>
              <a:t>字段的结构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DESC student </a:t>
            </a:r>
            <a:r>
              <a:rPr lang="en-US" altLang="zh-CN" err="1">
                <a:solidFill>
                  <a:srgbClr val="C00000"/>
                </a:solidFill>
              </a:rPr>
              <a:t>sname</a:t>
            </a:r>
            <a:r>
              <a:rPr lang="en-US" altLang="zh-CN">
                <a:solidFill>
                  <a:srgbClr val="C00000"/>
                </a:solidFill>
              </a:rPr>
              <a:t>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EA98175-605D-2F2C-E651-DA0EDE4DB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1E3357F-E758-9669-BDC3-878F5CEB1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4.</a:t>
            </a:r>
            <a:r>
              <a:rPr lang="zh-CN" altLang="zh-CN" b="1" dirty="0">
                <a:solidFill>
                  <a:srgbClr val="C00000"/>
                </a:solidFill>
              </a:rPr>
              <a:t>查看表的创建语句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SHOW CREATE TABLE &lt;</a:t>
            </a:r>
            <a:r>
              <a:rPr altLang="zh-CN"/>
              <a:t>数据表名</a:t>
            </a:r>
            <a:r>
              <a:rPr lang="en-US" altLang="zh-CN"/>
              <a:t>&gt;;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查看当前数据库中</a:t>
            </a:r>
            <a:r>
              <a:rPr lang="en-US" altLang="zh-CN"/>
              <a:t>student</a:t>
            </a:r>
            <a:r>
              <a:rPr altLang="zh-CN"/>
              <a:t>表的创建语句</a:t>
            </a:r>
            <a:r>
              <a:rPr lang="en-US" altLang="zh-CN"/>
              <a:t> 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SHOW CREATE TABLE student;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2EC451-B04F-5F18-668D-1834334C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621746-5B92-9F1D-3725-EC8BF794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52578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修改数据表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1.</a:t>
            </a:r>
            <a:r>
              <a:rPr lang="zh-CN" altLang="zh-CN" b="1" dirty="0">
                <a:solidFill>
                  <a:srgbClr val="C00000"/>
                </a:solidFill>
              </a:rPr>
              <a:t>修改数据表名称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ALTER TABLE &lt;</a:t>
            </a:r>
            <a:r>
              <a:rPr altLang="zh-CN"/>
              <a:t>原数据表名</a:t>
            </a:r>
            <a:r>
              <a:rPr lang="en-US" altLang="zh-CN"/>
              <a:t>&gt; RENAME [TO|AS] &lt;</a:t>
            </a:r>
            <a:r>
              <a:rPr altLang="zh-CN"/>
              <a:t>新数据表名</a:t>
            </a:r>
            <a:r>
              <a:rPr lang="en-US" altLang="zh-CN"/>
              <a:t>&gt;; </a:t>
            </a:r>
            <a:endParaRPr altLang="zh-CN"/>
          </a:p>
          <a:p>
            <a:pPr lvl="1">
              <a:defRPr/>
            </a:pPr>
            <a:r>
              <a:rPr lang="en-US" altLang="zh-CN"/>
              <a:t>RENAME TABLE &lt;</a:t>
            </a:r>
            <a:r>
              <a:rPr altLang="zh-CN"/>
              <a:t>原数据表名</a:t>
            </a:r>
            <a:r>
              <a:rPr lang="en-US" altLang="zh-CN"/>
              <a:t>&gt; TO &lt;</a:t>
            </a:r>
            <a:r>
              <a:rPr altLang="zh-CN"/>
              <a:t>新数据表名</a:t>
            </a:r>
            <a:r>
              <a:rPr lang="en-US" altLang="zh-CN"/>
              <a:t>&gt;;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修改数据表</a:t>
            </a:r>
            <a:r>
              <a:rPr lang="en-US" altLang="zh-CN"/>
              <a:t>student</a:t>
            </a:r>
            <a:r>
              <a:rPr altLang="zh-CN"/>
              <a:t>为</a:t>
            </a:r>
            <a:r>
              <a:rPr lang="en-US" altLang="zh-CN"/>
              <a:t>student1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ALTER TABLE student RENAME TO student1;</a:t>
            </a:r>
            <a:endParaRPr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修改数据表</a:t>
            </a:r>
            <a:r>
              <a:rPr lang="en-US" altLang="zh-CN"/>
              <a:t>student1</a:t>
            </a:r>
            <a:r>
              <a:rPr altLang="zh-CN"/>
              <a:t>为</a:t>
            </a:r>
            <a:r>
              <a:rPr lang="en-US" altLang="zh-CN"/>
              <a:t>student 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RENAME TABLE student1 TO student;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D16BDD8-8D46-ADEA-F8E7-414E5D65F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9101EA2-3EEB-6CB1-16CD-82E2A9591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2.</a:t>
            </a:r>
            <a:r>
              <a:rPr lang="zh-CN" altLang="zh-CN" b="1" dirty="0">
                <a:solidFill>
                  <a:srgbClr val="C00000"/>
                </a:solidFill>
              </a:rPr>
              <a:t>修改数据表选项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ALTER TABLE &lt;</a:t>
            </a:r>
            <a:r>
              <a:rPr altLang="zh-CN"/>
              <a:t>数据表名</a:t>
            </a:r>
            <a:r>
              <a:rPr lang="en-US" altLang="zh-CN"/>
              <a:t>&gt; &lt;</a:t>
            </a:r>
            <a:r>
              <a:rPr altLang="zh-CN"/>
              <a:t>表选项</a:t>
            </a:r>
            <a:r>
              <a:rPr lang="en-US" altLang="zh-CN"/>
              <a:t>&gt; [=]&lt;</a:t>
            </a:r>
            <a:r>
              <a:rPr altLang="zh-CN"/>
              <a:t>表选项</a:t>
            </a:r>
            <a:r>
              <a:rPr lang="en-US" altLang="zh-CN"/>
              <a:t>&gt;; 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修改数据表</a:t>
            </a:r>
            <a:r>
              <a:rPr lang="en-US" altLang="zh-CN"/>
              <a:t>student</a:t>
            </a:r>
            <a:r>
              <a:rPr altLang="zh-CN"/>
              <a:t>的字符集为</a:t>
            </a:r>
            <a:r>
              <a:rPr lang="en-US" altLang="zh-CN"/>
              <a:t>utf8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ALTER TABLE student CHARSET=utf8;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6F6A88-72CA-DF33-EE7D-79DCF4DD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118C471-7387-834E-B706-95C4BC83F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修改表结构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1.</a:t>
            </a:r>
            <a:r>
              <a:rPr lang="zh-CN" altLang="en-US" dirty="0">
                <a:solidFill>
                  <a:srgbClr val="C00000"/>
                </a:solidFill>
              </a:rPr>
              <a:t>新增字段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 sz="2400"/>
              <a:t>ALTER TABLE &lt;</a:t>
            </a:r>
            <a:r>
              <a:rPr altLang="zh-CN" sz="2400"/>
              <a:t>数据表名</a:t>
            </a:r>
            <a:r>
              <a:rPr lang="en-US" altLang="zh-CN" sz="2400"/>
              <a:t>&gt; ADD [COLUMN] &lt;</a:t>
            </a:r>
            <a:r>
              <a:rPr altLang="zh-CN" sz="2400"/>
              <a:t>字段名 类型</a:t>
            </a:r>
            <a:r>
              <a:rPr lang="en-US" altLang="zh-CN" sz="2400"/>
              <a:t>&gt; [FIRST|AFTER </a:t>
            </a:r>
            <a:r>
              <a:rPr altLang="zh-CN" sz="2400"/>
              <a:t>字段名</a:t>
            </a:r>
            <a:r>
              <a:rPr lang="en-US" altLang="zh-CN" sz="2400"/>
              <a:t>] ; </a:t>
            </a:r>
            <a:endParaRPr altLang="zh-CN" sz="2400"/>
          </a:p>
          <a:p>
            <a:pPr lvl="1">
              <a:defRPr/>
            </a:pPr>
            <a:endParaRPr lang="en-US" altLang="zh-CN" sz="2400"/>
          </a:p>
          <a:p>
            <a:pPr lvl="1">
              <a:defRPr/>
            </a:pPr>
            <a:r>
              <a:rPr lang="en-US" altLang="zh-CN" sz="2400"/>
              <a:t>-- </a:t>
            </a:r>
            <a:r>
              <a:rPr altLang="zh-CN" sz="2400"/>
              <a:t>修改数据表</a:t>
            </a:r>
            <a:r>
              <a:rPr lang="en-US" altLang="zh-CN" sz="2400"/>
              <a:t>student</a:t>
            </a:r>
            <a:r>
              <a:rPr altLang="zh-CN" sz="2400"/>
              <a:t>增加</a:t>
            </a:r>
            <a:r>
              <a:rPr lang="en-US" altLang="zh-CN" sz="2400"/>
              <a:t>1</a:t>
            </a:r>
            <a:r>
              <a:rPr altLang="zh-CN" sz="2400"/>
              <a:t>个新列</a:t>
            </a:r>
            <a:r>
              <a:rPr lang="en-US" altLang="zh-CN" sz="2400" err="1"/>
              <a:t>nativeplace</a:t>
            </a:r>
            <a:r>
              <a:rPr lang="en-US" altLang="zh-CN" sz="2400"/>
              <a:t>   </a:t>
            </a:r>
            <a:endParaRPr altLang="zh-CN" sz="2400"/>
          </a:p>
          <a:p>
            <a:pPr lvl="1">
              <a:defRPr/>
            </a:pPr>
            <a:r>
              <a:rPr lang="en-US" altLang="zh-CN" sz="2400">
                <a:solidFill>
                  <a:srgbClr val="C00000"/>
                </a:solidFill>
              </a:rPr>
              <a:t>ALTER TABLE  student ADD COLUMN  </a:t>
            </a:r>
            <a:r>
              <a:rPr lang="en-US" altLang="zh-CN" sz="2400" err="1">
                <a:solidFill>
                  <a:srgbClr val="C00000"/>
                </a:solidFill>
              </a:rPr>
              <a:t>nativeplace</a:t>
            </a:r>
            <a:r>
              <a:rPr lang="en-US" altLang="zh-CN" sz="2400">
                <a:solidFill>
                  <a:srgbClr val="C00000"/>
                </a:solidFill>
              </a:rPr>
              <a:t> VARCHAR(50);</a:t>
            </a:r>
            <a:endParaRPr altLang="zh-CN" sz="240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 sz="2400"/>
              <a:t>-- </a:t>
            </a:r>
            <a:r>
              <a:rPr altLang="zh-CN" sz="2400"/>
              <a:t>修改数据表</a:t>
            </a:r>
            <a:r>
              <a:rPr lang="en-US" altLang="zh-CN" sz="2400"/>
              <a:t>student</a:t>
            </a:r>
            <a:r>
              <a:rPr altLang="zh-CN" sz="2400"/>
              <a:t>在性别（</a:t>
            </a:r>
            <a:r>
              <a:rPr lang="en-US" altLang="zh-CN" sz="2400"/>
              <a:t>sex</a:t>
            </a:r>
            <a:r>
              <a:rPr altLang="zh-CN" sz="2400"/>
              <a:t>）增加</a:t>
            </a:r>
            <a:r>
              <a:rPr lang="en-US" altLang="zh-CN" sz="2400"/>
              <a:t>1</a:t>
            </a:r>
            <a:r>
              <a:rPr altLang="zh-CN" sz="2400"/>
              <a:t>个新列</a:t>
            </a:r>
            <a:r>
              <a:rPr lang="en-US" altLang="zh-CN" sz="2400" err="1"/>
              <a:t>nativeplace</a:t>
            </a:r>
            <a:r>
              <a:rPr lang="en-US" altLang="zh-CN" sz="2400"/>
              <a:t>    </a:t>
            </a:r>
            <a:endParaRPr altLang="zh-CN" sz="2400"/>
          </a:p>
          <a:p>
            <a:pPr lvl="1">
              <a:defRPr/>
            </a:pPr>
            <a:r>
              <a:rPr lang="en-US" altLang="zh-CN" sz="2400">
                <a:solidFill>
                  <a:srgbClr val="C00000"/>
                </a:solidFill>
              </a:rPr>
              <a:t>ALTER TABLE  student ADD   </a:t>
            </a:r>
            <a:r>
              <a:rPr lang="en-US" altLang="zh-CN" sz="2400" err="1">
                <a:solidFill>
                  <a:srgbClr val="C00000"/>
                </a:solidFill>
              </a:rPr>
              <a:t>nativeplace</a:t>
            </a:r>
            <a:r>
              <a:rPr lang="en-US" altLang="zh-CN" sz="2400">
                <a:solidFill>
                  <a:srgbClr val="C00000"/>
                </a:solidFill>
              </a:rPr>
              <a:t>  VARCHAR(50) AFTER sex;</a:t>
            </a:r>
            <a:endParaRPr sz="2400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4ACAD70-E18F-BB83-C4FA-381B4AEE6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DA3FB2-DDBC-A21F-3EFA-A87569BE6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2. </a:t>
            </a:r>
            <a:r>
              <a:rPr lang="zh-CN" altLang="en-US" dirty="0">
                <a:solidFill>
                  <a:srgbClr val="C00000"/>
                </a:solidFill>
              </a:rPr>
              <a:t>修改字段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altLang="zh-CN"/>
              <a:t>（</a:t>
            </a:r>
            <a:r>
              <a:rPr lang="en-US" altLang="zh-CN"/>
              <a:t>1</a:t>
            </a:r>
            <a:r>
              <a:rPr altLang="zh-CN"/>
              <a:t>）修改字段名</a:t>
            </a:r>
          </a:p>
          <a:p>
            <a:pPr lvl="1">
              <a:defRPr/>
            </a:pPr>
            <a:r>
              <a:rPr lang="en-US" altLang="zh-CN"/>
              <a:t>ALTER TABLE &lt;</a:t>
            </a:r>
            <a:r>
              <a:rPr altLang="zh-CN"/>
              <a:t>数据表名</a:t>
            </a:r>
            <a:r>
              <a:rPr lang="en-US" altLang="zh-CN"/>
              <a:t>&gt; CHANGE  &lt;</a:t>
            </a:r>
            <a:r>
              <a:rPr altLang="zh-CN"/>
              <a:t>旧字段名</a:t>
            </a:r>
            <a:r>
              <a:rPr lang="en-US" altLang="zh-CN"/>
              <a:t>&gt; &lt;</a:t>
            </a:r>
            <a:r>
              <a:rPr altLang="zh-CN"/>
              <a:t>新字段名 类型</a:t>
            </a:r>
            <a:r>
              <a:rPr lang="en-US" altLang="zh-CN"/>
              <a:t>&gt;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修改数据表</a:t>
            </a:r>
            <a:r>
              <a:rPr lang="en-US" altLang="zh-CN"/>
              <a:t>student</a:t>
            </a:r>
            <a:r>
              <a:rPr altLang="zh-CN"/>
              <a:t>将</a:t>
            </a:r>
            <a:r>
              <a:rPr lang="en-US" altLang="zh-CN" err="1"/>
              <a:t>nativeplace</a:t>
            </a:r>
            <a:r>
              <a:rPr lang="en-US" altLang="zh-CN"/>
              <a:t> </a:t>
            </a:r>
            <a:r>
              <a:rPr altLang="zh-CN"/>
              <a:t>改名为</a:t>
            </a:r>
            <a:r>
              <a:rPr lang="en-US" altLang="zh-CN"/>
              <a:t>native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ALTER TABLE  student  CHANGE  </a:t>
            </a:r>
            <a:r>
              <a:rPr lang="en-US" altLang="zh-CN" err="1">
                <a:solidFill>
                  <a:srgbClr val="C00000"/>
                </a:solidFill>
              </a:rPr>
              <a:t>nativeplace</a:t>
            </a:r>
            <a:r>
              <a:rPr lang="en-US" altLang="zh-CN">
                <a:solidFill>
                  <a:srgbClr val="C00000"/>
                </a:solidFill>
              </a:rPr>
              <a:t>  native  VARCHAR(50);</a:t>
            </a:r>
            <a:endParaRPr altLang="zh-CN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F599799-F8EC-923B-6C68-395D3B37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AA88596-3700-D264-F2BB-139B22C19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8" y="1600200"/>
            <a:ext cx="11090275" cy="4525963"/>
          </a:xfrm>
        </p:spPr>
        <p:txBody>
          <a:bodyPr/>
          <a:lstStyle/>
          <a:p>
            <a:pPr lvl="1">
              <a:defRPr/>
            </a:pPr>
            <a:r>
              <a:rPr altLang="zh-CN" sz="2400"/>
              <a:t>（</a:t>
            </a:r>
            <a:r>
              <a:rPr lang="en-US" altLang="zh-CN" sz="2400"/>
              <a:t>2</a:t>
            </a:r>
            <a:r>
              <a:rPr altLang="zh-CN" sz="2400"/>
              <a:t>）修改字段类型和位置</a:t>
            </a:r>
          </a:p>
          <a:p>
            <a:pPr lvl="1">
              <a:defRPr/>
            </a:pPr>
            <a:r>
              <a:rPr lang="en-US" altLang="zh-CN" sz="2400"/>
              <a:t>ALTER TABLE &lt;</a:t>
            </a:r>
            <a:r>
              <a:rPr altLang="zh-CN" sz="2400"/>
              <a:t>数据表名</a:t>
            </a:r>
            <a:r>
              <a:rPr lang="en-US" altLang="zh-CN" sz="2400"/>
              <a:t>&gt; MODIFY &lt;</a:t>
            </a:r>
            <a:r>
              <a:rPr altLang="zh-CN" sz="2400"/>
              <a:t>字段名 类型</a:t>
            </a:r>
            <a:r>
              <a:rPr lang="en-US" altLang="zh-CN" sz="2400"/>
              <a:t>&gt; [FIRST|AFTER </a:t>
            </a:r>
            <a:r>
              <a:rPr altLang="zh-CN" sz="2400"/>
              <a:t>字段名</a:t>
            </a:r>
            <a:r>
              <a:rPr lang="en-US" altLang="zh-CN" sz="2400"/>
              <a:t>2]</a:t>
            </a:r>
            <a:endParaRPr altLang="zh-CN" sz="2400"/>
          </a:p>
          <a:p>
            <a:pPr lvl="1">
              <a:defRPr/>
            </a:pPr>
            <a:endParaRPr lang="en-US" altLang="zh-CN" sz="2400"/>
          </a:p>
          <a:p>
            <a:pPr lvl="1">
              <a:defRPr/>
            </a:pPr>
            <a:r>
              <a:rPr lang="en-US" altLang="zh-CN" sz="2400"/>
              <a:t>-- </a:t>
            </a:r>
            <a:r>
              <a:rPr altLang="zh-CN" sz="2400"/>
              <a:t>修改数据表</a:t>
            </a:r>
            <a:r>
              <a:rPr lang="en-US" altLang="zh-CN" sz="2400"/>
              <a:t>student</a:t>
            </a:r>
            <a:r>
              <a:rPr altLang="zh-CN" sz="2400"/>
              <a:t>将</a:t>
            </a:r>
            <a:r>
              <a:rPr lang="en-US" altLang="zh-CN" sz="2400" err="1"/>
              <a:t>nativeplace</a:t>
            </a:r>
            <a:r>
              <a:rPr lang="en-US" altLang="zh-CN" sz="2400"/>
              <a:t> </a:t>
            </a:r>
            <a:r>
              <a:rPr altLang="zh-CN" sz="2400"/>
              <a:t>类型改为</a:t>
            </a:r>
            <a:r>
              <a:rPr lang="en-US" altLang="zh-CN" sz="2400"/>
              <a:t>VARCHAR(30)  </a:t>
            </a:r>
            <a:endParaRPr altLang="zh-CN" sz="2400"/>
          </a:p>
          <a:p>
            <a:pPr lvl="1">
              <a:defRPr/>
            </a:pPr>
            <a:r>
              <a:rPr lang="en-US" altLang="zh-CN" sz="2400">
                <a:solidFill>
                  <a:srgbClr val="C00000"/>
                </a:solidFill>
              </a:rPr>
              <a:t>ALTER TABLE student MODIFY </a:t>
            </a:r>
            <a:r>
              <a:rPr lang="en-US" altLang="zh-CN" sz="2400" err="1">
                <a:solidFill>
                  <a:srgbClr val="C00000"/>
                </a:solidFill>
              </a:rPr>
              <a:t>nativeplace</a:t>
            </a:r>
            <a:r>
              <a:rPr lang="en-US" altLang="zh-CN" sz="2400">
                <a:solidFill>
                  <a:srgbClr val="C00000"/>
                </a:solidFill>
              </a:rPr>
              <a:t> VARCHAR(30);</a:t>
            </a:r>
            <a:endParaRPr altLang="zh-CN" sz="240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 sz="2400"/>
              <a:t>-- </a:t>
            </a:r>
            <a:r>
              <a:rPr altLang="zh-CN" sz="2400"/>
              <a:t>修改数据表</a:t>
            </a:r>
            <a:r>
              <a:rPr lang="en-US" altLang="zh-CN" sz="2400"/>
              <a:t>student</a:t>
            </a:r>
            <a:r>
              <a:rPr altLang="zh-CN" sz="2400"/>
              <a:t>将</a:t>
            </a:r>
            <a:r>
              <a:rPr lang="en-US" altLang="zh-CN" sz="2400" err="1"/>
              <a:t>nativeplace</a:t>
            </a:r>
            <a:r>
              <a:rPr lang="en-US" altLang="zh-CN" sz="2400"/>
              <a:t> </a:t>
            </a:r>
            <a:r>
              <a:rPr altLang="zh-CN" sz="2400"/>
              <a:t>类型改为</a:t>
            </a:r>
            <a:r>
              <a:rPr lang="en-US" altLang="zh-CN" sz="2400"/>
              <a:t>VARCHAR(20)</a:t>
            </a:r>
            <a:r>
              <a:rPr altLang="zh-CN" sz="2400"/>
              <a:t>，并放在</a:t>
            </a:r>
            <a:r>
              <a:rPr lang="en-US" altLang="zh-CN" sz="2400"/>
              <a:t>birthday</a:t>
            </a:r>
            <a:r>
              <a:rPr altLang="zh-CN" sz="2400"/>
              <a:t>之后</a:t>
            </a:r>
          </a:p>
          <a:p>
            <a:pPr lvl="1">
              <a:defRPr/>
            </a:pPr>
            <a:r>
              <a:rPr lang="en-US" altLang="zh-CN" sz="2400">
                <a:solidFill>
                  <a:srgbClr val="C00000"/>
                </a:solidFill>
              </a:rPr>
              <a:t>ALTER TABLE student MODIFY </a:t>
            </a:r>
            <a:r>
              <a:rPr lang="en-US" altLang="zh-CN" sz="2400" err="1">
                <a:solidFill>
                  <a:srgbClr val="C00000"/>
                </a:solidFill>
              </a:rPr>
              <a:t>nativeplace</a:t>
            </a:r>
            <a:r>
              <a:rPr lang="en-US" altLang="zh-CN" sz="2400">
                <a:solidFill>
                  <a:srgbClr val="C00000"/>
                </a:solidFill>
              </a:rPr>
              <a:t> VARCHAR(20) AFTER birthday;</a:t>
            </a:r>
            <a:endParaRPr sz="2400">
              <a:solidFill>
                <a:srgbClr val="C00000"/>
              </a:solidFill>
            </a:endParaRPr>
          </a:p>
          <a:p>
            <a:pPr>
              <a:defRPr/>
            </a:pPr>
            <a:endParaRPr lang="zh-CN" alt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5B6A11-C547-2543-7893-85FF59C70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F9F43-8BD4-9EB8-9FF4-C39FD2BDC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3. </a:t>
            </a:r>
            <a:r>
              <a:rPr>
                <a:solidFill>
                  <a:srgbClr val="C00000"/>
                </a:solidFill>
              </a:rPr>
              <a:t>删除字段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ALTER TABLE &lt;</a:t>
            </a:r>
            <a:r>
              <a:rPr altLang="zh-CN"/>
              <a:t>数据表名</a:t>
            </a:r>
            <a:r>
              <a:rPr lang="en-US" altLang="zh-CN"/>
              <a:t>&gt; DROP [COLUMN] &lt;</a:t>
            </a:r>
            <a:r>
              <a:rPr altLang="zh-CN"/>
              <a:t>字段名</a:t>
            </a:r>
            <a:r>
              <a:rPr lang="en-US" altLang="zh-CN"/>
              <a:t>&gt; ; 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修改数据表</a:t>
            </a:r>
            <a:r>
              <a:rPr lang="en-US" altLang="zh-CN"/>
              <a:t>student</a:t>
            </a:r>
            <a:r>
              <a:rPr altLang="zh-CN"/>
              <a:t>删除列</a:t>
            </a:r>
            <a:r>
              <a:rPr lang="en-US" altLang="zh-CN" err="1"/>
              <a:t>nativeplace</a:t>
            </a:r>
            <a:r>
              <a:rPr lang="en-US" altLang="zh-CN"/>
              <a:t>  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ALTER TABLE student DROP </a:t>
            </a:r>
            <a:r>
              <a:rPr lang="en-US" altLang="zh-CN" err="1">
                <a:solidFill>
                  <a:srgbClr val="C00000"/>
                </a:solidFill>
              </a:rPr>
              <a:t>nativeplace</a:t>
            </a:r>
            <a:r>
              <a:rPr lang="en-US" altLang="zh-CN">
                <a:solidFill>
                  <a:srgbClr val="C00000"/>
                </a:solidFill>
              </a:rPr>
              <a:t>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E1F34DD-E053-EC5D-841B-ED9DC818F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98D7A9-AD0E-835F-A97E-C37C8B430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924425"/>
          </a:xfrm>
        </p:spPr>
        <p:txBody>
          <a:bodyPr/>
          <a:lstStyle/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4. </a:t>
            </a:r>
            <a:r>
              <a:rPr>
                <a:solidFill>
                  <a:srgbClr val="C00000"/>
                </a:solidFill>
              </a:rPr>
              <a:t>添加和删除约束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ALTER TABLE &lt;</a:t>
            </a:r>
            <a:r>
              <a:rPr altLang="zh-CN"/>
              <a:t>数据表名</a:t>
            </a:r>
            <a:r>
              <a:rPr lang="en-US" altLang="zh-CN"/>
              <a:t>&gt;</a:t>
            </a:r>
            <a:endParaRPr altLang="zh-CN"/>
          </a:p>
          <a:p>
            <a:pPr lvl="1">
              <a:defRPr/>
            </a:pPr>
            <a:r>
              <a:rPr lang="en-US" altLang="zh-CN"/>
              <a:t>[ADD CONSTRAINT &lt;</a:t>
            </a:r>
            <a:r>
              <a:rPr altLang="zh-CN"/>
              <a:t>完整性约束名</a:t>
            </a:r>
            <a:r>
              <a:rPr lang="en-US" altLang="zh-CN"/>
              <a:t>&gt; &lt;</a:t>
            </a:r>
            <a:r>
              <a:rPr altLang="zh-CN"/>
              <a:t>完整性约束</a:t>
            </a:r>
            <a:r>
              <a:rPr lang="en-US" altLang="zh-CN"/>
              <a:t>&gt;]</a:t>
            </a:r>
            <a:endParaRPr altLang="zh-CN"/>
          </a:p>
          <a:p>
            <a:pPr lvl="1">
              <a:defRPr/>
            </a:pPr>
            <a:r>
              <a:rPr lang="en-US" altLang="zh-CN"/>
              <a:t>[ DROP CONSTRAINT &lt;</a:t>
            </a:r>
            <a:r>
              <a:rPr altLang="zh-CN"/>
              <a:t>完整性约束名</a:t>
            </a:r>
            <a:r>
              <a:rPr lang="en-US" altLang="zh-CN"/>
              <a:t>&gt;]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修改数据表</a:t>
            </a:r>
            <a:r>
              <a:rPr lang="en-US" altLang="zh-CN"/>
              <a:t>score</a:t>
            </a:r>
            <a:r>
              <a:rPr altLang="zh-CN"/>
              <a:t>，在</a:t>
            </a:r>
            <a:r>
              <a:rPr lang="en-US" altLang="zh-CN" err="1"/>
              <a:t>sno</a:t>
            </a:r>
            <a:r>
              <a:rPr altLang="zh-CN"/>
              <a:t>、</a:t>
            </a:r>
            <a:r>
              <a:rPr lang="en-US" altLang="zh-CN" err="1"/>
              <a:t>cno</a:t>
            </a:r>
            <a:r>
              <a:rPr altLang="zh-CN"/>
              <a:t>两字段上添加唯一约束</a:t>
            </a:r>
            <a:r>
              <a:rPr lang="en-US" altLang="zh-CN" err="1"/>
              <a:t>uk_sno_cno</a:t>
            </a:r>
            <a:r>
              <a:rPr lang="en-US" altLang="zh-CN"/>
              <a:t> </a:t>
            </a:r>
            <a:endParaRPr altLang="zh-CN"/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ALTER TABLE  score ADD CONSTRAINT </a:t>
            </a:r>
            <a:r>
              <a:rPr lang="en-US" altLang="zh-CN" err="1">
                <a:solidFill>
                  <a:srgbClr val="C00000"/>
                </a:solidFill>
              </a:rPr>
              <a:t>uk_sno_cno</a:t>
            </a:r>
            <a:r>
              <a:rPr lang="en-US" altLang="zh-CN">
                <a:solidFill>
                  <a:srgbClr val="C00000"/>
                </a:solidFill>
              </a:rPr>
              <a:t> UNIQUE(</a:t>
            </a:r>
            <a:r>
              <a:rPr lang="en-US" altLang="zh-CN" err="1">
                <a:solidFill>
                  <a:srgbClr val="C00000"/>
                </a:solidFill>
              </a:rPr>
              <a:t>sno,cno</a:t>
            </a:r>
            <a:r>
              <a:rPr lang="en-US" altLang="zh-CN">
                <a:solidFill>
                  <a:srgbClr val="C00000"/>
                </a:solidFill>
              </a:rPr>
              <a:t>);</a:t>
            </a:r>
            <a:endParaRPr altLang="zh-CN">
              <a:solidFill>
                <a:srgbClr val="C00000"/>
              </a:solidFill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3EAF7DFA-2446-768B-C1BE-3A5465C9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D329EE7-05D9-4417-96B4-874B2232C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删除数据表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altLang="zh-CN"/>
              <a:t>DROP TABLE &lt;</a:t>
            </a:r>
            <a:r>
              <a:rPr altLang="zh-CN"/>
              <a:t>数据表名</a:t>
            </a:r>
            <a:r>
              <a:rPr lang="en-US" altLang="zh-CN"/>
              <a:t>&gt;;</a:t>
            </a:r>
            <a:endParaRPr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删除学生表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DROP TABLE student ;</a:t>
            </a:r>
          </a:p>
          <a:p>
            <a:pPr lvl="1">
              <a:defRPr/>
            </a:pPr>
            <a:endParaRPr lang="en-US" altLang="zh-CN">
              <a:effectLst/>
            </a:endParaRPr>
          </a:p>
          <a:p>
            <a:pPr lvl="1">
              <a:defRPr/>
            </a:pPr>
            <a:r>
              <a:rPr altLang="zh-CN">
                <a:effectLst/>
              </a:rPr>
              <a:t>表被删除</a:t>
            </a:r>
            <a:r>
              <a:rPr>
                <a:effectLst/>
              </a:rPr>
              <a:t>后</a:t>
            </a:r>
            <a:r>
              <a:rPr altLang="zh-CN">
                <a:effectLst/>
              </a:rPr>
              <a:t>，表在数据字典中的定义也被删除，此表上建立的索引和视图也被自动删除。</a:t>
            </a: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6AF5A0-33E2-C9E1-8D8A-BAE4C3BE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lang="en-US" altLang="zh-CN"/>
              <a:t>MySQL</a:t>
            </a:r>
            <a:r>
              <a:rPr altLang="zh-CN"/>
              <a:t>数据表管理</a:t>
            </a:r>
            <a:endParaRPr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8D4239C-640B-C2E9-9A55-2CB1888B4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SQL</a:t>
            </a:r>
            <a:r>
              <a:rPr lang="zh-CN" altLang="zh-CN" b="1" dirty="0">
                <a:solidFill>
                  <a:srgbClr val="C00000"/>
                </a:solidFill>
              </a:rPr>
              <a:t>提供了数据更新功能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INSERT</a:t>
            </a:r>
            <a:r>
              <a:rPr altLang="zh-CN"/>
              <a:t>插入</a:t>
            </a:r>
            <a:endParaRPr lang="en-US" altLang="zh-CN"/>
          </a:p>
          <a:p>
            <a:pPr lvl="1">
              <a:defRPr/>
            </a:pPr>
            <a:r>
              <a:rPr lang="en-US" altLang="zh-CN"/>
              <a:t>DELETE</a:t>
            </a:r>
            <a:r>
              <a:rPr altLang="zh-CN"/>
              <a:t>删除</a:t>
            </a:r>
            <a:endParaRPr lang="en-US" altLang="zh-CN"/>
          </a:p>
          <a:p>
            <a:pPr lvl="1">
              <a:defRPr/>
            </a:pPr>
            <a:r>
              <a:rPr lang="en-US" altLang="zh-CN"/>
              <a:t>UPDATE</a:t>
            </a:r>
            <a:r>
              <a:rPr altLang="zh-CN"/>
              <a:t>更新</a:t>
            </a: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FE1CD68-3750-7D19-1468-259A593D6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altLang="zh-CN"/>
              <a:t>数据表的数据操作</a:t>
            </a:r>
            <a:endParaRPr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1">
            <a:extLst>
              <a:ext uri="{FF2B5EF4-FFF2-40B4-BE49-F238E27FC236}">
                <a16:creationId xmlns:a16="http://schemas.microsoft.com/office/drawing/2014/main" id="{C00BC723-8F94-AFFF-287C-474FE569DF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268413"/>
            <a:ext cx="10979150" cy="45259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solidFill>
                  <a:srgbClr val="002060"/>
                </a:solidFill>
              </a:rPr>
              <a:t>插入数据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altLang="zh-CN"/>
              <a:t>1.</a:t>
            </a:r>
            <a:r>
              <a:rPr altLang="zh-CN"/>
              <a:t>插入单个记录</a:t>
            </a:r>
            <a:endParaRPr lang="en-US" altLang="zh-CN"/>
          </a:p>
          <a:p>
            <a:pPr lvl="1">
              <a:defRPr/>
            </a:pPr>
            <a:r>
              <a:t>语句格式</a:t>
            </a:r>
          </a:p>
          <a:p>
            <a:pPr marL="609600" indent="-609600" eaLnBrk="1" hangingPunct="1">
              <a:lnSpc>
                <a:spcPct val="130000"/>
              </a:lnSpc>
              <a:defRPr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INSERT 	INTO &lt;</a:t>
            </a:r>
            <a:r>
              <a:rPr lang="zh-CN" altLang="en-US" sz="2400" b="1" dirty="0"/>
              <a:t>表名</a:t>
            </a:r>
            <a:r>
              <a:rPr lang="en-US" altLang="zh-CN" sz="2400" b="1" dirty="0"/>
              <a:t>&gt; [(&lt;</a:t>
            </a:r>
            <a:r>
              <a:rPr lang="zh-CN" altLang="en-US" sz="2400" b="1" dirty="0"/>
              <a:t>属性列</a:t>
            </a:r>
            <a:r>
              <a:rPr lang="en-US" altLang="zh-CN" sz="2400" b="1" dirty="0"/>
              <a:t>1&gt;[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属性列</a:t>
            </a:r>
            <a:r>
              <a:rPr lang="en-US" altLang="zh-CN" sz="2400" b="1" dirty="0"/>
              <a:t>2 &gt;…)]</a:t>
            </a:r>
          </a:p>
          <a:p>
            <a:pPr marL="609600" indent="-609600" eaLnBrk="1" hangingPunct="1">
              <a:lnSpc>
                <a:spcPct val="130000"/>
              </a:lnSpc>
              <a:defRPr/>
            </a:pPr>
            <a:r>
              <a:rPr lang="en-US" altLang="zh-CN" sz="2400" b="1" dirty="0"/>
              <a:t>	VALUES (&lt;</a:t>
            </a:r>
            <a:r>
              <a:rPr lang="zh-CN" altLang="en-US" sz="2400" b="1" dirty="0"/>
              <a:t>常量</a:t>
            </a:r>
            <a:r>
              <a:rPr lang="en-US" altLang="zh-CN" sz="2400" b="1" dirty="0"/>
              <a:t>1&gt; [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常量</a:t>
            </a:r>
            <a:r>
              <a:rPr lang="en-US" altLang="zh-CN" sz="2400" b="1" dirty="0"/>
              <a:t>2&gt;]    …           )</a:t>
            </a:r>
            <a:endParaRPr lang="en-US" altLang="zh-CN" b="1" dirty="0"/>
          </a:p>
          <a:p>
            <a:pPr lvl="1" indent="0">
              <a:defRPr/>
            </a:pPr>
            <a:endParaRPr altLang="zh-CN"/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FB51C65-1A36-7E1F-6F16-B7ECC7E3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altLang="zh-CN"/>
              <a:t>数据表的数据操作</a:t>
            </a:r>
            <a:endParaRPr/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91E23CF5-2C7A-0735-BD3C-57809AAC4E97}"/>
              </a:ext>
            </a:extLst>
          </p:cNvPr>
          <p:cNvSpPr txBox="1">
            <a:spLocks/>
          </p:cNvSpPr>
          <p:nvPr/>
        </p:nvSpPr>
        <p:spPr>
          <a:xfrm>
            <a:off x="768350" y="4365625"/>
            <a:ext cx="10979150" cy="1800225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defRPr/>
            </a:pPr>
            <a:r>
              <a:rPr kern="0">
                <a:solidFill>
                  <a:srgbClr val="FF0000"/>
                </a:solidFill>
              </a:rPr>
              <a:t>注意：</a:t>
            </a:r>
            <a:endParaRPr lang="en-US" altLang="zh-CN" kern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zh-CN" kern="0">
                <a:solidFill>
                  <a:srgbClr val="FF0000"/>
                </a:solidFill>
              </a:rPr>
              <a:t>         </a:t>
            </a:r>
            <a:r>
              <a:rPr kern="0">
                <a:solidFill>
                  <a:srgbClr val="FF0000"/>
                </a:solidFill>
              </a:rPr>
              <a:t>（</a:t>
            </a:r>
            <a:r>
              <a:rPr lang="en-US" altLang="zh-CN" kern="0">
                <a:solidFill>
                  <a:srgbClr val="FF0000"/>
                </a:solidFill>
              </a:rPr>
              <a:t>1</a:t>
            </a:r>
            <a:r>
              <a:rPr kern="0">
                <a:solidFill>
                  <a:srgbClr val="FF0000"/>
                </a:solidFill>
              </a:rPr>
              <a:t>）</a:t>
            </a:r>
            <a:r>
              <a:rPr lang="en-US" altLang="zh-CN" kern="0">
                <a:solidFill>
                  <a:srgbClr val="C00000"/>
                </a:solidFill>
              </a:rPr>
              <a:t>INTO</a:t>
            </a:r>
            <a:r>
              <a:rPr kern="0">
                <a:solidFill>
                  <a:srgbClr val="C00000"/>
                </a:solidFill>
              </a:rPr>
              <a:t>子句</a:t>
            </a:r>
            <a:r>
              <a:rPr>
                <a:solidFill>
                  <a:srgbClr val="C00000"/>
                </a:solidFill>
              </a:rPr>
              <a:t>属性列的顺序可与表定义中的顺序不一致</a:t>
            </a:r>
          </a:p>
          <a:p>
            <a:pPr marL="914400" lvl="2" indent="0">
              <a:buFont typeface="Arial" charset="0"/>
              <a:buNone/>
              <a:defRPr/>
            </a:pPr>
            <a:r>
              <a:rPr lang="en-US" altLang="zh-CN" kern="0">
                <a:solidFill>
                  <a:srgbClr val="C00000"/>
                </a:solidFill>
              </a:rPr>
              <a:t>    </a:t>
            </a:r>
            <a:r>
              <a:rPr kern="0">
                <a:solidFill>
                  <a:srgbClr val="C00000"/>
                </a:solidFill>
              </a:rPr>
              <a:t>（</a:t>
            </a:r>
            <a:r>
              <a:rPr lang="en-US" altLang="zh-CN" kern="0">
                <a:solidFill>
                  <a:srgbClr val="C00000"/>
                </a:solidFill>
              </a:rPr>
              <a:t>2</a:t>
            </a:r>
            <a:r>
              <a:rPr kern="0">
                <a:solidFill>
                  <a:srgbClr val="C00000"/>
                </a:solidFill>
              </a:rPr>
              <a:t>）</a:t>
            </a:r>
            <a:r>
              <a:rPr lang="en-US" altLang="zh-CN" kern="0">
                <a:solidFill>
                  <a:srgbClr val="C00000"/>
                </a:solidFill>
              </a:rPr>
              <a:t>VALUES</a:t>
            </a:r>
            <a:r>
              <a:rPr kern="0">
                <a:solidFill>
                  <a:srgbClr val="C00000"/>
                </a:solidFill>
              </a:rPr>
              <a:t>子句</a:t>
            </a:r>
            <a:r>
              <a:rPr>
                <a:solidFill>
                  <a:srgbClr val="C00000"/>
                </a:solidFill>
              </a:rPr>
              <a:t>提供的值必须与</a:t>
            </a:r>
            <a:r>
              <a:rPr lang="en-US" altLang="zh-CN">
                <a:solidFill>
                  <a:srgbClr val="C00000"/>
                </a:solidFill>
              </a:rPr>
              <a:t>INTO</a:t>
            </a:r>
            <a:r>
              <a:rPr>
                <a:solidFill>
                  <a:srgbClr val="C00000"/>
                </a:solidFill>
              </a:rPr>
              <a:t>子句匹配</a:t>
            </a:r>
          </a:p>
          <a:p>
            <a:pPr>
              <a:defRPr/>
            </a:pP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内容占位符 1">
            <a:extLst>
              <a:ext uri="{FF2B5EF4-FFF2-40B4-BE49-F238E27FC236}">
                <a16:creationId xmlns:a16="http://schemas.microsoft.com/office/drawing/2014/main" id="{13548776-45C6-7996-8E9C-3D2F4C2760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1.</a:t>
            </a:r>
            <a:r>
              <a:rPr altLang="zh-CN">
                <a:solidFill>
                  <a:srgbClr val="C00000"/>
                </a:solidFill>
              </a:rPr>
              <a:t>插入单个记录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-- </a:t>
            </a:r>
            <a:r>
              <a:t>向</a:t>
            </a:r>
            <a:r>
              <a:rPr lang="en-US" altLang="zh-CN"/>
              <a:t>student</a:t>
            </a:r>
            <a:r>
              <a:t>表中插入一条记录，所有字段都有值 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INSERT INTO student VALUES('001242','</a:t>
            </a:r>
            <a:r>
              <a:rPr>
                <a:solidFill>
                  <a:srgbClr val="C00000"/>
                </a:solidFill>
              </a:rPr>
              <a:t>张青</a:t>
            </a:r>
            <a:r>
              <a:rPr lang="en-US" altLang="zh-CN">
                <a:solidFill>
                  <a:srgbClr val="C00000"/>
                </a:solidFill>
              </a:rPr>
              <a:t>','</a:t>
            </a:r>
            <a:r>
              <a:rPr>
                <a:solidFill>
                  <a:srgbClr val="C00000"/>
                </a:solidFill>
              </a:rPr>
              <a:t>计算机</a:t>
            </a:r>
            <a:r>
              <a:rPr lang="en-US" altLang="zh-CN">
                <a:solidFill>
                  <a:srgbClr val="C00000"/>
                </a:solidFill>
              </a:rPr>
              <a:t>','</a:t>
            </a:r>
            <a:r>
              <a:rPr>
                <a:solidFill>
                  <a:srgbClr val="C00000"/>
                </a:solidFill>
              </a:rPr>
              <a:t>女</a:t>
            </a:r>
            <a:r>
              <a:rPr lang="en-US" altLang="zh-CN">
                <a:solidFill>
                  <a:srgbClr val="C00000"/>
                </a:solidFill>
              </a:rPr>
              <a:t>','04-01-22',50,'</a:t>
            </a:r>
            <a:r>
              <a:rPr>
                <a:solidFill>
                  <a:srgbClr val="C00000"/>
                </a:solidFill>
              </a:rPr>
              <a:t>三好生</a:t>
            </a:r>
            <a:r>
              <a:rPr lang="en-US" altLang="zh-CN">
                <a:solidFill>
                  <a:srgbClr val="C00000"/>
                </a:solidFill>
              </a:rPr>
              <a:t>');</a:t>
            </a:r>
          </a:p>
          <a:p>
            <a:pPr lvl="1">
              <a:defRPr/>
            </a:pPr>
            <a:r>
              <a:rPr lang="en-US" altLang="zh-CN"/>
              <a:t>-- </a:t>
            </a:r>
            <a:r>
              <a:t>向</a:t>
            </a:r>
            <a:r>
              <a:rPr lang="en-US" altLang="zh-CN"/>
              <a:t>student</a:t>
            </a:r>
            <a:r>
              <a:t>表中插入一条记录，部分字段有值 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INSERT INTO student(</a:t>
            </a:r>
            <a:r>
              <a:rPr lang="en-US" altLang="zh-CN" err="1">
                <a:solidFill>
                  <a:srgbClr val="C00000"/>
                </a:solidFill>
              </a:rPr>
              <a:t>sno,sname,dept</a:t>
            </a:r>
            <a:r>
              <a:rPr lang="en-US" altLang="zh-CN">
                <a:solidFill>
                  <a:srgbClr val="C00000"/>
                </a:solidFill>
              </a:rPr>
              <a:t>) VALUES('001243','</a:t>
            </a:r>
            <a:r>
              <a:rPr>
                <a:solidFill>
                  <a:srgbClr val="C00000"/>
                </a:solidFill>
              </a:rPr>
              <a:t>李四</a:t>
            </a:r>
            <a:r>
              <a:rPr lang="en-US" altLang="zh-CN">
                <a:solidFill>
                  <a:srgbClr val="C00000"/>
                </a:solidFill>
              </a:rPr>
              <a:t>','</a:t>
            </a:r>
            <a:r>
              <a:rPr>
                <a:solidFill>
                  <a:srgbClr val="C00000"/>
                </a:solidFill>
              </a:rPr>
              <a:t>计算机</a:t>
            </a:r>
            <a:r>
              <a:rPr lang="en-US" altLang="zh-CN">
                <a:solidFill>
                  <a:srgbClr val="C00000"/>
                </a:solidFill>
              </a:rPr>
              <a:t>');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170156-19EE-8390-7751-77A8FC99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altLang="zh-CN"/>
              <a:t>数据表的数据操作</a:t>
            </a:r>
            <a:endParaRPr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1">
            <a:extLst>
              <a:ext uri="{FF2B5EF4-FFF2-40B4-BE49-F238E27FC236}">
                <a16:creationId xmlns:a16="http://schemas.microsoft.com/office/drawing/2014/main" id="{4A2019CF-7CD3-ABB7-168C-29B43E48E7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500" y="1341438"/>
            <a:ext cx="10979150" cy="30956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2. </a:t>
            </a:r>
            <a:r>
              <a:rPr altLang="zh-CN">
                <a:solidFill>
                  <a:srgbClr val="C00000"/>
                </a:solidFill>
              </a:rPr>
              <a:t>插入多个记录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INSERT [INTO] &lt;</a:t>
            </a:r>
            <a:r>
              <a:rPr altLang="zh-CN"/>
              <a:t>表名</a:t>
            </a:r>
            <a:r>
              <a:rPr lang="en-US" altLang="zh-CN"/>
              <a:t>&gt; [(</a:t>
            </a:r>
            <a:r>
              <a:rPr altLang="zh-CN"/>
              <a:t>字段名</a:t>
            </a:r>
            <a:r>
              <a:rPr lang="en-US" altLang="zh-CN"/>
              <a:t>,…)][AS] </a:t>
            </a:r>
            <a:r>
              <a:t>子查询</a:t>
            </a:r>
            <a:endParaRPr altLang="zh-CN"/>
          </a:p>
          <a:p>
            <a:pPr lvl="1">
              <a:defRPr/>
            </a:pPr>
            <a:r>
              <a:rPr lang="en-US" altLang="zh-CN"/>
              <a:t>-- </a:t>
            </a:r>
            <a:r>
              <a:rPr altLang="zh-CN"/>
              <a:t>向</a:t>
            </a:r>
            <a:r>
              <a:rPr lang="en-US" altLang="zh-CN" err="1"/>
              <a:t>stu</a:t>
            </a:r>
            <a:r>
              <a:rPr altLang="zh-CN"/>
              <a:t>表中一次插入多条记录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INSERT INTO </a:t>
            </a:r>
            <a:r>
              <a:rPr lang="en-US" altLang="zh-CN" err="1">
                <a:solidFill>
                  <a:srgbClr val="C00000"/>
                </a:solidFill>
              </a:rPr>
              <a:t>stu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>
                <a:solidFill>
                  <a:srgbClr val="C00000"/>
                </a:solidFill>
              </a:rPr>
              <a:t>SELECT </a:t>
            </a:r>
            <a:r>
              <a:rPr lang="en-US" err="1">
                <a:solidFill>
                  <a:srgbClr val="C00000"/>
                </a:solidFill>
              </a:rPr>
              <a:t>sno,sname,sex,dept</a:t>
            </a:r>
            <a:r>
              <a:rPr lang="en-US">
                <a:solidFill>
                  <a:srgbClr val="C00000"/>
                </a:solidFill>
              </a:rPr>
              <a:t> FROM student;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131E971-C872-7A73-48AB-666A8A592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altLang="zh-CN"/>
              <a:t>数据表的数据操作</a:t>
            </a:r>
            <a:endParaRPr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内容占位符 1">
            <a:extLst>
              <a:ext uri="{FF2B5EF4-FFF2-40B4-BE49-F238E27FC236}">
                <a16:creationId xmlns:a16="http://schemas.microsoft.com/office/drawing/2014/main" id="{E52DF91B-BFAA-22EF-C93F-8D8BC350BF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修改数据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altLang="zh-CN"/>
              <a:t>UPDATE &lt;</a:t>
            </a:r>
            <a:r>
              <a:rPr altLang="zh-CN"/>
              <a:t>表名</a:t>
            </a:r>
            <a:r>
              <a:rPr lang="en-US" altLang="zh-CN"/>
              <a:t>&gt; SET</a:t>
            </a:r>
            <a:r>
              <a:rPr altLang="zh-CN"/>
              <a:t>列名</a:t>
            </a:r>
            <a:r>
              <a:rPr lang="en-US" altLang="zh-CN"/>
              <a:t>={</a:t>
            </a:r>
            <a:r>
              <a:rPr altLang="zh-CN"/>
              <a:t>表达式</a:t>
            </a:r>
            <a:r>
              <a:rPr lang="en-US" altLang="zh-CN"/>
              <a:t> | (</a:t>
            </a:r>
            <a:r>
              <a:rPr altLang="zh-CN"/>
              <a:t>子查询</a:t>
            </a:r>
            <a:r>
              <a:rPr lang="en-US" altLang="zh-CN"/>
              <a:t>) }[,…]</a:t>
            </a:r>
            <a:endParaRPr altLang="zh-CN"/>
          </a:p>
          <a:p>
            <a:pPr lvl="1">
              <a:defRPr/>
            </a:pPr>
            <a:r>
              <a:rPr lang="en-US" altLang="zh-CN"/>
              <a:t>[WHERE &lt;</a:t>
            </a:r>
            <a:r>
              <a:rPr altLang="zh-CN"/>
              <a:t>条件表达式</a:t>
            </a:r>
            <a:r>
              <a:rPr lang="en-US" altLang="zh-CN"/>
              <a:t>&gt; ];</a:t>
            </a:r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altLang="zh-CN">
                <a:solidFill>
                  <a:srgbClr val="C00000"/>
                </a:solidFill>
              </a:rPr>
              <a:t>注意：</a:t>
            </a:r>
          </a:p>
          <a:p>
            <a:pPr lvl="1">
              <a:defRPr/>
            </a:pPr>
            <a:r>
              <a:rPr lang="en-US" altLang="zh-CN"/>
              <a:t> </a:t>
            </a:r>
            <a:r>
              <a:rPr altLang="zh-CN"/>
              <a:t>（</a:t>
            </a:r>
            <a:r>
              <a:rPr lang="en-US" altLang="zh-CN"/>
              <a:t>1</a:t>
            </a:r>
            <a:r>
              <a:rPr altLang="zh-CN"/>
              <a:t>）如果不选</a:t>
            </a:r>
            <a:r>
              <a:rPr lang="en-US" altLang="zh-CN"/>
              <a:t>WHERE</a:t>
            </a:r>
            <a:r>
              <a:rPr altLang="zh-CN"/>
              <a:t>子句，则表中所有的行全被更新；</a:t>
            </a:r>
          </a:p>
          <a:p>
            <a:pPr lvl="1">
              <a:defRPr/>
            </a:pPr>
            <a:r>
              <a:rPr lang="en-US" altLang="zh-CN"/>
              <a:t> </a:t>
            </a:r>
            <a:r>
              <a:rPr altLang="zh-CN"/>
              <a:t>（</a:t>
            </a:r>
            <a:r>
              <a:rPr lang="en-US" altLang="zh-CN"/>
              <a:t>2</a:t>
            </a:r>
            <a:r>
              <a:rPr altLang="zh-CN"/>
              <a:t>）如果选择了</a:t>
            </a:r>
            <a:r>
              <a:rPr lang="en-US" altLang="zh-CN"/>
              <a:t>WHERE</a:t>
            </a:r>
            <a:r>
              <a:rPr altLang="zh-CN"/>
              <a:t>子句，则使</a:t>
            </a:r>
            <a:r>
              <a:rPr lang="en-US" altLang="zh-CN"/>
              <a:t>WHERE </a:t>
            </a:r>
            <a:r>
              <a:rPr altLang="zh-CN"/>
              <a:t>中条件表达式为真的行被更新。</a:t>
            </a:r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42840E-A5E6-7A42-ABE8-2FFC28C1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altLang="zh-CN"/>
              <a:t>数据表的数据操作</a:t>
            </a:r>
            <a:endParaRPr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5DB409B-13CA-488F-2EB5-B8A360F20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b="1" dirty="0">
                <a:solidFill>
                  <a:schemeClr val="tx1"/>
                </a:solidFill>
              </a:rPr>
              <a:t>【例</a:t>
            </a:r>
            <a:r>
              <a:rPr lang="en-US" altLang="zh-CN" b="1" dirty="0">
                <a:solidFill>
                  <a:schemeClr val="tx1"/>
                </a:solidFill>
              </a:rPr>
              <a:t>4-9</a:t>
            </a:r>
            <a:r>
              <a:rPr lang="zh-CN" altLang="zh-CN" b="1" dirty="0">
                <a:solidFill>
                  <a:schemeClr val="tx1"/>
                </a:solidFill>
              </a:rPr>
              <a:t>】</a:t>
            </a:r>
            <a:r>
              <a:rPr lang="zh-CN" altLang="zh-CN" dirty="0">
                <a:solidFill>
                  <a:schemeClr val="tx1"/>
                </a:solidFill>
              </a:rPr>
              <a:t>把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zh-CN" dirty="0">
                <a:solidFill>
                  <a:schemeClr val="tx1"/>
                </a:solidFill>
              </a:rPr>
              <a:t>表中的总学分加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zh-CN" altLang="zh-CN" dirty="0">
                <a:solidFill>
                  <a:schemeClr val="tx1"/>
                </a:solidFill>
              </a:rPr>
              <a:t>。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UPDATE student SET </a:t>
            </a:r>
            <a:r>
              <a:rPr lang="en-US" altLang="zh-CN" err="1">
                <a:solidFill>
                  <a:srgbClr val="C00000"/>
                </a:solidFill>
              </a:rPr>
              <a:t>totalcredit</a:t>
            </a:r>
            <a:r>
              <a:rPr lang="en-US" altLang="zh-CN">
                <a:solidFill>
                  <a:srgbClr val="C00000"/>
                </a:solidFill>
              </a:rPr>
              <a:t>=totalcredit+10;</a:t>
            </a:r>
          </a:p>
          <a:p>
            <a:pPr>
              <a:defRPr/>
            </a:pPr>
            <a:endParaRPr lang="en-US" altLang="zh-CN" b="1" dirty="0"/>
          </a:p>
          <a:p>
            <a:pPr>
              <a:defRPr/>
            </a:pPr>
            <a:r>
              <a:rPr lang="zh-CN" altLang="zh-CN" b="1" dirty="0">
                <a:solidFill>
                  <a:schemeClr val="tx1"/>
                </a:solidFill>
              </a:rPr>
              <a:t>【例</a:t>
            </a:r>
            <a:r>
              <a:rPr lang="en-US" altLang="zh-CN" b="1" dirty="0">
                <a:solidFill>
                  <a:schemeClr val="tx1"/>
                </a:solidFill>
              </a:rPr>
              <a:t>4-10</a:t>
            </a:r>
            <a:r>
              <a:rPr lang="zh-CN" altLang="zh-CN" b="1" dirty="0">
                <a:solidFill>
                  <a:schemeClr val="tx1"/>
                </a:solidFill>
              </a:rPr>
              <a:t>】</a:t>
            </a:r>
            <a:r>
              <a:rPr lang="zh-CN" altLang="zh-CN" dirty="0">
                <a:solidFill>
                  <a:schemeClr val="tx1"/>
                </a:solidFill>
              </a:rPr>
              <a:t>把</a:t>
            </a:r>
            <a:r>
              <a:rPr lang="en-US" altLang="zh-CN" dirty="0">
                <a:solidFill>
                  <a:schemeClr val="tx1"/>
                </a:solidFill>
              </a:rPr>
              <a:t>student</a:t>
            </a:r>
            <a:r>
              <a:rPr lang="zh-CN" altLang="zh-CN" dirty="0">
                <a:solidFill>
                  <a:schemeClr val="tx1"/>
                </a:solidFill>
              </a:rPr>
              <a:t>表中姓名为</a:t>
            </a:r>
            <a:r>
              <a:rPr lang="en-US" altLang="zh-CN" dirty="0">
                <a:solidFill>
                  <a:schemeClr val="tx1"/>
                </a:solidFill>
              </a:rPr>
              <a:t>“</a:t>
            </a:r>
            <a:r>
              <a:rPr lang="zh-CN" altLang="zh-CN" dirty="0">
                <a:solidFill>
                  <a:schemeClr val="tx1"/>
                </a:solidFill>
              </a:rPr>
              <a:t>罗林琳</a:t>
            </a:r>
            <a:r>
              <a:rPr lang="en-US" altLang="zh-CN" dirty="0">
                <a:solidFill>
                  <a:schemeClr val="tx1"/>
                </a:solidFill>
              </a:rPr>
              <a:t>”</a:t>
            </a:r>
            <a:r>
              <a:rPr lang="zh-CN" altLang="zh-CN" dirty="0">
                <a:solidFill>
                  <a:schemeClr val="tx1"/>
                </a:solidFill>
              </a:rPr>
              <a:t>的学生的专业改为</a:t>
            </a:r>
            <a:r>
              <a:rPr lang="en-US" altLang="zh-CN" dirty="0">
                <a:solidFill>
                  <a:schemeClr val="tx1"/>
                </a:solidFill>
              </a:rPr>
              <a:t>“</a:t>
            </a:r>
            <a:r>
              <a:rPr lang="zh-CN" altLang="zh-CN" dirty="0">
                <a:solidFill>
                  <a:schemeClr val="tx1"/>
                </a:solidFill>
              </a:rPr>
              <a:t>计算机</a:t>
            </a:r>
            <a:r>
              <a:rPr lang="en-US" altLang="zh-CN" dirty="0">
                <a:solidFill>
                  <a:schemeClr val="tx1"/>
                </a:solidFill>
              </a:rPr>
              <a:t>”</a:t>
            </a:r>
            <a:r>
              <a:rPr lang="zh-CN" altLang="zh-CN" dirty="0">
                <a:solidFill>
                  <a:schemeClr val="tx1"/>
                </a:solidFill>
              </a:rPr>
              <a:t>，备注改为</a:t>
            </a:r>
            <a:r>
              <a:rPr lang="en-US" altLang="zh-CN" dirty="0">
                <a:solidFill>
                  <a:schemeClr val="tx1"/>
                </a:solidFill>
              </a:rPr>
              <a:t>“</a:t>
            </a:r>
            <a:r>
              <a:rPr lang="zh-CN" altLang="zh-CN" dirty="0">
                <a:solidFill>
                  <a:schemeClr val="tx1"/>
                </a:solidFill>
              </a:rPr>
              <a:t>三好学生</a:t>
            </a:r>
            <a:r>
              <a:rPr lang="en-US" altLang="zh-CN" dirty="0">
                <a:solidFill>
                  <a:schemeClr val="tx1"/>
                </a:solidFill>
              </a:rPr>
              <a:t>”</a:t>
            </a:r>
            <a:r>
              <a:rPr lang="zh-CN" altLang="zh-CN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UPDATE student SET </a:t>
            </a:r>
            <a:r>
              <a:rPr lang="en-US" altLang="zh-CN" err="1">
                <a:solidFill>
                  <a:srgbClr val="C00000"/>
                </a:solidFill>
              </a:rPr>
              <a:t>dept</a:t>
            </a:r>
            <a:r>
              <a:rPr lang="en-US" altLang="zh-CN">
                <a:solidFill>
                  <a:srgbClr val="C00000"/>
                </a:solidFill>
              </a:rPr>
              <a:t>='</a:t>
            </a:r>
            <a:r>
              <a:rPr>
                <a:solidFill>
                  <a:srgbClr val="C00000"/>
                </a:solidFill>
              </a:rPr>
              <a:t>计算机</a:t>
            </a:r>
            <a:r>
              <a:rPr lang="en-US" altLang="zh-CN">
                <a:solidFill>
                  <a:srgbClr val="C00000"/>
                </a:solidFill>
              </a:rPr>
              <a:t>',remarks='</a:t>
            </a:r>
            <a:r>
              <a:rPr>
                <a:solidFill>
                  <a:srgbClr val="C00000"/>
                </a:solidFill>
              </a:rPr>
              <a:t>三好学生</a:t>
            </a:r>
            <a:r>
              <a:rPr lang="en-US" altLang="zh-CN">
                <a:solidFill>
                  <a:srgbClr val="C00000"/>
                </a:solidFill>
              </a:rPr>
              <a:t>'</a:t>
            </a: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   WHERE </a:t>
            </a:r>
            <a:r>
              <a:rPr lang="en-US" altLang="zh-CN" err="1">
                <a:solidFill>
                  <a:srgbClr val="C00000"/>
                </a:solidFill>
              </a:rPr>
              <a:t>sname</a:t>
            </a:r>
            <a:r>
              <a:rPr lang="en-US" altLang="zh-CN">
                <a:solidFill>
                  <a:srgbClr val="C00000"/>
                </a:solidFill>
              </a:rPr>
              <a:t>='</a:t>
            </a:r>
            <a:r>
              <a:rPr>
                <a:solidFill>
                  <a:srgbClr val="C00000"/>
                </a:solidFill>
              </a:rPr>
              <a:t>罗林琳</a:t>
            </a:r>
            <a:r>
              <a:rPr lang="en-US" altLang="zh-CN">
                <a:solidFill>
                  <a:srgbClr val="C00000"/>
                </a:solidFill>
              </a:rPr>
              <a:t>';</a:t>
            </a:r>
          </a:p>
          <a:p>
            <a:pPr>
              <a:defRPr/>
            </a:pPr>
            <a:endParaRPr lang="zh-CN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C9F45C-773E-646F-35A6-B6BC9FB1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数据表的数据操作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内容占位符 1">
            <a:extLst>
              <a:ext uri="{FF2B5EF4-FFF2-40B4-BE49-F238E27FC236}">
                <a16:creationId xmlns:a16="http://schemas.microsoft.com/office/drawing/2014/main" id="{3E5A6DCB-2727-B91E-8F55-50B62927FB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solidFill>
                  <a:srgbClr val="002060"/>
                </a:solidFill>
              </a:rPr>
              <a:t>删除数据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altLang="zh-CN"/>
              <a:t>DELETE FROM &lt;</a:t>
            </a:r>
            <a:r>
              <a:rPr altLang="zh-CN"/>
              <a:t>表名</a:t>
            </a:r>
            <a:r>
              <a:rPr lang="en-US" altLang="zh-CN"/>
              <a:t>&gt; [ WHERE &lt;</a:t>
            </a:r>
            <a:r>
              <a:rPr altLang="zh-CN"/>
              <a:t>条件表达式</a:t>
            </a:r>
            <a:r>
              <a:rPr lang="en-US" altLang="zh-CN"/>
              <a:t>&gt; ];</a:t>
            </a:r>
          </a:p>
          <a:p>
            <a:pPr lvl="1">
              <a:defRPr/>
            </a:pPr>
            <a:r>
              <a:rPr lang="en-US" altLang="zh-CN"/>
              <a:t>WHERE</a:t>
            </a:r>
            <a:r>
              <a:t>子句</a:t>
            </a:r>
          </a:p>
          <a:p>
            <a:pPr lvl="2">
              <a:defRPr/>
            </a:pPr>
            <a:r>
              <a:t>指定要删除的元组</a:t>
            </a:r>
          </a:p>
          <a:p>
            <a:pPr lvl="2">
              <a:defRPr/>
            </a:pPr>
            <a:r>
              <a:t>缺省表示要删除表中的全部元组，表的定义仍在字典中</a:t>
            </a:r>
          </a:p>
          <a:p>
            <a:pPr lvl="1">
              <a:defRPr/>
            </a:pP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8EE8A8-F21A-E4C9-3DF4-D82689E3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altLang="zh-CN"/>
              <a:t>数据表的数据操作</a:t>
            </a:r>
            <a:endParaRPr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内容占位符 1">
            <a:extLst>
              <a:ext uri="{FF2B5EF4-FFF2-40B4-BE49-F238E27FC236}">
                <a16:creationId xmlns:a16="http://schemas.microsoft.com/office/drawing/2014/main" id="{5854C8A6-BFCE-FEAA-9EF8-2C1D8A2FA1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</a:rPr>
              <a:t>TRUNCATE TABLE</a:t>
            </a:r>
            <a:r>
              <a:rPr>
                <a:solidFill>
                  <a:srgbClr val="C00000"/>
                </a:solidFill>
              </a:rPr>
              <a:t>语句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defRPr/>
            </a:pPr>
            <a:r>
              <a:t>截断基本表，从表中删除所有的行，并且释放该表所使用的存储空间。</a:t>
            </a:r>
            <a:endParaRPr lang="en-US" altLang="zh-CN"/>
          </a:p>
          <a:p>
            <a:pPr lvl="1">
              <a:defRPr/>
            </a:pPr>
            <a:r>
              <a:t>在使用</a:t>
            </a:r>
            <a:r>
              <a:rPr lang="en-US" altLang="zh-CN"/>
              <a:t>TRUNCATE TABLE</a:t>
            </a:r>
            <a:r>
              <a:t>语句时，不能回退已删除的行。</a:t>
            </a:r>
            <a:endParaRPr lang="en-US" altLang="zh-CN"/>
          </a:p>
          <a:p>
            <a:pPr lvl="1">
              <a:defRPr/>
            </a:pPr>
            <a:endParaRPr lang="en-US" altLang="zh-CN"/>
          </a:p>
          <a:p>
            <a:pPr lvl="1">
              <a:defRPr/>
            </a:pPr>
            <a:r>
              <a:rPr altLang="zh-CN">
                <a:solidFill>
                  <a:schemeClr val="tx1"/>
                </a:solidFill>
                <a:effectLst/>
              </a:rPr>
              <a:t>【例</a:t>
            </a:r>
            <a:r>
              <a:rPr lang="en-US" altLang="zh-CN">
                <a:solidFill>
                  <a:schemeClr val="tx1"/>
                </a:solidFill>
                <a:effectLst/>
              </a:rPr>
              <a:t>4-13</a:t>
            </a:r>
            <a:r>
              <a:rPr altLang="zh-CN">
                <a:solidFill>
                  <a:schemeClr val="tx1"/>
                </a:solidFill>
                <a:effectLst/>
              </a:rPr>
              <a:t>】　将表</a:t>
            </a:r>
            <a:r>
              <a:rPr lang="en-US" altLang="zh-CN">
                <a:solidFill>
                  <a:schemeClr val="tx1"/>
                </a:solidFill>
                <a:effectLst/>
              </a:rPr>
              <a:t>STUDENT</a:t>
            </a:r>
            <a:r>
              <a:rPr altLang="zh-CN">
                <a:solidFill>
                  <a:schemeClr val="tx1"/>
                </a:solidFill>
                <a:effectLst/>
              </a:rPr>
              <a:t>删除，并释放其存储空间。</a:t>
            </a:r>
          </a:p>
          <a:p>
            <a:pPr lvl="1">
              <a:defRPr/>
            </a:pPr>
            <a:r>
              <a:rPr lang="en-US" altLang="zh-CN">
                <a:effectLst/>
              </a:rPr>
              <a:t>TRUNCATE TABLE STUDENT ;</a:t>
            </a: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BEA1ABE-0D7F-62CD-7D56-08BC0E54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rPr altLang="zh-CN"/>
              <a:t>数据表的数据操作</a:t>
            </a:r>
            <a:endParaRPr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1">
            <a:extLst>
              <a:ext uri="{FF2B5EF4-FFF2-40B4-BE49-F238E27FC236}">
                <a16:creationId xmlns:a16="http://schemas.microsoft.com/office/drawing/2014/main" id="{6FDC52EE-E47D-35D9-AF29-3600FB269A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268413"/>
            <a:ext cx="10979150" cy="57626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>
              <a:defRPr/>
            </a:pPr>
            <a:r>
              <a:rPr>
                <a:solidFill>
                  <a:srgbClr val="C00000"/>
                </a:solidFill>
                <a:effectLst/>
              </a:rPr>
              <a:t>为什么要定义自增型的字段？</a:t>
            </a:r>
            <a:endParaRPr lang="en-US" altLang="zh-CN">
              <a:solidFill>
                <a:srgbClr val="C00000"/>
              </a:solidFill>
              <a:effectLst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7A1C026-5912-C079-6F6E-AB351C99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自增型字段</a:t>
            </a: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FC80C692-CF13-E014-51FE-078B008D4639}"/>
              </a:ext>
            </a:extLst>
          </p:cNvPr>
          <p:cNvSpPr txBox="1">
            <a:spLocks/>
          </p:cNvSpPr>
          <p:nvPr/>
        </p:nvSpPr>
        <p:spPr>
          <a:xfrm>
            <a:off x="411163" y="1989138"/>
            <a:ext cx="10979150" cy="1800225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defRPr/>
            </a:pPr>
            <a:r>
              <a:rPr sz="2400" kern="0">
                <a:solidFill>
                  <a:srgbClr val="C00000"/>
                </a:solidFill>
              </a:rPr>
              <a:t>（</a:t>
            </a:r>
            <a:r>
              <a:rPr lang="en-US" altLang="zh-CN" sz="2400" kern="0">
                <a:solidFill>
                  <a:srgbClr val="C00000"/>
                </a:solidFill>
              </a:rPr>
              <a:t>1</a:t>
            </a:r>
            <a:r>
              <a:rPr sz="2400" kern="0">
                <a:solidFill>
                  <a:srgbClr val="C00000"/>
                </a:solidFill>
              </a:rPr>
              <a:t>）业务需求</a:t>
            </a:r>
            <a:endParaRPr lang="en-US" altLang="zh-CN" sz="2400" kern="0">
              <a:solidFill>
                <a:srgbClr val="C00000"/>
              </a:solidFill>
            </a:endParaRPr>
          </a:p>
          <a:p>
            <a:pPr lvl="1">
              <a:defRPr/>
            </a:pPr>
            <a:endParaRPr lang="en-US" altLang="zh-CN" sz="2400" kern="0">
              <a:solidFill>
                <a:srgbClr val="C00000"/>
              </a:solidFill>
            </a:endParaRPr>
          </a:p>
          <a:p>
            <a:pPr>
              <a:defRPr/>
            </a:pPr>
            <a:endParaRPr lang="zh-CN" altLang="en-US" kern="0" dirty="0"/>
          </a:p>
        </p:txBody>
      </p:sp>
      <p:pic>
        <p:nvPicPr>
          <p:cNvPr id="58373" name="Picture 2">
            <a:extLst>
              <a:ext uri="{FF2B5EF4-FFF2-40B4-BE49-F238E27FC236}">
                <a16:creationId xmlns:a16="http://schemas.microsoft.com/office/drawing/2014/main" id="{217FD565-2EC4-3287-A573-ECC6F9646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850" y="2011363"/>
            <a:ext cx="4303713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1">
            <a:extLst>
              <a:ext uri="{FF2B5EF4-FFF2-40B4-BE49-F238E27FC236}">
                <a16:creationId xmlns:a16="http://schemas.microsoft.com/office/drawing/2014/main" id="{4C2ED55B-4169-0349-710B-87D7C8A7144A}"/>
              </a:ext>
            </a:extLst>
          </p:cNvPr>
          <p:cNvSpPr txBox="1">
            <a:spLocks/>
          </p:cNvSpPr>
          <p:nvPr/>
        </p:nvSpPr>
        <p:spPr>
          <a:xfrm>
            <a:off x="438150" y="3860800"/>
            <a:ext cx="10979150" cy="1439863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defRPr/>
            </a:pPr>
            <a:r>
              <a:rPr sz="2400" kern="0">
                <a:solidFill>
                  <a:srgbClr val="C00000"/>
                </a:solidFill>
              </a:rPr>
              <a:t>（</a:t>
            </a:r>
            <a:r>
              <a:rPr lang="en-US" altLang="zh-CN" sz="2400" kern="0">
                <a:solidFill>
                  <a:srgbClr val="C00000"/>
                </a:solidFill>
              </a:rPr>
              <a:t>2</a:t>
            </a:r>
            <a:r>
              <a:rPr sz="2400" kern="0">
                <a:solidFill>
                  <a:srgbClr val="C00000"/>
                </a:solidFill>
              </a:rPr>
              <a:t>）空间效率：</a:t>
            </a:r>
            <a:r>
              <a:rPr sz="2400" kern="0"/>
              <a:t>相同长度的字符串和数值所能表示的范围有较大差别。</a:t>
            </a:r>
            <a:endParaRPr lang="en-US" altLang="zh-CN" sz="2400" kern="0"/>
          </a:p>
          <a:p>
            <a:pPr lvl="1">
              <a:defRPr/>
            </a:pPr>
            <a:r>
              <a:rPr lang="en-US" altLang="zh-CN" sz="2400" kern="0">
                <a:solidFill>
                  <a:srgbClr val="002060"/>
                </a:solidFill>
              </a:rPr>
              <a:t>   </a:t>
            </a:r>
            <a:r>
              <a:rPr sz="2400" kern="0">
                <a:solidFill>
                  <a:srgbClr val="002060"/>
                </a:solidFill>
              </a:rPr>
              <a:t>如</a:t>
            </a:r>
            <a:r>
              <a:rPr lang="en-US" altLang="zh-CN" sz="2400" kern="0">
                <a:solidFill>
                  <a:srgbClr val="002060"/>
                </a:solidFill>
              </a:rPr>
              <a:t>4</a:t>
            </a:r>
            <a:r>
              <a:rPr sz="2400" kern="0">
                <a:solidFill>
                  <a:srgbClr val="002060"/>
                </a:solidFill>
              </a:rPr>
              <a:t>个字节的数值型字符所表示的范围为：</a:t>
            </a:r>
            <a:r>
              <a:rPr lang="en-US" altLang="zh-CN" sz="2400" kern="0">
                <a:solidFill>
                  <a:srgbClr val="002060"/>
                </a:solidFill>
              </a:rPr>
              <a:t>‘0000’—‘9999’ </a:t>
            </a:r>
            <a:r>
              <a:rPr sz="2400" kern="0">
                <a:solidFill>
                  <a:srgbClr val="002060"/>
                </a:solidFill>
              </a:rPr>
              <a:t>共</a:t>
            </a:r>
            <a:r>
              <a:rPr lang="en-US" altLang="zh-CN" sz="2400" kern="0">
                <a:solidFill>
                  <a:srgbClr val="002060"/>
                </a:solidFill>
              </a:rPr>
              <a:t>10000</a:t>
            </a:r>
            <a:r>
              <a:rPr sz="2400" kern="0">
                <a:solidFill>
                  <a:srgbClr val="002060"/>
                </a:solidFill>
              </a:rPr>
              <a:t>种不同的值，而</a:t>
            </a:r>
            <a:r>
              <a:rPr lang="en-US" altLang="zh-CN" sz="2400" kern="0">
                <a:solidFill>
                  <a:srgbClr val="002060"/>
                </a:solidFill>
              </a:rPr>
              <a:t>4</a:t>
            </a:r>
            <a:r>
              <a:rPr sz="2400" kern="0">
                <a:solidFill>
                  <a:srgbClr val="002060"/>
                </a:solidFill>
              </a:rPr>
              <a:t>个字节的</a:t>
            </a:r>
            <a:r>
              <a:rPr lang="en-US" altLang="zh-CN" sz="2400" kern="0" err="1">
                <a:solidFill>
                  <a:srgbClr val="002060"/>
                </a:solidFill>
              </a:rPr>
              <a:t>int</a:t>
            </a:r>
            <a:r>
              <a:rPr sz="2400" kern="0">
                <a:solidFill>
                  <a:srgbClr val="002060"/>
                </a:solidFill>
              </a:rPr>
              <a:t>类型所能表示的范围为：</a:t>
            </a:r>
            <a:r>
              <a:rPr lang="en-US" altLang="zh-CN" sz="2400" kern="0">
                <a:solidFill>
                  <a:srgbClr val="002060"/>
                </a:solidFill>
              </a:rPr>
              <a:t>0——2</a:t>
            </a:r>
            <a:r>
              <a:rPr lang="en-US" altLang="zh-CN" sz="2400" kern="0" baseline="30000">
                <a:solidFill>
                  <a:srgbClr val="002060"/>
                </a:solidFill>
              </a:rPr>
              <a:t>32</a:t>
            </a:r>
            <a:r>
              <a:rPr lang="en-US" altLang="zh-CN" sz="2400" kern="0">
                <a:solidFill>
                  <a:srgbClr val="002060"/>
                </a:solidFill>
              </a:rPr>
              <a:t>-1</a:t>
            </a:r>
            <a:r>
              <a:rPr sz="2400" kern="0">
                <a:solidFill>
                  <a:srgbClr val="002060"/>
                </a:solidFill>
              </a:rPr>
              <a:t>共</a:t>
            </a:r>
            <a:r>
              <a:rPr lang="en-US" altLang="zh-CN" sz="2400" kern="0">
                <a:solidFill>
                  <a:srgbClr val="002060"/>
                </a:solidFill>
              </a:rPr>
              <a:t>42</a:t>
            </a:r>
            <a:r>
              <a:rPr sz="2400" kern="0">
                <a:solidFill>
                  <a:srgbClr val="002060"/>
                </a:solidFill>
              </a:rPr>
              <a:t>亿种不同的值。</a:t>
            </a:r>
            <a:endParaRPr lang="en-US" altLang="zh-CN" sz="2400" kern="0">
              <a:solidFill>
                <a:srgbClr val="002060"/>
              </a:solidFill>
            </a:endParaRPr>
          </a:p>
          <a:p>
            <a:pPr lvl="1">
              <a:defRPr/>
            </a:pPr>
            <a:endParaRPr lang="en-US" altLang="zh-CN" sz="2400" kern="0">
              <a:solidFill>
                <a:srgbClr val="C00000"/>
              </a:solidFill>
            </a:endParaRPr>
          </a:p>
          <a:p>
            <a:pPr>
              <a:defRPr/>
            </a:pPr>
            <a:endParaRPr lang="zh-CN" altLang="en-US" kern="0" dirty="0"/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5A73B43C-DA03-6AE2-6A45-F589F8B31D12}"/>
              </a:ext>
            </a:extLst>
          </p:cNvPr>
          <p:cNvSpPr txBox="1">
            <a:spLocks/>
          </p:cNvSpPr>
          <p:nvPr/>
        </p:nvSpPr>
        <p:spPr>
          <a:xfrm>
            <a:off x="438150" y="5445125"/>
            <a:ext cx="10979150" cy="1152525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defRPr/>
            </a:pPr>
            <a:r>
              <a:rPr sz="2400" kern="0">
                <a:solidFill>
                  <a:srgbClr val="C00000"/>
                </a:solidFill>
              </a:rPr>
              <a:t>（</a:t>
            </a:r>
            <a:r>
              <a:rPr lang="en-US" altLang="zh-CN" sz="2400" kern="0">
                <a:solidFill>
                  <a:srgbClr val="C00000"/>
                </a:solidFill>
              </a:rPr>
              <a:t>3</a:t>
            </a:r>
            <a:r>
              <a:rPr sz="2400" kern="0">
                <a:solidFill>
                  <a:srgbClr val="C00000"/>
                </a:solidFill>
              </a:rPr>
              <a:t>）时间效率：</a:t>
            </a:r>
            <a:r>
              <a:rPr sz="2400" kern="0"/>
              <a:t>相同长度的字符串和数值进行比较时，数值的比较速度要高于字符的比较速度。</a:t>
            </a:r>
            <a:endParaRPr lang="en-US" altLang="zh-CN" sz="2400" kern="0">
              <a:solidFill>
                <a:srgbClr val="C00000"/>
              </a:solidFill>
            </a:endParaRPr>
          </a:p>
          <a:p>
            <a:pPr>
              <a:defRPr/>
            </a:pPr>
            <a:endParaRPr lang="zh-CN" altLang="en-US" kern="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A06D963-E6DA-B755-5857-B5A12A56D39B}"/>
                  </a:ext>
                </a:extLst>
              </p14:cNvPr>
              <p14:cNvContentPartPr/>
              <p14:nvPr/>
            </p14:nvContentPartPr>
            <p14:xfrm>
              <a:off x="5643720" y="1991160"/>
              <a:ext cx="1830960" cy="3308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A06D963-E6DA-B755-5857-B5A12A56D3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4360" y="1981800"/>
                <a:ext cx="1849680" cy="34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1">
            <a:extLst>
              <a:ext uri="{FF2B5EF4-FFF2-40B4-BE49-F238E27FC236}">
                <a16:creationId xmlns:a16="http://schemas.microsoft.com/office/drawing/2014/main" id="{59A9C371-D505-AE60-6BAC-3834B6939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063" y="1268413"/>
            <a:ext cx="10979150" cy="3529012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u"/>
              <a:defRPr/>
            </a:pPr>
            <a:r>
              <a:rPr lang="en-US" altLang="zh-CN" b="1" dirty="0">
                <a:solidFill>
                  <a:srgbClr val="002060"/>
                </a:solidFill>
              </a:rPr>
              <a:t>AUTO_INCREMENT</a:t>
            </a:r>
            <a:r>
              <a:rPr lang="zh-CN" altLang="zh-CN" b="1" dirty="0">
                <a:solidFill>
                  <a:srgbClr val="002060"/>
                </a:solidFill>
              </a:rPr>
              <a:t>类型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altLang="zh-CN">
                <a:effectLst/>
              </a:rPr>
              <a:t>AUTO_INCREMENT</a:t>
            </a:r>
            <a:r>
              <a:rPr altLang="zh-CN">
                <a:effectLst/>
              </a:rPr>
              <a:t>定义自增长字段</a:t>
            </a:r>
            <a:r>
              <a:rPr>
                <a:effectLst/>
              </a:rPr>
              <a:t>，查看参数下：</a:t>
            </a:r>
            <a:endParaRPr lang="en-US">
              <a:effectLst/>
            </a:endParaRPr>
          </a:p>
          <a:p>
            <a:pPr lvl="1">
              <a:defRPr/>
            </a:pPr>
            <a:r>
              <a:rPr lang="en-US" altLang="zh-CN">
                <a:solidFill>
                  <a:srgbClr val="C00000"/>
                </a:solidFill>
                <a:effectLst/>
              </a:rPr>
              <a:t>      SHOW  VARIABLES  LIKE '</a:t>
            </a:r>
            <a:r>
              <a:rPr lang="en-US" altLang="zh-CN" err="1">
                <a:solidFill>
                  <a:srgbClr val="C00000"/>
                </a:solidFill>
                <a:effectLst/>
              </a:rPr>
              <a:t>auto_increment</a:t>
            </a:r>
            <a:r>
              <a:rPr lang="en-US" altLang="zh-CN">
                <a:solidFill>
                  <a:srgbClr val="C00000"/>
                </a:solidFill>
                <a:effectLst/>
              </a:rPr>
              <a:t>%';</a:t>
            </a:r>
          </a:p>
          <a:p>
            <a:pPr lvl="1">
              <a:defRPr/>
            </a:pPr>
            <a:endParaRPr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2DB9339-EB6F-B27B-D4D6-C4C40ED4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自增型字段</a:t>
            </a: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76D18AED-6324-219A-FAAD-FD35B66A78C2}"/>
              </a:ext>
            </a:extLst>
          </p:cNvPr>
          <p:cNvGraphicFramePr>
            <a:graphicFrameLocks noGrp="1"/>
          </p:cNvGraphicFramePr>
          <p:nvPr/>
        </p:nvGraphicFramePr>
        <p:xfrm>
          <a:off x="987425" y="3141663"/>
          <a:ext cx="94488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4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参数名称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默认值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取值范围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作用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auto_increment_increment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1~65535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控制增量的幅度。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auto_increment_offset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1~65535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增量开始的位置</a:t>
                      </a:r>
                      <a:endParaRPr lang="en-US" alt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（开始的偏移量）。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内容占位符 1">
            <a:extLst>
              <a:ext uri="{FF2B5EF4-FFF2-40B4-BE49-F238E27FC236}">
                <a16:creationId xmlns:a16="http://schemas.microsoft.com/office/drawing/2014/main" id="{D251447D-CFDC-11F5-79D5-8AB943433F92}"/>
              </a:ext>
            </a:extLst>
          </p:cNvPr>
          <p:cNvSpPr txBox="1">
            <a:spLocks/>
          </p:cNvSpPr>
          <p:nvPr/>
        </p:nvSpPr>
        <p:spPr>
          <a:xfrm>
            <a:off x="411163" y="4724400"/>
            <a:ext cx="10979150" cy="2016125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defRPr/>
            </a:pPr>
            <a:r>
              <a:rPr lang="en-US" altLang="zh-CN" sz="2400" kern="0"/>
              <a:t>-- </a:t>
            </a:r>
            <a:r>
              <a:rPr sz="2400" kern="0"/>
              <a:t>设置</a:t>
            </a:r>
            <a:r>
              <a:rPr lang="en-US" altLang="zh-CN" sz="2400" kern="0"/>
              <a:t>AUTO_INCREMENT</a:t>
            </a:r>
            <a:r>
              <a:rPr sz="2400" kern="0"/>
              <a:t>类型的初始值为</a:t>
            </a:r>
            <a:r>
              <a:rPr lang="en-US" altLang="zh-CN" sz="2400" kern="0"/>
              <a:t>2</a:t>
            </a:r>
          </a:p>
          <a:p>
            <a:pPr lvl="1">
              <a:defRPr/>
            </a:pPr>
            <a:r>
              <a:rPr lang="en-US" altLang="zh-CN" sz="2400" kern="0">
                <a:solidFill>
                  <a:srgbClr val="C00000"/>
                </a:solidFill>
              </a:rPr>
              <a:t>SET @@</a:t>
            </a:r>
            <a:r>
              <a:rPr lang="en-US" altLang="zh-CN" sz="2400" kern="0" err="1">
                <a:solidFill>
                  <a:srgbClr val="C00000"/>
                </a:solidFill>
              </a:rPr>
              <a:t>auto_increment_offset</a:t>
            </a:r>
            <a:r>
              <a:rPr lang="en-US" altLang="zh-CN" sz="2400" kern="0">
                <a:solidFill>
                  <a:srgbClr val="C00000"/>
                </a:solidFill>
              </a:rPr>
              <a:t>=2;</a:t>
            </a:r>
          </a:p>
          <a:p>
            <a:pPr lvl="1">
              <a:defRPr/>
            </a:pPr>
            <a:r>
              <a:rPr lang="en-US" altLang="zh-CN" sz="2400" kern="0"/>
              <a:t>-- </a:t>
            </a:r>
            <a:r>
              <a:rPr sz="2400" kern="0"/>
              <a:t>设置</a:t>
            </a:r>
            <a:r>
              <a:rPr lang="en-US" altLang="zh-CN" sz="2400" kern="0"/>
              <a:t>AUTO_INCREMENT</a:t>
            </a:r>
            <a:r>
              <a:rPr sz="2400" kern="0"/>
              <a:t>类型的增量为</a:t>
            </a:r>
            <a:r>
              <a:rPr lang="en-US" altLang="zh-CN" sz="2400" kern="0"/>
              <a:t>2</a:t>
            </a:r>
          </a:p>
          <a:p>
            <a:pPr lvl="1">
              <a:defRPr/>
            </a:pPr>
            <a:r>
              <a:rPr lang="en-US" altLang="zh-CN" sz="2400" kern="0">
                <a:solidFill>
                  <a:srgbClr val="C00000"/>
                </a:solidFill>
              </a:rPr>
              <a:t>SET @@</a:t>
            </a:r>
            <a:r>
              <a:rPr lang="en-US" altLang="zh-CN" sz="2400" kern="0" err="1">
                <a:solidFill>
                  <a:srgbClr val="C00000"/>
                </a:solidFill>
              </a:rPr>
              <a:t>auto_increment_increment</a:t>
            </a:r>
            <a:r>
              <a:rPr lang="en-US" altLang="zh-CN" sz="2400" kern="0">
                <a:solidFill>
                  <a:srgbClr val="C00000"/>
                </a:solidFill>
              </a:rPr>
              <a:t>=2; </a:t>
            </a:r>
          </a:p>
          <a:p>
            <a:pPr>
              <a:defRPr/>
            </a:pPr>
            <a:endParaRPr lang="zh-CN" altLang="en-US" kern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B59449D-02D4-FACC-3FBC-136D5926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484313"/>
            <a:ext cx="10979150" cy="2592387"/>
          </a:xfrm>
        </p:spPr>
        <p:txBody>
          <a:bodyPr/>
          <a:lstStyle/>
          <a:p>
            <a:pPr marL="514350" indent="-514350">
              <a:buFontTx/>
              <a:buAutoNum type="arabicPeriod"/>
              <a:defRPr/>
            </a:pPr>
            <a:r>
              <a:rPr lang="zh-CN" altLang="zh-CN" b="1" dirty="0">
                <a:solidFill>
                  <a:srgbClr val="C00000"/>
                </a:solidFill>
              </a:rPr>
              <a:t>自增型字段的数据插入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/>
              <a:t>AUTO_INCREMENT</a:t>
            </a:r>
            <a:r>
              <a:t>类型定义的字段默认值和步长均为</a:t>
            </a:r>
            <a:r>
              <a:rPr lang="en-US" altLang="zh-CN"/>
              <a:t>1</a:t>
            </a:r>
            <a:r>
              <a:t>，每插入一条记录，该字段的值自动加</a:t>
            </a:r>
            <a:r>
              <a:rPr lang="en-US" altLang="zh-CN"/>
              <a:t>1</a:t>
            </a:r>
            <a:r>
              <a:t>。</a:t>
            </a:r>
            <a:endParaRPr lang="en-US" altLang="zh-CN"/>
          </a:p>
          <a:p>
            <a:pPr lvl="1">
              <a:defRPr/>
            </a:pPr>
            <a:r>
              <a:t>插入操作中，被</a:t>
            </a:r>
            <a:r>
              <a:rPr lang="en-US" altLang="zh-CN"/>
              <a:t>AUTO_INCREMENT</a:t>
            </a:r>
            <a:r>
              <a:t>修饰的字段可以给空值或具体值。</a:t>
            </a:r>
            <a:endParaRPr altLang="zh-CN"/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42208AE-65A7-4CA3-FBBE-68D5F0CF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自增型字段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34451F22-A71B-A62C-547A-9338415F4712}"/>
              </a:ext>
            </a:extLst>
          </p:cNvPr>
          <p:cNvSpPr txBox="1">
            <a:spLocks/>
          </p:cNvSpPr>
          <p:nvPr/>
        </p:nvSpPr>
        <p:spPr>
          <a:xfrm>
            <a:off x="627063" y="4149725"/>
            <a:ext cx="10979150" cy="2590800"/>
          </a:xfrm>
          <a:prstGeom prst="rect">
            <a:avLst/>
          </a:prstGeom>
        </p:spPr>
        <p:txBody>
          <a:bodyPr/>
          <a:lstStyle>
            <a:lvl1pPr marL="0" indent="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+mn-cs"/>
                <a:sym typeface="Calibri" pitchFamily="34" charset="0"/>
              </a:defRPr>
            </a:lvl1pPr>
            <a:lvl2pPr marL="0" indent="457200" algn="l" defTabSz="0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2C6CA"/>
              </a:buClr>
              <a:buSzPct val="80000"/>
              <a:buFontTx/>
              <a:buNone/>
              <a:defRPr kumimoji="1" lang="zh-CN" altLang="en-US" sz="2800" b="1" baseline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lang="zh-CN" altLang="en-US" sz="2800" b="1" kern="1200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Calibri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Calibri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lvl="1">
              <a:defRPr/>
            </a:pPr>
            <a:r>
              <a:rPr lang="en-US" altLang="zh-CN" sz="2400" kern="0">
                <a:solidFill>
                  <a:srgbClr val="C00000"/>
                </a:solidFill>
              </a:rPr>
              <a:t>CREATE TABLE </a:t>
            </a:r>
            <a:r>
              <a:rPr lang="en-US" altLang="zh-CN" sz="2400" kern="0" err="1">
                <a:solidFill>
                  <a:srgbClr val="C00000"/>
                </a:solidFill>
              </a:rPr>
              <a:t>stu</a:t>
            </a:r>
            <a:endParaRPr lang="en-US" altLang="zh-CN" sz="2400" kern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altLang="zh-CN" sz="2400" kern="0">
                <a:solidFill>
                  <a:srgbClr val="C00000"/>
                </a:solidFill>
              </a:rPr>
              <a:t> (</a:t>
            </a:r>
            <a:r>
              <a:rPr lang="en-US" altLang="zh-CN" sz="2400" kern="0" err="1">
                <a:solidFill>
                  <a:srgbClr val="C00000"/>
                </a:solidFill>
              </a:rPr>
              <a:t>stu_id</a:t>
            </a:r>
            <a:r>
              <a:rPr lang="en-US" altLang="zh-CN" sz="2400" kern="0">
                <a:solidFill>
                  <a:srgbClr val="C00000"/>
                </a:solidFill>
              </a:rPr>
              <a:t> INT UNSIGNED AUTO_INCREMENT PRIMARY KEY ,</a:t>
            </a:r>
          </a:p>
          <a:p>
            <a:pPr lvl="1">
              <a:defRPr/>
            </a:pPr>
            <a:r>
              <a:rPr lang="en-US" altLang="zh-CN" sz="2400" kern="0">
                <a:solidFill>
                  <a:srgbClr val="C00000"/>
                </a:solidFill>
              </a:rPr>
              <a:t>  </a:t>
            </a:r>
            <a:r>
              <a:rPr lang="en-US" altLang="zh-CN" sz="2400" kern="0" err="1">
                <a:solidFill>
                  <a:srgbClr val="C00000"/>
                </a:solidFill>
              </a:rPr>
              <a:t>sname</a:t>
            </a:r>
            <a:r>
              <a:rPr lang="en-US" altLang="zh-CN" sz="2400" kern="0">
                <a:solidFill>
                  <a:srgbClr val="C00000"/>
                </a:solidFill>
              </a:rPr>
              <a:t> VARCHAR(10)  );</a:t>
            </a:r>
          </a:p>
          <a:p>
            <a:pPr lvl="1">
              <a:defRPr/>
            </a:pPr>
            <a:r>
              <a:rPr lang="en-US" altLang="zh-CN" sz="2400" kern="0">
                <a:solidFill>
                  <a:srgbClr val="002060"/>
                </a:solidFill>
              </a:rPr>
              <a:t>-- </a:t>
            </a:r>
            <a:r>
              <a:rPr sz="2400" kern="0">
                <a:solidFill>
                  <a:srgbClr val="002060"/>
                </a:solidFill>
              </a:rPr>
              <a:t>自增型字段值的插入数据的方式</a:t>
            </a:r>
            <a:endParaRPr lang="en-US" altLang="zh-CN" sz="2400" kern="0">
              <a:solidFill>
                <a:srgbClr val="002060"/>
              </a:solidFill>
            </a:endParaRPr>
          </a:p>
          <a:p>
            <a:pPr lvl="1">
              <a:defRPr/>
            </a:pPr>
            <a:r>
              <a:rPr lang="en-US" altLang="zh-CN" sz="2400" kern="0">
                <a:solidFill>
                  <a:srgbClr val="C00000"/>
                </a:solidFill>
              </a:rPr>
              <a:t>INSERT INTO </a:t>
            </a:r>
            <a:r>
              <a:rPr lang="en-US" altLang="zh-CN" sz="2400" kern="0" err="1">
                <a:solidFill>
                  <a:srgbClr val="C00000"/>
                </a:solidFill>
              </a:rPr>
              <a:t>stu</a:t>
            </a:r>
            <a:r>
              <a:rPr lang="en-US" altLang="zh-CN" sz="2400" kern="0">
                <a:solidFill>
                  <a:srgbClr val="C00000"/>
                </a:solidFill>
              </a:rPr>
              <a:t> VALUES(NULL,'</a:t>
            </a:r>
            <a:r>
              <a:rPr sz="2400" kern="0">
                <a:solidFill>
                  <a:srgbClr val="C00000"/>
                </a:solidFill>
              </a:rPr>
              <a:t>张三</a:t>
            </a:r>
            <a:r>
              <a:rPr lang="en-US" altLang="zh-CN" sz="2400" kern="0">
                <a:solidFill>
                  <a:srgbClr val="C00000"/>
                </a:solidFill>
              </a:rPr>
              <a:t>'),(NULL,'</a:t>
            </a:r>
            <a:r>
              <a:rPr sz="2400" kern="0">
                <a:solidFill>
                  <a:srgbClr val="C00000"/>
                </a:solidFill>
              </a:rPr>
              <a:t>李四</a:t>
            </a:r>
            <a:r>
              <a:rPr lang="en-US" altLang="zh-CN" sz="2400" kern="0">
                <a:solidFill>
                  <a:srgbClr val="C00000"/>
                </a:solidFill>
              </a:rPr>
              <a:t>'),(10,'</a:t>
            </a:r>
            <a:r>
              <a:rPr sz="2400" kern="0">
                <a:solidFill>
                  <a:srgbClr val="C00000"/>
                </a:solidFill>
              </a:rPr>
              <a:t>王五</a:t>
            </a:r>
            <a:r>
              <a:rPr lang="en-US" altLang="zh-CN" sz="2400" kern="0">
                <a:solidFill>
                  <a:srgbClr val="C00000"/>
                </a:solidFill>
              </a:rPr>
              <a:t>');</a:t>
            </a:r>
          </a:p>
          <a:p>
            <a:pPr>
              <a:defRPr/>
            </a:pP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42267FD-2E85-A58B-FF01-EDBC98B2A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8" y="1268413"/>
            <a:ext cx="10979150" cy="273685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2. </a:t>
            </a:r>
            <a:r>
              <a:rPr lang="zh-CN" altLang="zh-CN" b="1" dirty="0">
                <a:solidFill>
                  <a:srgbClr val="C00000"/>
                </a:solidFill>
              </a:rPr>
              <a:t>自增型字段的数据修改</a:t>
            </a:r>
            <a:endParaRPr lang="zh-CN" altLang="zh-CN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altLang="zh-CN"/>
              <a:t>在定义表结构时，可以设置自增型字段的初始值，也可以通过修改表结构来修改初始值。</a:t>
            </a:r>
            <a:endParaRPr lang="en-US" altLang="zh-CN"/>
          </a:p>
          <a:p>
            <a:pPr lvl="1">
              <a:defRPr/>
            </a:pPr>
            <a:r>
              <a:rPr altLang="zh-CN">
                <a:effectLst/>
              </a:rPr>
              <a:t>当修改表结构，重新定义初始值时，原表中的数据不会发生变化，只对新插入的数据起作用。</a:t>
            </a:r>
            <a:endParaRPr altLang="zh-CN"/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030BEC-ADD8-F92C-E896-52519EBA9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自增型字段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内容占位符 1">
            <a:extLst>
              <a:ext uri="{FF2B5EF4-FFF2-40B4-BE49-F238E27FC236}">
                <a16:creationId xmlns:a16="http://schemas.microsoft.com/office/drawing/2014/main" id="{C39D5260-4BB6-2221-ADBA-8A3757C1A7A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54038" y="1268413"/>
            <a:ext cx="10979150" cy="532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400" b="1">
                <a:solidFill>
                  <a:srgbClr val="002060"/>
                </a:solidFill>
              </a:rPr>
              <a:t>-- </a:t>
            </a:r>
            <a:r>
              <a:rPr lang="zh-CN" altLang="en-US" sz="2400" b="1">
                <a:solidFill>
                  <a:srgbClr val="002060"/>
                </a:solidFill>
              </a:rPr>
              <a:t>创建数据表</a:t>
            </a:r>
            <a:r>
              <a:rPr lang="en-US" altLang="zh-CN" sz="2400" b="1">
                <a:solidFill>
                  <a:srgbClr val="002060"/>
                </a:solidFill>
              </a:rPr>
              <a:t>stu</a:t>
            </a:r>
            <a:r>
              <a:rPr lang="zh-CN" altLang="en-US" sz="2400" b="1">
                <a:solidFill>
                  <a:srgbClr val="002060"/>
                </a:solidFill>
              </a:rPr>
              <a:t>，定义</a:t>
            </a:r>
            <a:r>
              <a:rPr lang="en-US" altLang="zh-CN" sz="2400" b="1">
                <a:solidFill>
                  <a:srgbClr val="002060"/>
                </a:solidFill>
              </a:rPr>
              <a:t>stu_id</a:t>
            </a:r>
            <a:r>
              <a:rPr lang="zh-CN" altLang="en-US" sz="2400" b="1">
                <a:solidFill>
                  <a:srgbClr val="002060"/>
                </a:solidFill>
              </a:rPr>
              <a:t>为自增字段，并设置初始值为</a:t>
            </a:r>
            <a:r>
              <a:rPr lang="en-US" altLang="zh-CN" sz="2400" b="1">
                <a:solidFill>
                  <a:srgbClr val="002060"/>
                </a:solidFill>
              </a:rPr>
              <a:t>200001</a:t>
            </a:r>
            <a:r>
              <a:rPr lang="zh-CN" altLang="en-US" sz="2400" b="1">
                <a:solidFill>
                  <a:srgbClr val="002060"/>
                </a:solidFill>
              </a:rPr>
              <a:t>，</a:t>
            </a:r>
          </a:p>
          <a:p>
            <a:r>
              <a:rPr lang="en-US" altLang="zh-CN" sz="2400" b="1">
                <a:solidFill>
                  <a:srgbClr val="002060"/>
                </a:solidFill>
              </a:rPr>
              <a:t>-- </a:t>
            </a:r>
            <a:r>
              <a:rPr lang="zh-CN" altLang="en-US" sz="2400" b="1">
                <a:solidFill>
                  <a:srgbClr val="002060"/>
                </a:solidFill>
              </a:rPr>
              <a:t>并插入两条记录，观察结果。 </a:t>
            </a:r>
          </a:p>
          <a:p>
            <a:r>
              <a:rPr lang="zh-CN" altLang="en-US" sz="2400" b="1">
                <a:solidFill>
                  <a:srgbClr val="002060"/>
                </a:solidFill>
              </a:rPr>
              <a:t> </a:t>
            </a:r>
            <a:r>
              <a:rPr lang="en-US" altLang="zh-CN" sz="2400" b="1">
                <a:solidFill>
                  <a:srgbClr val="C00000"/>
                </a:solidFill>
              </a:rPr>
              <a:t>CREATE TABLE stu</a:t>
            </a:r>
          </a:p>
          <a:p>
            <a:r>
              <a:rPr lang="en-US" altLang="zh-CN" sz="2400" b="1">
                <a:solidFill>
                  <a:srgbClr val="C00000"/>
                </a:solidFill>
              </a:rPr>
              <a:t> (stu_id INT UNSIGNED AUTO_INCREMENT PRIMARY KEY ,</a:t>
            </a:r>
          </a:p>
          <a:p>
            <a:r>
              <a:rPr lang="en-US" altLang="zh-CN" sz="2400" b="1">
                <a:solidFill>
                  <a:srgbClr val="C00000"/>
                </a:solidFill>
              </a:rPr>
              <a:t>  sname VARCHAR(10)   </a:t>
            </a:r>
          </a:p>
          <a:p>
            <a:r>
              <a:rPr lang="en-US" altLang="zh-CN" sz="2400" b="1">
                <a:solidFill>
                  <a:srgbClr val="C00000"/>
                </a:solidFill>
              </a:rPr>
              <a:t>   )AUTO_INCREMENT=200001;</a:t>
            </a:r>
          </a:p>
          <a:p>
            <a:r>
              <a:rPr lang="en-US" altLang="zh-CN" sz="2400" b="1">
                <a:solidFill>
                  <a:srgbClr val="C00000"/>
                </a:solidFill>
              </a:rPr>
              <a:t>INSERT INTO stu2 VALUES(NULL,'</a:t>
            </a:r>
            <a:r>
              <a:rPr lang="zh-CN" altLang="en-US" sz="2400" b="1">
                <a:solidFill>
                  <a:srgbClr val="C00000"/>
                </a:solidFill>
              </a:rPr>
              <a:t>张三</a:t>
            </a:r>
            <a:r>
              <a:rPr lang="en-US" altLang="zh-CN" sz="2400" b="1">
                <a:solidFill>
                  <a:srgbClr val="C00000"/>
                </a:solidFill>
              </a:rPr>
              <a:t>'),(NULL,'</a:t>
            </a:r>
            <a:r>
              <a:rPr lang="zh-CN" altLang="en-US" sz="2400" b="1">
                <a:solidFill>
                  <a:srgbClr val="C00000"/>
                </a:solidFill>
              </a:rPr>
              <a:t>李四</a:t>
            </a:r>
            <a:r>
              <a:rPr lang="en-US" altLang="zh-CN" sz="2400" b="1">
                <a:solidFill>
                  <a:srgbClr val="C00000"/>
                </a:solidFill>
              </a:rPr>
              <a:t>');</a:t>
            </a:r>
          </a:p>
          <a:p>
            <a:r>
              <a:rPr lang="en-US" altLang="zh-CN" sz="2400" b="1">
                <a:solidFill>
                  <a:srgbClr val="002060"/>
                </a:solidFill>
              </a:rPr>
              <a:t>-- </a:t>
            </a:r>
            <a:r>
              <a:rPr lang="zh-CN" altLang="en-US" sz="2400" b="1">
                <a:solidFill>
                  <a:srgbClr val="002060"/>
                </a:solidFill>
              </a:rPr>
              <a:t>修改</a:t>
            </a:r>
            <a:r>
              <a:rPr lang="en-US" altLang="zh-CN" sz="2400" b="1">
                <a:solidFill>
                  <a:srgbClr val="002060"/>
                </a:solidFill>
              </a:rPr>
              <a:t>stu_id</a:t>
            </a:r>
            <a:r>
              <a:rPr lang="zh-CN" altLang="en-US" sz="2400" b="1">
                <a:solidFill>
                  <a:srgbClr val="002060"/>
                </a:solidFill>
              </a:rPr>
              <a:t>字段的初始值为</a:t>
            </a:r>
            <a:r>
              <a:rPr lang="en-US" altLang="zh-CN" sz="2400" b="1">
                <a:solidFill>
                  <a:srgbClr val="002060"/>
                </a:solidFill>
              </a:rPr>
              <a:t>202201</a:t>
            </a:r>
            <a:r>
              <a:rPr lang="zh-CN" altLang="en-US" sz="2400" b="1">
                <a:solidFill>
                  <a:srgbClr val="002060"/>
                </a:solidFill>
              </a:rPr>
              <a:t>，并插入两条记录，观察结果。</a:t>
            </a:r>
          </a:p>
          <a:p>
            <a:r>
              <a:rPr lang="zh-CN" altLang="en-US" sz="2400" b="1">
                <a:solidFill>
                  <a:srgbClr val="002060"/>
                </a:solidFill>
              </a:rPr>
              <a:t>   </a:t>
            </a:r>
            <a:r>
              <a:rPr lang="en-US" altLang="zh-CN" sz="2400" b="1">
                <a:solidFill>
                  <a:srgbClr val="C00000"/>
                </a:solidFill>
              </a:rPr>
              <a:t>ALTER TABLE stu  AUTO_INCREMENT=202201;</a:t>
            </a:r>
          </a:p>
          <a:p>
            <a:r>
              <a:rPr lang="en-US" altLang="zh-CN" sz="2400" b="1">
                <a:solidFill>
                  <a:srgbClr val="C00000"/>
                </a:solidFill>
              </a:rPr>
              <a:t>INSERT INTO stu2 VALUES(NULL,'</a:t>
            </a:r>
            <a:r>
              <a:rPr lang="zh-CN" altLang="en-US" sz="2400" b="1">
                <a:solidFill>
                  <a:srgbClr val="C00000"/>
                </a:solidFill>
              </a:rPr>
              <a:t>张三</a:t>
            </a:r>
            <a:r>
              <a:rPr lang="en-US" altLang="zh-CN" sz="2400" b="1">
                <a:solidFill>
                  <a:srgbClr val="C00000"/>
                </a:solidFill>
              </a:rPr>
              <a:t>'),(NULL,'</a:t>
            </a:r>
            <a:r>
              <a:rPr lang="zh-CN" altLang="en-US" sz="2400" b="1">
                <a:solidFill>
                  <a:srgbClr val="C00000"/>
                </a:solidFill>
              </a:rPr>
              <a:t>李四</a:t>
            </a:r>
            <a:r>
              <a:rPr lang="en-US" altLang="zh-CN" sz="2400" b="1">
                <a:solidFill>
                  <a:srgbClr val="C00000"/>
                </a:solidFill>
              </a:rPr>
              <a:t>');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D034869-004A-E2AE-AB67-5ADA7557E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自增型字段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EABEA2D-1153-7CC3-14E6-477F6D3D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196975"/>
            <a:ext cx="10979150" cy="4525963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C00000"/>
                </a:solidFill>
              </a:rPr>
              <a:t>3. </a:t>
            </a:r>
            <a:r>
              <a:rPr lang="zh-CN" altLang="zh-CN" b="1" dirty="0">
                <a:solidFill>
                  <a:srgbClr val="C00000"/>
                </a:solidFill>
              </a:rPr>
              <a:t>自增型字段的数据删除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t>执行</a:t>
            </a:r>
            <a:r>
              <a:rPr lang="en-US" altLang="zh-CN"/>
              <a:t>DELETE</a:t>
            </a:r>
            <a:r>
              <a:rPr altLang="zh-CN"/>
              <a:t>命令删除表</a:t>
            </a:r>
            <a:r>
              <a:t>记录后</a:t>
            </a:r>
            <a:r>
              <a:rPr altLang="zh-CN"/>
              <a:t>，再</a:t>
            </a:r>
            <a:r>
              <a:t>执行</a:t>
            </a:r>
            <a:r>
              <a:rPr altLang="zh-CN"/>
              <a:t>插入</a:t>
            </a:r>
            <a:r>
              <a:t>操作时</a:t>
            </a:r>
            <a:r>
              <a:rPr altLang="zh-CN"/>
              <a:t>，自增型字段的值在原来序列最大值的基础上自动增加。</a:t>
            </a:r>
            <a:endParaRPr lang="en-US" altLang="zh-CN"/>
          </a:p>
          <a:p>
            <a:pPr lvl="1">
              <a:defRPr/>
            </a:pPr>
            <a:r>
              <a:t>此时如</a:t>
            </a:r>
            <a:r>
              <a:rPr altLang="zh-CN"/>
              <a:t>想从初始值开始自增，必须使用</a:t>
            </a:r>
            <a:r>
              <a:rPr lang="en-US" altLang="zh-CN"/>
              <a:t>TRUNCATE</a:t>
            </a:r>
            <a:r>
              <a:rPr altLang="zh-CN"/>
              <a:t>命令删除全表的记录</a:t>
            </a:r>
            <a:r>
              <a:t>。</a:t>
            </a:r>
            <a:endParaRPr altLang="zh-CN"/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4D667D9-14CF-5EA5-E357-BB9D9767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自增型字段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18551EE-F09B-DD07-AD0C-8D8A913F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196975"/>
            <a:ext cx="10979150" cy="4525963"/>
          </a:xfrm>
        </p:spPr>
        <p:txBody>
          <a:bodyPr/>
          <a:lstStyle/>
          <a:p>
            <a:pPr lvl="1">
              <a:defRPr/>
            </a:pPr>
            <a:r>
              <a:rPr lang="en-US" altLang="zh-CN"/>
              <a:t>-- </a:t>
            </a:r>
            <a:r>
              <a:t>用</a:t>
            </a:r>
            <a:r>
              <a:rPr lang="en-US"/>
              <a:t>DELETE</a:t>
            </a:r>
            <a:r>
              <a:t>命令删除</a:t>
            </a:r>
            <a:r>
              <a:rPr lang="en-US" err="1"/>
              <a:t>stu</a:t>
            </a:r>
            <a:r>
              <a:t>中所有记录，重新插入新记录，观察</a:t>
            </a:r>
            <a:r>
              <a:rPr lang="en-US" err="1"/>
              <a:t>stu_id</a:t>
            </a:r>
            <a:r>
              <a:t>字段的值。</a:t>
            </a:r>
          </a:p>
          <a:p>
            <a:pPr lvl="1">
              <a:defRPr/>
            </a:pPr>
            <a:r>
              <a:rPr lang="en-US">
                <a:solidFill>
                  <a:srgbClr val="C00000"/>
                </a:solidFill>
              </a:rPr>
              <a:t>DELETE FROM </a:t>
            </a:r>
            <a:r>
              <a:rPr lang="en-US" err="1">
                <a:solidFill>
                  <a:srgbClr val="C00000"/>
                </a:solidFill>
              </a:rPr>
              <a:t>stu</a:t>
            </a:r>
            <a:r>
              <a:rPr lang="en-US">
                <a:solidFill>
                  <a:srgbClr val="C00000"/>
                </a:solidFill>
              </a:rPr>
              <a:t>；</a:t>
            </a:r>
          </a:p>
          <a:p>
            <a:pPr lvl="1">
              <a:defRPr/>
            </a:pPr>
            <a:r>
              <a:rPr lang="en-US">
                <a:solidFill>
                  <a:srgbClr val="C00000"/>
                </a:solidFill>
              </a:rPr>
              <a:t>INSERT INTO </a:t>
            </a:r>
            <a:r>
              <a:rPr lang="en-US" err="1">
                <a:solidFill>
                  <a:srgbClr val="C00000"/>
                </a:solidFill>
              </a:rPr>
              <a:t>stu</a:t>
            </a:r>
            <a:r>
              <a:rPr lang="en-US">
                <a:solidFill>
                  <a:srgbClr val="C00000"/>
                </a:solidFill>
              </a:rPr>
              <a:t> VALUES(NULL,'</a:t>
            </a:r>
            <a:r>
              <a:rPr>
                <a:solidFill>
                  <a:srgbClr val="C00000"/>
                </a:solidFill>
              </a:rPr>
              <a:t>张三</a:t>
            </a:r>
            <a:r>
              <a:rPr lang="en-US" altLang="zh-CN">
                <a:solidFill>
                  <a:srgbClr val="C00000"/>
                </a:solidFill>
              </a:rPr>
              <a:t>'),(</a:t>
            </a:r>
            <a:r>
              <a:rPr lang="en-US">
                <a:solidFill>
                  <a:srgbClr val="C00000"/>
                </a:solidFill>
              </a:rPr>
              <a:t>NULL,'</a:t>
            </a:r>
            <a:r>
              <a:rPr>
                <a:solidFill>
                  <a:srgbClr val="C00000"/>
                </a:solidFill>
              </a:rPr>
              <a:t>李四</a:t>
            </a:r>
            <a:r>
              <a:rPr lang="en-US" altLang="zh-CN">
                <a:solidFill>
                  <a:srgbClr val="C00000"/>
                </a:solidFill>
              </a:rPr>
              <a:t>');</a:t>
            </a:r>
          </a:p>
          <a:p>
            <a:pPr lvl="1">
              <a:defRPr/>
            </a:pPr>
            <a:r>
              <a:rPr lang="en-US" altLang="zh-CN"/>
              <a:t>-- </a:t>
            </a:r>
            <a:r>
              <a:t>用</a:t>
            </a:r>
            <a:r>
              <a:rPr lang="en-US"/>
              <a:t>TRUNCATE</a:t>
            </a:r>
            <a:r>
              <a:t>命令删除</a:t>
            </a:r>
            <a:r>
              <a:rPr lang="en-US" err="1"/>
              <a:t>stu</a:t>
            </a:r>
            <a:r>
              <a:t>中所有记录，新插入新记录，观察</a:t>
            </a:r>
            <a:r>
              <a:rPr lang="en-US" err="1"/>
              <a:t>stu_id</a:t>
            </a:r>
            <a:r>
              <a:t>字段的值。</a:t>
            </a:r>
          </a:p>
          <a:p>
            <a:pPr lvl="1">
              <a:defRPr/>
            </a:pPr>
            <a:r>
              <a:rPr lang="en-US">
                <a:solidFill>
                  <a:srgbClr val="C00000"/>
                </a:solidFill>
              </a:rPr>
              <a:t>TRUNCATE TABLE </a:t>
            </a:r>
            <a:r>
              <a:rPr lang="en-US" err="1">
                <a:solidFill>
                  <a:srgbClr val="C00000"/>
                </a:solidFill>
              </a:rPr>
              <a:t>stu</a:t>
            </a:r>
            <a:r>
              <a:rPr lang="en-US">
                <a:solidFill>
                  <a:srgbClr val="C00000"/>
                </a:solidFill>
              </a:rPr>
              <a:t>;</a:t>
            </a:r>
          </a:p>
          <a:p>
            <a:pPr lvl="1">
              <a:defRPr/>
            </a:pPr>
            <a:r>
              <a:rPr lang="en-US">
                <a:solidFill>
                  <a:srgbClr val="C00000"/>
                </a:solidFill>
              </a:rPr>
              <a:t>INSERT INTO </a:t>
            </a:r>
            <a:r>
              <a:rPr lang="en-US" err="1">
                <a:solidFill>
                  <a:srgbClr val="C00000"/>
                </a:solidFill>
              </a:rPr>
              <a:t>stu</a:t>
            </a:r>
            <a:r>
              <a:rPr lang="en-US">
                <a:solidFill>
                  <a:srgbClr val="C00000"/>
                </a:solidFill>
              </a:rPr>
              <a:t> VALUES(NULL,'</a:t>
            </a:r>
            <a:r>
              <a:rPr>
                <a:solidFill>
                  <a:srgbClr val="C00000"/>
                </a:solidFill>
              </a:rPr>
              <a:t>张三</a:t>
            </a:r>
            <a:r>
              <a:rPr lang="en-US" altLang="zh-CN">
                <a:solidFill>
                  <a:srgbClr val="C00000"/>
                </a:solidFill>
              </a:rPr>
              <a:t>'),(</a:t>
            </a:r>
            <a:r>
              <a:rPr lang="en-US">
                <a:solidFill>
                  <a:srgbClr val="C00000"/>
                </a:solidFill>
              </a:rPr>
              <a:t>NULL,'</a:t>
            </a:r>
            <a:r>
              <a:rPr>
                <a:solidFill>
                  <a:srgbClr val="C00000"/>
                </a:solidFill>
              </a:rPr>
              <a:t>李四</a:t>
            </a:r>
            <a:r>
              <a:rPr lang="en-US" altLang="zh-CN">
                <a:solidFill>
                  <a:srgbClr val="C00000"/>
                </a:solidFill>
              </a:rPr>
              <a:t>'); 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D3C47C-87CF-7AEF-52D9-CF2F7CCD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77788"/>
            <a:ext cx="6753225" cy="630237"/>
          </a:xfrm>
        </p:spPr>
        <p:txBody>
          <a:bodyPr/>
          <a:lstStyle/>
          <a:p>
            <a:pPr>
              <a:defRPr/>
            </a:pPr>
            <a:r>
              <a:t>自增型字段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3A70178-8A03-F775-B085-368392BC2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本讲内容回顾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A11373F-BA12-1507-6759-9E3C8A7E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3" y="2852738"/>
            <a:ext cx="1625600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DD5719BA-3D14-A596-47E5-115D7E2E1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075" y="2852738"/>
            <a:ext cx="1787525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字符集与字符编码</a:t>
            </a:r>
          </a:p>
        </p:txBody>
      </p:sp>
      <p:sp>
        <p:nvSpPr>
          <p:cNvPr id="70" name="右箭头 69">
            <a:extLst>
              <a:ext uri="{FF2B5EF4-FFF2-40B4-BE49-F238E27FC236}">
                <a16:creationId xmlns:a16="http://schemas.microsoft.com/office/drawing/2014/main" id="{2633CD0D-2442-CF29-CCD6-54E0F47CC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3122613"/>
            <a:ext cx="574675" cy="323850"/>
          </a:xfrm>
          <a:prstGeom prst="rightArrow">
            <a:avLst>
              <a:gd name="adj1" fmla="val 50000"/>
              <a:gd name="adj2" fmla="val 4981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51852E28-E85F-0975-9EEF-45283808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238" y="2852738"/>
            <a:ext cx="1344612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4D52C7C1-47BD-2EB7-2409-19B83C160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2835275"/>
            <a:ext cx="1344613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38EE479-E1E2-F08C-1C1B-BDDF04E71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8475" y="2852738"/>
            <a:ext cx="1344613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  <p:sp>
        <p:nvSpPr>
          <p:cNvPr id="18" name="右箭头 69">
            <a:extLst>
              <a:ext uri="{FF2B5EF4-FFF2-40B4-BE49-F238E27FC236}">
                <a16:creationId xmlns:a16="http://schemas.microsoft.com/office/drawing/2014/main" id="{B1EF28E4-6859-B0AC-64B5-CB33CF8DD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3122613"/>
            <a:ext cx="574675" cy="323850"/>
          </a:xfrm>
          <a:prstGeom prst="rightArrow">
            <a:avLst>
              <a:gd name="adj1" fmla="val 50000"/>
              <a:gd name="adj2" fmla="val 4981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F8D05CF-B35A-C2F9-FB5E-BB2C91573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852738"/>
            <a:ext cx="1625600" cy="86360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右箭头 69">
            <a:extLst>
              <a:ext uri="{FF2B5EF4-FFF2-40B4-BE49-F238E27FC236}">
                <a16:creationId xmlns:a16="http://schemas.microsoft.com/office/drawing/2014/main" id="{5E1ABB17-832C-43E9-36FC-07C3E62D2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105150"/>
            <a:ext cx="574675" cy="323850"/>
          </a:xfrm>
          <a:prstGeom prst="rightArrow">
            <a:avLst>
              <a:gd name="adj1" fmla="val 50000"/>
              <a:gd name="adj2" fmla="val 4981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右箭头 69">
            <a:extLst>
              <a:ext uri="{FF2B5EF4-FFF2-40B4-BE49-F238E27FC236}">
                <a16:creationId xmlns:a16="http://schemas.microsoft.com/office/drawing/2014/main" id="{0EC06204-321D-60BD-E2D4-7FA9B6635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6263" y="3122613"/>
            <a:ext cx="574675" cy="323850"/>
          </a:xfrm>
          <a:prstGeom prst="rightArrow">
            <a:avLst>
              <a:gd name="adj1" fmla="val 50000"/>
              <a:gd name="adj2" fmla="val 4981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右箭头 69">
            <a:extLst>
              <a:ext uri="{FF2B5EF4-FFF2-40B4-BE49-F238E27FC236}">
                <a16:creationId xmlns:a16="http://schemas.microsoft.com/office/drawing/2014/main" id="{AB6D1DB4-02B1-96D1-7460-1AB66A5A1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3800" y="3122613"/>
            <a:ext cx="574675" cy="323850"/>
          </a:xfrm>
          <a:prstGeom prst="rightArrow">
            <a:avLst>
              <a:gd name="adj1" fmla="val 50000"/>
              <a:gd name="adj2" fmla="val 49818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9" grpId="0" animBg="1"/>
      <p:bldP spid="70" grpId="0" animBg="1"/>
      <p:bldP spid="71" grpId="0" animBg="1"/>
      <p:bldP spid="72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3">
            <a:extLst>
              <a:ext uri="{FF2B5EF4-FFF2-40B4-BE49-F238E27FC236}">
                <a16:creationId xmlns:a16="http://schemas.microsoft.com/office/drawing/2014/main" id="{12D6EEB2-1859-6CFD-F4D3-0E1BEE57D2BE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2498725" y="3235325"/>
            <a:ext cx="7683500" cy="863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i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chemeClr val="tx2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Thank You !</a:t>
            </a:r>
            <a:endParaRPr lang="zh-CN" altLang="en-US" sz="3600" b="1" i="1" kern="1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chemeClr val="tx2">
                    <a:alpha val="50000"/>
                  </a:scheme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338721F3-DFC4-A391-FBB4-1292630FA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谢谢学习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1F06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anchor="ctr"/>
      <a:lstStyle>
        <a:defPPr algn="ctr">
          <a:defRPr sz="3200" b="1" dirty="0">
            <a:solidFill>
              <a:schemeClr val="bg1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13132</TotalTime>
  <Pages>0</Pages>
  <Words>3164</Words>
  <Characters>0</Characters>
  <Application>Microsoft Office PowerPoint</Application>
  <DocSecurity>0</DocSecurity>
  <PresentationFormat>自定义</PresentationFormat>
  <Lines>0</Lines>
  <Paragraphs>508</Paragraphs>
  <Slides>58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3" baseType="lpstr">
      <vt:lpstr>Arial</vt:lpstr>
      <vt:lpstr>宋体</vt:lpstr>
      <vt:lpstr>Franklin Gothic Medium</vt:lpstr>
      <vt:lpstr>微软雅黑</vt:lpstr>
      <vt:lpstr>Calibri</vt:lpstr>
      <vt:lpstr>Franklin Gothic Book</vt:lpstr>
      <vt:lpstr>黑体</vt:lpstr>
      <vt:lpstr>Impact</vt:lpstr>
      <vt:lpstr>Aharoni</vt:lpstr>
      <vt:lpstr>华文行楷</vt:lpstr>
      <vt:lpstr>Times New Roman</vt:lpstr>
      <vt:lpstr>楷体_GB2312</vt:lpstr>
      <vt:lpstr>Wingdings</vt:lpstr>
      <vt:lpstr>Office 主题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存储引擎</vt:lpstr>
      <vt:lpstr>字符集与字符编码</vt:lpstr>
      <vt:lpstr>字符集与字符编码</vt:lpstr>
      <vt:lpstr>字符集与字符编码</vt:lpstr>
      <vt:lpstr>MySQL数据库管理</vt:lpstr>
      <vt:lpstr>MySQL数据库管理</vt:lpstr>
      <vt:lpstr>MySQL数据库管理</vt:lpstr>
      <vt:lpstr>MySQL数据库管理</vt:lpstr>
      <vt:lpstr>MySQL数据库管理</vt:lpstr>
      <vt:lpstr>MySQL数据库管理</vt:lpstr>
      <vt:lpstr>MySQL数据类型</vt:lpstr>
      <vt:lpstr>MySQL数据类型</vt:lpstr>
      <vt:lpstr>MySQL数据类型</vt:lpstr>
      <vt:lpstr>MySQL数据类型</vt:lpstr>
      <vt:lpstr>MySQL数据类型</vt:lpstr>
      <vt:lpstr>MySQL数据类型</vt:lpstr>
      <vt:lpstr>MySQL数据类型</vt:lpstr>
      <vt:lpstr>MySQL数据表管理</vt:lpstr>
      <vt:lpstr>MySQL数据表管理</vt:lpstr>
      <vt:lpstr>MySQL数据表管理</vt:lpstr>
      <vt:lpstr>MySQL数据表管理</vt:lpstr>
      <vt:lpstr>MySQL数据表管理</vt:lpstr>
      <vt:lpstr>数据库的完整性约束</vt:lpstr>
      <vt:lpstr>MySQL数据表管理</vt:lpstr>
      <vt:lpstr>MySQL数据表管理</vt:lpstr>
      <vt:lpstr>MySQL数据表管理</vt:lpstr>
      <vt:lpstr>MySQL数据表管理</vt:lpstr>
      <vt:lpstr>MySQL数据表管理</vt:lpstr>
      <vt:lpstr>MySQL数据表管理</vt:lpstr>
      <vt:lpstr>MySQL数据表管理</vt:lpstr>
      <vt:lpstr>MySQL数据表管理</vt:lpstr>
      <vt:lpstr>MySQL数据表管理</vt:lpstr>
      <vt:lpstr>MySQL数据表管理</vt:lpstr>
      <vt:lpstr>MySQL数据表管理</vt:lpstr>
      <vt:lpstr>MySQL数据表管理</vt:lpstr>
      <vt:lpstr>数据表的数据操作</vt:lpstr>
      <vt:lpstr>数据表的数据操作</vt:lpstr>
      <vt:lpstr>数据表的数据操作</vt:lpstr>
      <vt:lpstr>数据表的数据操作</vt:lpstr>
      <vt:lpstr>数据表的数据操作</vt:lpstr>
      <vt:lpstr>数据表的数据操作</vt:lpstr>
      <vt:lpstr>数据表的数据操作</vt:lpstr>
      <vt:lpstr>数据表的数据操作</vt:lpstr>
      <vt:lpstr>自增型字段</vt:lpstr>
      <vt:lpstr>自增型字段</vt:lpstr>
      <vt:lpstr>自增型字段</vt:lpstr>
      <vt:lpstr>自增型字段</vt:lpstr>
      <vt:lpstr>自增型字段</vt:lpstr>
      <vt:lpstr>自增型字段</vt:lpstr>
      <vt:lpstr>自增型字段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redhare lrz</cp:lastModifiedBy>
  <cp:revision>560</cp:revision>
  <dcterms:created xsi:type="dcterms:W3CDTF">2014-10-24T14:22:44Z</dcterms:created>
  <dcterms:modified xsi:type="dcterms:W3CDTF">2024-10-15T07:55:12Z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